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51" r:id="rId2"/>
    <p:sldId id="352" r:id="rId3"/>
    <p:sldId id="353" r:id="rId4"/>
    <p:sldId id="361" r:id="rId5"/>
    <p:sldId id="356" r:id="rId6"/>
    <p:sldId id="360" r:id="rId7"/>
    <p:sldId id="310" r:id="rId8"/>
    <p:sldId id="357" r:id="rId9"/>
    <p:sldId id="359" r:id="rId10"/>
    <p:sldId id="312" r:id="rId11"/>
    <p:sldId id="314" r:id="rId12"/>
    <p:sldId id="315" r:id="rId13"/>
    <p:sldId id="316" r:id="rId14"/>
    <p:sldId id="313" r:id="rId15"/>
    <p:sldId id="257" r:id="rId16"/>
    <p:sldId id="329" r:id="rId17"/>
    <p:sldId id="331" r:id="rId18"/>
    <p:sldId id="325" r:id="rId19"/>
    <p:sldId id="323" r:id="rId20"/>
    <p:sldId id="324" r:id="rId21"/>
    <p:sldId id="269" r:id="rId22"/>
    <p:sldId id="270" r:id="rId23"/>
    <p:sldId id="349" r:id="rId24"/>
    <p:sldId id="280" r:id="rId2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D4B5"/>
    <a:srgbClr val="C780F3"/>
    <a:srgbClr val="FD9740"/>
    <a:srgbClr val="3C67FF"/>
    <a:srgbClr val="88A5FF"/>
    <a:srgbClr val="E8E8FF"/>
    <a:srgbClr val="95E6D4"/>
    <a:srgbClr val="DFF5F0"/>
    <a:srgbClr val="A129E8"/>
    <a:srgbClr val="FEC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C6FBD-44EE-7371-5BA6-F8BF8803B8D9}" v="298" dt="2020-10-15T17:58:51.211"/>
    <p1510:client id="{675EBA52-32D2-9264-B680-8D46A79CDF36}" v="1086" dt="2020-10-15T15:38:57.595"/>
    <p1510:client id="{E75EFE0D-D65D-63F1-07AC-4C2E898444FF}" v="8" dt="2020-10-15T18:12:42.629"/>
    <p1510:client id="{F3FB3887-4476-40B1-AD67-BBBE5B65674A}" v="352" dt="2020-10-15T18:46:38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7" d="100"/>
          <a:sy n="157" d="100"/>
        </p:scale>
        <p:origin x="138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notesMaster" Target="notesMasters/notesMaster1.xml" Id="rId26" /><Relationship Type="http://schemas.openxmlformats.org/officeDocument/2006/relationships/slide" Target="slides/slide2.xml" Id="rId3" /><Relationship Type="http://schemas.openxmlformats.org/officeDocument/2006/relationships/slide" Target="slides/slide20.xml" Id="rId21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slide" Target="slides/slide24.xml" Id="rId25" /><Relationship Type="http://schemas.microsoft.com/office/2015/10/relationships/revisionInfo" Target="revisionInfo.xml" Id="rId33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slide" Target="slides/slide19.xml" Id="rId20" /><Relationship Type="http://schemas.openxmlformats.org/officeDocument/2006/relationships/viewProps" Target="viewProps.xml" Id="rId29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23.xml" Id="rId24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22.xml" Id="rId23" /><Relationship Type="http://schemas.openxmlformats.org/officeDocument/2006/relationships/presProps" Target="presProps.xml" Id="rId28" /><Relationship Type="http://schemas.openxmlformats.org/officeDocument/2006/relationships/slide" Target="slides/slide9.xml" Id="rId10" /><Relationship Type="http://schemas.openxmlformats.org/officeDocument/2006/relationships/slide" Target="slides/slide18.xml" Id="rId19" /><Relationship Type="http://schemas.openxmlformats.org/officeDocument/2006/relationships/tableStyles" Target="tableStyles.xml" Id="rId31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slide" Target="slides/slide21.xml" Id="rId22" /><Relationship Type="http://schemas.openxmlformats.org/officeDocument/2006/relationships/handoutMaster" Target="handoutMasters/handoutMaster1.xml" Id="rId27" /><Relationship Type="http://schemas.openxmlformats.org/officeDocument/2006/relationships/theme" Target="theme/theme1.xml" Id="rId30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9E0E8-7078-484F-B952-24E19316F184}" type="datetimeFigureOut">
              <a:rPr lang="en-US" smtClean="0"/>
              <a:t>10/15/2020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167384-6885-7A47-BDC5-58C7CFF4F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81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B936B-FE89-4344-982F-3EA728D5E6E3}" type="datetimeFigureOut">
              <a:rPr lang="en-GB" smtClean="0"/>
              <a:t>15/10/2020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07C13-8B10-4110-B449-2E65250C90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8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ACCC2-BE1B-48F8-A4BA-3AA03B8FA9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94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8f3b717b9d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8f3b717b9d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8f3b717b9d_1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water, riding, sitting, wave&#10;&#10;Description automatically generated">
            <a:extLst>
              <a:ext uri="{FF2B5EF4-FFF2-40B4-BE49-F238E27FC236}">
                <a16:creationId xmlns:a16="http://schemas.microsoft.com/office/drawing/2014/main" id="{E1FAA423-5A66-744C-997A-55D814BAC4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349" y="865525"/>
            <a:ext cx="4883138" cy="1515473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presentation runs here to three lines maximum.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914349" y="4218807"/>
            <a:ext cx="2667839" cy="664276"/>
          </a:xfrm>
        </p:spPr>
        <p:txBody>
          <a:bodyPr>
            <a:normAutofit/>
          </a:bodyPr>
          <a:lstStyle>
            <a:lvl1pPr marL="0" indent="0" algn="l">
              <a:buNone/>
              <a:defRPr sz="13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D98EA4-6089-E64F-9384-0CF2E10D10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6">
                <a:shade val="45000"/>
                <a:satMod val="135000"/>
              </a:schemeClr>
              <a:prstClr val="white"/>
            </a:duotone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9663" y="4738936"/>
            <a:ext cx="840434" cy="14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37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water, riding, person, ocean&#10;&#10;Description automatically generated">
            <a:extLst>
              <a:ext uri="{FF2B5EF4-FFF2-40B4-BE49-F238E27FC236}">
                <a16:creationId xmlns:a16="http://schemas.microsoft.com/office/drawing/2014/main" id="{DFC83C65-C9CD-8B4E-8975-18C65C3DE0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2900" y="1602018"/>
            <a:ext cx="3116737" cy="1515473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2400" b="0"/>
            </a:lvl1pPr>
          </a:lstStyle>
          <a:p>
            <a:r>
              <a:rPr lang="en-GB"/>
              <a:t>Title of presentation </a:t>
            </a:r>
            <a:br>
              <a:rPr lang="en-GB"/>
            </a:br>
            <a:r>
              <a:rPr lang="en-GB"/>
              <a:t>runs here to three </a:t>
            </a:r>
            <a:br>
              <a:rPr lang="en-GB"/>
            </a:br>
            <a:r>
              <a:rPr lang="en-GB"/>
              <a:t>lines maximum.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42900" y="3358671"/>
            <a:ext cx="3124459" cy="628866"/>
          </a:xfrm>
        </p:spPr>
        <p:txBody>
          <a:bodyPr>
            <a:normAutofit/>
          </a:bodyPr>
          <a:lstStyle>
            <a:lvl1pPr marL="0" indent="0" algn="l">
              <a:buNone/>
              <a:defRPr sz="13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206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3050" y="4693444"/>
            <a:ext cx="2057400" cy="14763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5943600" y="322064"/>
            <a:ext cx="0" cy="34203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1096145"/>
            <a:ext cx="5033963" cy="151547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GB"/>
              <a:t>Section title.  </a:t>
            </a:r>
            <a:br>
              <a:rPr lang="en-GB"/>
            </a:br>
            <a:r>
              <a:rPr lang="en-GB"/>
              <a:t>Introduces content / section to follow.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6057901" y="322064"/>
            <a:ext cx="2753916" cy="3429804"/>
          </a:xfrm>
        </p:spPr>
        <p:txBody>
          <a:bodyPr>
            <a:normAutofit/>
          </a:bodyPr>
          <a:lstStyle>
            <a:lvl1pPr marL="201168" indent="-201168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  <a:defRPr sz="1275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3"/>
          </p:nvPr>
        </p:nvSpPr>
        <p:spPr>
          <a:xfrm>
            <a:off x="342900" y="2104909"/>
            <a:ext cx="3829050" cy="124182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CC506E0A-7AD6-784A-814A-E697B4C56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E0B36C2-3D7A-5742-B5F5-9318B97C3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527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Mess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ign over a wave&#10;&#10;Description automatically generated">
            <a:extLst>
              <a:ext uri="{FF2B5EF4-FFF2-40B4-BE49-F238E27FC236}">
                <a16:creationId xmlns:a16="http://schemas.microsoft.com/office/drawing/2014/main" id="{3A999D94-BA77-0C48-ADC4-47FF3E1035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342899" y="998702"/>
            <a:ext cx="6312425" cy="1515473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2800" b="0"/>
            </a:lvl1pPr>
          </a:lstStyle>
          <a:p>
            <a:r>
              <a:rPr lang="en-GB"/>
              <a:t>This is a quote or highlight slide. Use it to break up the pace of </a:t>
            </a:r>
            <a:br>
              <a:rPr lang="en-GB"/>
            </a:br>
            <a:r>
              <a:rPr lang="en-GB"/>
              <a:t>your presentation. 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42899" y="2639505"/>
            <a:ext cx="3861455" cy="1065442"/>
          </a:xfrm>
        </p:spPr>
        <p:txBody>
          <a:bodyPr>
            <a:normAutofit/>
          </a:bodyPr>
          <a:lstStyle>
            <a:lvl1pPr marL="0" indent="0" algn="l">
              <a:buNone/>
              <a:defRPr sz="13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2303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90512"/>
            <a:ext cx="7683940" cy="73818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095376"/>
            <a:ext cx="7707591" cy="3518297"/>
          </a:xfrm>
        </p:spPr>
        <p:txBody>
          <a:bodyPr>
            <a:normAutofit/>
          </a:bodyPr>
          <a:lstStyle>
            <a:lvl1pPr marL="177800" indent="-177800">
              <a:tabLst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3050" y="4693444"/>
            <a:ext cx="2057400" cy="14763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27756E6-44D9-DD4C-92CD-5DCD919CF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D201161-CBFD-2840-9A7D-C929BB120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824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095376"/>
            <a:ext cx="3842601" cy="3518297"/>
          </a:xfrm>
        </p:spPr>
        <p:txBody>
          <a:bodyPr>
            <a:normAutofit/>
          </a:bodyPr>
          <a:lstStyle>
            <a:lvl1pPr marL="177800" indent="-177800">
              <a:tabLst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740872" y="1095375"/>
            <a:ext cx="3950641" cy="3518297"/>
          </a:xfrm>
        </p:spPr>
        <p:txBody>
          <a:bodyPr>
            <a:normAutofit/>
          </a:bodyPr>
          <a:lstStyle>
            <a:lvl1pPr marL="177800" indent="-177800">
              <a:tabLst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20D6231-063E-B84C-962D-C39AD8894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EB1A037-205E-C544-96AD-6C41D3331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628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540000"/>
            <a:ext cx="1998000" cy="2073674"/>
          </a:xfrm>
        </p:spPr>
        <p:txBody>
          <a:bodyPr rIns="91440"/>
          <a:lstStyle>
            <a:lvl1pPr marL="0" indent="0">
              <a:buNone/>
              <a:defRPr sz="1200" b="1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499872" y="2540000"/>
            <a:ext cx="1998000" cy="2073674"/>
          </a:xfrm>
        </p:spPr>
        <p:txBody>
          <a:bodyPr rIns="91440"/>
          <a:lstStyle>
            <a:lvl1pPr marL="0" indent="0">
              <a:buNone/>
              <a:defRPr sz="1200" b="1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656844" y="2540000"/>
            <a:ext cx="1998000" cy="2073674"/>
          </a:xfrm>
        </p:spPr>
        <p:txBody>
          <a:bodyPr rIns="91440"/>
          <a:lstStyle>
            <a:lvl1pPr marL="0" indent="0">
              <a:buNone/>
              <a:defRPr sz="1200" b="1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6813817" y="2540000"/>
            <a:ext cx="1998000" cy="2073674"/>
          </a:xfrm>
        </p:spPr>
        <p:txBody>
          <a:bodyPr rIns="91440"/>
          <a:lstStyle>
            <a:lvl1pPr marL="0" indent="0">
              <a:buNone/>
              <a:defRPr sz="1200" b="1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342900" y="1396604"/>
            <a:ext cx="1104900" cy="976312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7"/>
          </p:nvPr>
        </p:nvSpPr>
        <p:spPr>
          <a:xfrm>
            <a:off x="2499872" y="1396604"/>
            <a:ext cx="1104900" cy="976312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8"/>
          </p:nvPr>
        </p:nvSpPr>
        <p:spPr>
          <a:xfrm>
            <a:off x="4656844" y="1396604"/>
            <a:ext cx="1104900" cy="976312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9"/>
          </p:nvPr>
        </p:nvSpPr>
        <p:spPr>
          <a:xfrm>
            <a:off x="6813817" y="1396604"/>
            <a:ext cx="1104900" cy="976312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DECD513-60B1-0D4B-BB9D-C7E7192C3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1CB0E1F4-80B0-9E47-9364-3DFD2AFBE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771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153501"/>
            <a:ext cx="1998000" cy="2073674"/>
          </a:xfrm>
        </p:spPr>
        <p:txBody>
          <a:bodyPr rIns="91440"/>
          <a:lstStyle>
            <a:lvl1pPr marL="0" indent="0">
              <a:buNone/>
              <a:defRPr sz="1200" b="0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499872" y="2153501"/>
            <a:ext cx="1998000" cy="2073674"/>
          </a:xfrm>
        </p:spPr>
        <p:txBody>
          <a:bodyPr rIns="91440"/>
          <a:lstStyle>
            <a:lvl1pPr marL="0" indent="0">
              <a:buNone/>
              <a:defRPr sz="1200" b="0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656844" y="2153501"/>
            <a:ext cx="1998000" cy="2073674"/>
          </a:xfrm>
        </p:spPr>
        <p:txBody>
          <a:bodyPr rIns="91440"/>
          <a:lstStyle>
            <a:lvl1pPr marL="0" indent="0">
              <a:buNone/>
              <a:defRPr sz="1200" b="0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6813817" y="2153501"/>
            <a:ext cx="1998000" cy="2073674"/>
          </a:xfrm>
        </p:spPr>
        <p:txBody>
          <a:bodyPr rIns="91440"/>
          <a:lstStyle>
            <a:lvl1pPr marL="0" indent="0">
              <a:buNone/>
              <a:defRPr sz="1200" b="0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Content Placeholder 2"/>
          <p:cNvSpPr>
            <a:spLocks noGrp="1"/>
          </p:cNvSpPr>
          <p:nvPr>
            <p:ph idx="17"/>
          </p:nvPr>
        </p:nvSpPr>
        <p:spPr>
          <a:xfrm>
            <a:off x="342900" y="1194651"/>
            <a:ext cx="1998000" cy="802811"/>
          </a:xfrm>
        </p:spPr>
        <p:txBody>
          <a:bodyPr rIns="91440"/>
          <a:lstStyle>
            <a:lvl1pPr marL="0" indent="0">
              <a:buNone/>
              <a:defRPr sz="1200" b="1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8"/>
          </p:nvPr>
        </p:nvSpPr>
        <p:spPr>
          <a:xfrm>
            <a:off x="2499872" y="1194651"/>
            <a:ext cx="1998000" cy="802811"/>
          </a:xfrm>
        </p:spPr>
        <p:txBody>
          <a:bodyPr rIns="91440"/>
          <a:lstStyle>
            <a:lvl1pPr marL="0" indent="0">
              <a:buNone/>
              <a:defRPr sz="1200" b="1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9"/>
          </p:nvPr>
        </p:nvSpPr>
        <p:spPr>
          <a:xfrm>
            <a:off x="4656844" y="1194651"/>
            <a:ext cx="1998000" cy="802811"/>
          </a:xfrm>
        </p:spPr>
        <p:txBody>
          <a:bodyPr rIns="91440"/>
          <a:lstStyle>
            <a:lvl1pPr marL="0" indent="0">
              <a:buNone/>
              <a:defRPr sz="1200" b="1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0"/>
          </p:nvPr>
        </p:nvSpPr>
        <p:spPr>
          <a:xfrm>
            <a:off x="6813817" y="1194651"/>
            <a:ext cx="1998000" cy="802811"/>
          </a:xfrm>
        </p:spPr>
        <p:txBody>
          <a:bodyPr rIns="91440"/>
          <a:lstStyle>
            <a:lvl1pPr marL="0" indent="0">
              <a:buNone/>
              <a:defRPr sz="1200" b="1"/>
            </a:lvl1pPr>
            <a:lvl2pPr marL="0" indent="0">
              <a:spcBef>
                <a:spcPts val="0"/>
              </a:spcBef>
              <a:buNone/>
              <a:defRPr/>
            </a:lvl2pPr>
            <a:lvl3pPr marL="114300" indent="-114300">
              <a:spcBef>
                <a:spcPts val="0"/>
              </a:spcBef>
              <a:defRPr/>
            </a:lvl3pPr>
            <a:lvl4pPr marL="538163" indent="-180975">
              <a:spcBef>
                <a:spcPts val="0"/>
              </a:spcBef>
              <a:defRPr/>
            </a:lvl4pPr>
            <a:lvl5pPr marL="804863" indent="-176213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BE694762-9F44-1D43-9C31-F6000855E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38668976-2AE5-F846-AC2D-2176ED2A7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670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1 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90512"/>
            <a:ext cx="2686050" cy="738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095375"/>
            <a:ext cx="2686050" cy="3382357"/>
          </a:xfrm>
        </p:spPr>
        <p:txBody>
          <a:bodyPr/>
          <a:lstStyle>
            <a:lvl2pPr marL="116681" indent="-116681">
              <a:defRPr b="1"/>
            </a:lvl2pPr>
            <a:lvl3pPr marL="0" indent="0">
              <a:buNone/>
              <a:defRPr/>
            </a:lvl3pPr>
            <a:lvl4pPr marL="0" indent="0">
              <a:buNone/>
              <a:defRPr b="1"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3050" y="4693444"/>
            <a:ext cx="2057400" cy="14763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06770" y="9427"/>
            <a:ext cx="5637230" cy="4703975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6244A4E-4B08-344D-A628-70168784E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31B52D3-BAA7-5D41-8BDD-B8BDE9874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989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2 Wid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90512"/>
            <a:ext cx="2686050" cy="738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095375"/>
            <a:ext cx="2686050" cy="3259809"/>
          </a:xfrm>
        </p:spPr>
        <p:txBody>
          <a:bodyPr/>
          <a:lstStyle>
            <a:lvl2pPr marL="116681" indent="-116681">
              <a:defRPr b="1"/>
            </a:lvl2pPr>
            <a:lvl3pPr marL="0" indent="0">
              <a:buNone/>
              <a:defRPr/>
            </a:lvl3pPr>
            <a:lvl4pPr marL="0" indent="0">
              <a:buNone/>
              <a:defRPr b="1"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3050" y="4693444"/>
            <a:ext cx="2057400" cy="14763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357922" y="342900"/>
            <a:ext cx="5453893" cy="192027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3357922" y="2434912"/>
            <a:ext cx="5453893" cy="1920270"/>
          </a:xfrm>
        </p:spPr>
        <p:txBody>
          <a:bodyPr/>
          <a:lstStyle/>
          <a:p>
            <a:r>
              <a:rPr lang="en-US"/>
              <a:t>Drag picture to placeholder or click icon to add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1FE4191-BDE8-6C4F-B909-E5B05D774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AC79B3F-1BD8-DF41-8541-515E90E30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7739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90512"/>
            <a:ext cx="2686050" cy="738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095376"/>
            <a:ext cx="2686050" cy="2676524"/>
          </a:xfrm>
        </p:spPr>
        <p:txBody>
          <a:bodyPr/>
          <a:lstStyle>
            <a:lvl2pPr marL="116681" indent="-116681">
              <a:defRPr b="1"/>
            </a:lvl2pPr>
            <a:lvl3pPr marL="0" indent="0">
              <a:buNone/>
              <a:defRPr/>
            </a:lvl3pPr>
            <a:lvl4pPr marL="0" indent="0">
              <a:buNone/>
              <a:defRPr b="1"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3050" y="4693444"/>
            <a:ext cx="2057400" cy="14763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1" name="Chart Placeholder 10"/>
          <p:cNvSpPr>
            <a:spLocks noGrp="1"/>
          </p:cNvSpPr>
          <p:nvPr>
            <p:ph type="chart" sz="quarter" idx="13"/>
          </p:nvPr>
        </p:nvSpPr>
        <p:spPr>
          <a:xfrm>
            <a:off x="3648172" y="1178351"/>
            <a:ext cx="5163643" cy="3279349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42900" y="3886200"/>
            <a:ext cx="2686050" cy="5715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3629320" y="644555"/>
            <a:ext cx="5182496" cy="566738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112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15249622-0FE3-4040-92BA-8DE78C54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0739B4B-957F-F34A-B457-DB4888E25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238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90512"/>
            <a:ext cx="8468917" cy="3667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838986"/>
            <a:ext cx="2556910" cy="1026846"/>
          </a:xfrm>
          <a:solidFill>
            <a:srgbClr val="FD9740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3205758" y="838986"/>
            <a:ext cx="2556910" cy="1026846"/>
          </a:xfrm>
          <a:solidFill>
            <a:srgbClr val="3C67FF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068616" y="838986"/>
            <a:ext cx="2556910" cy="1026846"/>
          </a:xfrm>
          <a:solidFill>
            <a:srgbClr val="A129E8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342900" y="2171296"/>
            <a:ext cx="2556910" cy="1026846"/>
          </a:xfrm>
          <a:solidFill>
            <a:srgbClr val="FEC389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3205758" y="2171296"/>
            <a:ext cx="2556910" cy="1026846"/>
          </a:xfrm>
          <a:solidFill>
            <a:srgbClr val="88A5FF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6068616" y="2171296"/>
            <a:ext cx="2556910" cy="1026846"/>
          </a:xfrm>
          <a:solidFill>
            <a:srgbClr val="C780F3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8"/>
          </p:nvPr>
        </p:nvSpPr>
        <p:spPr>
          <a:xfrm>
            <a:off x="342900" y="3503605"/>
            <a:ext cx="2556910" cy="1026846"/>
          </a:xfrm>
          <a:solidFill>
            <a:srgbClr val="51D4B5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9"/>
          </p:nvPr>
        </p:nvSpPr>
        <p:spPr>
          <a:xfrm>
            <a:off x="3205758" y="3503605"/>
            <a:ext cx="2556910" cy="1026846"/>
          </a:xfrm>
          <a:solidFill>
            <a:srgbClr val="E8E8FF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0"/>
          </p:nvPr>
        </p:nvSpPr>
        <p:spPr>
          <a:xfrm>
            <a:off x="6068616" y="3503605"/>
            <a:ext cx="2556910" cy="1026846"/>
          </a:xfrm>
          <a:solidFill>
            <a:srgbClr val="95E6D4"/>
          </a:solidFill>
        </p:spPr>
        <p:txBody>
          <a:bodyPr lIns="180000" tIns="72000" rIns="108000" bIns="72000">
            <a:normAutofit/>
          </a:bodyPr>
          <a:lstStyle>
            <a:lvl1pPr marL="0" indent="0">
              <a:spcBef>
                <a:spcPts val="0"/>
              </a:spcBef>
              <a:buNone/>
              <a:defRPr sz="1500" b="1"/>
            </a:lvl1pPr>
            <a:lvl2pPr marL="0" indent="0">
              <a:spcBef>
                <a:spcPts val="0"/>
              </a:spcBef>
              <a:buNone/>
              <a:defRPr sz="15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4260925B-ECD3-8C48-9A74-49DFA1152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37A63CB-4F50-E649-8BEE-8AE2AE133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682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3050" y="4693444"/>
            <a:ext cx="2057400" cy="147638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342900" y="329400"/>
            <a:ext cx="4114800" cy="1515473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3150" b="0"/>
            </a:lvl1pPr>
          </a:lstStyle>
          <a:p>
            <a:r>
              <a:rPr lang="en-GB"/>
              <a:t>Title of presentation </a:t>
            </a:r>
            <a:br>
              <a:rPr lang="en-GB"/>
            </a:br>
            <a:r>
              <a:rPr lang="en-GB"/>
              <a:t>runs here to three </a:t>
            </a:r>
            <a:br>
              <a:rPr lang="en-GB"/>
            </a:br>
            <a:r>
              <a:rPr lang="en-GB"/>
              <a:t>lines maximum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4822851" y="1"/>
            <a:ext cx="4321149" cy="4651615"/>
          </a:xfrm>
          <a:custGeom>
            <a:avLst/>
            <a:gdLst>
              <a:gd name="connsiteX0" fmla="*/ 1589062 w 4321149"/>
              <a:gd name="connsiteY0" fmla="*/ 2235199 h 4651615"/>
              <a:gd name="connsiteX1" fmla="*/ 1065187 w 4321149"/>
              <a:gd name="connsiteY1" fmla="*/ 2235199 h 4651615"/>
              <a:gd name="connsiteX2" fmla="*/ 1589062 w 4321149"/>
              <a:gd name="connsiteY2" fmla="*/ 2235199 h 4651615"/>
              <a:gd name="connsiteX3" fmla="*/ 3159843 w 4321149"/>
              <a:gd name="connsiteY3" fmla="*/ 0 h 4651615"/>
              <a:gd name="connsiteX4" fmla="*/ 4321149 w 4321149"/>
              <a:gd name="connsiteY4" fmla="*/ 0 h 4651615"/>
              <a:gd name="connsiteX5" fmla="*/ 4321149 w 4321149"/>
              <a:gd name="connsiteY5" fmla="*/ 4357820 h 4651615"/>
              <a:gd name="connsiteX6" fmla="*/ 4287781 w 4321149"/>
              <a:gd name="connsiteY6" fmla="*/ 4419069 h 4651615"/>
              <a:gd name="connsiteX7" fmla="*/ 3573535 w 4321149"/>
              <a:gd name="connsiteY7" fmla="*/ 4581852 h 4651615"/>
              <a:gd name="connsiteX8" fmla="*/ 448326 w 4321149"/>
              <a:gd name="connsiteY8" fmla="*/ 2863458 h 4651615"/>
              <a:gd name="connsiteX9" fmla="*/ 364065 w 4321149"/>
              <a:gd name="connsiteY9" fmla="*/ 2812404 h 4651615"/>
              <a:gd name="connsiteX10" fmla="*/ 154551 w 4321149"/>
              <a:gd name="connsiteY10" fmla="*/ 1626753 h 4651615"/>
              <a:gd name="connsiteX11" fmla="*/ 482390 w 4321149"/>
              <a:gd name="connsiteY11" fmla="*/ 1353034 h 4651615"/>
              <a:gd name="connsiteX12" fmla="*/ 3159843 w 4321149"/>
              <a:gd name="connsiteY12" fmla="*/ 0 h 4651615"/>
              <a:gd name="connsiteX0" fmla="*/ 3159843 w 4321149"/>
              <a:gd name="connsiteY0" fmla="*/ 0 h 4651615"/>
              <a:gd name="connsiteX1" fmla="*/ 4321149 w 4321149"/>
              <a:gd name="connsiteY1" fmla="*/ 0 h 4651615"/>
              <a:gd name="connsiteX2" fmla="*/ 4321149 w 4321149"/>
              <a:gd name="connsiteY2" fmla="*/ 4357820 h 4651615"/>
              <a:gd name="connsiteX3" fmla="*/ 4287781 w 4321149"/>
              <a:gd name="connsiteY3" fmla="*/ 4419069 h 4651615"/>
              <a:gd name="connsiteX4" fmla="*/ 3573535 w 4321149"/>
              <a:gd name="connsiteY4" fmla="*/ 4581852 h 4651615"/>
              <a:gd name="connsiteX5" fmla="*/ 448326 w 4321149"/>
              <a:gd name="connsiteY5" fmla="*/ 2863458 h 4651615"/>
              <a:gd name="connsiteX6" fmla="*/ 364065 w 4321149"/>
              <a:gd name="connsiteY6" fmla="*/ 2812404 h 4651615"/>
              <a:gd name="connsiteX7" fmla="*/ 154551 w 4321149"/>
              <a:gd name="connsiteY7" fmla="*/ 1626753 h 4651615"/>
              <a:gd name="connsiteX8" fmla="*/ 482390 w 4321149"/>
              <a:gd name="connsiteY8" fmla="*/ 1353034 h 4651615"/>
              <a:gd name="connsiteX9" fmla="*/ 3159843 w 4321149"/>
              <a:gd name="connsiteY9" fmla="*/ 0 h 4651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21149" h="4651615">
                <a:moveTo>
                  <a:pt x="3159843" y="0"/>
                </a:moveTo>
                <a:lnTo>
                  <a:pt x="4321149" y="0"/>
                </a:lnTo>
                <a:lnTo>
                  <a:pt x="4321149" y="4357820"/>
                </a:lnTo>
                <a:lnTo>
                  <a:pt x="4287781" y="4419069"/>
                </a:lnTo>
                <a:cubicBezTo>
                  <a:pt x="4126294" y="4649529"/>
                  <a:pt x="3813977" y="4718370"/>
                  <a:pt x="3573535" y="4581852"/>
                </a:cubicBezTo>
                <a:lnTo>
                  <a:pt x="448326" y="2863458"/>
                </a:lnTo>
                <a:cubicBezTo>
                  <a:pt x="417737" y="2850013"/>
                  <a:pt x="390899" y="2831207"/>
                  <a:pt x="364065" y="2812404"/>
                </a:cubicBezTo>
                <a:cubicBezTo>
                  <a:pt x="-22370" y="2541625"/>
                  <a:pt x="-115846" y="2012641"/>
                  <a:pt x="154551" y="1626753"/>
                </a:cubicBezTo>
                <a:cubicBezTo>
                  <a:pt x="240929" y="1503481"/>
                  <a:pt x="358927" y="1417661"/>
                  <a:pt x="482390" y="1353034"/>
                </a:cubicBezTo>
                <a:lnTo>
                  <a:pt x="3159843" y="0"/>
                </a:lnTo>
                <a:close/>
              </a:path>
            </a:pathLst>
          </a:custGeom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GB"/>
              <a:t>Drag picture to placeholder or click icon to add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>
          <a:xfrm>
            <a:off x="342900" y="2029493"/>
            <a:ext cx="3829050" cy="124182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AD8AFF5-359B-DB48-98B8-1D8F68987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3DB89D6-C14C-4A4A-998B-59E501636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535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1825" y="2321719"/>
            <a:ext cx="2800350" cy="48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82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water, surfing, riding, person&#10;&#10;Description automatically generated">
            <a:extLst>
              <a:ext uri="{FF2B5EF4-FFF2-40B4-BE49-F238E27FC236}">
                <a16:creationId xmlns:a16="http://schemas.microsoft.com/office/drawing/2014/main" id="{A1E938AD-A410-ED41-BDCF-270D18F7828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899" y="290512"/>
            <a:ext cx="8339187" cy="73818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095376"/>
            <a:ext cx="8332374" cy="351829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2CF2159-C326-D448-9E59-3D622C659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02998" y="4776936"/>
            <a:ext cx="1634371" cy="181561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D5BFF16-B898-2044-9CB0-AADF7D59C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74641" y="4807738"/>
            <a:ext cx="400050" cy="147638"/>
          </a:xfrm>
          <a:prstGeom prst="rect">
            <a:avLst/>
          </a:prstGeom>
        </p:spPr>
        <p:txBody>
          <a:bodyPr vert="horz" lIns="0" tIns="0" rIns="0" bIns="9144" rtlCol="0" anchor="b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726524-652D-564D-9E77-5F5609ADB93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duotone>
              <a:schemeClr val="accent6">
                <a:shade val="45000"/>
                <a:satMod val="135000"/>
              </a:schemeClr>
              <a:prstClr val="white"/>
            </a:duotone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792" y="4831490"/>
            <a:ext cx="688156" cy="1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3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6" r:id="rId2"/>
    <p:sldLayoutId id="2147483651" r:id="rId3"/>
    <p:sldLayoutId id="2147483698" r:id="rId4"/>
    <p:sldLayoutId id="2147483650" r:id="rId5"/>
    <p:sldLayoutId id="2147483674" r:id="rId6"/>
    <p:sldLayoutId id="2147483688" r:id="rId7"/>
    <p:sldLayoutId id="2147483693" r:id="rId8"/>
    <p:sldLayoutId id="2147483668" r:id="rId9"/>
    <p:sldLayoutId id="2147483669" r:id="rId10"/>
    <p:sldLayoutId id="2147483672" r:id="rId11"/>
    <p:sldLayoutId id="2147483673" r:id="rId12"/>
    <p:sldLayoutId id="2147483682" r:id="rId13"/>
    <p:sldLayoutId id="2147483655" r:id="rId1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681" indent="-116681" algn="l" defTabSz="685800" rtl="0" eaLnBrk="1" latinLnBrk="0" hangingPunct="1">
        <a:lnSpc>
          <a:spcPct val="112000"/>
        </a:lnSpc>
        <a:spcBef>
          <a:spcPts val="6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2000"/>
        </a:lnSpc>
        <a:spcBef>
          <a:spcPts val="6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2000"/>
        </a:lnSpc>
        <a:spcBef>
          <a:spcPts val="6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2000"/>
        </a:lnSpc>
        <a:spcBef>
          <a:spcPts val="6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2000"/>
        </a:lnSpc>
        <a:spcBef>
          <a:spcPts val="6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connect-aws.abbvienet.com/unite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wcms.1408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ig.abbvienet.com/sealax/KnowledgeGraphAlgos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47EC-C5BD-47B7-98FB-58167F3851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2400" b="1">
                <a:solidFill>
                  <a:srgbClr val="002060"/>
                </a:solidFill>
                <a:effectLst/>
                <a:latin typeface="Bahnschrift SemiLight SemiConde" panose="020B0502040204020203" pitchFamily="34" charset="0"/>
                <a:ea typeface="Calibri" panose="020F0502020204030204" pitchFamily="34" charset="0"/>
              </a:rPr>
              <a:t>Knowledge Graph Mining using Graph Embeddings</a:t>
            </a:r>
            <a:br>
              <a:rPr lang="en-US" sz="2400" b="1">
                <a:solidFill>
                  <a:srgbClr val="002060"/>
                </a:solidFill>
                <a:effectLst/>
                <a:highlight>
                  <a:srgbClr val="000000"/>
                </a:highlight>
                <a:latin typeface="Bahnschrift SemiLight SemiConde" panose="020B0502040204020203" pitchFamily="34" charset="0"/>
                <a:ea typeface="Calibri" panose="020F0502020204030204" pitchFamily="34" charset="0"/>
              </a:rPr>
            </a:br>
            <a:br>
              <a:rPr lang="en-US" sz="2400" b="1">
                <a:solidFill>
                  <a:srgbClr val="002060"/>
                </a:solidFill>
                <a:effectLst/>
                <a:highlight>
                  <a:srgbClr val="000000"/>
                </a:highlight>
                <a:latin typeface="Bahnschrift SemiLight SemiConde" panose="020B0502040204020203" pitchFamily="34" charset="0"/>
                <a:ea typeface="Calibri" panose="020F0502020204030204" pitchFamily="34" charset="0"/>
              </a:rPr>
            </a:br>
            <a:br>
              <a:rPr lang="en-US" sz="2400" b="1">
                <a:solidFill>
                  <a:srgbClr val="002060"/>
                </a:solidFill>
                <a:effectLst/>
                <a:highlight>
                  <a:srgbClr val="000000"/>
                </a:highlight>
                <a:latin typeface="Bahnschrift SemiLight SemiConde" panose="020B0502040204020203" pitchFamily="34" charset="0"/>
                <a:ea typeface="Calibri" panose="020F0502020204030204" pitchFamily="34" charset="0"/>
              </a:rPr>
            </a:br>
            <a:r>
              <a:rPr lang="en-US" sz="1300" i="1">
                <a:solidFill>
                  <a:srgbClr val="002060"/>
                </a:solidFill>
              </a:rPr>
              <a:t>Abhik Seal,</a:t>
            </a:r>
            <a:r>
              <a:rPr lang="en-US" sz="1300">
                <a:solidFill>
                  <a:srgbClr val="002060"/>
                </a:solidFill>
              </a:rPr>
              <a:t> </a:t>
            </a:r>
            <a:br>
              <a:rPr lang="en-US" sz="1300">
                <a:solidFill>
                  <a:srgbClr val="002060"/>
                </a:solidFill>
              </a:rPr>
            </a:br>
            <a:r>
              <a:rPr lang="en-US" sz="1300" i="1">
                <a:solidFill>
                  <a:srgbClr val="002060"/>
                </a:solidFill>
              </a:rPr>
              <a:t>Majdi Hassan,</a:t>
            </a:r>
            <a:br>
              <a:rPr lang="en-US" sz="1300" i="1">
                <a:solidFill>
                  <a:srgbClr val="002060"/>
                </a:solidFill>
              </a:rPr>
            </a:br>
            <a:r>
              <a:rPr lang="en-US" sz="1300" i="1">
                <a:solidFill>
                  <a:srgbClr val="002060"/>
                </a:solidFill>
                <a:cs typeface="Calibri"/>
              </a:rPr>
              <a:t>Islam Akef Ebeid, </a:t>
            </a:r>
            <a:br>
              <a:rPr lang="en-US" sz="1300" i="1">
                <a:solidFill>
                  <a:srgbClr val="002060"/>
                </a:solidFill>
                <a:cs typeface="Calibri"/>
              </a:rPr>
            </a:br>
            <a:r>
              <a:rPr lang="en-US" sz="1300" i="1">
                <a:solidFill>
                  <a:srgbClr val="002060"/>
                </a:solidFill>
              </a:rPr>
              <a:t>Tingyi Wanyan,</a:t>
            </a:r>
            <a:r>
              <a:rPr lang="en-US" sz="1300" i="1">
                <a:solidFill>
                  <a:srgbClr val="002060"/>
                </a:solidFill>
                <a:cs typeface="Calibri"/>
              </a:rPr>
              <a:t> </a:t>
            </a:r>
            <a:br>
              <a:rPr lang="en-US" sz="1300" i="1">
                <a:solidFill>
                  <a:srgbClr val="002060"/>
                </a:solidFill>
                <a:cs typeface="Calibri"/>
              </a:rPr>
            </a:br>
            <a:r>
              <a:rPr lang="en-US" sz="1300" i="1">
                <a:solidFill>
                  <a:srgbClr val="002060"/>
                </a:solidFill>
                <a:cs typeface="Calibri"/>
              </a:rPr>
              <a:t>Brian Martin,</a:t>
            </a:r>
            <a:br>
              <a:rPr lang="en-US" sz="1300" i="1">
                <a:solidFill>
                  <a:srgbClr val="002060"/>
                </a:solidFill>
                <a:cs typeface="Calibri"/>
              </a:rPr>
            </a:br>
            <a:r>
              <a:rPr lang="en-US" sz="1300" i="1">
                <a:solidFill>
                  <a:srgbClr val="002060"/>
                </a:solidFill>
              </a:rPr>
              <a:t>Ying Ding</a:t>
            </a:r>
            <a:br>
              <a:rPr lang="en-US" sz="1300" i="1">
                <a:solidFill>
                  <a:srgbClr val="002060"/>
                </a:solidFill>
                <a:cs typeface="Calibri"/>
              </a:rPr>
            </a:br>
            <a:br>
              <a:rPr lang="en-US" sz="1300" b="1">
                <a:solidFill>
                  <a:srgbClr val="002060"/>
                </a:solidFill>
                <a:effectLst/>
                <a:latin typeface="Bahnschrift SemiLight SemiConde" panose="020B0502040204020203" pitchFamily="34" charset="0"/>
                <a:ea typeface="Calibri" panose="020F0502020204030204" pitchFamily="34" charset="0"/>
              </a:rPr>
            </a:br>
            <a:br>
              <a:rPr lang="en-US" sz="2400" b="1">
                <a:solidFill>
                  <a:srgbClr val="FFFF00"/>
                </a:solidFill>
                <a:effectLst/>
                <a:latin typeface="Bahnschrift SemiLight SemiConde" panose="020B0502040204020203" pitchFamily="34" charset="0"/>
                <a:ea typeface="Calibri" panose="020F0502020204030204" pitchFamily="34" charset="0"/>
              </a:rPr>
            </a:b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200A8-0DDB-4D6F-9EFA-392797E86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082" y="4121150"/>
            <a:ext cx="845555" cy="845555"/>
          </a:xfrm>
          <a:prstGeom prst="rect">
            <a:avLst/>
          </a:prstGeom>
        </p:spPr>
      </p:pic>
      <p:pic>
        <p:nvPicPr>
          <p:cNvPr id="7" name="Picture 4" descr="December 11, 2017 - Participant: Healthcare Innovations Venture ...">
            <a:extLst>
              <a:ext uri="{FF2B5EF4-FFF2-40B4-BE49-F238E27FC236}">
                <a16:creationId xmlns:a16="http://schemas.microsoft.com/office/drawing/2014/main" id="{E5E665E2-C945-4042-9EF2-0173B575B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07" y="4121150"/>
            <a:ext cx="1236509" cy="793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595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5ECBA-83D3-4F67-9A54-1355C9D7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7ECC1-2332-43B8-B6C0-FA9F4DD89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Knowledge Graphs </a:t>
            </a:r>
          </a:p>
          <a:p>
            <a:r>
              <a:rPr lang="en-US"/>
              <a:t>Why do we need to do knowledge mining algorithms</a:t>
            </a:r>
          </a:p>
          <a:p>
            <a:r>
              <a:rPr lang="en-US"/>
              <a:t>Graph Mining Algorithms</a:t>
            </a:r>
          </a:p>
          <a:p>
            <a:r>
              <a:rPr lang="en-US"/>
              <a:t>Data &amp; Results</a:t>
            </a:r>
          </a:p>
          <a:p>
            <a:r>
              <a:rPr lang="en-US"/>
              <a:t>Summary and Discussion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C6859-C0BD-4DDD-AD13-F7598DE05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B435-89E4-4EEB-B965-4EE5F8A96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9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74CE-0022-42B1-8082-13F2204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71695"/>
            <a:ext cx="7683940" cy="358132"/>
          </a:xfrm>
        </p:spPr>
        <p:txBody>
          <a:bodyPr/>
          <a:lstStyle/>
          <a:p>
            <a:r>
              <a:rPr lang="en-US"/>
              <a:t>Knowledge Graphs Defined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5A906-E5C4-4BC3-9AAD-14E100D6A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909494"/>
            <a:ext cx="4709160" cy="3324512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 “Knowledge is Power” , If a program is to perform a complex task well, it must know a great deal about the world in which it operates.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To behave intelligently in unexpected situations, an agent must be capable of falling back on increasingly general knowledge.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The knowledge graph is a virtual data layer on top of the existing databases or data sets to connect all data—whether structured or unstructured—at scale.</a:t>
            </a:r>
          </a:p>
          <a:p>
            <a:endParaRPr lang="en-US"/>
          </a:p>
          <a:p>
            <a:r>
              <a:rPr lang="en-US"/>
              <a:t>Knowledge graphs are paving the way from silo-controlled business intelligence based on traditional data warehouses to a holistic approach to augmented intelligence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33DC2-AC1D-4176-909B-386AF1F68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83C9B8-EBA1-437A-8898-880C82E33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7E21D02-4E20-48EF-AE1E-FC2477252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212" y="1184448"/>
            <a:ext cx="3951288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24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B81C1-59D6-4DC2-BAEE-4E7A87C5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you need Knowledge Graphs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A8AF-EAF8-4012-923D-0113929C2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4818" y="1255657"/>
            <a:ext cx="4735069" cy="2172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00" dirty="0"/>
              <a:t>You often face the problem of having rephrase your questions ,</a:t>
            </a:r>
          </a:p>
          <a:p>
            <a:r>
              <a:rPr lang="en-US" sz="900" dirty="0"/>
              <a:t>across domains, as your departments have different views on things,</a:t>
            </a:r>
          </a:p>
          <a:p>
            <a:r>
              <a:rPr lang="en-US" sz="900" dirty="0"/>
              <a:t>there are so many Business systems, but they do not talk to each other,</a:t>
            </a:r>
          </a:p>
          <a:p>
            <a:r>
              <a:rPr lang="en-US" sz="900" dirty="0"/>
              <a:t>have different data models and you need help to translate between them</a:t>
            </a:r>
          </a:p>
          <a:p>
            <a:r>
              <a:rPr lang="en-US" sz="900" dirty="0"/>
              <a:t>you need experts to help wrangle the answers out of your systems,</a:t>
            </a:r>
          </a:p>
          <a:p>
            <a:r>
              <a:rPr lang="en-US" sz="900" dirty="0"/>
              <a:t>you have completed a project or work; you have often found that something </a:t>
            </a:r>
          </a:p>
          <a:p>
            <a:pPr marL="0" indent="0">
              <a:buNone/>
            </a:pPr>
            <a:r>
              <a:rPr lang="en-US" sz="900" dirty="0"/>
              <a:t>      similar already existed. </a:t>
            </a:r>
          </a:p>
          <a:p>
            <a:r>
              <a:rPr lang="en-US" sz="900" dirty="0"/>
              <a:t>You always use Google instead of internal tools to find things.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1B9C09-3B84-4E65-86CA-19750DF28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3E8F8-C2A1-4EA7-9411-6E152B361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983D2-0019-44CC-A736-7BF7E716161E}"/>
              </a:ext>
            </a:extLst>
          </p:cNvPr>
          <p:cNvSpPr txBox="1"/>
          <p:nvPr/>
        </p:nvSpPr>
        <p:spPr>
          <a:xfrm>
            <a:off x="770650" y="3723722"/>
            <a:ext cx="445533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Enterprise Knowledge Graphs : AbbVie Unite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92F08-6E08-4271-B842-B11BBAC4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" y="1028700"/>
            <a:ext cx="4883086" cy="26260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9A3363-0F04-4B87-BCD4-61BB9EF38420}"/>
              </a:ext>
            </a:extLst>
          </p:cNvPr>
          <p:cNvSpPr txBox="1"/>
          <p:nvPr/>
        </p:nvSpPr>
        <p:spPr>
          <a:xfrm>
            <a:off x="1084822" y="3920280"/>
            <a:ext cx="370053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effectLst/>
                <a:latin typeface="Slack-Lato"/>
                <a:hlinkClick r:id="rId3"/>
              </a:rPr>
              <a:t>https://rconnect-aws.abbvienet.com/unite/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74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604763-DC4D-4415-8D74-5063C4C0ED46}"/>
              </a:ext>
            </a:extLst>
          </p:cNvPr>
          <p:cNvSpPr/>
          <p:nvPr/>
        </p:nvSpPr>
        <p:spPr>
          <a:xfrm>
            <a:off x="345024" y="2229373"/>
            <a:ext cx="3152716" cy="164685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345A2-7D40-4CDA-B47B-5E39F105C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70854"/>
            <a:ext cx="7683940" cy="239315"/>
          </a:xfrm>
        </p:spPr>
        <p:txBody>
          <a:bodyPr>
            <a:normAutofit fontScale="90000"/>
          </a:bodyPr>
          <a:lstStyle/>
          <a:p>
            <a:r>
              <a:rPr lang="en-US"/>
              <a:t>Why do we need to do knowledge mining algorithms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86B61-A9CF-4DA7-8B1B-DBAB2C2FE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518986"/>
            <a:ext cx="8714032" cy="4105528"/>
          </a:xfrm>
        </p:spPr>
        <p:txBody>
          <a:bodyPr/>
          <a:lstStyle/>
          <a:p>
            <a:r>
              <a:rPr lang="en-US" sz="1100" b="0" i="0" u="none" strike="noStrike" baseline="0">
                <a:latin typeface="LinLibertineT"/>
              </a:rPr>
              <a:t> A number of practical languages have been proposed for querying graphs. </a:t>
            </a:r>
          </a:p>
          <a:p>
            <a:pPr marL="0" indent="0">
              <a:buNone/>
            </a:pPr>
            <a:r>
              <a:rPr lang="en-US" sz="1100">
                <a:latin typeface="LinLibertineT"/>
              </a:rPr>
              <a:t>          a)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LinLibertineT"/>
              </a:rPr>
              <a:t>SPARQL query language for RDF graphs  b) Cypher (Neo4j),  </a:t>
            </a:r>
            <a:r>
              <a:rPr lang="en-US" sz="1100">
                <a:solidFill>
                  <a:srgbClr val="000000"/>
                </a:solidFill>
                <a:latin typeface="LinLibertineT"/>
              </a:rPr>
              <a:t>c)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LinLibertineT"/>
              </a:rPr>
              <a:t>Gremlin (Apache 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LinLibertineT"/>
              </a:rPr>
              <a:t>TinkerPop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LinLibertineT"/>
              </a:rPr>
              <a:t>)  </a:t>
            </a:r>
            <a:r>
              <a:rPr lang="en-US" sz="1100">
                <a:solidFill>
                  <a:srgbClr val="000000"/>
                </a:solidFill>
                <a:latin typeface="LinLibertineT"/>
              </a:rPr>
              <a:t>d)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LinLibertineT"/>
              </a:rPr>
              <a:t>G-CORE for querying property graphs. </a:t>
            </a:r>
          </a:p>
          <a:p>
            <a:pPr algn="l"/>
            <a:r>
              <a:rPr lang="en-US" sz="1100">
                <a:solidFill>
                  <a:srgbClr val="000000"/>
                </a:solidFill>
                <a:latin typeface="LinLibertineT"/>
              </a:rPr>
              <a:t>Learn new software , query language, query operators &amp;  path patterns  in knowledge graphs. We need experts ..</a:t>
            </a:r>
          </a:p>
          <a:p>
            <a:pPr marL="0" indent="0" algn="l">
              <a:buNone/>
            </a:pPr>
            <a:r>
              <a:rPr lang="en-US" sz="1100" b="1">
                <a:solidFill>
                  <a:srgbClr val="000000"/>
                </a:solidFill>
                <a:latin typeface="LinLibertineT"/>
              </a:rPr>
              <a:t>Example</a:t>
            </a: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 sz="1100">
              <a:solidFill>
                <a:srgbClr val="000000"/>
              </a:solidFill>
              <a:latin typeface="LinLibertineT"/>
            </a:endParaRPr>
          </a:p>
          <a:p>
            <a:pPr algn="l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12837-9942-45A6-B67E-4D3563306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797AA-C071-4C90-8486-C18D6BCD5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2050" name="Picture 2" descr="figure8">
            <a:extLst>
              <a:ext uri="{FF2B5EF4-FFF2-40B4-BE49-F238E27FC236}">
                <a16:creationId xmlns:a16="http://schemas.microsoft.com/office/drawing/2014/main" id="{8A0ADFE9-D1E6-4558-AD97-0890A8DC0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838" y="1838395"/>
            <a:ext cx="5167413" cy="240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04223E-B51F-494B-9BE7-6DCC01C53069}"/>
              </a:ext>
            </a:extLst>
          </p:cNvPr>
          <p:cNvSpPr txBox="1"/>
          <p:nvPr/>
        </p:nvSpPr>
        <p:spPr>
          <a:xfrm>
            <a:off x="491037" y="1569584"/>
            <a:ext cx="6258511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/>
              <a:t>Find the top 5 pathways in the KEGG pathway contain at least two of the efficient target that associated with a given side effect (i.e. hepatomegaly</a:t>
            </a:r>
            <a:r>
              <a:rPr lang="en-US"/>
              <a:t>) </a:t>
            </a:r>
          </a:p>
          <a:p>
            <a:endParaRPr lang="en-US"/>
          </a:p>
          <a:p>
            <a:endParaRPr lang="en-US" sz="1000" i="1"/>
          </a:p>
          <a:p>
            <a:r>
              <a:rPr lang="en-US" sz="800" i="1"/>
              <a:t>SELECT ?</a:t>
            </a:r>
            <a:r>
              <a:rPr lang="en-US" sz="800" i="1" err="1"/>
              <a:t>pathway_id</a:t>
            </a:r>
            <a:r>
              <a:rPr lang="en-US" sz="800" i="1"/>
              <a:t> (count(?</a:t>
            </a:r>
            <a:r>
              <a:rPr lang="en-US" sz="800" i="1" err="1"/>
              <a:t>pathway_id</a:t>
            </a:r>
            <a:r>
              <a:rPr lang="en-US" sz="800" i="1"/>
              <a:t>) as ?count) </a:t>
            </a:r>
          </a:p>
          <a:p>
            <a:r>
              <a:rPr lang="en-US" sz="800" i="1"/>
              <a:t>WHERE { ?sider2compound </a:t>
            </a:r>
            <a:r>
              <a:rPr lang="en-US" sz="800" i="1" err="1"/>
              <a:t>sider:side_effect</a:t>
            </a:r>
            <a:r>
              <a:rPr lang="en-US" sz="800" i="1"/>
              <a:t> ?</a:t>
            </a:r>
            <a:r>
              <a:rPr lang="en-US" sz="800" i="1" err="1"/>
              <a:t>side_effect</a:t>
            </a:r>
            <a:r>
              <a:rPr lang="en-US" sz="800" i="1"/>
              <a:t> . </a:t>
            </a:r>
          </a:p>
          <a:p>
            <a:r>
              <a:rPr lang="en-US" sz="800" i="1"/>
              <a:t>FILTER regex(?</a:t>
            </a:r>
            <a:r>
              <a:rPr lang="en-US" sz="800" i="1" err="1"/>
              <a:t>side_effect,"hepatomegaly","i</a:t>
            </a:r>
            <a:r>
              <a:rPr lang="en-US" sz="800" i="1"/>
              <a:t>") . </a:t>
            </a:r>
          </a:p>
          <a:p>
            <a:r>
              <a:rPr lang="en-US" sz="800" i="1"/>
              <a:t>?sider2compound </a:t>
            </a:r>
            <a:r>
              <a:rPr lang="en-US" sz="800" i="1" err="1"/>
              <a:t>sider:cid</a:t>
            </a:r>
            <a:r>
              <a:rPr lang="en-US" sz="800" i="1"/>
              <a:t> ?compound . </a:t>
            </a:r>
          </a:p>
          <a:p>
            <a:r>
              <a:rPr lang="en-US" sz="800" i="1"/>
              <a:t>?drug </a:t>
            </a:r>
            <a:r>
              <a:rPr lang="en-US" sz="800" i="1" err="1"/>
              <a:t>drugbank_drug:CID</a:t>
            </a:r>
            <a:r>
              <a:rPr lang="en-US" sz="800" i="1"/>
              <a:t> ?compound . </a:t>
            </a:r>
          </a:p>
          <a:p>
            <a:r>
              <a:rPr lang="en-US" sz="800" i="1"/>
              <a:t>?drug2target </a:t>
            </a:r>
            <a:r>
              <a:rPr lang="en-US" sz="800" i="1" err="1"/>
              <a:t>drugbank_interaction:DBID</a:t>
            </a:r>
            <a:r>
              <a:rPr lang="en-US" sz="800" i="1"/>
              <a:t> ?drug . </a:t>
            </a:r>
          </a:p>
          <a:p>
            <a:r>
              <a:rPr lang="en-US" sz="800" i="1"/>
              <a:t>?drug2target </a:t>
            </a:r>
            <a:r>
              <a:rPr lang="en-US" sz="800" i="1" err="1"/>
              <a:t>drugbank_interaction:SwissProt_ID</a:t>
            </a:r>
            <a:r>
              <a:rPr lang="en-US" sz="800" i="1"/>
              <a:t> </a:t>
            </a:r>
          </a:p>
          <a:p>
            <a:r>
              <a:rPr lang="en-US" sz="800" i="1"/>
              <a:t>?</a:t>
            </a:r>
            <a:r>
              <a:rPr lang="en-US" sz="800" i="1" err="1"/>
              <a:t>uniprot</a:t>
            </a:r>
            <a:r>
              <a:rPr lang="en-US" sz="800" i="1"/>
              <a:t> . </a:t>
            </a:r>
          </a:p>
          <a:p>
            <a:r>
              <a:rPr lang="en-US" sz="800" i="1"/>
              <a:t>?</a:t>
            </a:r>
            <a:r>
              <a:rPr lang="en-US" sz="800" i="1" err="1"/>
              <a:t>kegg_pathway</a:t>
            </a:r>
            <a:r>
              <a:rPr lang="en-US" sz="800" i="1"/>
              <a:t> </a:t>
            </a:r>
            <a:r>
              <a:rPr lang="en-US" sz="800" i="1" err="1"/>
              <a:t>kegg_pathway_protein:Uniprot</a:t>
            </a:r>
            <a:r>
              <a:rPr lang="en-US" sz="800" i="1"/>
              <a:t> </a:t>
            </a:r>
          </a:p>
          <a:p>
            <a:r>
              <a:rPr lang="en-US" sz="800" i="1"/>
              <a:t>?</a:t>
            </a:r>
            <a:r>
              <a:rPr lang="en-US" sz="800" i="1" err="1"/>
              <a:t>uniprot</a:t>
            </a:r>
            <a:r>
              <a:rPr lang="en-US" sz="800" i="1"/>
              <a:t> . </a:t>
            </a:r>
          </a:p>
          <a:p>
            <a:r>
              <a:rPr lang="en-US" sz="800" i="1"/>
              <a:t>?</a:t>
            </a:r>
            <a:r>
              <a:rPr lang="en-US" sz="800" i="1" err="1"/>
              <a:t>kegg_pathway</a:t>
            </a:r>
            <a:r>
              <a:rPr lang="en-US" sz="800" i="1"/>
              <a:t> </a:t>
            </a:r>
            <a:r>
              <a:rPr lang="en-US" sz="800" i="1" err="1"/>
              <a:t>kegg_pathway_protein:PathwayID</a:t>
            </a:r>
            <a:r>
              <a:rPr lang="en-US" sz="800" i="1"/>
              <a:t> </a:t>
            </a:r>
          </a:p>
          <a:p>
            <a:r>
              <a:rPr lang="en-US" sz="800" i="1"/>
              <a:t>?</a:t>
            </a:r>
            <a:r>
              <a:rPr lang="en-US" sz="800" i="1" err="1"/>
              <a:t>pathway_id</a:t>
            </a:r>
            <a:r>
              <a:rPr lang="en-US" sz="800" i="1"/>
              <a:t> . } GROUP BY ?</a:t>
            </a:r>
            <a:r>
              <a:rPr lang="en-US" sz="800" i="1" err="1"/>
              <a:t>pathway_id</a:t>
            </a:r>
            <a:r>
              <a:rPr lang="en-US" sz="800" i="1"/>
              <a:t> ORDER BY ?count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97EC0-36C7-412A-A188-CD81E056FA74}"/>
              </a:ext>
            </a:extLst>
          </p:cNvPr>
          <p:cNvSpPr txBox="1"/>
          <p:nvPr/>
        </p:nvSpPr>
        <p:spPr>
          <a:xfrm>
            <a:off x="44487" y="4394777"/>
            <a:ext cx="93550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/>
              <a:t>Chen, B., Dong. X., Jiao, D., Wang, H., Zhu, Q., Ding, Y., Wild, D.J. Chem2Bio2RDF: a semantic framework for linking and data mining chemogenomic and systems chemical biology data. BMC Bioinformatics 2010, 11, 255</a:t>
            </a:r>
          </a:p>
        </p:txBody>
      </p:sp>
    </p:spTree>
    <p:extLst>
      <p:ext uri="{BB962C8B-B14F-4D97-AF65-F5344CB8AC3E}">
        <p14:creationId xmlns:p14="http://schemas.microsoft.com/office/powerpoint/2010/main" val="170524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AED20-DDAD-41AB-A7EE-9DB29D261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610D9-C0FE-4BD2-83F1-CAC81968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7" name="Picture 2" descr="Illustration of network embedding in biomedical research. Traditional network-based learning conforms to network structure, hence suffers from high computational and space cost. In contrast, network embedding projects biomedical network into a low-dimensional space while preserving structural properties, hence traditional machine learning methods can be easily applied to the low-dimensional embedding vectors for downstream biomedical tasks.">
            <a:extLst>
              <a:ext uri="{FF2B5EF4-FFF2-40B4-BE49-F238E27FC236}">
                <a16:creationId xmlns:a16="http://schemas.microsoft.com/office/drawing/2014/main" id="{26F67C9C-EF36-4B82-8375-D8C4C6AD4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880" y="1285810"/>
            <a:ext cx="3811517" cy="1231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7BBC93D-719D-4BAB-9113-774F870A0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70854"/>
            <a:ext cx="7683940" cy="239315"/>
          </a:xfrm>
        </p:spPr>
        <p:txBody>
          <a:bodyPr>
            <a:normAutofit fontScale="90000"/>
          </a:bodyPr>
          <a:lstStyle/>
          <a:p>
            <a:r>
              <a:rPr lang="en-US"/>
              <a:t>Why do we need to do knowledge mining algorithms</a:t>
            </a:r>
            <a:br>
              <a:rPr lang="en-US"/>
            </a:b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8A884B-7837-4941-AED0-5156C28E1645}"/>
              </a:ext>
            </a:extLst>
          </p:cNvPr>
          <p:cNvSpPr txBox="1"/>
          <p:nvPr/>
        </p:nvSpPr>
        <p:spPr>
          <a:xfrm>
            <a:off x="-1" y="3672409"/>
            <a:ext cx="8869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Network embedding technologies provide new effective paradigms to solve the network analysis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Network embedding aims at converting the network into a low-dimensional space while structural information of the network is preserved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FCCF32-8F75-4791-BC62-7AC861CBD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919" y="882097"/>
            <a:ext cx="2986643" cy="235443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55B407-06D0-455E-9D74-8DDE8AA20470}"/>
              </a:ext>
            </a:extLst>
          </p:cNvPr>
          <p:cNvCxnSpPr/>
          <p:nvPr/>
        </p:nvCxnSpPr>
        <p:spPr>
          <a:xfrm>
            <a:off x="1399919" y="748460"/>
            <a:ext cx="0" cy="2621707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C57A725-BE49-4288-B53A-A8465EDD99F6}"/>
              </a:ext>
            </a:extLst>
          </p:cNvPr>
          <p:cNvSpPr txBox="1"/>
          <p:nvPr/>
        </p:nvSpPr>
        <p:spPr>
          <a:xfrm>
            <a:off x="485057" y="1055077"/>
            <a:ext cx="1285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Programmatical Approach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45F572-1259-4C6C-84A0-B02271AFDA85}"/>
              </a:ext>
            </a:extLst>
          </p:cNvPr>
          <p:cNvSpPr txBox="1"/>
          <p:nvPr/>
        </p:nvSpPr>
        <p:spPr>
          <a:xfrm>
            <a:off x="630415" y="1899206"/>
            <a:ext cx="1055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Machine </a:t>
            </a:r>
          </a:p>
          <a:p>
            <a:r>
              <a:rPr lang="en-US" sz="800" b="1"/>
              <a:t>Learning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D0AE30-B22A-46B0-80AE-BB19BCD8C861}"/>
              </a:ext>
            </a:extLst>
          </p:cNvPr>
          <p:cNvSpPr txBox="1"/>
          <p:nvPr/>
        </p:nvSpPr>
        <p:spPr>
          <a:xfrm>
            <a:off x="630415" y="2571750"/>
            <a:ext cx="994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Knowledge Graph</a:t>
            </a:r>
          </a:p>
        </p:txBody>
      </p:sp>
    </p:spTree>
    <p:extLst>
      <p:ext uri="{BB962C8B-B14F-4D97-AF65-F5344CB8AC3E}">
        <p14:creationId xmlns:p14="http://schemas.microsoft.com/office/powerpoint/2010/main" val="48249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61F6A6-9B6F-4C67-A7FB-22F71655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29" y="130974"/>
            <a:ext cx="7683940" cy="349167"/>
          </a:xfrm>
        </p:spPr>
        <p:txBody>
          <a:bodyPr>
            <a:normAutofit fontScale="90000"/>
          </a:bodyPr>
          <a:lstStyle/>
          <a:p>
            <a:r>
              <a:rPr lang="en-US"/>
              <a:t>Why do we need to do knowledge mining algorithms</a:t>
            </a:r>
            <a:br>
              <a:rPr lang="en-US"/>
            </a:b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9E1A0-8F61-4799-BD0E-68FC091CD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179A9-D0EB-4046-B6EE-614FE8A74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2" name="Picture 2" descr="Formatting biological big data for modern machine learning in drug ...">
            <a:extLst>
              <a:ext uri="{FF2B5EF4-FFF2-40B4-BE49-F238E27FC236}">
                <a16:creationId xmlns:a16="http://schemas.microsoft.com/office/drawing/2014/main" id="{FED3FDD0-9709-4BFD-A02A-1F4E0748C1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4" y="541020"/>
            <a:ext cx="6962507" cy="2506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836B07-286C-431E-8C21-4CA50A833DB8}"/>
              </a:ext>
            </a:extLst>
          </p:cNvPr>
          <p:cNvSpPr txBox="1"/>
          <p:nvPr/>
        </p:nvSpPr>
        <p:spPr>
          <a:xfrm>
            <a:off x="4965792" y="1410916"/>
            <a:ext cx="8162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node2vec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9FA11-7589-4C59-A61B-AE981C24FD3B}"/>
              </a:ext>
            </a:extLst>
          </p:cNvPr>
          <p:cNvSpPr txBox="1"/>
          <p:nvPr/>
        </p:nvSpPr>
        <p:spPr>
          <a:xfrm>
            <a:off x="4839456" y="1242611"/>
            <a:ext cx="10689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Metapath2Vec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BEA2D-E423-4635-9DDD-746C2A4640E0}"/>
              </a:ext>
            </a:extLst>
          </p:cNvPr>
          <p:cNvSpPr txBox="1"/>
          <p:nvPr/>
        </p:nvSpPr>
        <p:spPr>
          <a:xfrm>
            <a:off x="4905718" y="1020718"/>
            <a:ext cx="10689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Edge2Vec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A8B88C-7BA4-4D33-B27B-909A2DCBE19E}"/>
              </a:ext>
            </a:extLst>
          </p:cNvPr>
          <p:cNvSpPr txBox="1"/>
          <p:nvPr/>
        </p:nvSpPr>
        <p:spPr>
          <a:xfrm>
            <a:off x="138285" y="3021466"/>
            <a:ext cx="869044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complex biological networks can be converted to a vector format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walks with bias and without bias can be used to generated the node sequences which can be used to embed the graph using skip gram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vectorized </a:t>
            </a:r>
            <a:r>
              <a:rPr lang="en-US"/>
              <a:t>pharmceutical </a:t>
            </a:r>
            <a:r>
              <a:rPr lang="en-US" dirty="0"/>
              <a:t>data can be used to perform a supervised learning to predict new associations between </a:t>
            </a:r>
            <a:r>
              <a:rPr lang="en-US" dirty="0" err="1"/>
              <a:t>drugs,targets</a:t>
            </a:r>
            <a:r>
              <a:rPr lang="en-US" dirty="0"/>
              <a:t> , disease , pathways and side-effects.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work we present how we can use Graph Embeddings to predict Compound pharmaceutical targets.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01F315-5C07-47F8-BF92-36D480F1C66D}"/>
              </a:ext>
            </a:extLst>
          </p:cNvPr>
          <p:cNvSpPr/>
          <p:nvPr/>
        </p:nvSpPr>
        <p:spPr>
          <a:xfrm>
            <a:off x="1925679" y="4400148"/>
            <a:ext cx="710576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err="1">
                <a:solidFill>
                  <a:srgbClr val="1C1D1E"/>
                </a:solidFill>
                <a:latin typeface="Open Sans"/>
              </a:rPr>
              <a:t>Aloy</a:t>
            </a:r>
            <a:r>
              <a:rPr lang="en-US" sz="1000" i="1">
                <a:solidFill>
                  <a:srgbClr val="1C1D1E"/>
                </a:solidFill>
                <a:latin typeface="Open Sans"/>
              </a:rPr>
              <a:t> </a:t>
            </a:r>
            <a:r>
              <a:rPr lang="en-US" sz="1000" i="1" err="1">
                <a:solidFill>
                  <a:srgbClr val="1C1D1E"/>
                </a:solidFill>
                <a:latin typeface="Open Sans"/>
              </a:rPr>
              <a:t>Etal</a:t>
            </a:r>
            <a:r>
              <a:rPr lang="en-US" sz="1000" i="1">
                <a:solidFill>
                  <a:srgbClr val="1C1D1E"/>
                </a:solidFill>
                <a:latin typeface="Open Sans"/>
              </a:rPr>
              <a:t>. Formatting biological big data for modern machine learning in drug discovery.</a:t>
            </a:r>
            <a:r>
              <a:rPr lang="en-US" sz="1000" i="1"/>
              <a:t>  </a:t>
            </a:r>
            <a:r>
              <a:rPr lang="en-US" sz="1000" i="1">
                <a:hlinkClick r:id="rId3"/>
              </a:rPr>
              <a:t>https://doi.org/10.1002/wcms.1408</a:t>
            </a:r>
            <a:endParaRPr lang="en-US" sz="1000" i="1"/>
          </a:p>
          <a:p>
            <a:endParaRPr lang="en-US" sz="1100" b="1" i="0">
              <a:solidFill>
                <a:srgbClr val="1C1D1E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9490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094AD8-E3EA-427E-A57B-9E9FAD93E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C73B7-6AAA-4835-8D71-032F70EF0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7707386-5C20-4428-BF02-89CE06350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90513"/>
            <a:ext cx="7683500" cy="738187"/>
          </a:xfrm>
        </p:spPr>
        <p:txBody>
          <a:bodyPr>
            <a:normAutofit/>
          </a:bodyPr>
          <a:lstStyle/>
          <a:p>
            <a:r>
              <a:rPr lang="en-US"/>
              <a:t>Why do we need to do knowledge mining algorithms</a:t>
            </a:r>
            <a:br>
              <a:rPr lang="en-US"/>
            </a:b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571CBB-2F32-4E1A-AB5C-9BDA3A30A773}"/>
                  </a:ext>
                </a:extLst>
              </p:cNvPr>
              <p:cNvSpPr txBox="1"/>
              <p:nvPr/>
            </p:nvSpPr>
            <p:spPr>
              <a:xfrm>
                <a:off x="354965" y="739140"/>
                <a:ext cx="8026400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It is hard to find meaningful information after traversing several edges away from a node.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Graph Embeddings helps to solve the computational efficiency problem of Graph computing by embedding Graph Structures on a compact Manifold.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Encoder maps each node to a low dimensional vector . 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𝐸𝑁𝑉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sz="14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/>
                  <a:t>Similarity function specifies relationship in vector space map to relationship on the original network.</a:t>
                </a:r>
              </a:p>
              <a:p>
                <a:r>
                  <a:rPr lang="en-US" sz="1400"/>
                  <a:t>      </a:t>
                </a:r>
                <a:endParaRPr lang="en-US" sz="1400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𝑠𝑖𝑚𝑖𝑙𝑎𝑟𝑖𝑡𝑦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  <m:sSubSup>
                      <m:sSub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1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sz="14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571CBB-2F32-4E1A-AB5C-9BDA3A30A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5" y="739140"/>
                <a:ext cx="8026400" cy="2800767"/>
              </a:xfrm>
              <a:prstGeom prst="rect">
                <a:avLst/>
              </a:prstGeom>
              <a:blipFill>
                <a:blip r:embed="rId2"/>
                <a:stretch>
                  <a:fillRect l="-76" t="-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4" descr="Knowledge Graphs">
            <a:extLst>
              <a:ext uri="{FF2B5EF4-FFF2-40B4-BE49-F238E27FC236}">
                <a16:creationId xmlns:a16="http://schemas.microsoft.com/office/drawing/2014/main" id="{647D533B-D038-4B09-981C-08E3EAB4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284" y="2681088"/>
            <a:ext cx="4229100" cy="181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025282-7FC3-4356-95DC-D7BE761D658F}"/>
              </a:ext>
            </a:extLst>
          </p:cNvPr>
          <p:cNvCxnSpPr>
            <a:cxnSpLocks/>
          </p:cNvCxnSpPr>
          <p:nvPr/>
        </p:nvCxnSpPr>
        <p:spPr>
          <a:xfrm flipH="1">
            <a:off x="1058622" y="3242668"/>
            <a:ext cx="302539" cy="474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F732DA-D7ED-43F9-84F4-387C795CE1A5}"/>
              </a:ext>
            </a:extLst>
          </p:cNvPr>
          <p:cNvCxnSpPr>
            <a:cxnSpLocks/>
          </p:cNvCxnSpPr>
          <p:nvPr/>
        </p:nvCxnSpPr>
        <p:spPr>
          <a:xfrm>
            <a:off x="2844622" y="3242668"/>
            <a:ext cx="363212" cy="442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148ABE-2BC9-4090-BCA3-48A47853793B}"/>
              </a:ext>
            </a:extLst>
          </p:cNvPr>
          <p:cNvSpPr txBox="1"/>
          <p:nvPr/>
        </p:nvSpPr>
        <p:spPr>
          <a:xfrm>
            <a:off x="304800" y="3634740"/>
            <a:ext cx="2149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Similarity of u and v in the original network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666B6-C966-4299-9DBA-8109D61CF16C}"/>
              </a:ext>
            </a:extLst>
          </p:cNvPr>
          <p:cNvSpPr txBox="1"/>
          <p:nvPr/>
        </p:nvSpPr>
        <p:spPr>
          <a:xfrm>
            <a:off x="2384797" y="3639701"/>
            <a:ext cx="24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Dot product between node embeddings</a:t>
            </a:r>
          </a:p>
        </p:txBody>
      </p:sp>
    </p:spTree>
    <p:extLst>
      <p:ext uri="{BB962C8B-B14F-4D97-AF65-F5344CB8AC3E}">
        <p14:creationId xmlns:p14="http://schemas.microsoft.com/office/powerpoint/2010/main" val="397670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6742A-AB34-45C1-AF18-3BA97352F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8CB2C-0ACB-44FC-A7A5-CFB5183A4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Google Shape;124;p16">
            <a:extLst>
              <a:ext uri="{FF2B5EF4-FFF2-40B4-BE49-F238E27FC236}">
                <a16:creationId xmlns:a16="http://schemas.microsoft.com/office/drawing/2014/main" id="{F05518C3-CA6A-4F6A-AD09-25B689740D72}"/>
              </a:ext>
            </a:extLst>
          </p:cNvPr>
          <p:cNvSpPr txBox="1">
            <a:spLocks/>
          </p:cNvSpPr>
          <p:nvPr/>
        </p:nvSpPr>
        <p:spPr bwMode="auto">
          <a:xfrm>
            <a:off x="176648" y="386317"/>
            <a:ext cx="8577263" cy="1661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121900" tIns="121900" rIns="121900" bIns="121900" numCol="1" rtlCol="0" anchor="t" anchorCtr="0" compatLnSpc="1">
            <a:prstTxWarp prst="textNoShape">
              <a:avLst/>
            </a:prstTxWarp>
            <a:noAutofit/>
          </a:bodyPr>
          <a:lstStyle>
            <a:lvl1pPr algn="l" defTabSz="457200" rtl="0" fontAlgn="base">
              <a:spcBef>
                <a:spcPct val="80000"/>
              </a:spcBef>
              <a:spcAft>
                <a:spcPct val="0"/>
              </a:spcAft>
              <a:buFont typeface="Arial" pitchFamily="34" charset="0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6400" indent="-292100" algn="l" defTabSz="457200" rtl="0" fontAlgn="base">
              <a:spcBef>
                <a:spcPct val="40000"/>
              </a:spcBef>
              <a:spcAft>
                <a:spcPct val="0"/>
              </a:spcAft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9300" indent="-228600" algn="l" defTabSz="457200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457200" rtl="0" fontAlgn="base">
              <a:spcBef>
                <a:spcPct val="1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900" indent="-228600" algn="l" defTabSz="457200" rtl="0" fontAlgn="base">
              <a:spcBef>
                <a:spcPct val="1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/>
              <a:t>Node2Vec: Adds a parameter to bias walks to go away or towards nodes they’ve already visited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/>
              <a:t>Edge2Vec: Biases walks to walk on edge transition types which are rarer/more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/>
              <a:t>Metapath2Vec: Only allow certain types of walks with </a:t>
            </a:r>
            <a:r>
              <a:rPr lang="en-US" sz="1200" err="1"/>
              <a:t>metapaths</a:t>
            </a:r>
            <a:r>
              <a:rPr lang="en-US" sz="1200"/>
              <a:t> </a:t>
            </a:r>
          </a:p>
          <a:p>
            <a:pPr marL="749300" lvl="1" indent="-342900">
              <a:buFont typeface="Arial" panose="020B0604020202020204" pitchFamily="34" charset="0"/>
              <a:buChar char="•"/>
            </a:pPr>
            <a:r>
              <a:rPr lang="en-US" sz="1200"/>
              <a:t>Compound-&gt;Gene-&gt;Compound</a:t>
            </a:r>
            <a:endParaRPr lang="en-US" sz="120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err="1"/>
              <a:t>GraphSAGE</a:t>
            </a:r>
            <a:r>
              <a:rPr lang="en-US" sz="1200"/>
              <a:t> : Modified version of GCN (Graph Convolutional Networks)</a:t>
            </a:r>
          </a:p>
          <a:p>
            <a:endParaRPr lang="en-US" sz="2400">
              <a:hlinkClick r:id="rId2"/>
            </a:endParaRPr>
          </a:p>
          <a:p>
            <a:endParaRPr lang="en-US" sz="2400">
              <a:hlinkClick r:id="rId2"/>
            </a:endParaRPr>
          </a:p>
          <a:p>
            <a:endParaRPr lang="en-US" sz="2400">
              <a:hlinkClick r:id="rId2"/>
            </a:endParaRPr>
          </a:p>
          <a:p>
            <a:endParaRPr lang="en-US" sz="2400">
              <a:hlinkClick r:id="rId2"/>
            </a:endParaRPr>
          </a:p>
          <a:p>
            <a:endParaRPr lang="en-US" sz="1600"/>
          </a:p>
          <a:p>
            <a:endParaRPr lang="en-US" sz="24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B4EB46-901B-4FDB-A14A-7DAE20A7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90512"/>
            <a:ext cx="7683940" cy="471488"/>
          </a:xfrm>
        </p:spPr>
        <p:txBody>
          <a:bodyPr>
            <a:normAutofit fontScale="90000"/>
          </a:bodyPr>
          <a:lstStyle/>
          <a:p>
            <a:r>
              <a:rPr lang="en-US"/>
              <a:t>Graph Mining Algorithms</a:t>
            </a:r>
            <a:br>
              <a:rPr lang="en-US"/>
            </a:b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12836E-8645-48DB-AB0C-A597F5BD3A6F}"/>
              </a:ext>
            </a:extLst>
          </p:cNvPr>
          <p:cNvSpPr txBox="1"/>
          <p:nvPr/>
        </p:nvSpPr>
        <p:spPr>
          <a:xfrm>
            <a:off x="874130" y="2418604"/>
            <a:ext cx="8117470" cy="23775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preprocessing to compute transition probabilities for guiding random walks</a:t>
            </a:r>
          </a:p>
          <a:p>
            <a:endParaRPr lang="en-US"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Generate node sequences (input corpus) using second order random walk with BFS and DFS strategy.</a:t>
            </a:r>
            <a:endParaRPr lang="en-US">
              <a:cs typeface="Calibri"/>
            </a:endParaRP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Iterate random walks from same source node multiple times for convergence</a:t>
            </a:r>
            <a:endParaRPr lang="en-US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Supply the node sequences as input to skip-gram model. </a:t>
            </a:r>
            <a:endParaRPr lang="en-US">
              <a:cs typeface="Calibri"/>
            </a:endParaRP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Maximize the probability of neighborhoods for the given nodes.</a:t>
            </a:r>
            <a:endParaRPr lang="en-US">
              <a:cs typeface="Calibri"/>
            </a:endParaRP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C2C9E-F5D8-469D-A776-606381C5B107}"/>
              </a:ext>
            </a:extLst>
          </p:cNvPr>
          <p:cNvSpPr txBox="1"/>
          <p:nvPr/>
        </p:nvSpPr>
        <p:spPr>
          <a:xfrm>
            <a:off x="2805162" y="2185416"/>
            <a:ext cx="37337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Fundamental concept of Graph Embedding</a:t>
            </a:r>
          </a:p>
        </p:txBody>
      </p:sp>
    </p:spTree>
    <p:extLst>
      <p:ext uri="{BB962C8B-B14F-4D97-AF65-F5344CB8AC3E}">
        <p14:creationId xmlns:p14="http://schemas.microsoft.com/office/powerpoint/2010/main" val="205832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61F6A6-9B6F-4C67-A7FB-22F71655D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47" y="83941"/>
            <a:ext cx="7683940" cy="738188"/>
          </a:xfrm>
        </p:spPr>
        <p:txBody>
          <a:bodyPr/>
          <a:lstStyle/>
          <a:p>
            <a:r>
              <a:rPr lang="en-US"/>
              <a:t>Data and Results section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9E1A0-8F61-4799-BD0E-68FC091CDC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179A9-D0EB-4046-B6EE-614FE8A74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9ADA18ED-07AC-4073-8BED-44D5758D3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27500" t="36000" r="27500" b="21000"/>
          <a:stretch>
            <a:fillRect/>
          </a:stretch>
        </p:blipFill>
        <p:spPr bwMode="auto">
          <a:xfrm>
            <a:off x="5268144" y="701316"/>
            <a:ext cx="3712594" cy="1856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D05AF4FE-5415-4C0B-8A6C-236B41E79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5684" y="2715036"/>
            <a:ext cx="5317964" cy="1856298"/>
          </a:xfrm>
          <a:prstGeom prst="rect">
            <a:avLst/>
          </a:prstGeom>
        </p:spPr>
      </p:pic>
      <p:graphicFrame>
        <p:nvGraphicFramePr>
          <p:cNvPr id="18" name="Table 8">
            <a:extLst>
              <a:ext uri="{FF2B5EF4-FFF2-40B4-BE49-F238E27FC236}">
                <a16:creationId xmlns:a16="http://schemas.microsoft.com/office/drawing/2014/main" id="{1EB8F7C1-8845-4DCC-8F9D-8727ECAD1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52156"/>
              </p:ext>
            </p:extLst>
          </p:nvPr>
        </p:nvGraphicFramePr>
        <p:xfrm>
          <a:off x="163262" y="574152"/>
          <a:ext cx="2578371" cy="27736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476858">
                  <a:extLst>
                    <a:ext uri="{9D8B030D-6E8A-4147-A177-3AD203B41FA5}">
                      <a16:colId xmlns:a16="http://schemas.microsoft.com/office/drawing/2014/main" val="814858427"/>
                    </a:ext>
                  </a:extLst>
                </a:gridCol>
                <a:gridCol w="1101513">
                  <a:extLst>
                    <a:ext uri="{9D8B030D-6E8A-4147-A177-3AD203B41FA5}">
                      <a16:colId xmlns:a16="http://schemas.microsoft.com/office/drawing/2014/main" val="1413813190"/>
                    </a:ext>
                  </a:extLst>
                </a:gridCol>
              </a:tblGrid>
              <a:tr h="160926">
                <a:tc>
                  <a:txBody>
                    <a:bodyPr/>
                    <a:lstStyle/>
                    <a:p>
                      <a:r>
                        <a:rPr lang="en-US" sz="800"/>
                        <a:t>Edge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644720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hasSubStructure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6169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556582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chemicalOntology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15986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360527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causesSideEffect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9004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576116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causesDisease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2929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93547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drugHasPathway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943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96478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proteinHasPathway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11258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878174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expressInTissue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10178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819318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protProtInteraction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latin typeface="Calibri"/>
                        </a:rPr>
                        <a:t>40393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5692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hasGeneFamily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latin typeface="Calibri"/>
                        </a:rPr>
                        <a:t>7181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462014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/>
                        <a:t>Express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16167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608090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/>
                        <a:t>binds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522545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541006"/>
                  </a:ext>
                </a:extLst>
              </a:tr>
              <a:tr h="160926">
                <a:tc>
                  <a:txBody>
                    <a:bodyPr/>
                    <a:lstStyle/>
                    <a:p>
                      <a:r>
                        <a:rPr lang="en-US" sz="800" err="1"/>
                        <a:t>hasGoID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95422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43877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405DDF0-F2F7-4F59-9422-E7997520D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03263"/>
              </p:ext>
            </p:extLst>
          </p:nvPr>
        </p:nvGraphicFramePr>
        <p:xfrm>
          <a:off x="2909443" y="561091"/>
          <a:ext cx="2082886" cy="20920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087074">
                  <a:extLst>
                    <a:ext uri="{9D8B030D-6E8A-4147-A177-3AD203B41FA5}">
                      <a16:colId xmlns:a16="http://schemas.microsoft.com/office/drawing/2014/main" val="814858427"/>
                    </a:ext>
                  </a:extLst>
                </a:gridCol>
                <a:gridCol w="995812">
                  <a:extLst>
                    <a:ext uri="{9D8B030D-6E8A-4147-A177-3AD203B41FA5}">
                      <a16:colId xmlns:a16="http://schemas.microsoft.com/office/drawing/2014/main" val="1413813190"/>
                    </a:ext>
                  </a:extLst>
                </a:gridCol>
              </a:tblGrid>
              <a:tr h="178297">
                <a:tc>
                  <a:txBody>
                    <a:bodyPr/>
                    <a:lstStyle/>
                    <a:p>
                      <a:r>
                        <a:rPr lang="en-US" sz="800"/>
                        <a:t>Node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644720"/>
                  </a:ext>
                </a:extLst>
              </a:tr>
              <a:tr h="17829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Gene Ontology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9710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556582"/>
                  </a:ext>
                </a:extLst>
              </a:tr>
              <a:tr h="17829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Compound/Drug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258030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360527"/>
                  </a:ext>
                </a:extLst>
              </a:tr>
              <a:tr h="17829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Side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1051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576116"/>
                  </a:ext>
                </a:extLst>
              </a:tr>
              <a:tr h="17829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22056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093547"/>
                  </a:ext>
                </a:extLst>
              </a:tr>
              <a:tr h="1713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Tissue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507</a:t>
                      </a:r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905928650"/>
                  </a:ext>
                </a:extLst>
              </a:tr>
              <a:tr h="1713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Pathway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latin typeface="Calibri"/>
                        </a:rPr>
                        <a:t>192</a:t>
                      </a:r>
                      <a:endParaRPr lang="en-US" sz="80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734963928"/>
                  </a:ext>
                </a:extLst>
              </a:tr>
              <a:tr h="17135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/>
                        <a:t>Disease</a:t>
                      </a:r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i="0" u="none" strike="noStrike" noProof="0">
                          <a:latin typeface="Calibri"/>
                        </a:rPr>
                        <a:t>1284</a:t>
                      </a:r>
                      <a:endParaRPr lang="en-US" sz="80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1118573057"/>
                  </a:ext>
                </a:extLst>
              </a:tr>
              <a:tr h="171351"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en-US" sz="800">
                          <a:effectLst/>
                        </a:rPr>
                        <a:t>Substructure​</a:t>
                      </a:r>
                      <a:endParaRPr lang="en-US" sz="80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en-US" sz="800">
                          <a:effectLst/>
                        </a:rPr>
                        <a:t>290​</a:t>
                      </a:r>
                      <a:endParaRPr lang="en-US" sz="80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2357913879"/>
                  </a:ext>
                </a:extLst>
              </a:tr>
              <a:tr h="171351"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en-US" sz="800">
                          <a:effectLst/>
                        </a:rPr>
                        <a:t>Chemical ontology​</a:t>
                      </a:r>
                      <a:endParaRPr lang="en-US" sz="800"/>
                    </a:p>
                  </a:txBody>
                  <a:tcPr marT="41564" marB="41564"/>
                </a:tc>
                <a:tc>
                  <a:txBody>
                    <a:bodyPr/>
                    <a:lstStyle/>
                    <a:p>
                      <a:pPr lvl="0" rtl="0">
                        <a:buNone/>
                      </a:pPr>
                      <a:r>
                        <a:rPr lang="en-US" sz="800">
                          <a:effectLst/>
                        </a:rPr>
                        <a:t>2777​</a:t>
                      </a:r>
                      <a:endParaRPr lang="en-US" sz="800"/>
                    </a:p>
                  </a:txBody>
                  <a:tcPr marT="41564" marB="41564"/>
                </a:tc>
                <a:extLst>
                  <a:ext uri="{0D108BD9-81ED-4DB2-BD59-A6C34878D82A}">
                    <a16:rowId xmlns:a16="http://schemas.microsoft.com/office/drawing/2014/main" val="3032254111"/>
                  </a:ext>
                </a:extLst>
              </a:tr>
            </a:tbl>
          </a:graphicData>
        </a:graphic>
      </p:graphicFrame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C8D7218-4DA7-4F7D-8E94-883B66F79C64}"/>
              </a:ext>
            </a:extLst>
          </p:cNvPr>
          <p:cNvSpPr txBox="1">
            <a:spLocks/>
          </p:cNvSpPr>
          <p:nvPr/>
        </p:nvSpPr>
        <p:spPr>
          <a:xfrm>
            <a:off x="82543" y="3503628"/>
            <a:ext cx="3386547" cy="443359"/>
          </a:xfrm>
          <a:prstGeom prst="rect">
            <a:avLst/>
          </a:prstGeom>
        </p:spPr>
        <p:txBody>
          <a:bodyPr vert="horz" lIns="0" tIns="0" rIns="0" bIns="0" rtlCol="0">
            <a:normAutofit fontScale="55000" lnSpcReduction="20000"/>
          </a:bodyPr>
          <a:lstStyle>
            <a:lvl1pPr marL="177800" indent="-17780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Chem2Bio2RDF: </a:t>
            </a:r>
            <a:r>
              <a:rPr lang="en-US"/>
              <a:t>~296,000 nodes with ~728,000 relations</a:t>
            </a:r>
          </a:p>
          <a:p>
            <a:r>
              <a:rPr lang="en-US">
                <a:cs typeface="Calibri"/>
              </a:rPr>
              <a:t>12 relation types  &amp; 9 node types:</a:t>
            </a:r>
          </a:p>
          <a:p>
            <a:endParaRPr lang="en-US">
              <a:cs typeface="Calibri"/>
            </a:endParaRPr>
          </a:p>
          <a:p>
            <a:endParaRPr lang="en-US" b="1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5079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1C37-43EF-40C9-A736-137507F1C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7" y="72085"/>
            <a:ext cx="7683940" cy="738188"/>
          </a:xfrm>
        </p:spPr>
        <p:txBody>
          <a:bodyPr/>
          <a:lstStyle/>
          <a:p>
            <a:r>
              <a:rPr lang="en-US"/>
              <a:t>Data and Results section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39A68-6EE9-4B5A-AC67-89C3E50DB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1EB5D-F82B-4905-A9F8-27DA87D57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F0484D-000B-456B-8BD4-2C3AF82F6C46}"/>
              </a:ext>
            </a:extLst>
          </p:cNvPr>
          <p:cNvSpPr txBox="1">
            <a:spLocks/>
          </p:cNvSpPr>
          <p:nvPr/>
        </p:nvSpPr>
        <p:spPr>
          <a:xfrm>
            <a:off x="295092" y="441179"/>
            <a:ext cx="7510329" cy="1771325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177800" indent="-17780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12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</a:rPr>
              <a:t>Experimental Setup : Drug Target Prediction </a:t>
            </a:r>
          </a:p>
          <a:p>
            <a:pPr marL="0" indent="0">
              <a:buNone/>
            </a:pPr>
            <a:r>
              <a:rPr lang="en-US" sz="1300" b="1" dirty="0"/>
              <a:t>Compound-Protein Pair Prediction</a:t>
            </a:r>
            <a:endParaRPr lang="en-US" sz="1300" b="1" dirty="0">
              <a:cs typeface="Calibri"/>
            </a:endParaRPr>
          </a:p>
          <a:p>
            <a:pPr marL="342900" indent="-342900"/>
            <a:r>
              <a:rPr lang="en-US" sz="1300" dirty="0"/>
              <a:t>Test/Train embeddings on 30,000 compound-gene pairs</a:t>
            </a:r>
            <a:r>
              <a:rPr lang="en-US" sz="1300" dirty="0">
                <a:cs typeface="Calibri"/>
              </a:rPr>
              <a:t> , </a:t>
            </a:r>
            <a:r>
              <a:rPr lang="en-US" sz="1300" dirty="0"/>
              <a:t>Positive pair = 3317 ; Negative pair = 26,683 </a:t>
            </a:r>
            <a:endParaRPr lang="en-US" sz="1300" dirty="0">
              <a:cs typeface="Calibri"/>
            </a:endParaRPr>
          </a:p>
          <a:p>
            <a:pPr marL="0" indent="0">
              <a:buNone/>
            </a:pPr>
            <a:r>
              <a:rPr lang="en-US" sz="1300" b="1" dirty="0" err="1">
                <a:cs typeface="Calibri"/>
              </a:rPr>
              <a:t>Drugbank</a:t>
            </a:r>
            <a:r>
              <a:rPr lang="en-US" sz="1300" b="1" dirty="0">
                <a:cs typeface="Calibri"/>
              </a:rPr>
              <a:t> Test Data:</a:t>
            </a:r>
          </a:p>
          <a:p>
            <a:r>
              <a:rPr lang="en-US" sz="1300" dirty="0">
                <a:cs typeface="Calibri"/>
              </a:rPr>
              <a:t>+</a:t>
            </a:r>
            <a:r>
              <a:rPr lang="en-US" sz="1300" dirty="0" err="1">
                <a:cs typeface="Calibri"/>
              </a:rPr>
              <a:t>ves</a:t>
            </a:r>
            <a:r>
              <a:rPr lang="en-US" sz="1300" dirty="0">
                <a:cs typeface="Calibri"/>
              </a:rPr>
              <a:t> : All approved small  molecule drug bank associations (5836)</a:t>
            </a:r>
          </a:p>
          <a:p>
            <a:r>
              <a:rPr lang="en-US" sz="1300" dirty="0">
                <a:cs typeface="Calibri"/>
              </a:rPr>
              <a:t>-</a:t>
            </a:r>
            <a:r>
              <a:rPr lang="en-US" sz="1300" dirty="0" err="1">
                <a:cs typeface="Calibri"/>
              </a:rPr>
              <a:t>ves</a:t>
            </a:r>
            <a:r>
              <a:rPr lang="en-US" sz="1300" dirty="0">
                <a:cs typeface="Calibri"/>
              </a:rPr>
              <a:t>: experimental data of drugs having more than 5uM activity found in </a:t>
            </a:r>
            <a:r>
              <a:rPr lang="en-US" sz="1300" dirty="0" err="1">
                <a:cs typeface="Calibri"/>
              </a:rPr>
              <a:t>ChEMBL</a:t>
            </a:r>
            <a:r>
              <a:rPr lang="en-US" sz="1300" dirty="0">
                <a:cs typeface="Calibri"/>
              </a:rPr>
              <a:t> data.(2368)</a:t>
            </a:r>
          </a:p>
          <a:p>
            <a:pPr marL="0" indent="0">
              <a:buNone/>
            </a:pPr>
            <a:endParaRPr lang="en-US" sz="1300" dirty="0">
              <a:cs typeface="Calibri"/>
            </a:endParaRPr>
          </a:p>
          <a:p>
            <a:endParaRPr lang="en-US" sz="800" dirty="0"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A9FE3B-8EF0-43D8-8554-FFE187F2DA07}"/>
              </a:ext>
            </a:extLst>
          </p:cNvPr>
          <p:cNvSpPr txBox="1"/>
          <p:nvPr/>
        </p:nvSpPr>
        <p:spPr>
          <a:xfrm>
            <a:off x="147770" y="2486427"/>
            <a:ext cx="863809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Char char="•"/>
            </a:pPr>
            <a:r>
              <a:rPr lang="en-US" sz="1200">
                <a:ea typeface="+mn-lt"/>
                <a:cs typeface="+mn-lt"/>
              </a:rPr>
              <a:t>Top N evaluation – Cosine Similarities</a:t>
            </a:r>
          </a:p>
          <a:p>
            <a:pPr marL="692150" lvl="1" indent="-285750">
              <a:buFont typeface="Arial" panose="020B0604020202020204" pitchFamily="34" charset="0"/>
              <a:buChar char="•"/>
            </a:pPr>
            <a:r>
              <a:rPr lang="en-US" sz="1200">
                <a:ea typeface="+mn-lt"/>
                <a:cs typeface="+mn-lt"/>
              </a:rPr>
              <a:t>Ranking of cosine similarities between the vectors for compounds and genes</a:t>
            </a:r>
          </a:p>
          <a:p>
            <a:pPr marL="692150" lvl="1" indent="-285750">
              <a:buChar char="•"/>
            </a:pPr>
            <a:r>
              <a:rPr lang="en-US" sz="1200">
                <a:ea typeface="+mn-lt"/>
                <a:cs typeface="+mn-lt"/>
              </a:rPr>
              <a:t>If link exists between a compound and gene, and the similarity score is found in the top N similarities, then True Positive</a:t>
            </a:r>
            <a:endParaRPr lang="en-US" sz="1200">
              <a:cs typeface="Calibri"/>
            </a:endParaRPr>
          </a:p>
          <a:p>
            <a:pPr marL="285750" indent="-285750">
              <a:buChar char="•"/>
            </a:pPr>
            <a:endParaRPr lang="en-US" sz="1200">
              <a:ea typeface="+mn-lt"/>
              <a:cs typeface="+mn-lt"/>
            </a:endParaRPr>
          </a:p>
          <a:p>
            <a:r>
              <a:rPr lang="en-US" sz="1200">
                <a:ea typeface="+mn-lt"/>
                <a:cs typeface="+mn-lt"/>
              </a:rPr>
              <a:t>• F1, Precision, and Recall metrics for Top N similarities and classifiers</a:t>
            </a:r>
            <a:endParaRPr lang="en-US" sz="1200"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D3D3FB-0996-43F5-A49B-9BA047ADC159}"/>
              </a:ext>
            </a:extLst>
          </p:cNvPr>
          <p:cNvSpPr txBox="1"/>
          <p:nvPr/>
        </p:nvSpPr>
        <p:spPr>
          <a:xfrm>
            <a:off x="208287" y="2186345"/>
            <a:ext cx="10599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604012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1B6BC-8763-4396-A61E-0325A7EC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75" y="184336"/>
            <a:ext cx="7683940" cy="306798"/>
          </a:xfrm>
        </p:spPr>
        <p:txBody>
          <a:bodyPr/>
          <a:lstStyle/>
          <a:p>
            <a:r>
              <a:rPr lang="en-US"/>
              <a:t>Data &amp; 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60C07-0F21-4DBA-87A5-214DB87D2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1F133-7900-4CF4-87F6-3C3388D28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12</a:t>
            </a:fld>
            <a:endParaRPr lang="en-GB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0858119-A9FE-447F-8EDD-696814057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585960"/>
              </p:ext>
            </p:extLst>
          </p:nvPr>
        </p:nvGraphicFramePr>
        <p:xfrm>
          <a:off x="546730" y="931526"/>
          <a:ext cx="3246787" cy="114815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5251">
                  <a:extLst>
                    <a:ext uri="{9D8B030D-6E8A-4147-A177-3AD203B41FA5}">
                      <a16:colId xmlns:a16="http://schemas.microsoft.com/office/drawing/2014/main" val="4195341188"/>
                    </a:ext>
                  </a:extLst>
                </a:gridCol>
                <a:gridCol w="840472">
                  <a:extLst>
                    <a:ext uri="{9D8B030D-6E8A-4147-A177-3AD203B41FA5}">
                      <a16:colId xmlns:a16="http://schemas.microsoft.com/office/drawing/2014/main" val="1283193737"/>
                    </a:ext>
                  </a:extLst>
                </a:gridCol>
                <a:gridCol w="732292">
                  <a:extLst>
                    <a:ext uri="{9D8B030D-6E8A-4147-A177-3AD203B41FA5}">
                      <a16:colId xmlns:a16="http://schemas.microsoft.com/office/drawing/2014/main" val="4103394905"/>
                    </a:ext>
                  </a:extLst>
                </a:gridCol>
                <a:gridCol w="608772">
                  <a:extLst>
                    <a:ext uri="{9D8B030D-6E8A-4147-A177-3AD203B41FA5}">
                      <a16:colId xmlns:a16="http://schemas.microsoft.com/office/drawing/2014/main" val="4052805589"/>
                    </a:ext>
                  </a:extLst>
                </a:gridCol>
              </a:tblGrid>
              <a:tr h="209068">
                <a:tc>
                  <a:txBody>
                    <a:bodyPr/>
                    <a:lstStyle/>
                    <a:p>
                      <a:pPr marL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kern="1200">
                          <a:effectLst/>
                        </a:rPr>
                        <a:t>Link Pred.</a:t>
                      </a:r>
                      <a:endParaRPr lang="en-US" sz="10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F1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Precision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Recall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1428511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Node2Vec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0.963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0.984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0.943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9547631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Edge2Vec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0.964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0.987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0.941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3435446"/>
                  </a:ext>
                </a:extLst>
              </a:tr>
              <a:tr h="311887">
                <a:tc>
                  <a:txBody>
                    <a:bodyPr/>
                    <a:lstStyle/>
                    <a:p>
                      <a:pPr marL="0" lv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Metapath2Vec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0.970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0.989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0.952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4334044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GraphSAGE</a:t>
                      </a:r>
                      <a:endParaRPr lang="en-US" sz="100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0.937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0.974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0.902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582434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999AB4B-7657-4166-A075-A4577AF1D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964729"/>
              </p:ext>
            </p:extLst>
          </p:nvPr>
        </p:nvGraphicFramePr>
        <p:xfrm>
          <a:off x="4384784" y="945931"/>
          <a:ext cx="3302315" cy="113261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07773">
                  <a:extLst>
                    <a:ext uri="{9D8B030D-6E8A-4147-A177-3AD203B41FA5}">
                      <a16:colId xmlns:a16="http://schemas.microsoft.com/office/drawing/2014/main" val="3203798013"/>
                    </a:ext>
                  </a:extLst>
                </a:gridCol>
                <a:gridCol w="807484">
                  <a:extLst>
                    <a:ext uri="{9D8B030D-6E8A-4147-A177-3AD203B41FA5}">
                      <a16:colId xmlns:a16="http://schemas.microsoft.com/office/drawing/2014/main" val="1223306273"/>
                    </a:ext>
                  </a:extLst>
                </a:gridCol>
                <a:gridCol w="725559">
                  <a:extLst>
                    <a:ext uri="{9D8B030D-6E8A-4147-A177-3AD203B41FA5}">
                      <a16:colId xmlns:a16="http://schemas.microsoft.com/office/drawing/2014/main" val="2547720742"/>
                    </a:ext>
                  </a:extLst>
                </a:gridCol>
                <a:gridCol w="661499">
                  <a:extLst>
                    <a:ext uri="{9D8B030D-6E8A-4147-A177-3AD203B41FA5}">
                      <a16:colId xmlns:a16="http://schemas.microsoft.com/office/drawing/2014/main" val="1956086210"/>
                    </a:ext>
                  </a:extLst>
                </a:gridCol>
              </a:tblGrid>
              <a:tr h="226522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Link Pred.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F1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Precision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Recall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203357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Node2Vec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0.734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0.651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0.840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930834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Edge2Vec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0.748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0.666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0.852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3220987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Metapath2Vec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0.725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0.652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0.814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2498411"/>
                  </a:ext>
                </a:extLst>
              </a:tr>
              <a:tr h="226522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err="1">
                          <a:effectLst/>
                        </a:rPr>
                        <a:t>GraphSAGE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0.706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0.650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0.772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0012311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507298E-A101-4EB4-BEA6-D9AE343A8CF6}"/>
              </a:ext>
            </a:extLst>
          </p:cNvPr>
          <p:cNvSpPr txBox="1"/>
          <p:nvPr/>
        </p:nvSpPr>
        <p:spPr>
          <a:xfrm>
            <a:off x="4493141" y="524234"/>
            <a:ext cx="2082800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i="1">
                <a:solidFill>
                  <a:srgbClr val="002060"/>
                </a:solidFill>
              </a:rPr>
              <a:t>DrugBank data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FBB9DE-5C95-4B8B-AFD2-29F74478ABA6}"/>
              </a:ext>
            </a:extLst>
          </p:cNvPr>
          <p:cNvSpPr txBox="1"/>
          <p:nvPr/>
        </p:nvSpPr>
        <p:spPr>
          <a:xfrm>
            <a:off x="1361949" y="532894"/>
            <a:ext cx="208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>
                <a:solidFill>
                  <a:srgbClr val="002060"/>
                </a:solidFill>
              </a:rPr>
              <a:t>Internal Test data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23F6B0B-7634-4583-B5D3-9504F159BE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38219"/>
              </p:ext>
            </p:extLst>
          </p:nvPr>
        </p:nvGraphicFramePr>
        <p:xfrm>
          <a:off x="546729" y="2163206"/>
          <a:ext cx="3246787" cy="12438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5251">
                  <a:extLst>
                    <a:ext uri="{9D8B030D-6E8A-4147-A177-3AD203B41FA5}">
                      <a16:colId xmlns:a16="http://schemas.microsoft.com/office/drawing/2014/main" val="4195341188"/>
                    </a:ext>
                  </a:extLst>
                </a:gridCol>
                <a:gridCol w="840472">
                  <a:extLst>
                    <a:ext uri="{9D8B030D-6E8A-4147-A177-3AD203B41FA5}">
                      <a16:colId xmlns:a16="http://schemas.microsoft.com/office/drawing/2014/main" val="1283193737"/>
                    </a:ext>
                  </a:extLst>
                </a:gridCol>
                <a:gridCol w="732292">
                  <a:extLst>
                    <a:ext uri="{9D8B030D-6E8A-4147-A177-3AD203B41FA5}">
                      <a16:colId xmlns:a16="http://schemas.microsoft.com/office/drawing/2014/main" val="4103394905"/>
                    </a:ext>
                  </a:extLst>
                </a:gridCol>
                <a:gridCol w="608772">
                  <a:extLst>
                    <a:ext uri="{9D8B030D-6E8A-4147-A177-3AD203B41FA5}">
                      <a16:colId xmlns:a16="http://schemas.microsoft.com/office/drawing/2014/main" val="4052805589"/>
                    </a:ext>
                  </a:extLst>
                </a:gridCol>
              </a:tblGrid>
              <a:tr h="209068">
                <a:tc>
                  <a:txBody>
                    <a:bodyPr/>
                    <a:lstStyle/>
                    <a:p>
                      <a:pPr marL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kern="1200">
                          <a:effectLst/>
                        </a:rPr>
                        <a:t>Top 100 Link Pred.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F1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Precision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Recall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1428511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Node2Vec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0.732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0.772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0.695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9547631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Edge2Vec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0.797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0.740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0.863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3435446"/>
                  </a:ext>
                </a:extLst>
              </a:tr>
              <a:tr h="311887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Metapath2Vec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0.788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0.713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0.881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4334044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err="1">
                          <a:effectLst/>
                        </a:rPr>
                        <a:t>GraphSAGE</a:t>
                      </a:r>
                      <a:endParaRPr lang="en-US" sz="100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0.085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0.254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0.051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582434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E466757-15AE-4388-9A2C-916B2A4D0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141667"/>
              </p:ext>
            </p:extLst>
          </p:nvPr>
        </p:nvGraphicFramePr>
        <p:xfrm>
          <a:off x="4394637" y="2177612"/>
          <a:ext cx="3289900" cy="123087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03608">
                  <a:extLst>
                    <a:ext uri="{9D8B030D-6E8A-4147-A177-3AD203B41FA5}">
                      <a16:colId xmlns:a16="http://schemas.microsoft.com/office/drawing/2014/main" val="3203798013"/>
                    </a:ext>
                  </a:extLst>
                </a:gridCol>
                <a:gridCol w="804449">
                  <a:extLst>
                    <a:ext uri="{9D8B030D-6E8A-4147-A177-3AD203B41FA5}">
                      <a16:colId xmlns:a16="http://schemas.microsoft.com/office/drawing/2014/main" val="1223306273"/>
                    </a:ext>
                  </a:extLst>
                </a:gridCol>
                <a:gridCol w="722831">
                  <a:extLst>
                    <a:ext uri="{9D8B030D-6E8A-4147-A177-3AD203B41FA5}">
                      <a16:colId xmlns:a16="http://schemas.microsoft.com/office/drawing/2014/main" val="2547720742"/>
                    </a:ext>
                  </a:extLst>
                </a:gridCol>
                <a:gridCol w="659012">
                  <a:extLst>
                    <a:ext uri="{9D8B030D-6E8A-4147-A177-3AD203B41FA5}">
                      <a16:colId xmlns:a16="http://schemas.microsoft.com/office/drawing/2014/main" val="1956086210"/>
                    </a:ext>
                  </a:extLst>
                </a:gridCol>
              </a:tblGrid>
              <a:tr h="30771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Top 100 Link Pred.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F1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Precision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Recall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203357"/>
                  </a:ext>
                </a:extLst>
              </a:tr>
              <a:tr h="23078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Node2Vec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0.254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0.452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0.177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930834"/>
                  </a:ext>
                </a:extLst>
              </a:tr>
              <a:tr h="23078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Edge2Vec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0.231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0.407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0.161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3220987"/>
                  </a:ext>
                </a:extLst>
              </a:tr>
              <a:tr h="23078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Metapath2Vec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0.556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0.591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0.524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2498411"/>
                  </a:ext>
                </a:extLst>
              </a:tr>
              <a:tr h="23078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err="1">
                          <a:effectLst/>
                        </a:rPr>
                        <a:t>GraphSAGE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0.056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0.681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0.029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0012311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286FE84-8D3E-43ED-87CA-517B9A0F8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135346"/>
              </p:ext>
            </p:extLst>
          </p:nvPr>
        </p:nvGraphicFramePr>
        <p:xfrm>
          <a:off x="546729" y="3483569"/>
          <a:ext cx="3246787" cy="114815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65251">
                  <a:extLst>
                    <a:ext uri="{9D8B030D-6E8A-4147-A177-3AD203B41FA5}">
                      <a16:colId xmlns:a16="http://schemas.microsoft.com/office/drawing/2014/main" val="4195341188"/>
                    </a:ext>
                  </a:extLst>
                </a:gridCol>
                <a:gridCol w="840472">
                  <a:extLst>
                    <a:ext uri="{9D8B030D-6E8A-4147-A177-3AD203B41FA5}">
                      <a16:colId xmlns:a16="http://schemas.microsoft.com/office/drawing/2014/main" val="1283193737"/>
                    </a:ext>
                  </a:extLst>
                </a:gridCol>
                <a:gridCol w="732292">
                  <a:extLst>
                    <a:ext uri="{9D8B030D-6E8A-4147-A177-3AD203B41FA5}">
                      <a16:colId xmlns:a16="http://schemas.microsoft.com/office/drawing/2014/main" val="4103394905"/>
                    </a:ext>
                  </a:extLst>
                </a:gridCol>
                <a:gridCol w="608772">
                  <a:extLst>
                    <a:ext uri="{9D8B030D-6E8A-4147-A177-3AD203B41FA5}">
                      <a16:colId xmlns:a16="http://schemas.microsoft.com/office/drawing/2014/main" val="4052805589"/>
                    </a:ext>
                  </a:extLst>
                </a:gridCol>
              </a:tblGrid>
              <a:tr h="209068">
                <a:tc>
                  <a:txBody>
                    <a:bodyPr/>
                    <a:lstStyle/>
                    <a:p>
                      <a:pPr marL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kern="1200">
                          <a:effectLst/>
                        </a:rPr>
                        <a:t>Node Class.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F1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Precision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Recall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1428511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Node2Vec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0.415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0.720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0.394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9547631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Edge2Vec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0.413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0.698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0.395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3435446"/>
                  </a:ext>
                </a:extLst>
              </a:tr>
              <a:tr h="311887">
                <a:tc>
                  <a:txBody>
                    <a:bodyPr/>
                    <a:lstStyle/>
                    <a:p>
                      <a:pPr marL="0" lv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Metapath2Vec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0.464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0.930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0.379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4334044"/>
                  </a:ext>
                </a:extLst>
              </a:tr>
              <a:tr h="209068"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 err="1">
                          <a:effectLst/>
                        </a:rPr>
                        <a:t>GraphSAGE</a:t>
                      </a:r>
                      <a:endParaRPr lang="en-US" sz="1000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0.138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0.883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1200">
                          <a:effectLst/>
                        </a:rPr>
                        <a:t>0.129</a:t>
                      </a:r>
                      <a:endParaRPr lang="en-US" sz="100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582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95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3FF3-8D52-47F7-A337-414DC52E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29" y="14287"/>
            <a:ext cx="7683940" cy="738188"/>
          </a:xfrm>
        </p:spPr>
        <p:txBody>
          <a:bodyPr/>
          <a:lstStyle/>
          <a:p>
            <a:r>
              <a:rPr lang="en-US"/>
              <a:t>Summary and Discussion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BAF6B-C7EB-4433-8E02-591541331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A980-83E9-4932-902B-9B913CE019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3F23038-C6C0-4720-A552-B5427C7E6276}"/>
              </a:ext>
            </a:extLst>
          </p:cNvPr>
          <p:cNvSpPr/>
          <p:nvPr/>
        </p:nvSpPr>
        <p:spPr>
          <a:xfrm>
            <a:off x="161925" y="383381"/>
            <a:ext cx="5038725" cy="3895472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5191EF-9FAE-4868-B213-2609B880C2C2}"/>
              </a:ext>
            </a:extLst>
          </p:cNvPr>
          <p:cNvSpPr txBox="1"/>
          <p:nvPr/>
        </p:nvSpPr>
        <p:spPr>
          <a:xfrm>
            <a:off x="291385" y="546413"/>
            <a:ext cx="4909265" cy="39549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</a:rPr>
              <a:t>We provide an overview of different types of graph embedding methods and discuss how they can be used in drug target link prediction.</a:t>
            </a:r>
            <a:endParaRPr lang="en-US" sz="950" dirty="0">
              <a:latin typeface="+mj-l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50" dirty="0">
              <a:latin typeface="+mj-l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</a:rPr>
              <a:t>We compile datasets for all the above prediction tasks and use them to systematically evaluate 4 representative graph embedding methods selected from different categories.</a:t>
            </a:r>
            <a:endParaRPr lang="en-US" sz="950" dirty="0">
              <a:latin typeface="+mj-l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950" dirty="0">
              <a:latin typeface="+mj-l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</a:rPr>
              <a:t>We develop an easy-to-use Python package with detailed instructions, including all source code and datasets.</a:t>
            </a:r>
            <a:endParaRPr lang="en-US" sz="950" dirty="0">
              <a:latin typeface="+mj-lt"/>
              <a:cs typeface="Arial"/>
            </a:endParaRPr>
          </a:p>
          <a:p>
            <a:endParaRPr lang="en-US" sz="950" dirty="0">
              <a:latin typeface="+mj-l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</a:rPr>
              <a:t>We created a target prediction pipeline which predicts targets with any given chemical structure as input using A-number and smiles.</a:t>
            </a:r>
            <a:endParaRPr lang="en-US" sz="950" dirty="0">
              <a:latin typeface="+mj-lt"/>
              <a:cs typeface="Arial"/>
            </a:endParaRPr>
          </a:p>
          <a:p>
            <a:endParaRPr lang="en-US" sz="950" dirty="0">
              <a:latin typeface="+mj-l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50" dirty="0">
                <a:latin typeface="+mj-lt"/>
                <a:cs typeface="Arial"/>
              </a:rPr>
              <a:t>Developing better inductive graph embedding algorithms. This will help on performing predictions on other graphs with similar context</a:t>
            </a:r>
            <a:endParaRPr lang="en-US" sz="950" dirty="0">
              <a:latin typeface="+mj-lt"/>
              <a:ea typeface="Calibri" panose="020F0502020204030204" pitchFamily="34" charset="0"/>
              <a:cs typeface="Arial"/>
            </a:endParaRPr>
          </a:p>
          <a:p>
            <a:endParaRPr lang="en-US" sz="950" dirty="0">
              <a:latin typeface="+mj-lt"/>
              <a:ea typeface="Calibri" panose="020F0502020204030204" pitchFamily="34" charset="0"/>
              <a:cs typeface="Arial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50" dirty="0">
                <a:effectLst/>
                <a:latin typeface="+mj-lt"/>
                <a:ea typeface="Calibri" panose="020F0502020204030204" pitchFamily="34" charset="0"/>
              </a:rPr>
              <a:t>Ranking Algorithm (Future Work)</a:t>
            </a:r>
            <a:endParaRPr lang="en-US" sz="950" dirty="0">
              <a:effectLst/>
              <a:latin typeface="+mj-lt"/>
              <a:ea typeface="Calibri" panose="020F0502020204030204" pitchFamily="34" charset="0"/>
              <a:cs typeface="Arial"/>
            </a:endParaRP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effectLst/>
                <a:latin typeface="+mj-lt"/>
                <a:ea typeface="Calibri" panose="020F0502020204030204" pitchFamily="34" charset="0"/>
              </a:rPr>
              <a:t>Identifying an efficient and effective ranking algorithm based on the       </a:t>
            </a:r>
            <a:r>
              <a:rPr lang="en-US" sz="95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950" dirty="0">
                <a:effectLst/>
                <a:latin typeface="+mj-lt"/>
                <a:ea typeface="Calibri" panose="020F0502020204030204" pitchFamily="34" charset="0"/>
              </a:rPr>
              <a:t>embedding measures</a:t>
            </a:r>
            <a:endParaRPr lang="en-US" sz="950" dirty="0">
              <a:latin typeface="+mj-lt"/>
              <a:ea typeface="Calibri" panose="020F0502020204030204" pitchFamily="34" charset="0"/>
              <a:cs typeface="Arial"/>
            </a:endParaRP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effectLst/>
                <a:latin typeface="+mj-lt"/>
                <a:ea typeface="Times New Roman" panose="02020603050405020304" pitchFamily="18" charset="0"/>
              </a:rPr>
              <a:t>Developing the ranking algorithm based on the ensembled approaches of integrating different embedding algorithms</a:t>
            </a:r>
            <a:endParaRPr lang="en-US" sz="950" dirty="0">
              <a:latin typeface="+mj-lt"/>
              <a:ea typeface="DengXian" panose="02010600030101010101" pitchFamily="2" charset="-122"/>
              <a:cs typeface="Arial"/>
            </a:endParaRP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effectLst/>
                <a:latin typeface="+mj-lt"/>
                <a:ea typeface="Times New Roman" panose="02020603050405020304" pitchFamily="18" charset="0"/>
              </a:rPr>
              <a:t>Evaluate ranking algorithms with end users, domain experts, and using clinical trial data</a:t>
            </a:r>
            <a:endParaRPr lang="en-US" sz="950" dirty="0">
              <a:latin typeface="+mj-lt"/>
              <a:ea typeface="DengXian" panose="02010600030101010101" pitchFamily="2" charset="-122"/>
              <a:cs typeface="Arial"/>
            </a:endParaRP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en-US" sz="950" dirty="0">
                <a:effectLst/>
                <a:latin typeface="+mj-lt"/>
                <a:ea typeface="Times New Roman" panose="02020603050405020304" pitchFamily="18" charset="0"/>
              </a:rPr>
              <a:t>Diversifying ranking algorithms according to different kinds of tasks and        applications</a:t>
            </a:r>
            <a:endParaRPr lang="en-US" sz="950" dirty="0">
              <a:effectLst/>
              <a:latin typeface="+mj-lt"/>
              <a:ea typeface="DengXian" panose="02010600030101010101" pitchFamily="2" charset="-122"/>
            </a:endParaRPr>
          </a:p>
          <a:p>
            <a:r>
              <a:rPr lang="en-US" dirty="0"/>
              <a:t>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73EBC72-44AE-4801-89EC-B87AF2EF7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483" y="185003"/>
            <a:ext cx="3581400" cy="189093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F075FE7-61E4-46A7-B9E6-4DB043E16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971" y="1695532"/>
            <a:ext cx="2969859" cy="2546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DD0EB8-B85E-4E23-A6B3-4AFCE965C022}"/>
              </a:ext>
            </a:extLst>
          </p:cNvPr>
          <p:cNvSpPr txBox="1"/>
          <p:nvPr/>
        </p:nvSpPr>
        <p:spPr>
          <a:xfrm>
            <a:off x="5133157" y="4348767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/>
              <a:t>https://pig.abbvienet.com/sealax/KnowledgeGraphAlgos</a:t>
            </a:r>
          </a:p>
        </p:txBody>
      </p:sp>
    </p:spTree>
    <p:extLst>
      <p:ext uri="{BB962C8B-B14F-4D97-AF65-F5344CB8AC3E}">
        <p14:creationId xmlns:p14="http://schemas.microsoft.com/office/powerpoint/2010/main" val="344558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8D97-CB2C-4C2F-A5F9-9B91A68B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90512"/>
            <a:ext cx="7683940" cy="469342"/>
          </a:xfrm>
        </p:spPr>
        <p:txBody>
          <a:bodyPr/>
          <a:lstStyle/>
          <a:p>
            <a:r>
              <a:rPr lang="en-US"/>
              <a:t>Acknowledgements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79D27-248F-4B3B-B216-AE774BE0B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Company Confidential © 2020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93A26F-0F74-4C91-A7F1-2FEBD93EB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022DFE5-6B62-456C-8FE9-BE35C327A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759854"/>
            <a:ext cx="8586533" cy="5249291"/>
          </a:xfrm>
        </p:spPr>
        <p:txBody>
          <a:bodyPr/>
          <a:lstStyle/>
          <a:p>
            <a:r>
              <a:rPr lang="en-US"/>
              <a:t>Akef Ebeid Islam (Metapath2Vec, Metapath2vec++)</a:t>
            </a:r>
            <a:endParaRPr lang="en-US">
              <a:cs typeface="Calibri"/>
            </a:endParaRPr>
          </a:p>
          <a:p>
            <a:r>
              <a:rPr lang="en-US"/>
              <a:t>Tingyi Wanyan (</a:t>
            </a:r>
            <a:r>
              <a:rPr lang="en-US" err="1"/>
              <a:t>GraphSage</a:t>
            </a:r>
            <a:r>
              <a:rPr lang="en-US"/>
              <a:t>)</a:t>
            </a:r>
          </a:p>
          <a:p>
            <a:r>
              <a:rPr lang="en-US"/>
              <a:t>Thanks to Jack Roper </a:t>
            </a:r>
            <a:r>
              <a:rPr lang="en-US" i="1"/>
              <a:t>( Node2Vec , edge2vec ) initial implementations.</a:t>
            </a:r>
          </a:p>
          <a:p>
            <a:r>
              <a:rPr lang="en-US"/>
              <a:t>Prof Ying Ding ( UT Austin)</a:t>
            </a:r>
          </a:p>
          <a:p>
            <a:r>
              <a:rPr lang="en-US"/>
              <a:t>Brian Martin</a:t>
            </a:r>
          </a:p>
          <a:p>
            <a:r>
              <a:rPr lang="en-US"/>
              <a:t>Jennifer Van Camp</a:t>
            </a:r>
          </a:p>
          <a:p>
            <a:r>
              <a:rPr lang="en-US"/>
              <a:t>Phil Hajduk</a:t>
            </a:r>
          </a:p>
          <a:p>
            <a:endParaRPr lang="en-US" i="1"/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760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8213" y="2202656"/>
            <a:ext cx="7683940" cy="738188"/>
          </a:xfrm>
        </p:spPr>
        <p:txBody>
          <a:bodyPr/>
          <a:lstStyle/>
          <a:p>
            <a:r>
              <a:rPr lang="en-GB"/>
              <a:t>Backup slides</a:t>
            </a:r>
            <a:br>
              <a:rPr lang="en-GB"/>
            </a:b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Company Confidential © 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AA3FBC-51B8-426A-8893-284E5C1F6D1D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46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C60EF-44AA-4ACA-A891-43C2A6A8A1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8482013" y="6607175"/>
            <a:ext cx="24765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D735998-22BD-4A14-A416-41E3D34BF7B6}" type="slidenum">
              <a:rPr lang="en-US" smtClean="0">
                <a:solidFill>
                  <a:srgbClr val="FFFFFF"/>
                </a:solidFill>
              </a:rPr>
              <a:pPr/>
              <a:t>16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Google Shape;174;p26">
            <a:extLst>
              <a:ext uri="{FF2B5EF4-FFF2-40B4-BE49-F238E27FC236}">
                <a16:creationId xmlns:a16="http://schemas.microsoft.com/office/drawing/2014/main" id="{6DACAD7F-5E22-41C3-885A-ECDCD604DA0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66639" y="791246"/>
            <a:ext cx="2872529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FF3BC7-96F7-4687-A064-3EA9B1C8E32B}"/>
              </a:ext>
            </a:extLst>
          </p:cNvPr>
          <p:cNvSpPr txBox="1"/>
          <p:nvPr/>
        </p:nvSpPr>
        <p:spPr>
          <a:xfrm>
            <a:off x="728290" y="887837"/>
            <a:ext cx="3596802" cy="24304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preprocessing to compute transition probabilities for guiding random walks</a:t>
            </a:r>
          </a:p>
          <a:p>
            <a:endParaRPr lang="en-US" sz="1013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Generate node sequences (input corpus) using second order random walk with BFS and DFS strategy.</a:t>
            </a:r>
            <a:endParaRPr lang="en-US" sz="1013">
              <a:cs typeface="Calibri"/>
            </a:endParaRPr>
          </a:p>
          <a:p>
            <a:endParaRPr lang="en-US" sz="1013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Iterate random walks from same source node multiple times for convergence</a:t>
            </a:r>
            <a:endParaRPr lang="en-US" sz="1013">
              <a:cs typeface="Calibri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013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Supply the node sequences as input to skip-gram model. </a:t>
            </a:r>
            <a:endParaRPr lang="en-US" sz="1013">
              <a:cs typeface="Calibri"/>
            </a:endParaRPr>
          </a:p>
          <a:p>
            <a:endParaRPr lang="en-US" sz="1013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Optimize the embeddings and Maximize the probability of neighborhoods for the given nodes.</a:t>
            </a:r>
            <a:endParaRPr lang="en-US" sz="1013">
              <a:cs typeface="Calibri"/>
            </a:endParaRPr>
          </a:p>
          <a:p>
            <a:endParaRPr 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F422F1-4B48-4740-8DAE-98E6B04F0076}"/>
                  </a:ext>
                </a:extLst>
              </p:cNvPr>
              <p:cNvSpPr/>
              <p:nvPr/>
            </p:nvSpPr>
            <p:spPr>
              <a:xfrm>
                <a:off x="5322773" y="3498575"/>
                <a:ext cx="1973810" cy="4909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13" i="1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013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013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013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013" i="1">
                              <a:latin typeface="Cambria Math" panose="02040503050406030204" pitchFamily="18" charset="0"/>
                            </a:rPr>
                            <m:t> ∈</m:t>
                          </m:r>
                          <m:r>
                            <a:rPr lang="en-US" sz="101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013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013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 ∈ </m:t>
                              </m:r>
                              <m:sSub>
                                <m:sSubPr>
                                  <m:ctrlPr>
                                    <a:rPr lang="en-US" sz="1013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13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1013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013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013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013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013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013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13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sz="1013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sz="1013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13" i="1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sz="1013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013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1013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F422F1-4B48-4740-8DAE-98E6B04F0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773" y="3498575"/>
                <a:ext cx="1973810" cy="490968"/>
              </a:xfrm>
              <a:prstGeom prst="rect">
                <a:avLst/>
              </a:prstGeom>
              <a:blipFill>
                <a:blip r:embed="rId3"/>
                <a:stretch>
                  <a:fillRect l="-5556" t="-106250" b="-14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68B0E08-EFBD-49D2-9D6C-6503D3B03C95}"/>
                  </a:ext>
                </a:extLst>
              </p:cNvPr>
              <p:cNvSpPr/>
              <p:nvPr/>
            </p:nvSpPr>
            <p:spPr>
              <a:xfrm>
                <a:off x="1028965" y="3619954"/>
                <a:ext cx="2540824" cy="248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US" sz="1013"/>
                  <a:t>Parameterize  </a:t>
                </a:r>
                <a14:m>
                  <m:oMath xmlns:m="http://schemas.openxmlformats.org/officeDocument/2006/math">
                    <m:r>
                      <a:rPr lang="en-US" sz="1013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013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013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013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013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13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sz="1013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013"/>
                  <a:t> using </a:t>
                </a:r>
                <a:r>
                  <a:rPr lang="en-US" sz="1013" err="1"/>
                  <a:t>softmax</a:t>
                </a:r>
                <a:endParaRPr lang="en-US" sz="1013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68B0E08-EFBD-49D2-9D6C-6503D3B03C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965" y="3619954"/>
                <a:ext cx="2540824" cy="248209"/>
              </a:xfrm>
              <a:prstGeom prst="rect">
                <a:avLst/>
              </a:prstGeom>
              <a:blipFill>
                <a:blip r:embed="rId4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6557E93E-485D-4FA2-A6FC-8C631DD6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563" y="170260"/>
            <a:ext cx="6238875" cy="548878"/>
          </a:xfrm>
        </p:spPr>
        <p:txBody>
          <a:bodyPr/>
          <a:lstStyle/>
          <a:p>
            <a:r>
              <a:rPr lang="en-US" sz="2100"/>
              <a:t>Algorithm 1. Node2Vec</a:t>
            </a:r>
            <a:endParaRPr lang="en-US" sz="21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629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7FF6-1077-4AB8-913F-3102D8E8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/>
              <a:t>Algorithm 2. Edge2vec</a:t>
            </a:r>
            <a:endParaRPr lang="en-US" sz="21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30095-3FB5-4B11-80E3-64A12F72F7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8482013" y="6607175"/>
            <a:ext cx="24765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D735998-22BD-4A14-A416-41E3D34BF7B6}" type="slidenum">
              <a:rPr lang="en-US" smtClean="0">
                <a:solidFill>
                  <a:srgbClr val="FFFFFF"/>
                </a:solidFill>
              </a:rPr>
              <a:pPr/>
              <a:t>17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Shape 145">
            <a:extLst>
              <a:ext uri="{FF2B5EF4-FFF2-40B4-BE49-F238E27FC236}">
                <a16:creationId xmlns:a16="http://schemas.microsoft.com/office/drawing/2014/main" id="{3F978C7E-5B26-47A5-9948-A008D326160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2562" y="857250"/>
            <a:ext cx="5919788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0B72CF-A11C-4BD1-AD9E-87D803550D03}"/>
              </a:ext>
            </a:extLst>
          </p:cNvPr>
          <p:cNvSpPr txBox="1"/>
          <p:nvPr/>
        </p:nvSpPr>
        <p:spPr>
          <a:xfrm>
            <a:off x="1451373" y="3486150"/>
            <a:ext cx="6238875" cy="71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Build a transition matrix from edge-type to edge-type by walking along the graph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013"/>
              <a:t>Edge-edge transition probability is measured as Pearson correlation between edge-types occurring next to each other in walks.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After building transition matrix, bias walks with transition probability stored in matrix</a:t>
            </a:r>
          </a:p>
        </p:txBody>
      </p:sp>
    </p:spTree>
    <p:extLst>
      <p:ext uri="{BB962C8B-B14F-4D97-AF65-F5344CB8AC3E}">
        <p14:creationId xmlns:p14="http://schemas.microsoft.com/office/powerpoint/2010/main" val="255749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6540-C45D-4C2F-8932-5C2C7ABC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Algorithm3: Metapath2vec (Akef)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518A8-C801-4649-AF7D-383E80FB7B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8482013" y="6607175"/>
            <a:ext cx="24765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D735998-22BD-4A14-A416-41E3D34BF7B6}" type="slidenum">
              <a:rPr lang="en-US" smtClean="0">
                <a:solidFill>
                  <a:srgbClr val="FFFFFF"/>
                </a:solidFill>
              </a:rPr>
              <a:pPr/>
              <a:t>18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Content Placeholder 3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6C741243-414B-4589-90F9-9017C7583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4512"/>
          <a:stretch/>
        </p:blipFill>
        <p:spPr>
          <a:xfrm>
            <a:off x="3927954" y="772611"/>
            <a:ext cx="3430720" cy="1752650"/>
          </a:xfrm>
          <a:prstGeom prst="rect">
            <a:avLst/>
          </a:prstGeom>
          <a:ln>
            <a:noFill/>
          </a:ln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CEB496A4-3BB6-4928-A5C9-33453AA111D3}"/>
              </a:ext>
            </a:extLst>
          </p:cNvPr>
          <p:cNvSpPr/>
          <p:nvPr/>
        </p:nvSpPr>
        <p:spPr>
          <a:xfrm>
            <a:off x="2039307" y="928814"/>
            <a:ext cx="357919" cy="296333"/>
          </a:xfrm>
          <a:prstGeom prst="ellipse">
            <a:avLst/>
          </a:prstGeom>
          <a:solidFill>
            <a:schemeClr val="accent4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723349-D2C8-427D-A966-0A4B70959E9A}"/>
              </a:ext>
            </a:extLst>
          </p:cNvPr>
          <p:cNvSpPr/>
          <p:nvPr/>
        </p:nvSpPr>
        <p:spPr>
          <a:xfrm>
            <a:off x="2039307" y="1511580"/>
            <a:ext cx="357919" cy="29633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AB24AB-8DDE-4264-8D5A-C85DB38FEAA3}"/>
              </a:ext>
            </a:extLst>
          </p:cNvPr>
          <p:cNvSpPr/>
          <p:nvPr/>
        </p:nvSpPr>
        <p:spPr>
          <a:xfrm>
            <a:off x="2039307" y="2131243"/>
            <a:ext cx="357919" cy="29633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F856E8-9ECF-43FC-8A96-DA71E60BBB91}"/>
              </a:ext>
            </a:extLst>
          </p:cNvPr>
          <p:cNvSpPr/>
          <p:nvPr/>
        </p:nvSpPr>
        <p:spPr>
          <a:xfrm>
            <a:off x="4127186" y="2578734"/>
            <a:ext cx="3231488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13" i="1"/>
              <a:t>Drug </a:t>
            </a:r>
            <a:r>
              <a:rPr lang="en-US" sz="1013" i="1">
                <a:sym typeface="Wingdings" panose="05000000000000000000" pitchFamily="2" charset="2"/>
              </a:rPr>
              <a:t> Target  Pathway  Side Effect </a:t>
            </a:r>
            <a:endParaRPr lang="en-US" sz="1013" i="1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CCB2FB-513A-4CC9-B43D-D829185DA783}"/>
              </a:ext>
            </a:extLst>
          </p:cNvPr>
          <p:cNvCxnSpPr/>
          <p:nvPr/>
        </p:nvCxnSpPr>
        <p:spPr>
          <a:xfrm>
            <a:off x="2218266" y="1225147"/>
            <a:ext cx="0" cy="282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8BE1AE-B8E8-4C0C-AF51-74134C3599C4}"/>
              </a:ext>
            </a:extLst>
          </p:cNvPr>
          <p:cNvCxnSpPr/>
          <p:nvPr/>
        </p:nvCxnSpPr>
        <p:spPr>
          <a:xfrm>
            <a:off x="2209798" y="1844645"/>
            <a:ext cx="0" cy="282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38197E-1361-4359-ACE7-9A015C217D2F}"/>
              </a:ext>
            </a:extLst>
          </p:cNvPr>
          <p:cNvSpPr txBox="1"/>
          <p:nvPr/>
        </p:nvSpPr>
        <p:spPr>
          <a:xfrm>
            <a:off x="2496809" y="913644"/>
            <a:ext cx="558796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/>
              <a:t>Drug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AC4F94-A5ED-4DDD-9A62-A5821A7F998C}"/>
              </a:ext>
            </a:extLst>
          </p:cNvPr>
          <p:cNvSpPr txBox="1"/>
          <p:nvPr/>
        </p:nvSpPr>
        <p:spPr>
          <a:xfrm>
            <a:off x="2436676" y="1530852"/>
            <a:ext cx="61892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/>
              <a:t>Gene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D434F9-B511-4148-ADD7-C585D48445D1}"/>
              </a:ext>
            </a:extLst>
          </p:cNvPr>
          <p:cNvSpPr txBox="1"/>
          <p:nvPr/>
        </p:nvSpPr>
        <p:spPr>
          <a:xfrm>
            <a:off x="2467753" y="2150577"/>
            <a:ext cx="80433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/>
              <a:t>Disease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175A98-94E3-4425-B466-A23E226126DC}"/>
              </a:ext>
            </a:extLst>
          </p:cNvPr>
          <p:cNvSpPr txBox="1"/>
          <p:nvPr/>
        </p:nvSpPr>
        <p:spPr>
          <a:xfrm>
            <a:off x="2311124" y="1237730"/>
            <a:ext cx="5587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1"/>
              <a:t>Binds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1D8165-AD0E-4BCC-9164-CF021B301DB4}"/>
              </a:ext>
            </a:extLst>
          </p:cNvPr>
          <p:cNvSpPr txBox="1"/>
          <p:nvPr/>
        </p:nvSpPr>
        <p:spPr>
          <a:xfrm>
            <a:off x="2294040" y="1870491"/>
            <a:ext cx="76156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i="1"/>
              <a:t>Associates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26BE13-6518-4F4E-9662-28D73B2108C6}"/>
              </a:ext>
            </a:extLst>
          </p:cNvPr>
          <p:cNvSpPr/>
          <p:nvPr/>
        </p:nvSpPr>
        <p:spPr>
          <a:xfrm>
            <a:off x="1357048" y="3087107"/>
            <a:ext cx="6429905" cy="124104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en-US" sz="1200" b="1"/>
              <a:t>1. Metapath based Random walk 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Select meaningful </a:t>
            </a:r>
            <a:r>
              <a:rPr lang="en-US" sz="1013" err="1"/>
              <a:t>metapaths</a:t>
            </a:r>
            <a:r>
              <a:rPr lang="en-US" sz="1013"/>
              <a:t> of interest</a:t>
            </a:r>
            <a:endParaRPr lang="en-US" sz="1013">
              <a:cs typeface="Calibri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Run random walks that capture structural correlations between different node types </a:t>
            </a:r>
            <a:endParaRPr lang="en-US" sz="1013">
              <a:cs typeface="Calibri"/>
            </a:endParaRPr>
          </a:p>
          <a:p>
            <a:r>
              <a:rPr lang="en-US" sz="1200" b="1"/>
              <a:t>2. Random walk optimization and learning process </a:t>
            </a:r>
            <a:endParaRPr lang="en-US" sz="1200" b="1">
              <a:cs typeface="Calibri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Given the random walks, optimize node embeddings. The sampled graph are then passed on a Skip gram algorithm for Embedding.</a:t>
            </a:r>
            <a:endParaRPr lang="en-US" sz="1013">
              <a:cs typeface="Calibri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013"/>
              <a:t>The result is a feature vector that is learnt per node </a:t>
            </a:r>
            <a:endParaRPr lang="en-US" sz="1013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75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FE6F-D7D0-44AB-BFB1-F65C80D6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Algorithm3: Metapath2vec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77AEC-7047-473D-A325-51801EC0F3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8482013" y="6607175"/>
            <a:ext cx="24765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D735998-22BD-4A14-A416-41E3D34BF7B6}" type="slidenum">
              <a:rPr lang="en-US" smtClean="0">
                <a:solidFill>
                  <a:srgbClr val="FFFFFF"/>
                </a:solidFill>
              </a:rPr>
              <a:pPr/>
              <a:t>19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7769D67E-0FDA-406E-922F-73091246F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61" y="2157577"/>
            <a:ext cx="4482887" cy="188178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9E67A54-165D-46FE-8CFC-962B5BCC4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563" y="931261"/>
            <a:ext cx="6051947" cy="1303940"/>
          </a:xfrm>
        </p:spPr>
        <p:txBody>
          <a:bodyPr/>
          <a:lstStyle/>
          <a:p>
            <a:pPr marL="128588" indent="-128588"/>
            <a:r>
              <a:rPr lang="en-US" sz="900"/>
              <a:t>The random walker is used to generate </a:t>
            </a:r>
            <a:r>
              <a:rPr lang="en-US" sz="900" b="1" i="1"/>
              <a:t>“corpus”.</a:t>
            </a:r>
            <a:r>
              <a:rPr lang="en-US" sz="900"/>
              <a:t> We loop on the defined </a:t>
            </a:r>
            <a:r>
              <a:rPr lang="en-US" sz="900" err="1"/>
              <a:t>metapaths</a:t>
            </a:r>
            <a:r>
              <a:rPr lang="en-US" sz="900"/>
              <a:t>. </a:t>
            </a:r>
          </a:p>
          <a:p>
            <a:pPr marL="128588" indent="-128588"/>
            <a:r>
              <a:rPr lang="en-US" sz="900"/>
              <a:t>For each </a:t>
            </a:r>
            <a:r>
              <a:rPr lang="en-US" sz="900" err="1"/>
              <a:t>metapath</a:t>
            </a:r>
            <a:r>
              <a:rPr lang="en-US" sz="900"/>
              <a:t> we start at a random node and check whether this node type is similar to the first node type in the </a:t>
            </a:r>
            <a:r>
              <a:rPr lang="en-US" sz="900" err="1"/>
              <a:t>metapath</a:t>
            </a:r>
            <a:endParaRPr lang="en-US" sz="900"/>
          </a:p>
          <a:p>
            <a:pPr marL="128588" indent="-128588"/>
            <a:r>
              <a:rPr lang="en-US" sz="900"/>
              <a:t>We then find the </a:t>
            </a:r>
            <a:r>
              <a:rPr lang="en-US" sz="900" b="1" i="1"/>
              <a:t>first hop neighborhood </a:t>
            </a:r>
            <a:r>
              <a:rPr lang="en-US" sz="900"/>
              <a:t>of the node., then choose the next node uniformly if its type is similar to the next node in the </a:t>
            </a:r>
            <a:r>
              <a:rPr lang="en-US" sz="900" err="1"/>
              <a:t>metapath</a:t>
            </a:r>
            <a:endParaRPr lang="en-US" sz="900"/>
          </a:p>
          <a:p>
            <a:pPr marL="128588" indent="-128588"/>
            <a:r>
              <a:rPr lang="en-US" sz="900"/>
              <a:t>The parameters that control this are </a:t>
            </a:r>
            <a:r>
              <a:rPr lang="en-US" sz="900" b="1" i="1"/>
              <a:t>number of walks and walk length.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A1896E-F95F-42A7-93A9-845EEEBEA380}"/>
              </a:ext>
            </a:extLst>
          </p:cNvPr>
          <p:cNvSpPr txBox="1"/>
          <p:nvPr/>
        </p:nvSpPr>
        <p:spPr>
          <a:xfrm>
            <a:off x="1351936" y="4189938"/>
            <a:ext cx="6649064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900" i="1" err="1"/>
              <a:t>Metapaths</a:t>
            </a:r>
            <a:r>
              <a:rPr lang="en-US" sz="900" i="1"/>
              <a:t> information:</a:t>
            </a:r>
          </a:p>
          <a:p>
            <a:r>
              <a:rPr lang="en-US" sz="900"/>
              <a:t>Fu, G., Ding, Y., Seal, A., Chen, B., Sun, Y., &amp; Bolton, E. (2016). Predicting drug target interactions using meta-path-based semantic network analysis. BMC bioinformatics, 17(1), 160.</a:t>
            </a:r>
          </a:p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4735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04BBA-9586-4F4D-898D-CC76386A59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8482013" y="6607175"/>
            <a:ext cx="24765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D735998-22BD-4A14-A416-41E3D34BF7B6}" type="slidenum">
              <a:rPr lang="en-US" smtClean="0">
                <a:solidFill>
                  <a:srgbClr val="FFFFFF"/>
                </a:solidFill>
              </a:rPr>
              <a:pPr/>
              <a:t>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F10628-D7B6-4B07-8310-9E4B628A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563" y="170260"/>
            <a:ext cx="6238875" cy="548878"/>
          </a:xfrm>
        </p:spPr>
        <p:txBody>
          <a:bodyPr/>
          <a:lstStyle/>
          <a:p>
            <a:r>
              <a:rPr lang="en-US"/>
              <a:t>Algorithm3: Metapath2vec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86630B-EC0C-4855-9BFF-1CC028E4072C}"/>
              </a:ext>
            </a:extLst>
          </p:cNvPr>
          <p:cNvSpPr txBox="1"/>
          <p:nvPr/>
        </p:nvSpPr>
        <p:spPr>
          <a:xfrm>
            <a:off x="1297917" y="602362"/>
            <a:ext cx="6555356" cy="2192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4313" indent="-214313">
              <a:buFontTx/>
              <a:buChar char="-"/>
            </a:pPr>
            <a:r>
              <a:rPr lang="en-US" sz="1050"/>
              <a:t>We chose a set of 49 </a:t>
            </a:r>
            <a:r>
              <a:rPr lang="en-US" sz="1050" err="1"/>
              <a:t>metapaths</a:t>
            </a:r>
            <a:r>
              <a:rPr lang="en-US" sz="1050"/>
              <a:t> collected from an early studied   presented in Fu et al., 2016</a:t>
            </a: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r>
              <a:rPr lang="en-US" sz="1050"/>
              <a:t>The study investigated several machine learning models for drug target prediction</a:t>
            </a: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r>
              <a:rPr lang="en-US" sz="1050"/>
              <a:t>The training dataset comprised of constructing adjacency matrices for each type of relationship then extracting commuting </a:t>
            </a:r>
            <a:r>
              <a:rPr lang="en-US" sz="1050" err="1"/>
              <a:t>matrics</a:t>
            </a:r>
            <a:r>
              <a:rPr lang="en-US" sz="1050"/>
              <a:t> based on the </a:t>
            </a:r>
            <a:r>
              <a:rPr lang="en-US" sz="1050" err="1"/>
              <a:t>metapaths</a:t>
            </a:r>
            <a:r>
              <a:rPr lang="en-US" sz="1050"/>
              <a:t> defined</a:t>
            </a: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r>
              <a:rPr lang="en-US" sz="1050"/>
              <a:t>We use the same set of </a:t>
            </a:r>
            <a:r>
              <a:rPr lang="en-US" sz="1050" err="1"/>
              <a:t>metpaths</a:t>
            </a:r>
            <a:r>
              <a:rPr lang="en-US" sz="1050"/>
              <a:t> to sample the dataset based on random walks</a:t>
            </a: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r>
              <a:rPr lang="en-US" sz="1050"/>
              <a:t>Each random walk has a predefined length and number of node iterations </a:t>
            </a: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endParaRPr lang="en-US" sz="1050">
              <a:cs typeface="Calibri"/>
            </a:endParaRPr>
          </a:p>
          <a:p>
            <a:pPr marL="214313" indent="-214313">
              <a:buFontTx/>
              <a:buChar char="-"/>
            </a:pPr>
            <a:r>
              <a:rPr lang="en-US" sz="1050"/>
              <a:t>The sampled random walks are then passed to 2 versions of the skip gram model described in </a:t>
            </a:r>
            <a:r>
              <a:rPr lang="en-US" sz="1050" err="1"/>
              <a:t>Mikolov</a:t>
            </a:r>
            <a:r>
              <a:rPr lang="en-US" sz="1050"/>
              <a:t> et al., 2013 and Dong et al., 2017</a:t>
            </a:r>
            <a:endParaRPr lang="en-US" sz="1050">
              <a:cs typeface="Calibri"/>
            </a:endParaRPr>
          </a:p>
        </p:txBody>
      </p:sp>
      <p:pic>
        <p:nvPicPr>
          <p:cNvPr id="9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79B72E5E-7A15-432E-906A-46A68940E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87" y="2732607"/>
            <a:ext cx="6769578" cy="191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0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>
            <a:spLocks noGrp="1"/>
          </p:cNvSpPr>
          <p:nvPr>
            <p:ph type="sldNum" idx="12"/>
          </p:nvPr>
        </p:nvSpPr>
        <p:spPr>
          <a:xfrm>
            <a:off x="7504510" y="4955382"/>
            <a:ext cx="185738" cy="13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0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21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66" name="Google Shape;26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1372" y="635053"/>
            <a:ext cx="6382613" cy="402422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1"/>
          <p:cNvSpPr txBox="1"/>
          <p:nvPr/>
        </p:nvSpPr>
        <p:spPr>
          <a:xfrm>
            <a:off x="1451372" y="86175"/>
            <a:ext cx="6238875" cy="54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b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Algorithm 4: </a:t>
            </a:r>
            <a:r>
              <a:rPr lang="en-US" sz="1800" err="1">
                <a:solidFill>
                  <a:srgbClr val="071D49"/>
                </a:solidFill>
                <a:latin typeface="Calibri"/>
                <a:ea typeface="Calibri"/>
                <a:cs typeface="Calibri"/>
                <a:sym typeface="Calibri"/>
              </a:rPr>
              <a:t>GraphSage</a:t>
            </a:r>
            <a:endParaRPr sz="1013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>
            <a:spLocks noGrp="1"/>
          </p:cNvSpPr>
          <p:nvPr>
            <p:ph type="title"/>
          </p:nvPr>
        </p:nvSpPr>
        <p:spPr>
          <a:xfrm>
            <a:off x="1452563" y="170260"/>
            <a:ext cx="6238800" cy="54877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b" anchorCtr="0">
            <a:noAutofit/>
          </a:bodyPr>
          <a:lstStyle/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/>
              <a:t>Algorithm 4: </a:t>
            </a:r>
            <a:r>
              <a:rPr lang="en-US" err="1"/>
              <a:t>GraphSage</a:t>
            </a:r>
            <a:endParaRPr/>
          </a:p>
        </p:txBody>
      </p:sp>
      <p:sp>
        <p:nvSpPr>
          <p:cNvPr id="274" name="Google Shape;274;p42"/>
          <p:cNvSpPr txBox="1">
            <a:spLocks noGrp="1"/>
          </p:cNvSpPr>
          <p:nvPr>
            <p:ph type="body" idx="1"/>
          </p:nvPr>
        </p:nvSpPr>
        <p:spPr>
          <a:xfrm>
            <a:off x="1332310" y="959644"/>
            <a:ext cx="6238800" cy="3736125"/>
          </a:xfrm>
          <a:prstGeom prst="rect">
            <a:avLst/>
          </a:prstGeom>
        </p:spPr>
        <p:txBody>
          <a:bodyPr spcFirstLastPara="1" vert="horz" wrap="square" lIns="68569" tIns="34275" rIns="68569" bIns="34275" rtlCol="0" anchor="t" anchorCtr="0">
            <a:noAutofit/>
          </a:bodyPr>
          <a:lstStyle/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1.Perform random walk traverse the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graph to find neighborhood nodes of 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the center node, here we set random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walk length = 5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2.Perform negative sampling to get 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nodes that doesn’t connect to the 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center node, neither connect to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the nodes in the generated walk.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3.Input to the graphsage model, and </a:t>
            </a:r>
            <a:endParaRPr sz="1425"/>
          </a:p>
          <a:p>
            <a:pPr marL="0" indent="0">
              <a:lnSpc>
                <a:spcPct val="20000"/>
              </a:lnSpc>
              <a:spcBef>
                <a:spcPts val="1080"/>
              </a:spcBef>
              <a:buNone/>
            </a:pPr>
            <a:r>
              <a:rPr lang="en-US" sz="1425"/>
              <a:t>perform Skip-Gram learning</a:t>
            </a:r>
            <a:endParaRPr sz="1425"/>
          </a:p>
        </p:txBody>
      </p:sp>
      <p:sp>
        <p:nvSpPr>
          <p:cNvPr id="275" name="Google Shape;275;p42"/>
          <p:cNvSpPr txBox="1">
            <a:spLocks noGrp="1"/>
          </p:cNvSpPr>
          <p:nvPr>
            <p:ph type="sldNum" idx="12"/>
          </p:nvPr>
        </p:nvSpPr>
        <p:spPr>
          <a:xfrm>
            <a:off x="7504510" y="4955382"/>
            <a:ext cx="185738" cy="136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0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75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22</a:t>
            </a:fld>
            <a:endParaRPr/>
          </a:p>
        </p:txBody>
      </p:sp>
      <p:pic>
        <p:nvPicPr>
          <p:cNvPr id="276" name="Google Shape;2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819" y="959638"/>
            <a:ext cx="3565219" cy="2459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E11D0-0087-41FD-921C-64364353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 and Q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FB3BB-4A07-400E-BCDC-9F0E75EE5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/>
            <a:r>
              <a:rPr lang="en-US" sz="1500">
                <a:cs typeface="Calibri"/>
              </a:rPr>
              <a:t>Walks like Node2Vec and Edge2Vec have parameters p and q</a:t>
            </a:r>
          </a:p>
          <a:p>
            <a:pPr marL="257175" indent="-257175"/>
            <a:r>
              <a:rPr lang="en-US" sz="1500">
                <a:cs typeface="Calibri"/>
              </a:rPr>
              <a:t>p is the return parameter meaning the likelihood of the random walk to revisit a node. If p &gt; (max(q,1), the walk would unlikely revisit nodes.</a:t>
            </a:r>
          </a:p>
          <a:p>
            <a:pPr marL="257175" indent="-257175"/>
            <a:r>
              <a:rPr lang="en-US" sz="1500">
                <a:cs typeface="Calibri"/>
              </a:rPr>
              <a:t> </a:t>
            </a:r>
            <a:r>
              <a:rPr lang="en-US" sz="1500">
                <a:ea typeface="+mn-lt"/>
                <a:cs typeface="+mn-lt"/>
              </a:rPr>
              <a:t>Q parameter controls whether the walk would explore nodes further away or closer to the node</a:t>
            </a:r>
          </a:p>
          <a:p>
            <a:pPr marL="257175" indent="-257175"/>
            <a:r>
              <a:rPr lang="en-US" sz="1500">
                <a:ea typeface="+mn-lt"/>
                <a:cs typeface="+mn-lt"/>
              </a:rPr>
              <a:t>q &gt; 1 like BFS while q &lt; 1 like DFS</a:t>
            </a:r>
            <a:endParaRPr lang="en-US" sz="1500">
              <a:cs typeface="Calibri"/>
            </a:endParaRPr>
          </a:p>
          <a:p>
            <a:pPr marL="257175" indent="-257175"/>
            <a:r>
              <a:rPr lang="en-US" sz="1500">
                <a:cs typeface="Calibri"/>
              </a:rPr>
              <a:t>Varied both p and q for values 0.25, 0.5, 0.75, 1, 1.25, 1.5, 1.75, 2, 5, 10</a:t>
            </a:r>
          </a:p>
          <a:p>
            <a:pPr marL="257175" indent="-257175"/>
            <a:r>
              <a:rPr lang="en-US" sz="1500">
                <a:cs typeface="Calibri"/>
              </a:rPr>
              <a:t>The variation in parameters resulted in average accuracy score difference of + or - 0.00789</a:t>
            </a:r>
          </a:p>
          <a:p>
            <a:endParaRPr lang="en-US" sz="150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F0E74-16EC-4549-892F-8E269CEEB1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>
          <a:xfrm>
            <a:off x="8482013" y="6607175"/>
            <a:ext cx="24765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D735998-22BD-4A14-A416-41E3D34BF7B6}" type="slidenum">
              <a:rPr lang="en-US" smtClean="0">
                <a:solidFill>
                  <a:srgbClr val="FFFFFF"/>
                </a:solidFill>
              </a:rPr>
              <a:pPr/>
              <a:t>23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10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8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bbVie Corporate Presentation Template 270218">
  <a:themeElements>
    <a:clrScheme name="AbbVie PPT 2018">
      <a:dk1>
        <a:srgbClr val="081538"/>
      </a:dk1>
      <a:lt1>
        <a:sysClr val="window" lastClr="FFFFFF"/>
      </a:lt1>
      <a:dk2>
        <a:srgbClr val="081538"/>
      </a:dk2>
      <a:lt2>
        <a:srgbClr val="E0E2E8"/>
      </a:lt2>
      <a:accent1>
        <a:srgbClr val="0F29FF"/>
      </a:accent1>
      <a:accent2>
        <a:srgbClr val="21BF97"/>
      </a:accent2>
      <a:accent3>
        <a:srgbClr val="7D00E0"/>
      </a:accent3>
      <a:accent4>
        <a:srgbClr val="FD6E0B"/>
      </a:accent4>
      <a:accent5>
        <a:srgbClr val="C2C6D2"/>
      </a:accent5>
      <a:accent6>
        <a:srgbClr val="E0E2E8"/>
      </a:accent6>
      <a:hlink>
        <a:srgbClr val="FD9740"/>
      </a:hlink>
      <a:folHlink>
        <a:srgbClr val="FEC372"/>
      </a:folHlink>
    </a:clrScheme>
    <a:fontScheme name="Custom 21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bbVie Presentation Template (010218).potx" id="{5466C9BB-65BA-4787-845D-DB693C233927}" vid="{7033D81F-27F3-4DA3-AD8A-1FBD6C7CE3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AbbVie Corporate Presentation Template 270218.potx</Template>
  <TotalTime>0</TotalTime>
  <Words>2223</Words>
  <Application>Microsoft Office PowerPoint</Application>
  <PresentationFormat>On-screen Show (16:9)</PresentationFormat>
  <Paragraphs>404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Bahnschrift SemiLight SemiConde</vt:lpstr>
      <vt:lpstr>Calibri</vt:lpstr>
      <vt:lpstr>Cambria Math</vt:lpstr>
      <vt:lpstr>LinLibertineT</vt:lpstr>
      <vt:lpstr>Open Sans</vt:lpstr>
      <vt:lpstr>Slack-Lato</vt:lpstr>
      <vt:lpstr>AbbVie Corporate Presentation Template 270218</vt:lpstr>
      <vt:lpstr>Knowledge Graph Mining using Graph Embeddings   Abhik Seal,  Majdi Hassan, Islam Akef Ebeid,  Tingyi Wanyan,  Brian Martin, Ying Ding   </vt:lpstr>
      <vt:lpstr>Outline </vt:lpstr>
      <vt:lpstr>Knowledge Graphs Defined </vt:lpstr>
      <vt:lpstr>When do you need Knowledge Graphs </vt:lpstr>
      <vt:lpstr>Why do we need to do knowledge mining algorithms </vt:lpstr>
      <vt:lpstr>Why do we need to do knowledge mining algorithms </vt:lpstr>
      <vt:lpstr>Why do we need to do knowledge mining algorithms </vt:lpstr>
      <vt:lpstr>Why do we need to do knowledge mining algorithms </vt:lpstr>
      <vt:lpstr>Graph Mining Algorithms   </vt:lpstr>
      <vt:lpstr>Data and Results section</vt:lpstr>
      <vt:lpstr>Data and Results section</vt:lpstr>
      <vt:lpstr>Data &amp; Results</vt:lpstr>
      <vt:lpstr>Summary and Discussion</vt:lpstr>
      <vt:lpstr>Acknowledgements</vt:lpstr>
      <vt:lpstr>Backup slides </vt:lpstr>
      <vt:lpstr>Algorithm 1. Node2Vec</vt:lpstr>
      <vt:lpstr>Algorithm 2. Edge2vec</vt:lpstr>
      <vt:lpstr>Algorithm3: Metapath2vec (Akef)</vt:lpstr>
      <vt:lpstr>Algorithm3: Metapath2vec</vt:lpstr>
      <vt:lpstr>Algorithm3: Metapath2vec</vt:lpstr>
      <vt:lpstr>PowerPoint Presentation</vt:lpstr>
      <vt:lpstr>Algorithm 4: GraphSage</vt:lpstr>
      <vt:lpstr>P and Q Evaluation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AbbVie</dc:creator>
  <cp:lastModifiedBy>Seal, Abhik</cp:lastModifiedBy>
  <cp:revision>1</cp:revision>
  <dcterms:created xsi:type="dcterms:W3CDTF">2017-12-21T17:28:03Z</dcterms:created>
  <dcterms:modified xsi:type="dcterms:W3CDTF">2020-10-15T19:41:26Z</dcterms:modified>
</cp:coreProperties>
</file>