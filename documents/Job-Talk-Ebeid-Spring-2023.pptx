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5"/>
  </p:notesMasterIdLst>
  <p:sldIdLst>
    <p:sldId id="256" r:id="rId2"/>
    <p:sldId id="257" r:id="rId3"/>
    <p:sldId id="262" r:id="rId4"/>
    <p:sldId id="263" r:id="rId5"/>
    <p:sldId id="268" r:id="rId6"/>
    <p:sldId id="290" r:id="rId7"/>
    <p:sldId id="291" r:id="rId8"/>
    <p:sldId id="292" r:id="rId9"/>
    <p:sldId id="293" r:id="rId10"/>
    <p:sldId id="273" r:id="rId11"/>
    <p:sldId id="267" r:id="rId12"/>
    <p:sldId id="297" r:id="rId13"/>
    <p:sldId id="283" r:id="rId14"/>
    <p:sldId id="298" r:id="rId15"/>
    <p:sldId id="284" r:id="rId16"/>
    <p:sldId id="274" r:id="rId17"/>
    <p:sldId id="275" r:id="rId18"/>
    <p:sldId id="294" r:id="rId19"/>
    <p:sldId id="279" r:id="rId20"/>
    <p:sldId id="280" r:id="rId21"/>
    <p:sldId id="278" r:id="rId22"/>
    <p:sldId id="281" r:id="rId23"/>
    <p:sldId id="282" r:id="rId24"/>
    <p:sldId id="295" r:id="rId25"/>
    <p:sldId id="296" r:id="rId26"/>
    <p:sldId id="259" r:id="rId27"/>
    <p:sldId id="260" r:id="rId28"/>
    <p:sldId id="285" r:id="rId29"/>
    <p:sldId id="286" r:id="rId30"/>
    <p:sldId id="289" r:id="rId31"/>
    <p:sldId id="261" r:id="rId32"/>
    <p:sldId id="264" r:id="rId33"/>
    <p:sldId id="25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7607" autoAdjust="0"/>
  </p:normalViewPr>
  <p:slideViewPr>
    <p:cSldViewPr snapToGrid="0">
      <p:cViewPr varScale="1">
        <p:scale>
          <a:sx n="86" d="100"/>
          <a:sy n="86" d="100"/>
        </p:scale>
        <p:origin x="1554" y="78"/>
      </p:cViewPr>
      <p:guideLst/>
    </p:cSldViewPr>
  </p:slideViewPr>
  <p:notesTextViewPr>
    <p:cViewPr>
      <p:scale>
        <a:sx n="1" d="1"/>
        <a:sy n="1" d="1"/>
      </p:scale>
      <p:origin x="0" y="0"/>
    </p:cViewPr>
  </p:notesTextViewPr>
  <p:notesViewPr>
    <p:cSldViewPr snapToGrid="0">
      <p:cViewPr varScale="1">
        <p:scale>
          <a:sx n="86" d="100"/>
          <a:sy n="86" d="100"/>
        </p:scale>
        <p:origin x="3864"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7A5240-BFA4-4324-844B-8956957937C5}" type="datetimeFigureOut">
              <a:rPr lang="en-US" smtClean="0"/>
              <a:t>5/19/2023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C9D728-39FE-4216-828B-DCCFA4CBA227}" type="slidenum">
              <a:rPr lang="en-US" smtClean="0"/>
              <a:t>‹#›</a:t>
            </a:fld>
            <a:endParaRPr lang="en-US"/>
          </a:p>
        </p:txBody>
      </p:sp>
    </p:spTree>
    <p:extLst>
      <p:ext uri="{BB962C8B-B14F-4D97-AF65-F5344CB8AC3E}">
        <p14:creationId xmlns:p14="http://schemas.microsoft.com/office/powerpoint/2010/main" val="3385409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so much for arranging this </a:t>
            </a:r>
            <a:r>
              <a:rPr lang="en-US"/>
              <a:t>meeting . </a:t>
            </a:r>
            <a:r>
              <a:rPr lang="en-US" dirty="0"/>
              <a:t>I am truly honored to meet with you. My name is Akef, and I am in my last semester as a PhD candidate at the University of Arkansas at Little Rock. My PhD is in Computer and Information Science. I am expecting to graduate this coming may and currently I am working on my dissertation. And I am here today to introduce myself and my research for a potential postdoc position with your group.</a:t>
            </a:r>
          </a:p>
        </p:txBody>
      </p:sp>
      <p:sp>
        <p:nvSpPr>
          <p:cNvPr id="4" name="Slide Number Placeholder 3"/>
          <p:cNvSpPr>
            <a:spLocks noGrp="1"/>
          </p:cNvSpPr>
          <p:nvPr>
            <p:ph type="sldNum" sz="quarter" idx="5"/>
          </p:nvPr>
        </p:nvSpPr>
        <p:spPr/>
        <p:txBody>
          <a:bodyPr/>
          <a:lstStyle/>
          <a:p>
            <a:fld id="{58C9D728-39FE-4216-828B-DCCFA4CBA227}" type="slidenum">
              <a:rPr lang="en-US" smtClean="0"/>
              <a:t>1</a:t>
            </a:fld>
            <a:endParaRPr lang="en-US"/>
          </a:p>
        </p:txBody>
      </p:sp>
    </p:spTree>
    <p:extLst>
      <p:ext uri="{BB962C8B-B14F-4D97-AF65-F5344CB8AC3E}">
        <p14:creationId xmlns:p14="http://schemas.microsoft.com/office/powerpoint/2010/main" val="15776788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today I will be going over a quick introduction. I will go over my current and previous work. I will also spend some time describing methods I used in current research. And finally will describe some future directions. After that I will be happy to take any questions.</a:t>
            </a:r>
          </a:p>
        </p:txBody>
      </p:sp>
      <p:sp>
        <p:nvSpPr>
          <p:cNvPr id="4" name="Slide Number Placeholder 3"/>
          <p:cNvSpPr>
            <a:spLocks noGrp="1"/>
          </p:cNvSpPr>
          <p:nvPr>
            <p:ph type="sldNum" sz="quarter" idx="5"/>
          </p:nvPr>
        </p:nvSpPr>
        <p:spPr/>
        <p:txBody>
          <a:bodyPr/>
          <a:lstStyle/>
          <a:p>
            <a:fld id="{58C9D728-39FE-4216-828B-DCCFA4CBA227}" type="slidenum">
              <a:rPr lang="en-US" smtClean="0"/>
              <a:t>2</a:t>
            </a:fld>
            <a:endParaRPr lang="en-US"/>
          </a:p>
        </p:txBody>
      </p:sp>
    </p:spTree>
    <p:extLst>
      <p:ext uri="{BB962C8B-B14F-4D97-AF65-F5344CB8AC3E}">
        <p14:creationId xmlns:p14="http://schemas.microsoft.com/office/powerpoint/2010/main" val="2428868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since I started my PhD, I was always trying to apply my research to benefit the biomedical field. I truly enjoy interdisciplinary, collaborative and applied research. I also enjoy the idea of automated knowledge discovery and mining from text especially bibliographical text and unstructured data such as graphs and networks. So as far as education. I also earned 2 masters degrees in computer and information science and a bachelors degree in ECE. In addition I spent some time and finished coursework at the UT Austin at the School of Information as a PhD student.</a:t>
            </a:r>
          </a:p>
          <a:p>
            <a:r>
              <a:rPr lang="en-US" dirty="0"/>
              <a:t>As far as professional experience I interned in several places like </a:t>
            </a:r>
            <a:r>
              <a:rPr lang="en-US" dirty="0" err="1"/>
              <a:t>Abbvie</a:t>
            </a:r>
            <a:r>
              <a:rPr lang="en-US" dirty="0"/>
              <a:t>, Intel, and The Texas Advanced Computing Center in addition to being a software developer at Arkansas.gov. </a:t>
            </a:r>
          </a:p>
        </p:txBody>
      </p:sp>
      <p:sp>
        <p:nvSpPr>
          <p:cNvPr id="4" name="Slide Number Placeholder 3"/>
          <p:cNvSpPr>
            <a:spLocks noGrp="1"/>
          </p:cNvSpPr>
          <p:nvPr>
            <p:ph type="sldNum" sz="quarter" idx="5"/>
          </p:nvPr>
        </p:nvSpPr>
        <p:spPr/>
        <p:txBody>
          <a:bodyPr/>
          <a:lstStyle/>
          <a:p>
            <a:fld id="{58C9D728-39FE-4216-828B-DCCFA4CBA227}" type="slidenum">
              <a:rPr lang="en-US" smtClean="0"/>
              <a:t>3</a:t>
            </a:fld>
            <a:endParaRPr lang="en-US"/>
          </a:p>
        </p:txBody>
      </p:sp>
    </p:spTree>
    <p:extLst>
      <p:ext uri="{BB962C8B-B14F-4D97-AF65-F5344CB8AC3E}">
        <p14:creationId xmlns:p14="http://schemas.microsoft.com/office/powerpoint/2010/main" val="3262164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first I will talk about graph based unsupervised entity resolution which is my dissertation work.</a:t>
            </a:r>
          </a:p>
        </p:txBody>
      </p:sp>
      <p:sp>
        <p:nvSpPr>
          <p:cNvPr id="4" name="Slide Number Placeholder 3"/>
          <p:cNvSpPr>
            <a:spLocks noGrp="1"/>
          </p:cNvSpPr>
          <p:nvPr>
            <p:ph type="sldNum" sz="quarter" idx="5"/>
          </p:nvPr>
        </p:nvSpPr>
        <p:spPr/>
        <p:txBody>
          <a:bodyPr/>
          <a:lstStyle/>
          <a:p>
            <a:fld id="{58C9D728-39FE-4216-828B-DCCFA4CBA227}" type="slidenum">
              <a:rPr lang="en-US" smtClean="0"/>
              <a:t>4</a:t>
            </a:fld>
            <a:endParaRPr lang="en-US"/>
          </a:p>
        </p:txBody>
      </p:sp>
    </p:spTree>
    <p:extLst>
      <p:ext uri="{BB962C8B-B14F-4D97-AF65-F5344CB8AC3E}">
        <p14:creationId xmlns:p14="http://schemas.microsoft.com/office/powerpoint/2010/main" val="24705296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first, let me start from the top and explain entity resolution and then narrow it down to the problem at hand. Entity resolution is a data quality problem that appears in data curation processes. It refers to finding records in a database or a data file that refer to the same real-world entity. Other term variants can be entity matching, record linkage, deduplication, or the merge/purge problem. As you can see in the figure, this is an excerpt of a merged data file. And I am saying merged because usually data like that come in multiple files. Hence, we typically merge all those files in one. Sometimes using a single layout and sometimes just merging without knowing the specific layout of the metadata. There is one layout in this figure, meaning that all the data rows are organized in the same fields. However, some of those rows might be identical to each other, and some might be a little similar yet ambiguous. Ambiguous in the sense that some of the fields might be identical and some might not be. This brings up the question of which rows in this data file might refer to the same person. Of course, just by looking, we can say that the first and the second rows most probably refer to the same person, and the fourth and the fifth rows also might refer to another same person. But of course, to scale this on large datasets, we need an automated way of clustering those records together just as we did with our human eyes. So that is in a nutshell what the task of entity resolution.</a:t>
            </a:r>
          </a:p>
        </p:txBody>
      </p:sp>
      <p:sp>
        <p:nvSpPr>
          <p:cNvPr id="4" name="Slide Number Placeholder 3"/>
          <p:cNvSpPr>
            <a:spLocks noGrp="1"/>
          </p:cNvSpPr>
          <p:nvPr>
            <p:ph type="sldNum" sz="quarter" idx="5"/>
          </p:nvPr>
        </p:nvSpPr>
        <p:spPr/>
        <p:txBody>
          <a:bodyPr/>
          <a:lstStyle/>
          <a:p>
            <a:fld id="{9AB392EB-F905-4DEB-994A-84942BE6E492}" type="slidenum">
              <a:rPr lang="en-US" smtClean="0"/>
              <a:t>5</a:t>
            </a:fld>
            <a:endParaRPr lang="en-US"/>
          </a:p>
        </p:txBody>
      </p:sp>
    </p:spTree>
    <p:extLst>
      <p:ext uri="{BB962C8B-B14F-4D97-AF65-F5344CB8AC3E}">
        <p14:creationId xmlns:p14="http://schemas.microsoft.com/office/powerpoint/2010/main" val="9346363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core of entity resolution is text similarity and fuzzy matching. The idea is that if we can compare each record in a file, we will get a score for each pairwise comparison. Based on those scores, probabilities can be derived, indicating whether each pair of rows match. Text similarity approaches could be applied in many ways. Traditional rule-based methods rely on handcrafting rules based on the semantics, the context, and the schema of the dataset. Matching probabilities are then computed based on the handcrafted rules in combination with syntactic similarity or string similarity. Previously mentioned approaches could be referred to as supervised methods in entity resolution because they rely on human input to function correctly. Supervised techniques are characterized by producing robust results. </a:t>
            </a:r>
          </a:p>
          <a:p>
            <a:endParaRPr lang="en-US" dirty="0"/>
          </a:p>
        </p:txBody>
      </p:sp>
      <p:sp>
        <p:nvSpPr>
          <p:cNvPr id="4" name="Slide Number Placeholder 3"/>
          <p:cNvSpPr>
            <a:spLocks noGrp="1"/>
          </p:cNvSpPr>
          <p:nvPr>
            <p:ph type="sldNum" sz="quarter" idx="5"/>
          </p:nvPr>
        </p:nvSpPr>
        <p:spPr/>
        <p:txBody>
          <a:bodyPr/>
          <a:lstStyle/>
          <a:p>
            <a:fld id="{9AB392EB-F905-4DEB-994A-84942BE6E492}" type="slidenum">
              <a:rPr lang="en-US" smtClean="0"/>
              <a:t>6</a:t>
            </a:fld>
            <a:endParaRPr lang="en-US"/>
          </a:p>
        </p:txBody>
      </p:sp>
    </p:spTree>
    <p:extLst>
      <p:ext uri="{BB962C8B-B14F-4D97-AF65-F5344CB8AC3E}">
        <p14:creationId xmlns:p14="http://schemas.microsoft.com/office/powerpoint/2010/main" val="16848182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 the other hand, as organizations' data assets increase in volume and size, the need for automating data curation and supporting processes such as entity resolution becomes more crucial. Automating entity resolution to become fully unsupervised requires relying only on syntactic string and text similarity measures and ignoring prior knowledge and hand-crafted rules about the dataset's schema. The task, however, is muddled with challenges and scalability issues. Since the unsupervised entity resolution relies on syntactic string similarity, a naive approach of pairwise comparison will have quadratic complexity. Notice here that I removed the columns and field names and combined all the tokens in one body ignoring any schema or metadata. Now you can imagine just comparing every record in the dataset to the other and how that approach would be problematic for large-scale data.</a:t>
            </a:r>
          </a:p>
          <a:p>
            <a:endParaRPr lang="en-US" dirty="0"/>
          </a:p>
        </p:txBody>
      </p:sp>
      <p:sp>
        <p:nvSpPr>
          <p:cNvPr id="4" name="Slide Number Placeholder 3"/>
          <p:cNvSpPr>
            <a:spLocks noGrp="1"/>
          </p:cNvSpPr>
          <p:nvPr>
            <p:ph type="sldNum" sz="quarter" idx="5"/>
          </p:nvPr>
        </p:nvSpPr>
        <p:spPr/>
        <p:txBody>
          <a:bodyPr/>
          <a:lstStyle/>
          <a:p>
            <a:fld id="{9AB392EB-F905-4DEB-994A-84942BE6E492}" type="slidenum">
              <a:rPr lang="en-US" smtClean="0"/>
              <a:t>7</a:t>
            </a:fld>
            <a:endParaRPr lang="en-US"/>
          </a:p>
        </p:txBody>
      </p:sp>
    </p:spTree>
    <p:extLst>
      <p:ext uri="{BB962C8B-B14F-4D97-AF65-F5344CB8AC3E}">
        <p14:creationId xmlns:p14="http://schemas.microsoft.com/office/powerpoint/2010/main" val="41962915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solution to that in unsupervised entity resolution is called blocking. Blocking refers to quick and dirty techniques that first avoid using computationally expensive string comparisons and second would reduce the number of pairwise comparisons in the data file by dividing the data file into blocks.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 you can see in the figure a large data file is broken down into references that have the potential of referring to the same entity. Block sizes don’t have to be equal.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each block can be processed separately where pairwise string similarity can be applied with less computational cost and possibly in parallel. Blocking is typically based on the assumption that two records that might refer to the same entity will share at least one token. Other blocking techniques include locality sensitive hashing and random sampling. </a:t>
            </a:r>
          </a:p>
          <a:p>
            <a:endParaRPr lang="en-US" dirty="0"/>
          </a:p>
        </p:txBody>
      </p:sp>
      <p:sp>
        <p:nvSpPr>
          <p:cNvPr id="4" name="Slide Number Placeholder 3"/>
          <p:cNvSpPr>
            <a:spLocks noGrp="1"/>
          </p:cNvSpPr>
          <p:nvPr>
            <p:ph type="sldNum" sz="quarter" idx="5"/>
          </p:nvPr>
        </p:nvSpPr>
        <p:spPr/>
        <p:txBody>
          <a:bodyPr/>
          <a:lstStyle/>
          <a:p>
            <a:fld id="{9AB392EB-F905-4DEB-994A-84942BE6E492}" type="slidenum">
              <a:rPr lang="en-US" smtClean="0"/>
              <a:t>8</a:t>
            </a:fld>
            <a:endParaRPr lang="en-US"/>
          </a:p>
        </p:txBody>
      </p:sp>
    </p:spTree>
    <p:extLst>
      <p:ext uri="{BB962C8B-B14F-4D97-AF65-F5344CB8AC3E}">
        <p14:creationId xmlns:p14="http://schemas.microsoft.com/office/powerpoint/2010/main" val="14950945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matched pairs from each processed block are then combined and clustered. The clustering process aims at resolving any conflicts in pairwise matching and find records that indirectly match. The final clusters then represent the matched and resolved entity records with the highest matching probabilities.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 you can see in the figure the blocks from the previous slide are passed to a pairwise matching process on each block separately. Each ellipse in the image represents one unique record. The paired records are passed to a clustering process where pairs are identified where common records appear in multiple pairs. In addition, records that match each other indirectly are identified to form the entity clusters.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9AB392EB-F905-4DEB-994A-84942BE6E492}" type="slidenum">
              <a:rPr lang="en-US" smtClean="0"/>
              <a:t>9</a:t>
            </a:fld>
            <a:endParaRPr lang="en-US"/>
          </a:p>
        </p:txBody>
      </p:sp>
    </p:spTree>
    <p:extLst>
      <p:ext uri="{BB962C8B-B14F-4D97-AF65-F5344CB8AC3E}">
        <p14:creationId xmlns:p14="http://schemas.microsoft.com/office/powerpoint/2010/main" val="40058668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basically the matched pair records can be seen as an edge list in a graph. The properties of that blocking process help us see it that way because one record might appear in different blocks so that naturally creates a graph. So that was the main observation in the paper. Now if we experiment with different graph clustering methods and adapt them. After many trials I found that a 2-step algorithm where first I apply a graph method used for what they call in database transitive closure that algorithm helps discover large clusters. Then each large cluster I break down using an adapted Louvain community detection algorithm after I apply weights to the graph.</a:t>
            </a:r>
          </a:p>
        </p:txBody>
      </p:sp>
      <p:sp>
        <p:nvSpPr>
          <p:cNvPr id="4" name="Slide Number Placeholder 3"/>
          <p:cNvSpPr>
            <a:spLocks noGrp="1"/>
          </p:cNvSpPr>
          <p:nvPr>
            <p:ph type="sldNum" sz="quarter" idx="5"/>
          </p:nvPr>
        </p:nvSpPr>
        <p:spPr/>
        <p:txBody>
          <a:bodyPr/>
          <a:lstStyle/>
          <a:p>
            <a:fld id="{58C9D728-39FE-4216-828B-DCCFA4CBA227}" type="slidenum">
              <a:rPr lang="en-US" smtClean="0"/>
              <a:t>10</a:t>
            </a:fld>
            <a:endParaRPr lang="en-US"/>
          </a:p>
        </p:txBody>
      </p:sp>
    </p:spTree>
    <p:extLst>
      <p:ext uri="{BB962C8B-B14F-4D97-AF65-F5344CB8AC3E}">
        <p14:creationId xmlns:p14="http://schemas.microsoft.com/office/powerpoint/2010/main" val="15910008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in the latest work I introduced a combined 2 step hierarchical graph based method by adapting two algorithms to cluster the records coming out of pairwise matching.</a:t>
            </a:r>
          </a:p>
        </p:txBody>
      </p:sp>
      <p:sp>
        <p:nvSpPr>
          <p:cNvPr id="4" name="Slide Number Placeholder 3"/>
          <p:cNvSpPr>
            <a:spLocks noGrp="1"/>
          </p:cNvSpPr>
          <p:nvPr>
            <p:ph type="sldNum" sz="quarter" idx="5"/>
          </p:nvPr>
        </p:nvSpPr>
        <p:spPr/>
        <p:txBody>
          <a:bodyPr/>
          <a:lstStyle/>
          <a:p>
            <a:fld id="{58C9D728-39FE-4216-828B-DCCFA4CBA227}" type="slidenum">
              <a:rPr lang="en-US" smtClean="0"/>
              <a:t>11</a:t>
            </a:fld>
            <a:endParaRPr lang="en-US"/>
          </a:p>
        </p:txBody>
      </p:sp>
    </p:spTree>
    <p:extLst>
      <p:ext uri="{BB962C8B-B14F-4D97-AF65-F5344CB8AC3E}">
        <p14:creationId xmlns:p14="http://schemas.microsoft.com/office/powerpoint/2010/main" val="18687177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in the latest work I introduced a combined 2 step hierarchical graph based method by adapting two algorithms to cluster the records coming out of pairwise matching.</a:t>
            </a:r>
          </a:p>
        </p:txBody>
      </p:sp>
      <p:sp>
        <p:nvSpPr>
          <p:cNvPr id="4" name="Slide Number Placeholder 3"/>
          <p:cNvSpPr>
            <a:spLocks noGrp="1"/>
          </p:cNvSpPr>
          <p:nvPr>
            <p:ph type="sldNum" sz="quarter" idx="5"/>
          </p:nvPr>
        </p:nvSpPr>
        <p:spPr/>
        <p:txBody>
          <a:bodyPr/>
          <a:lstStyle/>
          <a:p>
            <a:fld id="{58C9D728-39FE-4216-828B-DCCFA4CBA227}" type="slidenum">
              <a:rPr lang="en-US" smtClean="0"/>
              <a:t>12</a:t>
            </a:fld>
            <a:endParaRPr lang="en-US"/>
          </a:p>
        </p:txBody>
      </p:sp>
    </p:spTree>
    <p:extLst>
      <p:ext uri="{BB962C8B-B14F-4D97-AF65-F5344CB8AC3E}">
        <p14:creationId xmlns:p14="http://schemas.microsoft.com/office/powerpoint/2010/main" val="15333280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evaluation we have a database of synthetic individual data that was created with the intention of being used in entity resolution tasks. That database has multiple rows rereferring to the same person but corrupted on purpose using a statistical error generator.</a:t>
            </a:r>
          </a:p>
        </p:txBody>
      </p:sp>
      <p:sp>
        <p:nvSpPr>
          <p:cNvPr id="4" name="Slide Number Placeholder 3"/>
          <p:cNvSpPr>
            <a:spLocks noGrp="1"/>
          </p:cNvSpPr>
          <p:nvPr>
            <p:ph type="sldNum" sz="quarter" idx="5"/>
          </p:nvPr>
        </p:nvSpPr>
        <p:spPr/>
        <p:txBody>
          <a:bodyPr/>
          <a:lstStyle/>
          <a:p>
            <a:fld id="{58C9D728-39FE-4216-828B-DCCFA4CBA227}" type="slidenum">
              <a:rPr lang="en-US" smtClean="0"/>
              <a:t>13</a:t>
            </a:fld>
            <a:endParaRPr lang="en-US"/>
          </a:p>
        </p:txBody>
      </p:sp>
    </p:spTree>
    <p:extLst>
      <p:ext uri="{BB962C8B-B14F-4D97-AF65-F5344CB8AC3E}">
        <p14:creationId xmlns:p14="http://schemas.microsoft.com/office/powerpoint/2010/main" val="13976133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evaluation we have a database of synthetic individual data that was created with the intention of being used in entity resolution tasks. That database has multiple rows rereferring to the same person but corrupted on purpose using a statistical error generator.</a:t>
            </a:r>
          </a:p>
        </p:txBody>
      </p:sp>
      <p:sp>
        <p:nvSpPr>
          <p:cNvPr id="4" name="Slide Number Placeholder 3"/>
          <p:cNvSpPr>
            <a:spLocks noGrp="1"/>
          </p:cNvSpPr>
          <p:nvPr>
            <p:ph type="sldNum" sz="quarter" idx="5"/>
          </p:nvPr>
        </p:nvSpPr>
        <p:spPr/>
        <p:txBody>
          <a:bodyPr/>
          <a:lstStyle/>
          <a:p>
            <a:fld id="{58C9D728-39FE-4216-828B-DCCFA4CBA227}" type="slidenum">
              <a:rPr lang="en-US" smtClean="0"/>
              <a:t>14</a:t>
            </a:fld>
            <a:endParaRPr lang="en-US"/>
          </a:p>
        </p:txBody>
      </p:sp>
    </p:spTree>
    <p:extLst>
      <p:ext uri="{BB962C8B-B14F-4D97-AF65-F5344CB8AC3E}">
        <p14:creationId xmlns:p14="http://schemas.microsoft.com/office/powerpoint/2010/main" val="14675816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future work here focuses on scalability to large datasets and applying the method to tasks such as author disambiguation or affiliation disambiguation. For example in the PubMed dataset that I talked about before the </a:t>
            </a:r>
            <a:r>
              <a:rPr lang="en-US" dirty="0" err="1"/>
              <a:t>affilations</a:t>
            </a:r>
            <a:r>
              <a:rPr lang="en-US" dirty="0"/>
              <a:t> are not disambiguated so this can provide a used method to do that.</a:t>
            </a:r>
          </a:p>
        </p:txBody>
      </p:sp>
      <p:sp>
        <p:nvSpPr>
          <p:cNvPr id="4" name="Slide Number Placeholder 3"/>
          <p:cNvSpPr>
            <a:spLocks noGrp="1"/>
          </p:cNvSpPr>
          <p:nvPr>
            <p:ph type="sldNum" sz="quarter" idx="5"/>
          </p:nvPr>
        </p:nvSpPr>
        <p:spPr/>
        <p:txBody>
          <a:bodyPr/>
          <a:lstStyle/>
          <a:p>
            <a:fld id="{58C9D728-39FE-4216-828B-DCCFA4CBA227}" type="slidenum">
              <a:rPr lang="en-US" smtClean="0"/>
              <a:t>15</a:t>
            </a:fld>
            <a:endParaRPr lang="en-US"/>
          </a:p>
        </p:txBody>
      </p:sp>
    </p:spTree>
    <p:extLst>
      <p:ext uri="{BB962C8B-B14F-4D97-AF65-F5344CB8AC3E}">
        <p14:creationId xmlns:p14="http://schemas.microsoft.com/office/powerpoint/2010/main" val="20681539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also I mentioned before from each article I extract the extracted </a:t>
            </a:r>
            <a:r>
              <a:rPr lang="en-US" dirty="0" err="1"/>
              <a:t>bioentites</a:t>
            </a:r>
            <a:r>
              <a:rPr lang="en-US" dirty="0"/>
              <a:t> from the PubMed dataset that I described before.</a:t>
            </a:r>
          </a:p>
        </p:txBody>
      </p:sp>
      <p:sp>
        <p:nvSpPr>
          <p:cNvPr id="4" name="Slide Number Placeholder 3"/>
          <p:cNvSpPr>
            <a:spLocks noGrp="1"/>
          </p:cNvSpPr>
          <p:nvPr>
            <p:ph type="sldNum" sz="quarter" idx="5"/>
          </p:nvPr>
        </p:nvSpPr>
        <p:spPr/>
        <p:txBody>
          <a:bodyPr/>
          <a:lstStyle/>
          <a:p>
            <a:fld id="{58C9D728-39FE-4216-828B-DCCFA4CBA227}" type="slidenum">
              <a:rPr lang="en-US" smtClean="0"/>
              <a:t>16</a:t>
            </a:fld>
            <a:endParaRPr lang="en-US"/>
          </a:p>
        </p:txBody>
      </p:sp>
    </p:spTree>
    <p:extLst>
      <p:ext uri="{BB962C8B-B14F-4D97-AF65-F5344CB8AC3E}">
        <p14:creationId xmlns:p14="http://schemas.microsoft.com/office/powerpoint/2010/main" val="10279796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for each article I model the extracted information as a mini knowledge graph with relationships </a:t>
            </a:r>
          </a:p>
        </p:txBody>
      </p:sp>
      <p:sp>
        <p:nvSpPr>
          <p:cNvPr id="4" name="Slide Number Placeholder 3"/>
          <p:cNvSpPr>
            <a:spLocks noGrp="1"/>
          </p:cNvSpPr>
          <p:nvPr>
            <p:ph type="sldNum" sz="quarter" idx="5"/>
          </p:nvPr>
        </p:nvSpPr>
        <p:spPr/>
        <p:txBody>
          <a:bodyPr/>
          <a:lstStyle/>
          <a:p>
            <a:fld id="{58C9D728-39FE-4216-828B-DCCFA4CBA227}" type="slidenum">
              <a:rPr lang="en-US" smtClean="0"/>
              <a:t>17</a:t>
            </a:fld>
            <a:endParaRPr lang="en-US"/>
          </a:p>
        </p:txBody>
      </p:sp>
    </p:spTree>
    <p:extLst>
      <p:ext uri="{BB962C8B-B14F-4D97-AF65-F5344CB8AC3E}">
        <p14:creationId xmlns:p14="http://schemas.microsoft.com/office/powerpoint/2010/main" val="21007393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Then I integrate those mini knowledge graphs semantically so that its not just co occurrence.</a:t>
            </a:r>
          </a:p>
          <a:p>
            <a:endParaRPr lang="en-US" dirty="0"/>
          </a:p>
        </p:txBody>
      </p:sp>
      <p:sp>
        <p:nvSpPr>
          <p:cNvPr id="4" name="Slide Number Placeholder 3"/>
          <p:cNvSpPr>
            <a:spLocks noGrp="1"/>
          </p:cNvSpPr>
          <p:nvPr>
            <p:ph type="sldNum" sz="quarter" idx="5"/>
          </p:nvPr>
        </p:nvSpPr>
        <p:spPr/>
        <p:txBody>
          <a:bodyPr/>
          <a:lstStyle/>
          <a:p>
            <a:fld id="{58C9D728-39FE-4216-828B-DCCFA4CBA227}" type="slidenum">
              <a:rPr lang="en-US" smtClean="0"/>
              <a:t>18</a:t>
            </a:fld>
            <a:endParaRPr lang="en-US"/>
          </a:p>
        </p:txBody>
      </p:sp>
    </p:spTree>
    <p:extLst>
      <p:ext uri="{BB962C8B-B14F-4D97-AF65-F5344CB8AC3E}">
        <p14:creationId xmlns:p14="http://schemas.microsoft.com/office/powerpoint/2010/main" val="40604767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Then I apply a graph embedding method Node2Vec to embed the nodes in the knowledge graph. Note the </a:t>
            </a:r>
            <a:r>
              <a:rPr lang="en-US" dirty="0" err="1"/>
              <a:t>the</a:t>
            </a:r>
            <a:r>
              <a:rPr lang="en-US" dirty="0"/>
              <a:t> vectors will encode the structure of the graph.</a:t>
            </a:r>
          </a:p>
          <a:p>
            <a:endParaRPr lang="en-US" dirty="0"/>
          </a:p>
        </p:txBody>
      </p:sp>
      <p:sp>
        <p:nvSpPr>
          <p:cNvPr id="4" name="Slide Number Placeholder 3"/>
          <p:cNvSpPr>
            <a:spLocks noGrp="1"/>
          </p:cNvSpPr>
          <p:nvPr>
            <p:ph type="sldNum" sz="quarter" idx="5"/>
          </p:nvPr>
        </p:nvSpPr>
        <p:spPr/>
        <p:txBody>
          <a:bodyPr/>
          <a:lstStyle/>
          <a:p>
            <a:fld id="{58C9D728-39FE-4216-828B-DCCFA4CBA227}" type="slidenum">
              <a:rPr lang="en-US" smtClean="0"/>
              <a:t>19</a:t>
            </a:fld>
            <a:endParaRPr lang="en-US"/>
          </a:p>
        </p:txBody>
      </p:sp>
    </p:spTree>
    <p:extLst>
      <p:ext uri="{BB962C8B-B14F-4D97-AF65-F5344CB8AC3E}">
        <p14:creationId xmlns:p14="http://schemas.microsoft.com/office/powerpoint/2010/main" val="12155203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for each article node I pool the neighborhood embeddings and create one vector for each article.</a:t>
            </a:r>
          </a:p>
        </p:txBody>
      </p:sp>
      <p:sp>
        <p:nvSpPr>
          <p:cNvPr id="4" name="Slide Number Placeholder 3"/>
          <p:cNvSpPr>
            <a:spLocks noGrp="1"/>
          </p:cNvSpPr>
          <p:nvPr>
            <p:ph type="sldNum" sz="quarter" idx="5"/>
          </p:nvPr>
        </p:nvSpPr>
        <p:spPr/>
        <p:txBody>
          <a:bodyPr/>
          <a:lstStyle/>
          <a:p>
            <a:fld id="{58C9D728-39FE-4216-828B-DCCFA4CBA227}" type="slidenum">
              <a:rPr lang="en-US" smtClean="0"/>
              <a:t>20</a:t>
            </a:fld>
            <a:endParaRPr lang="en-US"/>
          </a:p>
        </p:txBody>
      </p:sp>
    </p:spTree>
    <p:extLst>
      <p:ext uri="{BB962C8B-B14F-4D97-AF65-F5344CB8AC3E}">
        <p14:creationId xmlns:p14="http://schemas.microsoft.com/office/powerpoint/2010/main" val="2465108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query I use the extracted bio entities as an index and match the query terms using fuzzy matching to the extracted bio entities and then I find the corresponding nodes in the graph. Pool the corresponding nodes and that gives me one vector for the query. Now I can </a:t>
            </a:r>
            <a:r>
              <a:rPr lang="en-US" dirty="0" err="1"/>
              <a:t>easly</a:t>
            </a:r>
            <a:r>
              <a:rPr lang="en-US" dirty="0"/>
              <a:t> apply a </a:t>
            </a:r>
            <a:r>
              <a:rPr lang="en-US" dirty="0" err="1"/>
              <a:t>cosince</a:t>
            </a:r>
            <a:r>
              <a:rPr lang="en-US" dirty="0"/>
              <a:t> distance metric to find for example the top 10 articles for that query.</a:t>
            </a:r>
          </a:p>
        </p:txBody>
      </p:sp>
      <p:sp>
        <p:nvSpPr>
          <p:cNvPr id="4" name="Slide Number Placeholder 3"/>
          <p:cNvSpPr>
            <a:spLocks noGrp="1"/>
          </p:cNvSpPr>
          <p:nvPr>
            <p:ph type="sldNum" sz="quarter" idx="5"/>
          </p:nvPr>
        </p:nvSpPr>
        <p:spPr/>
        <p:txBody>
          <a:bodyPr/>
          <a:lstStyle/>
          <a:p>
            <a:fld id="{58C9D728-39FE-4216-828B-DCCFA4CBA227}" type="slidenum">
              <a:rPr lang="en-US" smtClean="0"/>
              <a:t>21</a:t>
            </a:fld>
            <a:endParaRPr lang="en-US"/>
          </a:p>
        </p:txBody>
      </p:sp>
    </p:spTree>
    <p:extLst>
      <p:ext uri="{BB962C8B-B14F-4D97-AF65-F5344CB8AC3E}">
        <p14:creationId xmlns:p14="http://schemas.microsoft.com/office/powerpoint/2010/main" val="6132181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Ofcourse</a:t>
            </a:r>
            <a:r>
              <a:rPr lang="en-US" dirty="0"/>
              <a:t> I cannot do that on a dataset of 31 million articles I simply don’t have the resources so I figured I can do that on a proof of concept dataset. So first I found dates of published articles that are in English and in MEDLINE to give me around 2000 articles. I then use the 2000 articles to extracted a citation network. Which yielded 100K articles. I then Create the knowledge graph from those 100K articles which yielded 500K nodes and 2M articles. I then applied the framework I described before and compared with a traditional TFIDF ranking method using metrics like precision, recall, F1, MAP.</a:t>
            </a:r>
          </a:p>
        </p:txBody>
      </p:sp>
      <p:sp>
        <p:nvSpPr>
          <p:cNvPr id="4" name="Slide Number Placeholder 3"/>
          <p:cNvSpPr>
            <a:spLocks noGrp="1"/>
          </p:cNvSpPr>
          <p:nvPr>
            <p:ph type="sldNum" sz="quarter" idx="5"/>
          </p:nvPr>
        </p:nvSpPr>
        <p:spPr/>
        <p:txBody>
          <a:bodyPr/>
          <a:lstStyle/>
          <a:p>
            <a:fld id="{58C9D728-39FE-4216-828B-DCCFA4CBA227}" type="slidenum">
              <a:rPr lang="en-US" smtClean="0"/>
              <a:t>22</a:t>
            </a:fld>
            <a:endParaRPr lang="en-US"/>
          </a:p>
        </p:txBody>
      </p:sp>
    </p:spTree>
    <p:extLst>
      <p:ext uri="{BB962C8B-B14F-4D97-AF65-F5344CB8AC3E}">
        <p14:creationId xmlns:p14="http://schemas.microsoft.com/office/powerpoint/2010/main" val="22208823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did not do A/B testing so that is in the future work. Also I would like to run this on the full PubMed dataset but again I don’t have the resources.</a:t>
            </a:r>
          </a:p>
        </p:txBody>
      </p:sp>
      <p:sp>
        <p:nvSpPr>
          <p:cNvPr id="4" name="Slide Number Placeholder 3"/>
          <p:cNvSpPr>
            <a:spLocks noGrp="1"/>
          </p:cNvSpPr>
          <p:nvPr>
            <p:ph type="sldNum" sz="quarter" idx="5"/>
          </p:nvPr>
        </p:nvSpPr>
        <p:spPr/>
        <p:txBody>
          <a:bodyPr/>
          <a:lstStyle/>
          <a:p>
            <a:fld id="{58C9D728-39FE-4216-828B-DCCFA4CBA227}" type="slidenum">
              <a:rPr lang="en-US" smtClean="0"/>
              <a:t>23</a:t>
            </a:fld>
            <a:endParaRPr lang="en-US"/>
          </a:p>
        </p:txBody>
      </p:sp>
    </p:spTree>
    <p:extLst>
      <p:ext uri="{BB962C8B-B14F-4D97-AF65-F5344CB8AC3E}">
        <p14:creationId xmlns:p14="http://schemas.microsoft.com/office/powerpoint/2010/main" val="26438613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more idea is that that dataset could be enriched using a semantic dataset like Chem2Bio2RDF. However it is quiet a task. I tried before. Matching the entities is very difficult without a dictionary or a lookup. My guess is if that dataset somehow worked it will be superefficient for searching the literature. </a:t>
            </a:r>
          </a:p>
          <a:p>
            <a:endParaRPr lang="en-US" dirty="0"/>
          </a:p>
        </p:txBody>
      </p:sp>
      <p:sp>
        <p:nvSpPr>
          <p:cNvPr id="4" name="Slide Number Placeholder 3"/>
          <p:cNvSpPr>
            <a:spLocks noGrp="1"/>
          </p:cNvSpPr>
          <p:nvPr>
            <p:ph type="sldNum" sz="quarter" idx="5"/>
          </p:nvPr>
        </p:nvSpPr>
        <p:spPr/>
        <p:txBody>
          <a:bodyPr/>
          <a:lstStyle/>
          <a:p>
            <a:fld id="{58C9D728-39FE-4216-828B-DCCFA4CBA227}" type="slidenum">
              <a:rPr lang="en-US" smtClean="0"/>
              <a:t>24</a:t>
            </a:fld>
            <a:endParaRPr lang="en-US"/>
          </a:p>
        </p:txBody>
      </p:sp>
    </p:spTree>
    <p:extLst>
      <p:ext uri="{BB962C8B-B14F-4D97-AF65-F5344CB8AC3E}">
        <p14:creationId xmlns:p14="http://schemas.microsoft.com/office/powerpoint/2010/main" val="21224457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I will start by my current research and my dissertation work which is mainly in using graph and network algorithms in data integration especially in entity recognition and resolution in datasets that are not naturally a graph using </a:t>
            </a:r>
            <a:r>
              <a:rPr lang="en-US" dirty="0" err="1"/>
              <a:t>nlp</a:t>
            </a:r>
            <a:r>
              <a:rPr lang="en-US" dirty="0"/>
              <a:t> methods. The second line of research is biomedical information retrieval and data mining especially using knowledge graph and network embedding models. Third is a line of research in using human computer interaction and user studies in addition to eye tracking and visualization also to understand or enhance search experiences.</a:t>
            </a:r>
          </a:p>
        </p:txBody>
      </p:sp>
      <p:sp>
        <p:nvSpPr>
          <p:cNvPr id="4" name="Slide Number Placeholder 3"/>
          <p:cNvSpPr>
            <a:spLocks noGrp="1"/>
          </p:cNvSpPr>
          <p:nvPr>
            <p:ph type="sldNum" sz="quarter" idx="5"/>
          </p:nvPr>
        </p:nvSpPr>
        <p:spPr/>
        <p:txBody>
          <a:bodyPr/>
          <a:lstStyle/>
          <a:p>
            <a:fld id="{58C9D728-39FE-4216-828B-DCCFA4CBA227}" type="slidenum">
              <a:rPr lang="en-US" smtClean="0"/>
              <a:t>25</a:t>
            </a:fld>
            <a:endParaRPr lang="en-US"/>
          </a:p>
        </p:txBody>
      </p:sp>
    </p:spTree>
    <p:extLst>
      <p:ext uri="{BB962C8B-B14F-4D97-AF65-F5344CB8AC3E}">
        <p14:creationId xmlns:p14="http://schemas.microsoft.com/office/powerpoint/2010/main" val="31056527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project related to the third paper that led me to this line of research is when I was part of a team where we integrated multiple heterogenous bibliographical databases used in nonprofit studies by finding tunning BERT for text classification on the metadata of the articles in the database. That work was part of a project that aimed at introducing machine learning and </a:t>
            </a:r>
            <a:r>
              <a:rPr lang="en-US" dirty="0" err="1"/>
              <a:t>nlp</a:t>
            </a:r>
            <a:r>
              <a:rPr lang="en-US" dirty="0"/>
              <a:t> to researchers in the computational social science field. That led me to work on entity resolution especially unsupervised and automated entity resolution. In the work related to the second paper which just got accepted at the ITNG conference I focus on the problem of record clustering using a graph algorithm to optimize a heuristic known as modularity after pairwise fuzzy matching of records in a merged datafile of structured data. Graph clustering algorithms are very useful to that problem because of the transitivity property. And in an upcoming work in progress article which is the first paper I am expanding the framework that I introduced in the first paper. I will discuss more details on the methods used in the 1st and 2nd papers work also later in the talk.</a:t>
            </a:r>
          </a:p>
        </p:txBody>
      </p:sp>
      <p:sp>
        <p:nvSpPr>
          <p:cNvPr id="4" name="Slide Number Placeholder 3"/>
          <p:cNvSpPr>
            <a:spLocks noGrp="1"/>
          </p:cNvSpPr>
          <p:nvPr>
            <p:ph type="sldNum" sz="quarter" idx="5"/>
          </p:nvPr>
        </p:nvSpPr>
        <p:spPr/>
        <p:txBody>
          <a:bodyPr/>
          <a:lstStyle/>
          <a:p>
            <a:fld id="{58C9D728-39FE-4216-828B-DCCFA4CBA227}" type="slidenum">
              <a:rPr lang="en-US" smtClean="0"/>
              <a:t>26</a:t>
            </a:fld>
            <a:endParaRPr lang="en-US"/>
          </a:p>
        </p:txBody>
      </p:sp>
    </p:spTree>
    <p:extLst>
      <p:ext uri="{BB962C8B-B14F-4D97-AF65-F5344CB8AC3E}">
        <p14:creationId xmlns:p14="http://schemas.microsoft.com/office/powerpoint/2010/main" val="23403996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line of research that I am working on in parallel with my dissertation is biomedical information retrieval and mining. I got really interested in biomedical information retrieval and mining when with my previous advisor I started contributing to a project where we used </a:t>
            </a:r>
            <a:r>
              <a:rPr lang="en-US" dirty="0" err="1"/>
              <a:t>BioBERT</a:t>
            </a:r>
            <a:r>
              <a:rPr lang="en-US" dirty="0"/>
              <a:t>, to extract and resolve mentions of biological entities such as names of species, drugs, diseases, genes, proteins and mutations for the entire corpus of PubMed’s metadata. Not just that also names of authors were disambiguated in addition to related NIH grant projects for each article and their PIs. The goal was to build a complete knowledge graph from the entities extracted from PubMed but of course biomedical relation extraction is not as reliable as needed to be. I always thought that that dataset was incredibly useful especially if it was somehow utilized in a search algorithm. So that was the paper titled Building a PubMed knowledge graph. In another unpublished report titled knowledge profiling using biomedical word embedding and knowledge graph I tried to use the extracted </a:t>
            </a:r>
            <a:r>
              <a:rPr lang="en-US" dirty="0" err="1"/>
              <a:t>entites</a:t>
            </a:r>
            <a:r>
              <a:rPr lang="en-US" dirty="0"/>
              <a:t> from each article and replace each mention of them in the abstract and the title with a unique identifier for each entity and run word2vec. And that could be applied to provide a search capability to find related </a:t>
            </a:r>
            <a:r>
              <a:rPr lang="en-US" dirty="0" err="1"/>
              <a:t>bioentites</a:t>
            </a:r>
            <a:r>
              <a:rPr lang="en-US" dirty="0"/>
              <a:t> for each author when queried. In the latest paper </a:t>
            </a:r>
            <a:r>
              <a:rPr lang="en-US" dirty="0" err="1"/>
              <a:t>MedGraph</a:t>
            </a:r>
            <a:r>
              <a:rPr lang="en-US" dirty="0"/>
              <a:t> I wanted to somehow marry the ideas of extracting a knowledge graph from all the articles of PubMed with graph representation learning and knowledge graph embedding models and also graph neural networks. Those models are very useful and provide robust embeddings that are capable of encoding not just the graph structure but also relationships and heterogenous entity types. I provided a proof </a:t>
            </a:r>
            <a:r>
              <a:rPr lang="en-US" dirty="0" err="1"/>
              <a:t>ofconcept</a:t>
            </a:r>
            <a:r>
              <a:rPr lang="en-US" dirty="0"/>
              <a:t> on a subset of the articles with a simple search engine to rank the documents after converting them to a knowledge graph and embedding the graph using cosine </a:t>
            </a:r>
            <a:r>
              <a:rPr lang="en-US" dirty="0" err="1"/>
              <a:t>similiarty</a:t>
            </a:r>
            <a:r>
              <a:rPr lang="en-US" dirty="0"/>
              <a:t>. I will talk later about that.</a:t>
            </a:r>
          </a:p>
        </p:txBody>
      </p:sp>
      <p:sp>
        <p:nvSpPr>
          <p:cNvPr id="4" name="Slide Number Placeholder 3"/>
          <p:cNvSpPr>
            <a:spLocks noGrp="1"/>
          </p:cNvSpPr>
          <p:nvPr>
            <p:ph type="sldNum" sz="quarter" idx="5"/>
          </p:nvPr>
        </p:nvSpPr>
        <p:spPr/>
        <p:txBody>
          <a:bodyPr/>
          <a:lstStyle/>
          <a:p>
            <a:fld id="{58C9D728-39FE-4216-828B-DCCFA4CBA227}" type="slidenum">
              <a:rPr lang="en-US" smtClean="0"/>
              <a:t>27</a:t>
            </a:fld>
            <a:endParaRPr lang="en-US"/>
          </a:p>
        </p:txBody>
      </p:sp>
    </p:spTree>
    <p:extLst>
      <p:ext uri="{BB962C8B-B14F-4D97-AF65-F5344CB8AC3E}">
        <p14:creationId xmlns:p14="http://schemas.microsoft.com/office/powerpoint/2010/main" val="26103341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that time when the pandemic started I contributed to a couple of projects in the first titled </a:t>
            </a:r>
            <a:r>
              <a:rPr lang="en-US" dirty="0" err="1"/>
              <a:t>Coronairus</a:t>
            </a:r>
            <a:r>
              <a:rPr lang="en-US" dirty="0"/>
              <a:t> knowledge graph a case study it was a KDD workshop paper. We extracted a </a:t>
            </a:r>
            <a:r>
              <a:rPr lang="en-US" dirty="0" err="1"/>
              <a:t>cooccurance</a:t>
            </a:r>
            <a:r>
              <a:rPr lang="en-US" dirty="0"/>
              <a:t> network of drugs, genes, disease names related to Covid from the CORD-19 dataset. We used </a:t>
            </a:r>
            <a:r>
              <a:rPr lang="en-US" dirty="0" err="1"/>
              <a:t>BioBert</a:t>
            </a:r>
            <a:r>
              <a:rPr lang="en-US" dirty="0"/>
              <a:t> fine tuning again to extract the names of </a:t>
            </a:r>
            <a:r>
              <a:rPr lang="en-US" dirty="0" err="1"/>
              <a:t>bioentities</a:t>
            </a:r>
            <a:r>
              <a:rPr lang="en-US" dirty="0"/>
              <a:t> from the CORD19 dataset which was available on Kaggle. For each drug we extract and ego centric graph and apply frequency metrics to find the most similar entities to it. Also we used a similar approach in the paper titled Analyzing knowledge entities about COVID 19 using entity metrics. </a:t>
            </a:r>
          </a:p>
        </p:txBody>
      </p:sp>
      <p:sp>
        <p:nvSpPr>
          <p:cNvPr id="4" name="Slide Number Placeholder 3"/>
          <p:cNvSpPr>
            <a:spLocks noGrp="1"/>
          </p:cNvSpPr>
          <p:nvPr>
            <p:ph type="sldNum" sz="quarter" idx="5"/>
          </p:nvPr>
        </p:nvSpPr>
        <p:spPr/>
        <p:txBody>
          <a:bodyPr/>
          <a:lstStyle/>
          <a:p>
            <a:fld id="{58C9D728-39FE-4216-828B-DCCFA4CBA227}" type="slidenum">
              <a:rPr lang="en-US" smtClean="0"/>
              <a:t>28</a:t>
            </a:fld>
            <a:endParaRPr lang="en-US"/>
          </a:p>
        </p:txBody>
      </p:sp>
    </p:spTree>
    <p:extLst>
      <p:ext uri="{BB962C8B-B14F-4D97-AF65-F5344CB8AC3E}">
        <p14:creationId xmlns:p14="http://schemas.microsoft.com/office/powerpoint/2010/main" val="41518353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in this line of research I collaborated with AbbVie Inc. the drug company. There is this dataset called Chem2Bio2RDF. It’s a knowledge graph that links multiple data sources of </a:t>
            </a:r>
            <a:r>
              <a:rPr lang="en-US" dirty="0" err="1"/>
              <a:t>bioentities</a:t>
            </a:r>
            <a:r>
              <a:rPr lang="en-US" dirty="0"/>
              <a:t> such as PDB and PubChem and all the entities are resolved and semantically link. However it is incomplete. So we tested a link prediction method using multiple knowledge graph embedding and vector operations on the extracted </a:t>
            </a:r>
            <a:r>
              <a:rPr lang="en-US" dirty="0" err="1"/>
              <a:t>emebddings</a:t>
            </a:r>
            <a:r>
              <a:rPr lang="en-US" dirty="0"/>
              <a:t> to estimate the missing links in the knowledge graph.</a:t>
            </a:r>
          </a:p>
        </p:txBody>
      </p:sp>
      <p:sp>
        <p:nvSpPr>
          <p:cNvPr id="4" name="Slide Number Placeholder 3"/>
          <p:cNvSpPr>
            <a:spLocks noGrp="1"/>
          </p:cNvSpPr>
          <p:nvPr>
            <p:ph type="sldNum" sz="quarter" idx="5"/>
          </p:nvPr>
        </p:nvSpPr>
        <p:spPr/>
        <p:txBody>
          <a:bodyPr/>
          <a:lstStyle/>
          <a:p>
            <a:fld id="{58C9D728-39FE-4216-828B-DCCFA4CBA227}" type="slidenum">
              <a:rPr lang="en-US" smtClean="0"/>
              <a:t>29</a:t>
            </a:fld>
            <a:endParaRPr lang="en-US"/>
          </a:p>
        </p:txBody>
      </p:sp>
    </p:spTree>
    <p:extLst>
      <p:ext uri="{BB962C8B-B14F-4D97-AF65-F5344CB8AC3E}">
        <p14:creationId xmlns:p14="http://schemas.microsoft.com/office/powerpoint/2010/main" val="12834497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third theme or topic that I worked in is HCI, UX, Visualization and </a:t>
            </a:r>
            <a:r>
              <a:rPr lang="en-US" dirty="0" err="1"/>
              <a:t>Eyetracking</a:t>
            </a:r>
            <a:r>
              <a:rPr lang="en-US" dirty="0"/>
              <a:t>. It started back in 2015/16 I worked on a collaboration with the department of bioinformatics. The bioinformatics folks had an algorithm that produces sequences of letters describing the interactions of molecules when two proteins interact I provided a visualization tool that was able to visualize those interactions </a:t>
            </a:r>
            <a:r>
              <a:rPr lang="en-US" dirty="0" err="1"/>
              <a:t>hieracrhcualy</a:t>
            </a:r>
            <a:r>
              <a:rPr lang="en-US" dirty="0"/>
              <a:t> on different levels in a 2D and 3D approaches. It was helpful to them and it is being used. Later when </a:t>
            </a:r>
          </a:p>
        </p:txBody>
      </p:sp>
      <p:sp>
        <p:nvSpPr>
          <p:cNvPr id="4" name="Slide Number Placeholder 3"/>
          <p:cNvSpPr>
            <a:spLocks noGrp="1"/>
          </p:cNvSpPr>
          <p:nvPr>
            <p:ph type="sldNum" sz="quarter" idx="5"/>
          </p:nvPr>
        </p:nvSpPr>
        <p:spPr/>
        <p:txBody>
          <a:bodyPr/>
          <a:lstStyle/>
          <a:p>
            <a:fld id="{58C9D728-39FE-4216-828B-DCCFA4CBA227}" type="slidenum">
              <a:rPr lang="en-US" smtClean="0"/>
              <a:t>30</a:t>
            </a:fld>
            <a:endParaRPr lang="en-US"/>
          </a:p>
        </p:txBody>
      </p:sp>
    </p:spTree>
    <p:extLst>
      <p:ext uri="{BB962C8B-B14F-4D97-AF65-F5344CB8AC3E}">
        <p14:creationId xmlns:p14="http://schemas.microsoft.com/office/powerpoint/2010/main" val="12365274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Later when I first moved to Texas I worked in eye tracking and how to extract useful measures from the movements of eyes in order to correlate it to other self reported measures used in User Experience Studies especially in health information seeking. So that lead to the 2 published papers and an unpublished reports where I actually used </a:t>
            </a:r>
            <a:r>
              <a:rPr lang="en-US" dirty="0" err="1"/>
              <a:t>eyetracking</a:t>
            </a:r>
            <a:r>
              <a:rPr lang="en-US" dirty="0"/>
              <a:t> to evaluate the design of a search engine aimed to help in health information seeking.</a:t>
            </a:r>
          </a:p>
        </p:txBody>
      </p:sp>
      <p:sp>
        <p:nvSpPr>
          <p:cNvPr id="4" name="Slide Number Placeholder 3"/>
          <p:cNvSpPr>
            <a:spLocks noGrp="1"/>
          </p:cNvSpPr>
          <p:nvPr>
            <p:ph type="sldNum" sz="quarter" idx="5"/>
          </p:nvPr>
        </p:nvSpPr>
        <p:spPr/>
        <p:txBody>
          <a:bodyPr/>
          <a:lstStyle/>
          <a:p>
            <a:fld id="{58C9D728-39FE-4216-828B-DCCFA4CBA227}" type="slidenum">
              <a:rPr lang="en-US" smtClean="0"/>
              <a:t>31</a:t>
            </a:fld>
            <a:endParaRPr lang="en-US"/>
          </a:p>
        </p:txBody>
      </p:sp>
    </p:spTree>
    <p:extLst>
      <p:ext uri="{BB962C8B-B14F-4D97-AF65-F5344CB8AC3E}">
        <p14:creationId xmlns:p14="http://schemas.microsoft.com/office/powerpoint/2010/main" val="13163268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I am very interested in this postdoc position and even though I don’t know everything in biomedical text mining and knowledge discovery I promise that I am passionate about this field and have the intention to produce good research in it. </a:t>
            </a:r>
          </a:p>
        </p:txBody>
      </p:sp>
      <p:sp>
        <p:nvSpPr>
          <p:cNvPr id="4" name="Slide Number Placeholder 3"/>
          <p:cNvSpPr>
            <a:spLocks noGrp="1"/>
          </p:cNvSpPr>
          <p:nvPr>
            <p:ph type="sldNum" sz="quarter" idx="5"/>
          </p:nvPr>
        </p:nvSpPr>
        <p:spPr/>
        <p:txBody>
          <a:bodyPr/>
          <a:lstStyle/>
          <a:p>
            <a:fld id="{58C9D728-39FE-4216-828B-DCCFA4CBA227}" type="slidenum">
              <a:rPr lang="en-US" smtClean="0"/>
              <a:t>32</a:t>
            </a:fld>
            <a:endParaRPr lang="en-US"/>
          </a:p>
        </p:txBody>
      </p:sp>
    </p:spTree>
    <p:extLst>
      <p:ext uri="{BB962C8B-B14F-4D97-AF65-F5344CB8AC3E}">
        <p14:creationId xmlns:p14="http://schemas.microsoft.com/office/powerpoint/2010/main" val="2469322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DBF8D-4F8E-4F8F-9B08-9F842D1139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2B95589-2EB9-41EC-B653-12176ECD4D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D6F53D1-304D-4367-92DB-5A9B9D139056}"/>
              </a:ext>
            </a:extLst>
          </p:cNvPr>
          <p:cNvSpPr>
            <a:spLocks noGrp="1"/>
          </p:cNvSpPr>
          <p:nvPr>
            <p:ph type="dt" sz="half" idx="10"/>
          </p:nvPr>
        </p:nvSpPr>
        <p:spPr/>
        <p:txBody>
          <a:bodyPr/>
          <a:lstStyle/>
          <a:p>
            <a:fld id="{B740C164-9838-4D50-9AE7-51D36E2FB7D8}" type="datetime1">
              <a:rPr lang="en-US" smtClean="0"/>
              <a:t>5/19/2023</a:t>
            </a:fld>
            <a:endParaRPr lang="en-US"/>
          </a:p>
        </p:txBody>
      </p:sp>
      <p:sp>
        <p:nvSpPr>
          <p:cNvPr id="5" name="Footer Placeholder 4">
            <a:extLst>
              <a:ext uri="{FF2B5EF4-FFF2-40B4-BE49-F238E27FC236}">
                <a16:creationId xmlns:a16="http://schemas.microsoft.com/office/drawing/2014/main" id="{0C277F32-6C75-499B-9C26-5421BD079F0B}"/>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350DE354-432B-45DD-A776-0B2A4E1A4ABD}"/>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241253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1CC8D-4A95-4FEB-AB44-6717ADDF66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D11CE5-BC89-4FD5-AA6F-6DE2C31C80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08435F-6A22-48BE-8FC4-E1C391920538}"/>
              </a:ext>
            </a:extLst>
          </p:cNvPr>
          <p:cNvSpPr>
            <a:spLocks noGrp="1"/>
          </p:cNvSpPr>
          <p:nvPr>
            <p:ph type="dt" sz="half" idx="10"/>
          </p:nvPr>
        </p:nvSpPr>
        <p:spPr/>
        <p:txBody>
          <a:bodyPr/>
          <a:lstStyle/>
          <a:p>
            <a:fld id="{AFD920CA-EA23-4D5B-A5F0-315C118D0BEC}" type="datetime1">
              <a:rPr lang="en-US" smtClean="0"/>
              <a:t>5/19/2023</a:t>
            </a:fld>
            <a:endParaRPr lang="en-US"/>
          </a:p>
        </p:txBody>
      </p:sp>
      <p:sp>
        <p:nvSpPr>
          <p:cNvPr id="5" name="Footer Placeholder 4">
            <a:extLst>
              <a:ext uri="{FF2B5EF4-FFF2-40B4-BE49-F238E27FC236}">
                <a16:creationId xmlns:a16="http://schemas.microsoft.com/office/drawing/2014/main" id="{5A81C4CD-CE9E-4211-8AF6-7D45E81527B0}"/>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CDC13138-E82B-4B44-B77D-EDE0A755FB95}"/>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2673297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5B284-E97D-4F1C-B06F-6E8D77C9A9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6ED07D4-DB5A-4BE1-857C-78C3A4F07A8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001C84-3F0B-4F7A-B47D-6B11B6BD6576}"/>
              </a:ext>
            </a:extLst>
          </p:cNvPr>
          <p:cNvSpPr>
            <a:spLocks noGrp="1"/>
          </p:cNvSpPr>
          <p:nvPr>
            <p:ph type="dt" sz="half" idx="10"/>
          </p:nvPr>
        </p:nvSpPr>
        <p:spPr/>
        <p:txBody>
          <a:bodyPr/>
          <a:lstStyle/>
          <a:p>
            <a:fld id="{C67B9D2B-5247-4942-B177-62F7CA07EC2C}" type="datetime1">
              <a:rPr lang="en-US" smtClean="0"/>
              <a:t>5/19/2023</a:t>
            </a:fld>
            <a:endParaRPr lang="en-US"/>
          </a:p>
        </p:txBody>
      </p:sp>
      <p:sp>
        <p:nvSpPr>
          <p:cNvPr id="5" name="Footer Placeholder 4">
            <a:extLst>
              <a:ext uri="{FF2B5EF4-FFF2-40B4-BE49-F238E27FC236}">
                <a16:creationId xmlns:a16="http://schemas.microsoft.com/office/drawing/2014/main" id="{3DD29DAD-A4F5-432A-B00E-8451B150EB72}"/>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18573C44-746A-43CE-B6E7-CA06991898C7}"/>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18581214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96337-A922-4E11-8F53-E4478C4A37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84613A-A181-4CE2-B4AE-0C3F83C15D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109BC10-10AE-4400-A856-E0AA31DFC6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4756B69-BC84-4F75-99F7-CD7E53E2520A}"/>
              </a:ext>
            </a:extLst>
          </p:cNvPr>
          <p:cNvSpPr>
            <a:spLocks noGrp="1"/>
          </p:cNvSpPr>
          <p:nvPr>
            <p:ph type="dt" sz="half" idx="10"/>
          </p:nvPr>
        </p:nvSpPr>
        <p:spPr/>
        <p:txBody>
          <a:bodyPr/>
          <a:lstStyle/>
          <a:p>
            <a:fld id="{21BE72E1-0C7C-48C6-BE48-34247BAE5FB7}" type="datetime1">
              <a:rPr lang="en-US" smtClean="0"/>
              <a:t>5/19/2023</a:t>
            </a:fld>
            <a:endParaRPr lang="en-US"/>
          </a:p>
        </p:txBody>
      </p:sp>
      <p:sp>
        <p:nvSpPr>
          <p:cNvPr id="6" name="Footer Placeholder 5">
            <a:extLst>
              <a:ext uri="{FF2B5EF4-FFF2-40B4-BE49-F238E27FC236}">
                <a16:creationId xmlns:a16="http://schemas.microsoft.com/office/drawing/2014/main" id="{AFBF02D3-FC55-438E-B431-0C14152EA2FC}"/>
              </a:ext>
            </a:extLst>
          </p:cNvPr>
          <p:cNvSpPr>
            <a:spLocks noGrp="1"/>
          </p:cNvSpPr>
          <p:nvPr>
            <p:ph type="ftr" sz="quarter" idx="11"/>
          </p:nvPr>
        </p:nvSpPr>
        <p:spPr/>
        <p:txBody>
          <a:bodyPr/>
          <a:lstStyle/>
          <a:p>
            <a:r>
              <a:rPr lang="en-US"/>
              <a:t>Ebeid - Winter 2021</a:t>
            </a:r>
          </a:p>
        </p:txBody>
      </p:sp>
      <p:sp>
        <p:nvSpPr>
          <p:cNvPr id="7" name="Slide Number Placeholder 6">
            <a:extLst>
              <a:ext uri="{FF2B5EF4-FFF2-40B4-BE49-F238E27FC236}">
                <a16:creationId xmlns:a16="http://schemas.microsoft.com/office/drawing/2014/main" id="{891528D2-833B-4752-B97C-FBBFE294385F}"/>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38616853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75480-8B95-48ED-835A-DEC21E3953E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CFF1AC-CD0C-4634-9F06-BE595A430E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5F7E2E2-BDCF-4F2C-9C53-B96F4E2F5E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7912485-6F63-4D1A-9881-6EC606D5F8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F5E7D2-869B-4358-AB92-4472938392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1FCF9E0-DC2A-4C4A-ACA2-51B222129DA1}"/>
              </a:ext>
            </a:extLst>
          </p:cNvPr>
          <p:cNvSpPr>
            <a:spLocks noGrp="1"/>
          </p:cNvSpPr>
          <p:nvPr>
            <p:ph type="dt" sz="half" idx="10"/>
          </p:nvPr>
        </p:nvSpPr>
        <p:spPr/>
        <p:txBody>
          <a:bodyPr/>
          <a:lstStyle/>
          <a:p>
            <a:fld id="{4DC6640F-F7A3-4885-9286-9093959E6AFB}" type="datetime1">
              <a:rPr lang="en-US" smtClean="0"/>
              <a:t>5/19/2023</a:t>
            </a:fld>
            <a:endParaRPr lang="en-US"/>
          </a:p>
        </p:txBody>
      </p:sp>
      <p:sp>
        <p:nvSpPr>
          <p:cNvPr id="8" name="Footer Placeholder 7">
            <a:extLst>
              <a:ext uri="{FF2B5EF4-FFF2-40B4-BE49-F238E27FC236}">
                <a16:creationId xmlns:a16="http://schemas.microsoft.com/office/drawing/2014/main" id="{A3FB8538-5468-4EEB-B16F-FA869CFF4513}"/>
              </a:ext>
            </a:extLst>
          </p:cNvPr>
          <p:cNvSpPr>
            <a:spLocks noGrp="1"/>
          </p:cNvSpPr>
          <p:nvPr>
            <p:ph type="ftr" sz="quarter" idx="11"/>
          </p:nvPr>
        </p:nvSpPr>
        <p:spPr/>
        <p:txBody>
          <a:bodyPr/>
          <a:lstStyle/>
          <a:p>
            <a:r>
              <a:rPr lang="en-US"/>
              <a:t>Ebeid - Winter 2021</a:t>
            </a:r>
          </a:p>
        </p:txBody>
      </p:sp>
      <p:sp>
        <p:nvSpPr>
          <p:cNvPr id="9" name="Slide Number Placeholder 8">
            <a:extLst>
              <a:ext uri="{FF2B5EF4-FFF2-40B4-BE49-F238E27FC236}">
                <a16:creationId xmlns:a16="http://schemas.microsoft.com/office/drawing/2014/main" id="{ED2B615E-AE62-4312-8783-4E00A30E4054}"/>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1181930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1A482-0902-45CE-86E2-D8D65870C79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505C67F-2735-4FF8-839D-86F912BA0161}"/>
              </a:ext>
            </a:extLst>
          </p:cNvPr>
          <p:cNvSpPr>
            <a:spLocks noGrp="1"/>
          </p:cNvSpPr>
          <p:nvPr>
            <p:ph type="dt" sz="half" idx="10"/>
          </p:nvPr>
        </p:nvSpPr>
        <p:spPr/>
        <p:txBody>
          <a:bodyPr/>
          <a:lstStyle/>
          <a:p>
            <a:fld id="{B0F89745-659D-44FD-967D-F4CF6B47F4EF}" type="datetime1">
              <a:rPr lang="en-US" smtClean="0"/>
              <a:t>5/19/2023</a:t>
            </a:fld>
            <a:endParaRPr lang="en-US"/>
          </a:p>
        </p:txBody>
      </p:sp>
      <p:sp>
        <p:nvSpPr>
          <p:cNvPr id="4" name="Footer Placeholder 3">
            <a:extLst>
              <a:ext uri="{FF2B5EF4-FFF2-40B4-BE49-F238E27FC236}">
                <a16:creationId xmlns:a16="http://schemas.microsoft.com/office/drawing/2014/main" id="{9968D98A-C454-4FCD-90E1-3B455752C121}"/>
              </a:ext>
            </a:extLst>
          </p:cNvPr>
          <p:cNvSpPr>
            <a:spLocks noGrp="1"/>
          </p:cNvSpPr>
          <p:nvPr>
            <p:ph type="ftr" sz="quarter" idx="11"/>
          </p:nvPr>
        </p:nvSpPr>
        <p:spPr/>
        <p:txBody>
          <a:bodyPr/>
          <a:lstStyle/>
          <a:p>
            <a:r>
              <a:rPr lang="en-US"/>
              <a:t>Ebeid - Winter 2021</a:t>
            </a:r>
          </a:p>
        </p:txBody>
      </p:sp>
      <p:sp>
        <p:nvSpPr>
          <p:cNvPr id="5" name="Slide Number Placeholder 4">
            <a:extLst>
              <a:ext uri="{FF2B5EF4-FFF2-40B4-BE49-F238E27FC236}">
                <a16:creationId xmlns:a16="http://schemas.microsoft.com/office/drawing/2014/main" id="{F2D75438-EBE4-4697-AA40-7ECB741AB137}"/>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4117805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3FC116-CA5A-4B30-AE88-A3A98AE006F2}"/>
              </a:ext>
            </a:extLst>
          </p:cNvPr>
          <p:cNvSpPr>
            <a:spLocks noGrp="1"/>
          </p:cNvSpPr>
          <p:nvPr>
            <p:ph type="dt" sz="half" idx="10"/>
          </p:nvPr>
        </p:nvSpPr>
        <p:spPr/>
        <p:txBody>
          <a:bodyPr/>
          <a:lstStyle/>
          <a:p>
            <a:fld id="{DE42361A-5662-4B24-94A9-F7D73A50B7D2}" type="datetime1">
              <a:rPr lang="en-US" smtClean="0"/>
              <a:t>5/19/2023</a:t>
            </a:fld>
            <a:endParaRPr lang="en-US"/>
          </a:p>
        </p:txBody>
      </p:sp>
      <p:sp>
        <p:nvSpPr>
          <p:cNvPr id="3" name="Footer Placeholder 2">
            <a:extLst>
              <a:ext uri="{FF2B5EF4-FFF2-40B4-BE49-F238E27FC236}">
                <a16:creationId xmlns:a16="http://schemas.microsoft.com/office/drawing/2014/main" id="{68B91556-E544-49A7-B465-AEC964CD8F0B}"/>
              </a:ext>
            </a:extLst>
          </p:cNvPr>
          <p:cNvSpPr>
            <a:spLocks noGrp="1"/>
          </p:cNvSpPr>
          <p:nvPr>
            <p:ph type="ftr" sz="quarter" idx="11"/>
          </p:nvPr>
        </p:nvSpPr>
        <p:spPr/>
        <p:txBody>
          <a:bodyPr/>
          <a:lstStyle/>
          <a:p>
            <a:r>
              <a:rPr lang="en-US"/>
              <a:t>Ebeid - Winter 2021</a:t>
            </a:r>
          </a:p>
        </p:txBody>
      </p:sp>
      <p:sp>
        <p:nvSpPr>
          <p:cNvPr id="4" name="Slide Number Placeholder 3">
            <a:extLst>
              <a:ext uri="{FF2B5EF4-FFF2-40B4-BE49-F238E27FC236}">
                <a16:creationId xmlns:a16="http://schemas.microsoft.com/office/drawing/2014/main" id="{473736D9-A54E-4136-B768-C0824E6A7E17}"/>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20907438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43F5F-2112-4746-A16B-10322E9784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A2F6099-6B41-4DB4-B610-90A299B35E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22BA06F-0EC0-4A0F-B322-1B1FA88A71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4A2667-DA56-498F-A260-315BAC5B8A6C}"/>
              </a:ext>
            </a:extLst>
          </p:cNvPr>
          <p:cNvSpPr>
            <a:spLocks noGrp="1"/>
          </p:cNvSpPr>
          <p:nvPr>
            <p:ph type="dt" sz="half" idx="10"/>
          </p:nvPr>
        </p:nvSpPr>
        <p:spPr/>
        <p:txBody>
          <a:bodyPr/>
          <a:lstStyle/>
          <a:p>
            <a:fld id="{26B1DA79-E994-4BC9-A2BB-02B9AF15E4EA}" type="datetime1">
              <a:rPr lang="en-US" smtClean="0"/>
              <a:t>5/19/2023</a:t>
            </a:fld>
            <a:endParaRPr lang="en-US"/>
          </a:p>
        </p:txBody>
      </p:sp>
      <p:sp>
        <p:nvSpPr>
          <p:cNvPr id="6" name="Footer Placeholder 5">
            <a:extLst>
              <a:ext uri="{FF2B5EF4-FFF2-40B4-BE49-F238E27FC236}">
                <a16:creationId xmlns:a16="http://schemas.microsoft.com/office/drawing/2014/main" id="{B62782BB-0C81-45B1-BC6B-D451A416F407}"/>
              </a:ext>
            </a:extLst>
          </p:cNvPr>
          <p:cNvSpPr>
            <a:spLocks noGrp="1"/>
          </p:cNvSpPr>
          <p:nvPr>
            <p:ph type="ftr" sz="quarter" idx="11"/>
          </p:nvPr>
        </p:nvSpPr>
        <p:spPr/>
        <p:txBody>
          <a:bodyPr/>
          <a:lstStyle/>
          <a:p>
            <a:r>
              <a:rPr lang="en-US"/>
              <a:t>Ebeid - Winter 2021</a:t>
            </a:r>
          </a:p>
        </p:txBody>
      </p:sp>
      <p:sp>
        <p:nvSpPr>
          <p:cNvPr id="7" name="Slide Number Placeholder 6">
            <a:extLst>
              <a:ext uri="{FF2B5EF4-FFF2-40B4-BE49-F238E27FC236}">
                <a16:creationId xmlns:a16="http://schemas.microsoft.com/office/drawing/2014/main" id="{48D28A17-6102-4EF7-87F2-BAC60A26499A}"/>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30678183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26521-3D23-48BE-BE79-70B5256FF9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D3198C7-4207-44C8-8D25-B5DC188DA3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E24874C-6DA0-4CD4-A717-40CE9D2DAD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39A7D5-788A-4077-940C-F786E77940D2}"/>
              </a:ext>
            </a:extLst>
          </p:cNvPr>
          <p:cNvSpPr>
            <a:spLocks noGrp="1"/>
          </p:cNvSpPr>
          <p:nvPr>
            <p:ph type="dt" sz="half" idx="10"/>
          </p:nvPr>
        </p:nvSpPr>
        <p:spPr/>
        <p:txBody>
          <a:bodyPr/>
          <a:lstStyle/>
          <a:p>
            <a:fld id="{A61F243E-B17A-4B24-B137-B42847E78514}" type="datetime1">
              <a:rPr lang="en-US" smtClean="0"/>
              <a:t>5/19/2023</a:t>
            </a:fld>
            <a:endParaRPr lang="en-US"/>
          </a:p>
        </p:txBody>
      </p:sp>
      <p:sp>
        <p:nvSpPr>
          <p:cNvPr id="6" name="Footer Placeholder 5">
            <a:extLst>
              <a:ext uri="{FF2B5EF4-FFF2-40B4-BE49-F238E27FC236}">
                <a16:creationId xmlns:a16="http://schemas.microsoft.com/office/drawing/2014/main" id="{04DE0DC4-748B-4927-B3E1-B3588E4FD291}"/>
              </a:ext>
            </a:extLst>
          </p:cNvPr>
          <p:cNvSpPr>
            <a:spLocks noGrp="1"/>
          </p:cNvSpPr>
          <p:nvPr>
            <p:ph type="ftr" sz="quarter" idx="11"/>
          </p:nvPr>
        </p:nvSpPr>
        <p:spPr/>
        <p:txBody>
          <a:bodyPr/>
          <a:lstStyle/>
          <a:p>
            <a:r>
              <a:rPr lang="en-US"/>
              <a:t>Ebeid - Winter 2021</a:t>
            </a:r>
          </a:p>
        </p:txBody>
      </p:sp>
      <p:sp>
        <p:nvSpPr>
          <p:cNvPr id="7" name="Slide Number Placeholder 6">
            <a:extLst>
              <a:ext uri="{FF2B5EF4-FFF2-40B4-BE49-F238E27FC236}">
                <a16:creationId xmlns:a16="http://schemas.microsoft.com/office/drawing/2014/main" id="{1E29EAE5-7219-438B-9A91-D9E40F5A458F}"/>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2710868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7050E-B8CA-4597-95D8-841A2AFC9BC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98AA00D-2467-42B9-858A-96F7A36CB0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86EAE1-4580-4069-9FFE-E251D227BB73}"/>
              </a:ext>
            </a:extLst>
          </p:cNvPr>
          <p:cNvSpPr>
            <a:spLocks noGrp="1"/>
          </p:cNvSpPr>
          <p:nvPr>
            <p:ph type="dt" sz="half" idx="10"/>
          </p:nvPr>
        </p:nvSpPr>
        <p:spPr/>
        <p:txBody>
          <a:bodyPr/>
          <a:lstStyle/>
          <a:p>
            <a:fld id="{96244C93-B11F-4EB8-8D47-A5C2D5A67C03}" type="datetime1">
              <a:rPr lang="en-US" smtClean="0"/>
              <a:t>5/19/2023</a:t>
            </a:fld>
            <a:endParaRPr lang="en-US"/>
          </a:p>
        </p:txBody>
      </p:sp>
      <p:sp>
        <p:nvSpPr>
          <p:cNvPr id="5" name="Footer Placeholder 4">
            <a:extLst>
              <a:ext uri="{FF2B5EF4-FFF2-40B4-BE49-F238E27FC236}">
                <a16:creationId xmlns:a16="http://schemas.microsoft.com/office/drawing/2014/main" id="{3C4B33C3-7E35-4248-B9E2-281D56FBDF48}"/>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9026AA9C-4097-42A1-B5C0-0911CC096CE2}"/>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2547285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05EC97-4D2A-47C2-8A62-66A054273DB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1B341C6-43D5-4F67-8FA1-D07B88479A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221817-69A5-48BF-BF4B-E6E8414C0311}"/>
              </a:ext>
            </a:extLst>
          </p:cNvPr>
          <p:cNvSpPr>
            <a:spLocks noGrp="1"/>
          </p:cNvSpPr>
          <p:nvPr>
            <p:ph type="dt" sz="half" idx="10"/>
          </p:nvPr>
        </p:nvSpPr>
        <p:spPr/>
        <p:txBody>
          <a:bodyPr/>
          <a:lstStyle/>
          <a:p>
            <a:fld id="{0CB3EDA4-D8E7-422D-8FF8-5936FA7C404E}" type="datetime1">
              <a:rPr lang="en-US" smtClean="0"/>
              <a:t>5/19/2023</a:t>
            </a:fld>
            <a:endParaRPr lang="en-US"/>
          </a:p>
        </p:txBody>
      </p:sp>
      <p:sp>
        <p:nvSpPr>
          <p:cNvPr id="5" name="Footer Placeholder 4">
            <a:extLst>
              <a:ext uri="{FF2B5EF4-FFF2-40B4-BE49-F238E27FC236}">
                <a16:creationId xmlns:a16="http://schemas.microsoft.com/office/drawing/2014/main" id="{29B8B52B-606D-4F84-91C6-904814C12262}"/>
              </a:ext>
            </a:extLst>
          </p:cNvPr>
          <p:cNvSpPr>
            <a:spLocks noGrp="1"/>
          </p:cNvSpPr>
          <p:nvPr>
            <p:ph type="ftr" sz="quarter" idx="11"/>
          </p:nvPr>
        </p:nvSpPr>
        <p:spPr/>
        <p:txBody>
          <a:bodyPr/>
          <a:lstStyle/>
          <a:p>
            <a:r>
              <a:rPr lang="en-US"/>
              <a:t>Ebeid - Winter 2021</a:t>
            </a:r>
          </a:p>
        </p:txBody>
      </p:sp>
      <p:sp>
        <p:nvSpPr>
          <p:cNvPr id="6" name="Slide Number Placeholder 5">
            <a:extLst>
              <a:ext uri="{FF2B5EF4-FFF2-40B4-BE49-F238E27FC236}">
                <a16:creationId xmlns:a16="http://schemas.microsoft.com/office/drawing/2014/main" id="{551807A1-377A-45D8-9DAE-D87A6A1AC902}"/>
              </a:ext>
            </a:extLst>
          </p:cNvPr>
          <p:cNvSpPr>
            <a:spLocks noGrp="1"/>
          </p:cNvSpPr>
          <p:nvPr>
            <p:ph type="sldNum" sz="quarter" idx="12"/>
          </p:nvPr>
        </p:nvSpPr>
        <p:spPr/>
        <p:txBody>
          <a:bodyPr/>
          <a:lstStyle/>
          <a:p>
            <a:fld id="{174AA435-B3B0-4B6E-A265-E4C5F17628FB}" type="slidenum">
              <a:rPr lang="en-US" smtClean="0"/>
              <a:t>‹#›</a:t>
            </a:fld>
            <a:endParaRPr lang="en-US"/>
          </a:p>
        </p:txBody>
      </p:sp>
    </p:spTree>
    <p:extLst>
      <p:ext uri="{BB962C8B-B14F-4D97-AF65-F5344CB8AC3E}">
        <p14:creationId xmlns:p14="http://schemas.microsoft.com/office/powerpoint/2010/main" val="600080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0198A0-98DD-4C38-929A-74C264DF89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1976CEB-DD78-4EEF-97A1-78B7E50BCA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78D4A3-B465-47A9-91AB-32FF7A5358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EF1E05-0E3D-4B23-9DF6-3BE0920FBC2A}" type="datetime1">
              <a:rPr lang="en-US" smtClean="0"/>
              <a:t>5/19/2023</a:t>
            </a:fld>
            <a:endParaRPr lang="en-US"/>
          </a:p>
        </p:txBody>
      </p:sp>
      <p:sp>
        <p:nvSpPr>
          <p:cNvPr id="5" name="Footer Placeholder 4">
            <a:extLst>
              <a:ext uri="{FF2B5EF4-FFF2-40B4-BE49-F238E27FC236}">
                <a16:creationId xmlns:a16="http://schemas.microsoft.com/office/drawing/2014/main" id="{6A48BC2C-D8FF-4D49-91B9-72D6F487D8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Ebeid - Winter 2021</a:t>
            </a:r>
          </a:p>
        </p:txBody>
      </p:sp>
      <p:sp>
        <p:nvSpPr>
          <p:cNvPr id="6" name="Slide Number Placeholder 5">
            <a:extLst>
              <a:ext uri="{FF2B5EF4-FFF2-40B4-BE49-F238E27FC236}">
                <a16:creationId xmlns:a16="http://schemas.microsoft.com/office/drawing/2014/main" id="{23777ACA-E574-433F-9EEB-E4F54494FA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4AA435-B3B0-4B6E-A265-E4C5F17628FB}" type="slidenum">
              <a:rPr lang="en-US" smtClean="0"/>
              <a:t>‹#›</a:t>
            </a:fld>
            <a:endParaRPr lang="en-US"/>
          </a:p>
        </p:txBody>
      </p:sp>
    </p:spTree>
    <p:extLst>
      <p:ext uri="{BB962C8B-B14F-4D97-AF65-F5344CB8AC3E}">
        <p14:creationId xmlns:p14="http://schemas.microsoft.com/office/powerpoint/2010/main" val="3631305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1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5.sv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7.sv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9.sv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2965F220-25C1-4E60-91F8-3D38F71A3C50}"/>
              </a:ext>
            </a:extLst>
          </p:cNvPr>
          <p:cNvSpPr>
            <a:spLocks noGrp="1"/>
          </p:cNvSpPr>
          <p:nvPr>
            <p:ph type="ctrTitle"/>
          </p:nvPr>
        </p:nvSpPr>
        <p:spPr>
          <a:xfrm>
            <a:off x="1326775" y="1083912"/>
            <a:ext cx="10053763" cy="2160494"/>
          </a:xfrm>
        </p:spPr>
        <p:txBody>
          <a:bodyPr anchor="b">
            <a:normAutofit fontScale="90000"/>
          </a:bodyPr>
          <a:lstStyle/>
          <a:p>
            <a:pPr algn="l"/>
            <a:r>
              <a:rPr lang="en-US" sz="4800" dirty="0">
                <a:solidFill>
                  <a:srgbClr val="FFFFFF"/>
                </a:solidFill>
              </a:rPr>
              <a:t>The Applications of Natural Language Processing, Graph Theory, and Representation Learning in Data Integration </a:t>
            </a:r>
            <a:r>
              <a:rPr lang="en-US" sz="4800">
                <a:solidFill>
                  <a:srgbClr val="FFFFFF"/>
                </a:solidFill>
              </a:rPr>
              <a:t>and Mining</a:t>
            </a:r>
            <a:endParaRPr lang="en-US" sz="4800" dirty="0">
              <a:solidFill>
                <a:srgbClr val="FFFFFF"/>
              </a:solidFill>
            </a:endParaRPr>
          </a:p>
        </p:txBody>
      </p:sp>
      <p:sp>
        <p:nvSpPr>
          <p:cNvPr id="3" name="Subtitle 2">
            <a:extLst>
              <a:ext uri="{FF2B5EF4-FFF2-40B4-BE49-F238E27FC236}">
                <a16:creationId xmlns:a16="http://schemas.microsoft.com/office/drawing/2014/main" id="{09454061-5931-45CE-A8EE-DB834E724345}"/>
              </a:ext>
            </a:extLst>
          </p:cNvPr>
          <p:cNvSpPr>
            <a:spLocks noGrp="1"/>
          </p:cNvSpPr>
          <p:nvPr>
            <p:ph type="subTitle" idx="1"/>
          </p:nvPr>
        </p:nvSpPr>
        <p:spPr>
          <a:xfrm>
            <a:off x="1350682" y="4870824"/>
            <a:ext cx="10005951" cy="1458258"/>
          </a:xfrm>
        </p:spPr>
        <p:txBody>
          <a:bodyPr anchor="ctr">
            <a:normAutofit/>
          </a:bodyPr>
          <a:lstStyle/>
          <a:p>
            <a:pPr algn="l"/>
            <a:r>
              <a:rPr lang="en-US" sz="2200" dirty="0"/>
              <a:t>Islam Akef Ebeid</a:t>
            </a:r>
          </a:p>
          <a:p>
            <a:pPr algn="l"/>
            <a:r>
              <a:rPr lang="en-US" sz="2200" dirty="0"/>
              <a:t>iaebeid@ualr.edu</a:t>
            </a:r>
          </a:p>
        </p:txBody>
      </p:sp>
    </p:spTree>
    <p:extLst>
      <p:ext uri="{BB962C8B-B14F-4D97-AF65-F5344CB8AC3E}">
        <p14:creationId xmlns:p14="http://schemas.microsoft.com/office/powerpoint/2010/main" val="40243897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B7FE2C-537F-4EFD-9FA7-2F5937905168}"/>
              </a:ext>
            </a:extLst>
          </p:cNvPr>
          <p:cNvSpPr>
            <a:spLocks noGrp="1"/>
          </p:cNvSpPr>
          <p:nvPr>
            <p:ph type="title"/>
          </p:nvPr>
        </p:nvSpPr>
        <p:spPr>
          <a:xfrm>
            <a:off x="838200" y="278535"/>
            <a:ext cx="9895951" cy="1033669"/>
          </a:xfrm>
        </p:spPr>
        <p:txBody>
          <a:bodyPr>
            <a:normAutofit/>
          </a:bodyPr>
          <a:lstStyle/>
          <a:p>
            <a:r>
              <a:rPr lang="en-US" sz="4000" dirty="0">
                <a:solidFill>
                  <a:srgbClr val="FFFFFF"/>
                </a:solidFill>
              </a:rPr>
              <a:t>Content</a:t>
            </a:r>
          </a:p>
        </p:txBody>
      </p:sp>
      <p:sp>
        <p:nvSpPr>
          <p:cNvPr id="3" name="Content Placeholder 2">
            <a:extLst>
              <a:ext uri="{FF2B5EF4-FFF2-40B4-BE49-F238E27FC236}">
                <a16:creationId xmlns:a16="http://schemas.microsoft.com/office/drawing/2014/main" id="{8209952F-6792-47D0-B7AB-274517194A18}"/>
              </a:ext>
            </a:extLst>
          </p:cNvPr>
          <p:cNvSpPr>
            <a:spLocks noGrp="1"/>
          </p:cNvSpPr>
          <p:nvPr>
            <p:ph idx="1"/>
          </p:nvPr>
        </p:nvSpPr>
        <p:spPr>
          <a:xfrm>
            <a:off x="1371599" y="2318197"/>
            <a:ext cx="9724031" cy="3683358"/>
          </a:xfrm>
        </p:spPr>
        <p:txBody>
          <a:bodyPr anchor="ctr">
            <a:normAutofit/>
          </a:bodyPr>
          <a:lstStyle/>
          <a:p>
            <a:pPr marL="457200" indent="-457200">
              <a:buFont typeface="+mj-lt"/>
              <a:buAutoNum type="arabicPeriod"/>
            </a:pPr>
            <a:r>
              <a:rPr lang="en-US" sz="2000" dirty="0"/>
              <a:t>Introduction</a:t>
            </a:r>
          </a:p>
          <a:p>
            <a:pPr marL="457200" indent="-457200">
              <a:buFont typeface="+mj-lt"/>
              <a:buAutoNum type="arabicPeriod"/>
            </a:pPr>
            <a:r>
              <a:rPr lang="en-US" sz="2000" dirty="0"/>
              <a:t>Recent Work</a:t>
            </a:r>
          </a:p>
          <a:p>
            <a:pPr marL="914400" lvl="1" indent="-457200">
              <a:buFont typeface="+mj-lt"/>
              <a:buAutoNum type="alphaUcPeriod"/>
            </a:pPr>
            <a:r>
              <a:rPr lang="en-US" sz="1600" dirty="0"/>
              <a:t>Graph-based Clustering for Unsupervised Entity Resolution</a:t>
            </a:r>
          </a:p>
          <a:p>
            <a:pPr marL="914400" lvl="1" indent="-457200">
              <a:buFont typeface="+mj-lt"/>
              <a:buAutoNum type="alphaUcPeriod"/>
            </a:pPr>
            <a:r>
              <a:rPr lang="en-US" sz="1600" dirty="0"/>
              <a:t>Biomedical Information Retrieval using Knowledge Graphs</a:t>
            </a:r>
            <a:endParaRPr lang="en-US" sz="2000" dirty="0"/>
          </a:p>
          <a:p>
            <a:pPr marL="457200" indent="-457200">
              <a:buFont typeface="+mj-lt"/>
              <a:buAutoNum type="arabicPeriod"/>
            </a:pPr>
            <a:r>
              <a:rPr lang="en-US" sz="2000" dirty="0"/>
              <a:t>Previous Work</a:t>
            </a:r>
          </a:p>
          <a:p>
            <a:pPr marL="914400" lvl="1" indent="-457200">
              <a:buFont typeface="+mj-lt"/>
              <a:buAutoNum type="alphaUcPeriod"/>
            </a:pPr>
            <a:r>
              <a:rPr lang="en-US" sz="1600" dirty="0"/>
              <a:t>NLP &amp; Entity Resolution for Data Integration</a:t>
            </a:r>
          </a:p>
          <a:p>
            <a:pPr marL="914400" lvl="1" indent="-457200">
              <a:buFont typeface="+mj-lt"/>
              <a:buAutoNum type="alphaUcPeriod"/>
            </a:pPr>
            <a:r>
              <a:rPr lang="en-US" sz="1600" dirty="0"/>
              <a:t>Biomedical Knowledge Discovery, Information Retrieval &amp; Data Mining</a:t>
            </a:r>
          </a:p>
          <a:p>
            <a:pPr marL="914400" lvl="1" indent="-457200">
              <a:buFont typeface="+mj-lt"/>
              <a:buAutoNum type="alphaUcPeriod"/>
            </a:pPr>
            <a:r>
              <a:rPr lang="en-US" sz="1600" dirty="0"/>
              <a:t>HCI, UX, Visualization &amp; Eye Tracking</a:t>
            </a:r>
          </a:p>
          <a:p>
            <a:pPr marL="457200" indent="-457200">
              <a:buFont typeface="+mj-lt"/>
              <a:buAutoNum type="arabicPeriod"/>
            </a:pPr>
            <a:r>
              <a:rPr lang="en-US" sz="2000" dirty="0"/>
              <a:t>Closing Remarks</a:t>
            </a:r>
          </a:p>
        </p:txBody>
      </p:sp>
      <p:sp>
        <p:nvSpPr>
          <p:cNvPr id="4" name="Date Placeholder 3">
            <a:extLst>
              <a:ext uri="{FF2B5EF4-FFF2-40B4-BE49-F238E27FC236}">
                <a16:creationId xmlns:a16="http://schemas.microsoft.com/office/drawing/2014/main" id="{41375441-1F86-427F-9C1A-A7CC3FF6147B}"/>
              </a:ext>
            </a:extLst>
          </p:cNvPr>
          <p:cNvSpPr>
            <a:spLocks noGrp="1"/>
          </p:cNvSpPr>
          <p:nvPr>
            <p:ph type="dt" sz="half" idx="10"/>
          </p:nvPr>
        </p:nvSpPr>
        <p:spPr/>
        <p:txBody>
          <a:bodyPr/>
          <a:lstStyle/>
          <a:p>
            <a:fld id="{D4D241F5-6F1D-4205-B0BF-398077075251}" type="datetime1">
              <a:rPr lang="en-US" smtClean="0"/>
              <a:t>5/19/2023</a:t>
            </a:fld>
            <a:endParaRPr lang="en-US"/>
          </a:p>
        </p:txBody>
      </p:sp>
      <p:sp>
        <p:nvSpPr>
          <p:cNvPr id="5" name="Footer Placeholder 4">
            <a:extLst>
              <a:ext uri="{FF2B5EF4-FFF2-40B4-BE49-F238E27FC236}">
                <a16:creationId xmlns:a16="http://schemas.microsoft.com/office/drawing/2014/main" id="{BB6CA86D-C09D-4CB1-AF49-E79E8C9AD4BE}"/>
              </a:ext>
            </a:extLst>
          </p:cNvPr>
          <p:cNvSpPr>
            <a:spLocks noGrp="1"/>
          </p:cNvSpPr>
          <p:nvPr>
            <p:ph type="ftr" sz="quarter" idx="11"/>
          </p:nvPr>
        </p:nvSpPr>
        <p:spPr/>
        <p:txBody>
          <a:bodyPr/>
          <a:lstStyle/>
          <a:p>
            <a:r>
              <a:rPr lang="en-US" dirty="0"/>
              <a:t>Ebeid - Spring 2023</a:t>
            </a:r>
          </a:p>
        </p:txBody>
      </p:sp>
      <p:sp>
        <p:nvSpPr>
          <p:cNvPr id="6" name="Slide Number Placeholder 5">
            <a:extLst>
              <a:ext uri="{FF2B5EF4-FFF2-40B4-BE49-F238E27FC236}">
                <a16:creationId xmlns:a16="http://schemas.microsoft.com/office/drawing/2014/main" id="{34F88A48-D22D-474B-97FC-E1AFD437D0B4}"/>
              </a:ext>
            </a:extLst>
          </p:cNvPr>
          <p:cNvSpPr>
            <a:spLocks noGrp="1"/>
          </p:cNvSpPr>
          <p:nvPr>
            <p:ph type="sldNum" sz="quarter" idx="12"/>
          </p:nvPr>
        </p:nvSpPr>
        <p:spPr/>
        <p:txBody>
          <a:bodyPr/>
          <a:lstStyle/>
          <a:p>
            <a:fld id="{174AA435-B3B0-4B6E-A265-E4C5F17628FB}" type="slidenum">
              <a:rPr lang="en-US" smtClean="0"/>
              <a:t>2</a:t>
            </a:fld>
            <a:endParaRPr lang="en-US"/>
          </a:p>
        </p:txBody>
      </p:sp>
    </p:spTree>
    <p:extLst>
      <p:ext uri="{BB962C8B-B14F-4D97-AF65-F5344CB8AC3E}">
        <p14:creationId xmlns:p14="http://schemas.microsoft.com/office/powerpoint/2010/main" val="3742897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B85F72-3F13-4019-ABB9-EAB6BCB65CEC}"/>
              </a:ext>
            </a:extLst>
          </p:cNvPr>
          <p:cNvSpPr>
            <a:spLocks noGrp="1"/>
          </p:cNvSpPr>
          <p:nvPr>
            <p:ph type="title"/>
          </p:nvPr>
        </p:nvSpPr>
        <p:spPr>
          <a:xfrm>
            <a:off x="838200" y="278535"/>
            <a:ext cx="9895951" cy="1033669"/>
          </a:xfrm>
        </p:spPr>
        <p:txBody>
          <a:bodyPr>
            <a:normAutofit/>
          </a:bodyPr>
          <a:lstStyle/>
          <a:p>
            <a:r>
              <a:rPr lang="en-US" sz="4000" dirty="0">
                <a:solidFill>
                  <a:srgbClr val="FFFFFF"/>
                </a:solidFill>
              </a:rPr>
              <a:t>1. Introduction </a:t>
            </a:r>
            <a:r>
              <a:rPr lang="en-US" sz="4000">
                <a:solidFill>
                  <a:srgbClr val="FFFFFF"/>
                </a:solidFill>
              </a:rPr>
              <a:t>(Resume)</a:t>
            </a:r>
            <a:endParaRPr lang="en-US" sz="4000" dirty="0">
              <a:solidFill>
                <a:srgbClr val="FFFFFF"/>
              </a:solidFill>
            </a:endParaRPr>
          </a:p>
        </p:txBody>
      </p:sp>
      <p:sp>
        <p:nvSpPr>
          <p:cNvPr id="3" name="Content Placeholder 2">
            <a:extLst>
              <a:ext uri="{FF2B5EF4-FFF2-40B4-BE49-F238E27FC236}">
                <a16:creationId xmlns:a16="http://schemas.microsoft.com/office/drawing/2014/main" id="{FF5EC322-C0F3-440E-B675-02F9FC831DA4}"/>
              </a:ext>
            </a:extLst>
          </p:cNvPr>
          <p:cNvSpPr>
            <a:spLocks noGrp="1"/>
          </p:cNvSpPr>
          <p:nvPr>
            <p:ph idx="1"/>
          </p:nvPr>
        </p:nvSpPr>
        <p:spPr>
          <a:xfrm>
            <a:off x="1371599" y="2318197"/>
            <a:ext cx="9724031" cy="3683358"/>
          </a:xfrm>
        </p:spPr>
        <p:txBody>
          <a:bodyPr anchor="ctr">
            <a:normAutofit fontScale="85000" lnSpcReduction="20000"/>
          </a:bodyPr>
          <a:lstStyle/>
          <a:p>
            <a:pPr marL="0" indent="0">
              <a:buNone/>
            </a:pPr>
            <a:endParaRPr lang="en-US" sz="2000" dirty="0"/>
          </a:p>
          <a:p>
            <a:r>
              <a:rPr lang="en-US" sz="2000" dirty="0"/>
              <a:t> Ph.D. Computer and Information Science </a:t>
            </a:r>
            <a:r>
              <a:rPr lang="en-US" sz="2000" dirty="0">
                <a:sym typeface="Wingdings" panose="05000000000000000000" pitchFamily="2" charset="2"/>
              </a:rPr>
              <a:t> </a:t>
            </a:r>
            <a:r>
              <a:rPr lang="en-US" sz="2000" dirty="0"/>
              <a:t>UA Little Rock </a:t>
            </a:r>
            <a:r>
              <a:rPr lang="en-US" sz="2000" dirty="0">
                <a:sym typeface="Wingdings" panose="05000000000000000000" pitchFamily="2" charset="2"/>
              </a:rPr>
              <a:t> Arkansas, USA (2014-2022)</a:t>
            </a:r>
            <a:endParaRPr lang="en-US" sz="2000" dirty="0"/>
          </a:p>
          <a:p>
            <a:r>
              <a:rPr lang="en-US" sz="2000" dirty="0"/>
              <a:t>Spent 3 years at the Ph.D. Information Studies </a:t>
            </a:r>
            <a:r>
              <a:rPr lang="en-US" sz="2000" dirty="0">
                <a:sym typeface="Wingdings" panose="05000000000000000000" pitchFamily="2" charset="2"/>
              </a:rPr>
              <a:t> UT Austin Texas, USA (2017-2020)</a:t>
            </a:r>
          </a:p>
          <a:p>
            <a:r>
              <a:rPr lang="en-US" sz="2000" dirty="0"/>
              <a:t>M.Sc. Information Science </a:t>
            </a:r>
            <a:r>
              <a:rPr lang="en-US" sz="2000" dirty="0">
                <a:sym typeface="Wingdings" panose="05000000000000000000" pitchFamily="2" charset="2"/>
              </a:rPr>
              <a:t> UA Little Rock  Arkansas, USA (2021)</a:t>
            </a:r>
          </a:p>
          <a:p>
            <a:r>
              <a:rPr lang="en-US" sz="2000" dirty="0"/>
              <a:t>M.Sc. Information Technology </a:t>
            </a:r>
            <a:r>
              <a:rPr lang="en-US" sz="2000" dirty="0">
                <a:sym typeface="Wingdings" panose="05000000000000000000" pitchFamily="2" charset="2"/>
              </a:rPr>
              <a:t> Arkansas Tech  Arkansas, USA (2013)</a:t>
            </a:r>
          </a:p>
          <a:p>
            <a:r>
              <a:rPr lang="en-US" sz="2000" dirty="0"/>
              <a:t>B.Sc. Electrical and Computer Engineering </a:t>
            </a:r>
            <a:r>
              <a:rPr lang="en-US" sz="2000" dirty="0">
                <a:sym typeface="Wingdings" panose="05000000000000000000" pitchFamily="2" charset="2"/>
              </a:rPr>
              <a:t> Ain Shams University</a:t>
            </a:r>
            <a:r>
              <a:rPr lang="en-US" sz="2000" dirty="0"/>
              <a:t> </a:t>
            </a:r>
            <a:r>
              <a:rPr lang="en-US" sz="2000" dirty="0">
                <a:sym typeface="Wingdings" panose="05000000000000000000" pitchFamily="2" charset="2"/>
              </a:rPr>
              <a:t> Cairo, Egypt (2008)</a:t>
            </a:r>
          </a:p>
          <a:p>
            <a:endParaRPr lang="en-US" sz="2000" dirty="0">
              <a:sym typeface="Wingdings" panose="05000000000000000000" pitchFamily="2" charset="2"/>
            </a:endParaRPr>
          </a:p>
          <a:p>
            <a:r>
              <a:rPr lang="en-US" sz="2000" dirty="0">
                <a:sym typeface="Wingdings" panose="05000000000000000000" pitchFamily="2" charset="2"/>
              </a:rPr>
              <a:t>Postdoctoral Fellow @ UNT  Fall 2022</a:t>
            </a:r>
          </a:p>
          <a:p>
            <a:r>
              <a:rPr lang="en-US" sz="2000" dirty="0">
                <a:sym typeface="Wingdings" panose="05000000000000000000" pitchFamily="2" charset="2"/>
              </a:rPr>
              <a:t>Research Intern @ AbbVie  Summer 2020</a:t>
            </a:r>
          </a:p>
          <a:p>
            <a:r>
              <a:rPr lang="en-US" sz="2000" dirty="0">
                <a:sym typeface="Wingdings" panose="05000000000000000000" pitchFamily="2" charset="2"/>
              </a:rPr>
              <a:t>Research Assistant @ Texas Advanced Computing Center  Summer 2018</a:t>
            </a:r>
          </a:p>
          <a:p>
            <a:r>
              <a:rPr lang="en-US" sz="2000" dirty="0">
                <a:sym typeface="Wingdings" panose="05000000000000000000" pitchFamily="2" charset="2"/>
              </a:rPr>
              <a:t>Software Engineering Intern @ Intel  Summer 2016-2017</a:t>
            </a:r>
          </a:p>
          <a:p>
            <a:r>
              <a:rPr lang="en-US" sz="2000" dirty="0">
                <a:sym typeface="Wingdings" panose="05000000000000000000" pitchFamily="2" charset="2"/>
              </a:rPr>
              <a:t>Software Developer @ Arkansas.gov  2013-2014</a:t>
            </a:r>
          </a:p>
          <a:p>
            <a:endParaRPr lang="en-US" sz="2000" dirty="0"/>
          </a:p>
        </p:txBody>
      </p:sp>
      <p:sp>
        <p:nvSpPr>
          <p:cNvPr id="4" name="Date Placeholder 3">
            <a:extLst>
              <a:ext uri="{FF2B5EF4-FFF2-40B4-BE49-F238E27FC236}">
                <a16:creationId xmlns:a16="http://schemas.microsoft.com/office/drawing/2014/main" id="{1D270EA4-15BB-47FB-8DF6-CE6CB87855CF}"/>
              </a:ext>
            </a:extLst>
          </p:cNvPr>
          <p:cNvSpPr>
            <a:spLocks noGrp="1"/>
          </p:cNvSpPr>
          <p:nvPr>
            <p:ph type="dt" sz="half" idx="10"/>
          </p:nvPr>
        </p:nvSpPr>
        <p:spPr/>
        <p:txBody>
          <a:bodyPr/>
          <a:lstStyle/>
          <a:p>
            <a:fld id="{94476323-3C13-412D-AF3E-6F658411519E}" type="datetime1">
              <a:rPr lang="en-US" smtClean="0"/>
              <a:t>5/19/2023</a:t>
            </a:fld>
            <a:endParaRPr lang="en-US"/>
          </a:p>
        </p:txBody>
      </p:sp>
      <p:sp>
        <p:nvSpPr>
          <p:cNvPr id="5" name="Footer Placeholder 4">
            <a:extLst>
              <a:ext uri="{FF2B5EF4-FFF2-40B4-BE49-F238E27FC236}">
                <a16:creationId xmlns:a16="http://schemas.microsoft.com/office/drawing/2014/main" id="{D8036A01-0239-4996-A8F1-74B2A0440FE1}"/>
              </a:ext>
            </a:extLst>
          </p:cNvPr>
          <p:cNvSpPr>
            <a:spLocks noGrp="1"/>
          </p:cNvSpPr>
          <p:nvPr>
            <p:ph type="ftr" sz="quarter" idx="11"/>
          </p:nvPr>
        </p:nvSpPr>
        <p:spPr/>
        <p:txBody>
          <a:bodyPr/>
          <a:lstStyle/>
          <a:p>
            <a:r>
              <a:rPr lang="en-US" dirty="0"/>
              <a:t>Ebeid - Spring 2023</a:t>
            </a:r>
          </a:p>
        </p:txBody>
      </p:sp>
      <p:sp>
        <p:nvSpPr>
          <p:cNvPr id="6" name="Slide Number Placeholder 5">
            <a:extLst>
              <a:ext uri="{FF2B5EF4-FFF2-40B4-BE49-F238E27FC236}">
                <a16:creationId xmlns:a16="http://schemas.microsoft.com/office/drawing/2014/main" id="{72318A8A-94F4-4E26-9F26-40A094B20A0C}"/>
              </a:ext>
            </a:extLst>
          </p:cNvPr>
          <p:cNvSpPr>
            <a:spLocks noGrp="1"/>
          </p:cNvSpPr>
          <p:nvPr>
            <p:ph type="sldNum" sz="quarter" idx="12"/>
          </p:nvPr>
        </p:nvSpPr>
        <p:spPr/>
        <p:txBody>
          <a:bodyPr/>
          <a:lstStyle/>
          <a:p>
            <a:fld id="{174AA435-B3B0-4B6E-A265-E4C5F17628FB}" type="slidenum">
              <a:rPr lang="en-US" smtClean="0"/>
              <a:t>3</a:t>
            </a:fld>
            <a:endParaRPr lang="en-US"/>
          </a:p>
        </p:txBody>
      </p:sp>
    </p:spTree>
    <p:extLst>
      <p:ext uri="{BB962C8B-B14F-4D97-AF65-F5344CB8AC3E}">
        <p14:creationId xmlns:p14="http://schemas.microsoft.com/office/powerpoint/2010/main" val="2067821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C1E080-81B9-4658-A4B9-D5F07609CB4F}"/>
              </a:ext>
            </a:extLst>
          </p:cNvPr>
          <p:cNvSpPr>
            <a:spLocks noGrp="1"/>
          </p:cNvSpPr>
          <p:nvPr>
            <p:ph type="title"/>
          </p:nvPr>
        </p:nvSpPr>
        <p:spPr>
          <a:xfrm>
            <a:off x="838200" y="278535"/>
            <a:ext cx="9895951" cy="1033669"/>
          </a:xfrm>
        </p:spPr>
        <p:txBody>
          <a:bodyPr>
            <a:normAutofit/>
          </a:bodyPr>
          <a:lstStyle/>
          <a:p>
            <a:r>
              <a:rPr lang="en-US" sz="4000" dirty="0">
                <a:solidFill>
                  <a:srgbClr val="FFFFFF"/>
                </a:solidFill>
              </a:rPr>
              <a:t>2. Recent Work</a:t>
            </a:r>
          </a:p>
        </p:txBody>
      </p:sp>
      <p:sp>
        <p:nvSpPr>
          <p:cNvPr id="3" name="Content Placeholder 2">
            <a:extLst>
              <a:ext uri="{FF2B5EF4-FFF2-40B4-BE49-F238E27FC236}">
                <a16:creationId xmlns:a16="http://schemas.microsoft.com/office/drawing/2014/main" id="{81D20119-0527-42EB-B434-6C93731FF13F}"/>
              </a:ext>
            </a:extLst>
          </p:cNvPr>
          <p:cNvSpPr>
            <a:spLocks noGrp="1"/>
          </p:cNvSpPr>
          <p:nvPr>
            <p:ph idx="1"/>
          </p:nvPr>
        </p:nvSpPr>
        <p:spPr>
          <a:xfrm>
            <a:off x="1371599" y="2318197"/>
            <a:ext cx="9724031" cy="3683358"/>
          </a:xfrm>
        </p:spPr>
        <p:txBody>
          <a:bodyPr anchor="ctr">
            <a:normAutofit/>
          </a:bodyPr>
          <a:lstStyle/>
          <a:p>
            <a:pPr marL="457200" indent="-457200">
              <a:buFont typeface="+mj-lt"/>
              <a:buAutoNum type="alphaUcPeriod"/>
            </a:pPr>
            <a:r>
              <a:rPr lang="en-US" sz="2000" b="1" dirty="0" err="1">
                <a:effectLst/>
                <a:latin typeface="Linux Libertine" panose="02000503000000000000" pitchFamily="2" charset="0"/>
                <a:ea typeface="Calibri" panose="020F0502020204030204" pitchFamily="34" charset="0"/>
              </a:rPr>
              <a:t>ModER</a:t>
            </a:r>
            <a:r>
              <a:rPr lang="en-US" sz="2000" b="1" dirty="0">
                <a:effectLst/>
                <a:latin typeface="Linux Libertine" panose="02000503000000000000" pitchFamily="2" charset="0"/>
                <a:ea typeface="Calibri" panose="020F0502020204030204" pitchFamily="34" charset="0"/>
              </a:rPr>
              <a:t>: Graph-based entity profiling for unsupervised entity resolution</a:t>
            </a:r>
            <a:endParaRPr lang="en-US" sz="2000" dirty="0">
              <a:effectLst/>
              <a:latin typeface="Linux Libertine" panose="02000503000000000000" pitchFamily="2" charset="0"/>
              <a:ea typeface="Calibri" panose="020F0502020204030204" pitchFamily="34" charset="0"/>
            </a:endParaRPr>
          </a:p>
          <a:p>
            <a:pPr marL="457200" indent="-457200">
              <a:buFont typeface="+mj-lt"/>
              <a:buAutoNum type="alphaUcPeriod"/>
            </a:pPr>
            <a:r>
              <a:rPr lang="en-US" sz="2000" b="1" dirty="0" err="1">
                <a:effectLst/>
                <a:latin typeface="Linux Libertine" panose="02000503000000000000" pitchFamily="2" charset="0"/>
                <a:ea typeface="Calibri" panose="020F0502020204030204" pitchFamily="34" charset="0"/>
                <a:cs typeface="Times New Roman" panose="02020603050405020304" pitchFamily="18" charset="0"/>
              </a:rPr>
              <a:t>MedGraph</a:t>
            </a:r>
            <a:r>
              <a:rPr lang="en-US" sz="2000" b="1" dirty="0">
                <a:effectLst/>
                <a:latin typeface="Linux Libertine" panose="02000503000000000000" pitchFamily="2" charset="0"/>
                <a:ea typeface="Calibri" panose="020F0502020204030204" pitchFamily="34" charset="0"/>
                <a:cs typeface="Times New Roman" panose="02020603050405020304" pitchFamily="18" charset="0"/>
              </a:rPr>
              <a:t>: An experimental semantic information retrieval method using knowledge graph embedding for PubMed</a:t>
            </a:r>
            <a:r>
              <a:rPr lang="en-US" sz="2000" b="0" dirty="0">
                <a:effectLst/>
                <a:latin typeface="Linux Libertine" panose="02000503000000000000" pitchFamily="2" charset="0"/>
                <a:ea typeface="Calibri" panose="020F0502020204030204" pitchFamily="34" charset="0"/>
                <a:cs typeface="Times New Roman" panose="02020603050405020304" pitchFamily="18" charset="0"/>
              </a:rPr>
              <a:t> </a:t>
            </a:r>
            <a:endParaRPr lang="en-US" sz="2000" dirty="0"/>
          </a:p>
        </p:txBody>
      </p:sp>
      <p:sp>
        <p:nvSpPr>
          <p:cNvPr id="4" name="Date Placeholder 3">
            <a:extLst>
              <a:ext uri="{FF2B5EF4-FFF2-40B4-BE49-F238E27FC236}">
                <a16:creationId xmlns:a16="http://schemas.microsoft.com/office/drawing/2014/main" id="{8C5D7432-4D47-4DBD-9572-A2F4B137D22F}"/>
              </a:ext>
            </a:extLst>
          </p:cNvPr>
          <p:cNvSpPr>
            <a:spLocks noGrp="1"/>
          </p:cNvSpPr>
          <p:nvPr>
            <p:ph type="dt" sz="half" idx="10"/>
          </p:nvPr>
        </p:nvSpPr>
        <p:spPr/>
        <p:txBody>
          <a:bodyPr/>
          <a:lstStyle/>
          <a:p>
            <a:fld id="{C069D753-F2A7-4B2E-BBCE-E8368C0D3A83}" type="datetime1">
              <a:rPr lang="en-US" smtClean="0"/>
              <a:t>5/19/2023</a:t>
            </a:fld>
            <a:endParaRPr lang="en-US"/>
          </a:p>
        </p:txBody>
      </p:sp>
      <p:sp>
        <p:nvSpPr>
          <p:cNvPr id="5" name="Footer Placeholder 4">
            <a:extLst>
              <a:ext uri="{FF2B5EF4-FFF2-40B4-BE49-F238E27FC236}">
                <a16:creationId xmlns:a16="http://schemas.microsoft.com/office/drawing/2014/main" id="{FBEDEEB6-111D-47AB-8414-79FF00C2D1C3}"/>
              </a:ext>
            </a:extLst>
          </p:cNvPr>
          <p:cNvSpPr>
            <a:spLocks noGrp="1"/>
          </p:cNvSpPr>
          <p:nvPr>
            <p:ph type="ftr" sz="quarter" idx="11"/>
          </p:nvPr>
        </p:nvSpPr>
        <p:spPr/>
        <p:txBody>
          <a:bodyPr/>
          <a:lstStyle/>
          <a:p>
            <a:r>
              <a:rPr lang="en-US" dirty="0"/>
              <a:t>Ebeid - Spring 2023</a:t>
            </a:r>
          </a:p>
        </p:txBody>
      </p:sp>
      <p:sp>
        <p:nvSpPr>
          <p:cNvPr id="6" name="Slide Number Placeholder 5">
            <a:extLst>
              <a:ext uri="{FF2B5EF4-FFF2-40B4-BE49-F238E27FC236}">
                <a16:creationId xmlns:a16="http://schemas.microsoft.com/office/drawing/2014/main" id="{B9F816F6-33A5-465A-B204-66FD69B5F58D}"/>
              </a:ext>
            </a:extLst>
          </p:cNvPr>
          <p:cNvSpPr>
            <a:spLocks noGrp="1"/>
          </p:cNvSpPr>
          <p:nvPr>
            <p:ph type="sldNum" sz="quarter" idx="12"/>
          </p:nvPr>
        </p:nvSpPr>
        <p:spPr/>
        <p:txBody>
          <a:bodyPr/>
          <a:lstStyle/>
          <a:p>
            <a:fld id="{174AA435-B3B0-4B6E-A265-E4C5F17628FB}" type="slidenum">
              <a:rPr lang="en-US" smtClean="0"/>
              <a:t>4</a:t>
            </a:fld>
            <a:endParaRPr lang="en-US"/>
          </a:p>
        </p:txBody>
      </p:sp>
    </p:spTree>
    <p:extLst>
      <p:ext uri="{BB962C8B-B14F-4D97-AF65-F5344CB8AC3E}">
        <p14:creationId xmlns:p14="http://schemas.microsoft.com/office/powerpoint/2010/main" val="1282810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18750A-4FBE-4278-9CF9-58EB162C83D5}"/>
              </a:ext>
            </a:extLst>
          </p:cNvPr>
          <p:cNvSpPr>
            <a:spLocks noGrp="1"/>
          </p:cNvSpPr>
          <p:nvPr>
            <p:ph type="title"/>
          </p:nvPr>
        </p:nvSpPr>
        <p:spPr>
          <a:xfrm>
            <a:off x="699713" y="248038"/>
            <a:ext cx="11060061" cy="1159200"/>
          </a:xfrm>
        </p:spPr>
        <p:txBody>
          <a:bodyPr vert="horz" lIns="91440" tIns="45720" rIns="91440" bIns="45720" rtlCol="0" anchor="ctr">
            <a:normAutofit/>
          </a:bodyPr>
          <a:lstStyle/>
          <a:p>
            <a:r>
              <a:rPr lang="en-US" sz="4000" dirty="0">
                <a:solidFill>
                  <a:srgbClr val="FFFFFF"/>
                </a:solidFill>
              </a:rPr>
              <a:t>2A. </a:t>
            </a:r>
            <a:r>
              <a:rPr lang="en-US" sz="4000" kern="1200" dirty="0">
                <a:solidFill>
                  <a:srgbClr val="FFFFFF"/>
                </a:solidFill>
                <a:latin typeface="+mj-lt"/>
                <a:ea typeface="+mj-ea"/>
                <a:cs typeface="+mj-cs"/>
              </a:rPr>
              <a:t>Graph-based Unsupervised Entity Resolution </a:t>
            </a:r>
          </a:p>
        </p:txBody>
      </p:sp>
      <p:pic>
        <p:nvPicPr>
          <p:cNvPr id="7" name="Content Placeholder 6" descr="Graphical user interface, table&#10;&#10;Description automatically generated">
            <a:extLst>
              <a:ext uri="{FF2B5EF4-FFF2-40B4-BE49-F238E27FC236}">
                <a16:creationId xmlns:a16="http://schemas.microsoft.com/office/drawing/2014/main" id="{57922137-1C0A-45A6-B6C6-FD81A72C25C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32225" y="2351646"/>
            <a:ext cx="11327549" cy="3681453"/>
          </a:xfrm>
          <a:prstGeom prst="rect">
            <a:avLst/>
          </a:prstGeom>
        </p:spPr>
      </p:pic>
      <p:sp>
        <p:nvSpPr>
          <p:cNvPr id="3" name="Date Placeholder 2">
            <a:extLst>
              <a:ext uri="{FF2B5EF4-FFF2-40B4-BE49-F238E27FC236}">
                <a16:creationId xmlns:a16="http://schemas.microsoft.com/office/drawing/2014/main" id="{32C737BA-BD8D-4064-BC86-67E53529418E}"/>
              </a:ext>
            </a:extLst>
          </p:cNvPr>
          <p:cNvSpPr>
            <a:spLocks noGrp="1"/>
          </p:cNvSpPr>
          <p:nvPr>
            <p:ph type="dt" sz="half" idx="10"/>
          </p:nvPr>
        </p:nvSpPr>
        <p:spPr/>
        <p:txBody>
          <a:bodyPr/>
          <a:lstStyle/>
          <a:p>
            <a:fld id="{26DB2367-4441-4983-BD37-636F4135415D}" type="datetime1">
              <a:rPr lang="en-US" smtClean="0"/>
              <a:t>5/19/2023</a:t>
            </a:fld>
            <a:endParaRPr lang="en-US"/>
          </a:p>
        </p:txBody>
      </p:sp>
      <p:sp>
        <p:nvSpPr>
          <p:cNvPr id="4" name="Footer Placeholder 3">
            <a:extLst>
              <a:ext uri="{FF2B5EF4-FFF2-40B4-BE49-F238E27FC236}">
                <a16:creationId xmlns:a16="http://schemas.microsoft.com/office/drawing/2014/main" id="{2785B8B2-CA00-474B-A819-974EBD02A72D}"/>
              </a:ext>
            </a:extLst>
          </p:cNvPr>
          <p:cNvSpPr>
            <a:spLocks noGrp="1"/>
          </p:cNvSpPr>
          <p:nvPr>
            <p:ph type="ftr" sz="quarter" idx="11"/>
          </p:nvPr>
        </p:nvSpPr>
        <p:spPr/>
        <p:txBody>
          <a:bodyPr/>
          <a:lstStyle/>
          <a:p>
            <a:r>
              <a:rPr lang="en-US" dirty="0"/>
              <a:t>Ebeid - Spring 2023</a:t>
            </a:r>
          </a:p>
        </p:txBody>
      </p:sp>
      <p:sp>
        <p:nvSpPr>
          <p:cNvPr id="5" name="Slide Number Placeholder 4">
            <a:extLst>
              <a:ext uri="{FF2B5EF4-FFF2-40B4-BE49-F238E27FC236}">
                <a16:creationId xmlns:a16="http://schemas.microsoft.com/office/drawing/2014/main" id="{575D2AEB-5443-4738-9B8B-370B26E6E495}"/>
              </a:ext>
            </a:extLst>
          </p:cNvPr>
          <p:cNvSpPr>
            <a:spLocks noGrp="1"/>
          </p:cNvSpPr>
          <p:nvPr>
            <p:ph type="sldNum" sz="quarter" idx="12"/>
          </p:nvPr>
        </p:nvSpPr>
        <p:spPr/>
        <p:txBody>
          <a:bodyPr/>
          <a:lstStyle/>
          <a:p>
            <a:fld id="{174AA435-B3B0-4B6E-A265-E4C5F17628FB}" type="slidenum">
              <a:rPr lang="en-US" smtClean="0"/>
              <a:t>5</a:t>
            </a:fld>
            <a:endParaRPr lang="en-US"/>
          </a:p>
        </p:txBody>
      </p:sp>
    </p:spTree>
    <p:extLst>
      <p:ext uri="{BB962C8B-B14F-4D97-AF65-F5344CB8AC3E}">
        <p14:creationId xmlns:p14="http://schemas.microsoft.com/office/powerpoint/2010/main" val="7319328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18750A-4FBE-4278-9CF9-58EB162C83D5}"/>
              </a:ext>
            </a:extLst>
          </p:cNvPr>
          <p:cNvSpPr>
            <a:spLocks noGrp="1"/>
          </p:cNvSpPr>
          <p:nvPr>
            <p:ph type="title"/>
          </p:nvPr>
        </p:nvSpPr>
        <p:spPr>
          <a:xfrm>
            <a:off x="699713" y="248038"/>
            <a:ext cx="10654087" cy="1159200"/>
          </a:xfrm>
        </p:spPr>
        <p:txBody>
          <a:bodyPr vert="horz" lIns="91440" tIns="45720" rIns="91440" bIns="45720" rtlCol="0" anchor="ctr">
            <a:normAutofit/>
          </a:bodyPr>
          <a:lstStyle/>
          <a:p>
            <a:r>
              <a:rPr lang="en-US" sz="4000" dirty="0">
                <a:solidFill>
                  <a:srgbClr val="FFFFFF"/>
                </a:solidFill>
              </a:rPr>
              <a:t>2A. </a:t>
            </a:r>
            <a:r>
              <a:rPr lang="en-US" sz="4000" kern="1200" dirty="0">
                <a:solidFill>
                  <a:srgbClr val="FFFFFF"/>
                </a:solidFill>
                <a:latin typeface="+mj-lt"/>
                <a:ea typeface="+mj-ea"/>
                <a:cs typeface="+mj-cs"/>
              </a:rPr>
              <a:t>Graph-based Unsupervised Entity Resolution </a:t>
            </a:r>
          </a:p>
        </p:txBody>
      </p:sp>
      <p:sp>
        <p:nvSpPr>
          <p:cNvPr id="3" name="Date Placeholder 2">
            <a:extLst>
              <a:ext uri="{FF2B5EF4-FFF2-40B4-BE49-F238E27FC236}">
                <a16:creationId xmlns:a16="http://schemas.microsoft.com/office/drawing/2014/main" id="{32C737BA-BD8D-4064-BC86-67E53529418E}"/>
              </a:ext>
            </a:extLst>
          </p:cNvPr>
          <p:cNvSpPr>
            <a:spLocks noGrp="1"/>
          </p:cNvSpPr>
          <p:nvPr>
            <p:ph type="dt" sz="half" idx="10"/>
          </p:nvPr>
        </p:nvSpPr>
        <p:spPr/>
        <p:txBody>
          <a:bodyPr/>
          <a:lstStyle/>
          <a:p>
            <a:fld id="{26DB2367-4441-4983-BD37-636F4135415D}" type="datetime1">
              <a:rPr lang="en-US" smtClean="0"/>
              <a:t>5/19/2023</a:t>
            </a:fld>
            <a:endParaRPr lang="en-US"/>
          </a:p>
        </p:txBody>
      </p:sp>
      <p:sp>
        <p:nvSpPr>
          <p:cNvPr id="4" name="Footer Placeholder 3">
            <a:extLst>
              <a:ext uri="{FF2B5EF4-FFF2-40B4-BE49-F238E27FC236}">
                <a16:creationId xmlns:a16="http://schemas.microsoft.com/office/drawing/2014/main" id="{2785B8B2-CA00-474B-A819-974EBD02A72D}"/>
              </a:ext>
            </a:extLst>
          </p:cNvPr>
          <p:cNvSpPr>
            <a:spLocks noGrp="1"/>
          </p:cNvSpPr>
          <p:nvPr>
            <p:ph type="ftr" sz="quarter" idx="11"/>
          </p:nvPr>
        </p:nvSpPr>
        <p:spPr/>
        <p:txBody>
          <a:bodyPr/>
          <a:lstStyle/>
          <a:p>
            <a:r>
              <a:rPr lang="en-US" dirty="0"/>
              <a:t>Ebeid - Spring 2023</a:t>
            </a:r>
          </a:p>
        </p:txBody>
      </p:sp>
      <p:sp>
        <p:nvSpPr>
          <p:cNvPr id="5" name="Slide Number Placeholder 4">
            <a:extLst>
              <a:ext uri="{FF2B5EF4-FFF2-40B4-BE49-F238E27FC236}">
                <a16:creationId xmlns:a16="http://schemas.microsoft.com/office/drawing/2014/main" id="{575D2AEB-5443-4738-9B8B-370B26E6E495}"/>
              </a:ext>
            </a:extLst>
          </p:cNvPr>
          <p:cNvSpPr>
            <a:spLocks noGrp="1"/>
          </p:cNvSpPr>
          <p:nvPr>
            <p:ph type="sldNum" sz="quarter" idx="12"/>
          </p:nvPr>
        </p:nvSpPr>
        <p:spPr/>
        <p:txBody>
          <a:bodyPr/>
          <a:lstStyle/>
          <a:p>
            <a:fld id="{174AA435-B3B0-4B6E-A265-E4C5F17628FB}" type="slidenum">
              <a:rPr lang="en-US" smtClean="0"/>
              <a:t>6</a:t>
            </a:fld>
            <a:endParaRPr lang="en-US"/>
          </a:p>
        </p:txBody>
      </p:sp>
      <p:pic>
        <p:nvPicPr>
          <p:cNvPr id="15" name="Content Placeholder 8" descr="Graphical user interface&#10;&#10;Description automatically generated with low confidence">
            <a:extLst>
              <a:ext uri="{FF2B5EF4-FFF2-40B4-BE49-F238E27FC236}">
                <a16:creationId xmlns:a16="http://schemas.microsoft.com/office/drawing/2014/main" id="{13B52D7F-C342-466C-B30B-9D05AFA4786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32225" y="2479081"/>
            <a:ext cx="11327549" cy="3426583"/>
          </a:xfrm>
          <a:prstGeom prst="rect">
            <a:avLst/>
          </a:prstGeom>
        </p:spPr>
      </p:pic>
    </p:spTree>
    <p:extLst>
      <p:ext uri="{BB962C8B-B14F-4D97-AF65-F5344CB8AC3E}">
        <p14:creationId xmlns:p14="http://schemas.microsoft.com/office/powerpoint/2010/main" val="11671300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18750A-4FBE-4278-9CF9-58EB162C83D5}"/>
              </a:ext>
            </a:extLst>
          </p:cNvPr>
          <p:cNvSpPr>
            <a:spLocks noGrp="1"/>
          </p:cNvSpPr>
          <p:nvPr>
            <p:ph type="title"/>
          </p:nvPr>
        </p:nvSpPr>
        <p:spPr>
          <a:xfrm>
            <a:off x="699713" y="248038"/>
            <a:ext cx="10654087" cy="1159200"/>
          </a:xfrm>
        </p:spPr>
        <p:txBody>
          <a:bodyPr vert="horz" lIns="91440" tIns="45720" rIns="91440" bIns="45720" rtlCol="0" anchor="ctr">
            <a:normAutofit/>
          </a:bodyPr>
          <a:lstStyle/>
          <a:p>
            <a:r>
              <a:rPr lang="en-US" sz="4000" dirty="0">
                <a:solidFill>
                  <a:srgbClr val="FFFFFF"/>
                </a:solidFill>
              </a:rPr>
              <a:t>2A. </a:t>
            </a:r>
            <a:r>
              <a:rPr lang="en-US" sz="4000" kern="1200" dirty="0">
                <a:solidFill>
                  <a:srgbClr val="FFFFFF"/>
                </a:solidFill>
                <a:latin typeface="+mj-lt"/>
                <a:ea typeface="+mj-ea"/>
                <a:cs typeface="+mj-cs"/>
              </a:rPr>
              <a:t>Graph-based Unsupervised Entity Resolution </a:t>
            </a:r>
          </a:p>
        </p:txBody>
      </p:sp>
      <p:sp>
        <p:nvSpPr>
          <p:cNvPr id="3" name="Date Placeholder 2">
            <a:extLst>
              <a:ext uri="{FF2B5EF4-FFF2-40B4-BE49-F238E27FC236}">
                <a16:creationId xmlns:a16="http://schemas.microsoft.com/office/drawing/2014/main" id="{32C737BA-BD8D-4064-BC86-67E53529418E}"/>
              </a:ext>
            </a:extLst>
          </p:cNvPr>
          <p:cNvSpPr>
            <a:spLocks noGrp="1"/>
          </p:cNvSpPr>
          <p:nvPr>
            <p:ph type="dt" sz="half" idx="10"/>
          </p:nvPr>
        </p:nvSpPr>
        <p:spPr/>
        <p:txBody>
          <a:bodyPr/>
          <a:lstStyle/>
          <a:p>
            <a:fld id="{26DB2367-4441-4983-BD37-636F4135415D}" type="datetime1">
              <a:rPr lang="en-US" smtClean="0"/>
              <a:t>5/19/2023</a:t>
            </a:fld>
            <a:endParaRPr lang="en-US"/>
          </a:p>
        </p:txBody>
      </p:sp>
      <p:sp>
        <p:nvSpPr>
          <p:cNvPr id="4" name="Footer Placeholder 3">
            <a:extLst>
              <a:ext uri="{FF2B5EF4-FFF2-40B4-BE49-F238E27FC236}">
                <a16:creationId xmlns:a16="http://schemas.microsoft.com/office/drawing/2014/main" id="{2785B8B2-CA00-474B-A819-974EBD02A72D}"/>
              </a:ext>
            </a:extLst>
          </p:cNvPr>
          <p:cNvSpPr>
            <a:spLocks noGrp="1"/>
          </p:cNvSpPr>
          <p:nvPr>
            <p:ph type="ftr" sz="quarter" idx="11"/>
          </p:nvPr>
        </p:nvSpPr>
        <p:spPr/>
        <p:txBody>
          <a:bodyPr/>
          <a:lstStyle/>
          <a:p>
            <a:r>
              <a:rPr lang="en-US" dirty="0"/>
              <a:t>Ebeid - Spring 2023</a:t>
            </a:r>
          </a:p>
        </p:txBody>
      </p:sp>
      <p:sp>
        <p:nvSpPr>
          <p:cNvPr id="5" name="Slide Number Placeholder 4">
            <a:extLst>
              <a:ext uri="{FF2B5EF4-FFF2-40B4-BE49-F238E27FC236}">
                <a16:creationId xmlns:a16="http://schemas.microsoft.com/office/drawing/2014/main" id="{575D2AEB-5443-4738-9B8B-370B26E6E495}"/>
              </a:ext>
            </a:extLst>
          </p:cNvPr>
          <p:cNvSpPr>
            <a:spLocks noGrp="1"/>
          </p:cNvSpPr>
          <p:nvPr>
            <p:ph type="sldNum" sz="quarter" idx="12"/>
          </p:nvPr>
        </p:nvSpPr>
        <p:spPr/>
        <p:txBody>
          <a:bodyPr/>
          <a:lstStyle/>
          <a:p>
            <a:fld id="{174AA435-B3B0-4B6E-A265-E4C5F17628FB}" type="slidenum">
              <a:rPr lang="en-US" smtClean="0"/>
              <a:t>7</a:t>
            </a:fld>
            <a:endParaRPr lang="en-US"/>
          </a:p>
        </p:txBody>
      </p:sp>
      <p:pic>
        <p:nvPicPr>
          <p:cNvPr id="19" name="Content Placeholder 4" descr="A picture containing table&#10;&#10;Description automatically generated">
            <a:extLst>
              <a:ext uri="{FF2B5EF4-FFF2-40B4-BE49-F238E27FC236}">
                <a16:creationId xmlns:a16="http://schemas.microsoft.com/office/drawing/2014/main" id="{00B8C027-A2AF-453E-9BD7-EC14B599BF0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13882" y="2972613"/>
            <a:ext cx="7225748" cy="1987080"/>
          </a:xfrm>
          <a:prstGeom prst="rect">
            <a:avLst/>
          </a:prstGeom>
        </p:spPr>
      </p:pic>
    </p:spTree>
    <p:extLst>
      <p:ext uri="{BB962C8B-B14F-4D97-AF65-F5344CB8AC3E}">
        <p14:creationId xmlns:p14="http://schemas.microsoft.com/office/powerpoint/2010/main" val="26656358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18750A-4FBE-4278-9CF9-58EB162C83D5}"/>
              </a:ext>
            </a:extLst>
          </p:cNvPr>
          <p:cNvSpPr>
            <a:spLocks noGrp="1"/>
          </p:cNvSpPr>
          <p:nvPr>
            <p:ph type="title"/>
          </p:nvPr>
        </p:nvSpPr>
        <p:spPr>
          <a:xfrm>
            <a:off x="699713" y="248038"/>
            <a:ext cx="10654087" cy="1159200"/>
          </a:xfrm>
        </p:spPr>
        <p:txBody>
          <a:bodyPr vert="horz" lIns="91440" tIns="45720" rIns="91440" bIns="45720" rtlCol="0" anchor="ctr">
            <a:normAutofit/>
          </a:bodyPr>
          <a:lstStyle/>
          <a:p>
            <a:r>
              <a:rPr lang="en-US" sz="4000" dirty="0">
                <a:solidFill>
                  <a:srgbClr val="FFFFFF"/>
                </a:solidFill>
              </a:rPr>
              <a:t>2A. </a:t>
            </a:r>
            <a:r>
              <a:rPr lang="en-US" sz="4000" kern="1200" dirty="0">
                <a:solidFill>
                  <a:srgbClr val="FFFFFF"/>
                </a:solidFill>
                <a:latin typeface="+mj-lt"/>
                <a:ea typeface="+mj-ea"/>
                <a:cs typeface="+mj-cs"/>
              </a:rPr>
              <a:t>Graph-based Unsupervised Entity Resolution </a:t>
            </a:r>
          </a:p>
        </p:txBody>
      </p:sp>
      <p:sp>
        <p:nvSpPr>
          <p:cNvPr id="3" name="Date Placeholder 2">
            <a:extLst>
              <a:ext uri="{FF2B5EF4-FFF2-40B4-BE49-F238E27FC236}">
                <a16:creationId xmlns:a16="http://schemas.microsoft.com/office/drawing/2014/main" id="{32C737BA-BD8D-4064-BC86-67E53529418E}"/>
              </a:ext>
            </a:extLst>
          </p:cNvPr>
          <p:cNvSpPr>
            <a:spLocks noGrp="1"/>
          </p:cNvSpPr>
          <p:nvPr>
            <p:ph type="dt" sz="half" idx="10"/>
          </p:nvPr>
        </p:nvSpPr>
        <p:spPr/>
        <p:txBody>
          <a:bodyPr/>
          <a:lstStyle/>
          <a:p>
            <a:fld id="{26DB2367-4441-4983-BD37-636F4135415D}" type="datetime1">
              <a:rPr lang="en-US" smtClean="0"/>
              <a:t>5/19/2023</a:t>
            </a:fld>
            <a:endParaRPr lang="en-US"/>
          </a:p>
        </p:txBody>
      </p:sp>
      <p:sp>
        <p:nvSpPr>
          <p:cNvPr id="4" name="Footer Placeholder 3">
            <a:extLst>
              <a:ext uri="{FF2B5EF4-FFF2-40B4-BE49-F238E27FC236}">
                <a16:creationId xmlns:a16="http://schemas.microsoft.com/office/drawing/2014/main" id="{2785B8B2-CA00-474B-A819-974EBD02A72D}"/>
              </a:ext>
            </a:extLst>
          </p:cNvPr>
          <p:cNvSpPr>
            <a:spLocks noGrp="1"/>
          </p:cNvSpPr>
          <p:nvPr>
            <p:ph type="ftr" sz="quarter" idx="11"/>
          </p:nvPr>
        </p:nvSpPr>
        <p:spPr/>
        <p:txBody>
          <a:bodyPr/>
          <a:lstStyle/>
          <a:p>
            <a:r>
              <a:rPr lang="en-US" dirty="0"/>
              <a:t>Ebeid - Spring 2023</a:t>
            </a:r>
          </a:p>
        </p:txBody>
      </p:sp>
      <p:sp>
        <p:nvSpPr>
          <p:cNvPr id="5" name="Slide Number Placeholder 4">
            <a:extLst>
              <a:ext uri="{FF2B5EF4-FFF2-40B4-BE49-F238E27FC236}">
                <a16:creationId xmlns:a16="http://schemas.microsoft.com/office/drawing/2014/main" id="{575D2AEB-5443-4738-9B8B-370B26E6E495}"/>
              </a:ext>
            </a:extLst>
          </p:cNvPr>
          <p:cNvSpPr>
            <a:spLocks noGrp="1"/>
          </p:cNvSpPr>
          <p:nvPr>
            <p:ph type="sldNum" sz="quarter" idx="12"/>
          </p:nvPr>
        </p:nvSpPr>
        <p:spPr/>
        <p:txBody>
          <a:bodyPr/>
          <a:lstStyle/>
          <a:p>
            <a:fld id="{174AA435-B3B0-4B6E-A265-E4C5F17628FB}" type="slidenum">
              <a:rPr lang="en-US" smtClean="0"/>
              <a:t>8</a:t>
            </a:fld>
            <a:endParaRPr lang="en-US"/>
          </a:p>
        </p:txBody>
      </p:sp>
      <p:pic>
        <p:nvPicPr>
          <p:cNvPr id="15" name="Content Placeholder 4" descr="Graphical user interface, text, application&#10;&#10;Description automatically generated">
            <a:extLst>
              <a:ext uri="{FF2B5EF4-FFF2-40B4-BE49-F238E27FC236}">
                <a16:creationId xmlns:a16="http://schemas.microsoft.com/office/drawing/2014/main" id="{B9494167-A5D0-42DB-A85E-CE7BAB260C6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598868" y="1966293"/>
            <a:ext cx="8994262" cy="4452160"/>
          </a:xfrm>
          <a:prstGeom prst="rect">
            <a:avLst/>
          </a:prstGeom>
        </p:spPr>
      </p:pic>
    </p:spTree>
    <p:extLst>
      <p:ext uri="{BB962C8B-B14F-4D97-AF65-F5344CB8AC3E}">
        <p14:creationId xmlns:p14="http://schemas.microsoft.com/office/powerpoint/2010/main" val="785306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18750A-4FBE-4278-9CF9-58EB162C83D5}"/>
              </a:ext>
            </a:extLst>
          </p:cNvPr>
          <p:cNvSpPr>
            <a:spLocks noGrp="1"/>
          </p:cNvSpPr>
          <p:nvPr>
            <p:ph type="title"/>
          </p:nvPr>
        </p:nvSpPr>
        <p:spPr>
          <a:xfrm>
            <a:off x="699713" y="248038"/>
            <a:ext cx="10654087" cy="1159200"/>
          </a:xfrm>
        </p:spPr>
        <p:txBody>
          <a:bodyPr vert="horz" lIns="91440" tIns="45720" rIns="91440" bIns="45720" rtlCol="0" anchor="ctr">
            <a:normAutofit/>
          </a:bodyPr>
          <a:lstStyle/>
          <a:p>
            <a:r>
              <a:rPr lang="en-US" sz="4000" dirty="0">
                <a:solidFill>
                  <a:srgbClr val="FFFFFF"/>
                </a:solidFill>
              </a:rPr>
              <a:t>2A. </a:t>
            </a:r>
            <a:r>
              <a:rPr lang="en-US" sz="4000" kern="1200" dirty="0">
                <a:solidFill>
                  <a:srgbClr val="FFFFFF"/>
                </a:solidFill>
                <a:latin typeface="+mj-lt"/>
                <a:ea typeface="+mj-ea"/>
                <a:cs typeface="+mj-cs"/>
              </a:rPr>
              <a:t>Graph-based Unsupervised Entity Resolution </a:t>
            </a:r>
          </a:p>
        </p:txBody>
      </p:sp>
      <p:sp>
        <p:nvSpPr>
          <p:cNvPr id="3" name="Date Placeholder 2">
            <a:extLst>
              <a:ext uri="{FF2B5EF4-FFF2-40B4-BE49-F238E27FC236}">
                <a16:creationId xmlns:a16="http://schemas.microsoft.com/office/drawing/2014/main" id="{32C737BA-BD8D-4064-BC86-67E53529418E}"/>
              </a:ext>
            </a:extLst>
          </p:cNvPr>
          <p:cNvSpPr>
            <a:spLocks noGrp="1"/>
          </p:cNvSpPr>
          <p:nvPr>
            <p:ph type="dt" sz="half" idx="10"/>
          </p:nvPr>
        </p:nvSpPr>
        <p:spPr/>
        <p:txBody>
          <a:bodyPr/>
          <a:lstStyle/>
          <a:p>
            <a:fld id="{26DB2367-4441-4983-BD37-636F4135415D}" type="datetime1">
              <a:rPr lang="en-US" smtClean="0"/>
              <a:t>5/19/2023</a:t>
            </a:fld>
            <a:endParaRPr lang="en-US"/>
          </a:p>
        </p:txBody>
      </p:sp>
      <p:sp>
        <p:nvSpPr>
          <p:cNvPr id="4" name="Footer Placeholder 3">
            <a:extLst>
              <a:ext uri="{FF2B5EF4-FFF2-40B4-BE49-F238E27FC236}">
                <a16:creationId xmlns:a16="http://schemas.microsoft.com/office/drawing/2014/main" id="{2785B8B2-CA00-474B-A819-974EBD02A72D}"/>
              </a:ext>
            </a:extLst>
          </p:cNvPr>
          <p:cNvSpPr>
            <a:spLocks noGrp="1"/>
          </p:cNvSpPr>
          <p:nvPr>
            <p:ph type="ftr" sz="quarter" idx="11"/>
          </p:nvPr>
        </p:nvSpPr>
        <p:spPr/>
        <p:txBody>
          <a:bodyPr/>
          <a:lstStyle/>
          <a:p>
            <a:r>
              <a:rPr lang="en-US" dirty="0"/>
              <a:t>Ebeid - Spring 2023</a:t>
            </a:r>
          </a:p>
        </p:txBody>
      </p:sp>
      <p:sp>
        <p:nvSpPr>
          <p:cNvPr id="5" name="Slide Number Placeholder 4">
            <a:extLst>
              <a:ext uri="{FF2B5EF4-FFF2-40B4-BE49-F238E27FC236}">
                <a16:creationId xmlns:a16="http://schemas.microsoft.com/office/drawing/2014/main" id="{575D2AEB-5443-4738-9B8B-370B26E6E495}"/>
              </a:ext>
            </a:extLst>
          </p:cNvPr>
          <p:cNvSpPr>
            <a:spLocks noGrp="1"/>
          </p:cNvSpPr>
          <p:nvPr>
            <p:ph type="sldNum" sz="quarter" idx="12"/>
          </p:nvPr>
        </p:nvSpPr>
        <p:spPr/>
        <p:txBody>
          <a:bodyPr/>
          <a:lstStyle/>
          <a:p>
            <a:fld id="{174AA435-B3B0-4B6E-A265-E4C5F17628FB}" type="slidenum">
              <a:rPr lang="en-US" smtClean="0"/>
              <a:t>9</a:t>
            </a:fld>
            <a:endParaRPr lang="en-US"/>
          </a:p>
        </p:txBody>
      </p:sp>
      <p:pic>
        <p:nvPicPr>
          <p:cNvPr id="19" name="Content Placeholder 12" descr="Graphical user interface, application&#10;&#10;Description automatically generated">
            <a:extLst>
              <a:ext uri="{FF2B5EF4-FFF2-40B4-BE49-F238E27FC236}">
                <a16:creationId xmlns:a16="http://schemas.microsoft.com/office/drawing/2014/main" id="{06D3495D-256B-48A5-8E14-7C1295E0E2C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13882" y="1898884"/>
            <a:ext cx="7225748" cy="3865775"/>
          </a:xfrm>
          <a:prstGeom prst="rect">
            <a:avLst/>
          </a:prstGeom>
        </p:spPr>
      </p:pic>
    </p:spTree>
    <p:extLst>
      <p:ext uri="{BB962C8B-B14F-4D97-AF65-F5344CB8AC3E}">
        <p14:creationId xmlns:p14="http://schemas.microsoft.com/office/powerpoint/2010/main" val="1219870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03127D83-E480-40C4-8F41-2C59D03607B9}"/>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756879" y="1966293"/>
            <a:ext cx="6678240" cy="4452160"/>
          </a:xfrm>
          <a:prstGeom prst="rect">
            <a:avLst/>
          </a:prstGeom>
        </p:spPr>
      </p:pic>
      <p:sp>
        <p:nvSpPr>
          <p:cNvPr id="3" name="Date Placeholder 2">
            <a:extLst>
              <a:ext uri="{FF2B5EF4-FFF2-40B4-BE49-F238E27FC236}">
                <a16:creationId xmlns:a16="http://schemas.microsoft.com/office/drawing/2014/main" id="{A932A6A0-B552-4711-9970-798DE25BB2FF}"/>
              </a:ext>
            </a:extLst>
          </p:cNvPr>
          <p:cNvSpPr>
            <a:spLocks noGrp="1"/>
          </p:cNvSpPr>
          <p:nvPr>
            <p:ph type="dt" sz="half" idx="10"/>
          </p:nvPr>
        </p:nvSpPr>
        <p:spPr/>
        <p:txBody>
          <a:bodyPr/>
          <a:lstStyle/>
          <a:p>
            <a:fld id="{41542F7F-B172-41B7-A2D0-F670431B277E}" type="datetime1">
              <a:rPr lang="en-US" smtClean="0"/>
              <a:t>5/19/2023</a:t>
            </a:fld>
            <a:endParaRPr lang="en-US"/>
          </a:p>
        </p:txBody>
      </p:sp>
      <p:sp>
        <p:nvSpPr>
          <p:cNvPr id="4" name="Footer Placeholder 3">
            <a:extLst>
              <a:ext uri="{FF2B5EF4-FFF2-40B4-BE49-F238E27FC236}">
                <a16:creationId xmlns:a16="http://schemas.microsoft.com/office/drawing/2014/main" id="{F69809DB-AE21-42AB-B49B-C4B103AF5EF7}"/>
              </a:ext>
            </a:extLst>
          </p:cNvPr>
          <p:cNvSpPr>
            <a:spLocks noGrp="1"/>
          </p:cNvSpPr>
          <p:nvPr>
            <p:ph type="ftr" sz="quarter" idx="11"/>
          </p:nvPr>
        </p:nvSpPr>
        <p:spPr/>
        <p:txBody>
          <a:bodyPr/>
          <a:lstStyle/>
          <a:p>
            <a:r>
              <a:rPr lang="en-US" dirty="0"/>
              <a:t>Ebeid - Spring 2023</a:t>
            </a:r>
          </a:p>
        </p:txBody>
      </p:sp>
      <p:sp>
        <p:nvSpPr>
          <p:cNvPr id="5" name="Slide Number Placeholder 4">
            <a:extLst>
              <a:ext uri="{FF2B5EF4-FFF2-40B4-BE49-F238E27FC236}">
                <a16:creationId xmlns:a16="http://schemas.microsoft.com/office/drawing/2014/main" id="{00581857-711C-4BCF-958F-3F793B5AB221}"/>
              </a:ext>
            </a:extLst>
          </p:cNvPr>
          <p:cNvSpPr>
            <a:spLocks noGrp="1"/>
          </p:cNvSpPr>
          <p:nvPr>
            <p:ph type="sldNum" sz="quarter" idx="12"/>
          </p:nvPr>
        </p:nvSpPr>
        <p:spPr/>
        <p:txBody>
          <a:bodyPr/>
          <a:lstStyle/>
          <a:p>
            <a:fld id="{174AA435-B3B0-4B6E-A265-E4C5F17628FB}" type="slidenum">
              <a:rPr lang="en-US" smtClean="0"/>
              <a:t>10</a:t>
            </a:fld>
            <a:endParaRPr lang="en-US"/>
          </a:p>
        </p:txBody>
      </p:sp>
      <p:sp>
        <p:nvSpPr>
          <p:cNvPr id="13" name="Title 1">
            <a:extLst>
              <a:ext uri="{FF2B5EF4-FFF2-40B4-BE49-F238E27FC236}">
                <a16:creationId xmlns:a16="http://schemas.microsoft.com/office/drawing/2014/main" id="{5A668B2A-4BA3-40F9-A682-98E2A9D14447}"/>
              </a:ext>
            </a:extLst>
          </p:cNvPr>
          <p:cNvSpPr>
            <a:spLocks noGrp="1"/>
          </p:cNvSpPr>
          <p:nvPr>
            <p:ph type="title"/>
          </p:nvPr>
        </p:nvSpPr>
        <p:spPr>
          <a:xfrm>
            <a:off x="699713" y="248038"/>
            <a:ext cx="10654087" cy="1159200"/>
          </a:xfrm>
        </p:spPr>
        <p:txBody>
          <a:bodyPr vert="horz" lIns="91440" tIns="45720" rIns="91440" bIns="45720" rtlCol="0" anchor="ctr">
            <a:normAutofit/>
          </a:bodyPr>
          <a:lstStyle/>
          <a:p>
            <a:r>
              <a:rPr lang="en-US" sz="4000" dirty="0">
                <a:solidFill>
                  <a:srgbClr val="FFFFFF"/>
                </a:solidFill>
              </a:rPr>
              <a:t>2A. </a:t>
            </a:r>
            <a:r>
              <a:rPr lang="en-US" sz="4000" kern="1200" dirty="0">
                <a:solidFill>
                  <a:srgbClr val="FFFFFF"/>
                </a:solidFill>
                <a:latin typeface="+mj-lt"/>
                <a:ea typeface="+mj-ea"/>
                <a:cs typeface="+mj-cs"/>
              </a:rPr>
              <a:t>Graph-based Unsupervised Entity Resolution </a:t>
            </a:r>
          </a:p>
        </p:txBody>
      </p:sp>
    </p:spTree>
    <p:extLst>
      <p:ext uri="{BB962C8B-B14F-4D97-AF65-F5344CB8AC3E}">
        <p14:creationId xmlns:p14="http://schemas.microsoft.com/office/powerpoint/2010/main" val="3390525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98F54C69-2D42-4BDA-BB03-23B08CFC6034}"/>
              </a:ext>
            </a:extLst>
          </p:cNvPr>
          <p:cNvSpPr>
            <a:spLocks noGrp="1"/>
          </p:cNvSpPr>
          <p:nvPr>
            <p:ph type="dt" sz="half" idx="10"/>
          </p:nvPr>
        </p:nvSpPr>
        <p:spPr/>
        <p:txBody>
          <a:bodyPr/>
          <a:lstStyle/>
          <a:p>
            <a:fld id="{DE8E64D8-F25C-4F32-81E3-512112A01F75}" type="datetime1">
              <a:rPr lang="en-US" smtClean="0"/>
              <a:t>5/19/2023</a:t>
            </a:fld>
            <a:endParaRPr lang="en-US"/>
          </a:p>
        </p:txBody>
      </p:sp>
      <p:sp>
        <p:nvSpPr>
          <p:cNvPr id="4" name="Footer Placeholder 3">
            <a:extLst>
              <a:ext uri="{FF2B5EF4-FFF2-40B4-BE49-F238E27FC236}">
                <a16:creationId xmlns:a16="http://schemas.microsoft.com/office/drawing/2014/main" id="{500DF955-30C5-43D9-AD7C-47429431991A}"/>
              </a:ext>
            </a:extLst>
          </p:cNvPr>
          <p:cNvSpPr>
            <a:spLocks noGrp="1"/>
          </p:cNvSpPr>
          <p:nvPr>
            <p:ph type="ftr" sz="quarter" idx="11"/>
          </p:nvPr>
        </p:nvSpPr>
        <p:spPr/>
        <p:txBody>
          <a:bodyPr/>
          <a:lstStyle/>
          <a:p>
            <a:r>
              <a:rPr lang="en-US" dirty="0"/>
              <a:t>Ebeid - Spring 2023</a:t>
            </a:r>
          </a:p>
        </p:txBody>
      </p:sp>
      <p:sp>
        <p:nvSpPr>
          <p:cNvPr id="6" name="Slide Number Placeholder 5">
            <a:extLst>
              <a:ext uri="{FF2B5EF4-FFF2-40B4-BE49-F238E27FC236}">
                <a16:creationId xmlns:a16="http://schemas.microsoft.com/office/drawing/2014/main" id="{A2086338-A4FA-4CD8-BBAB-4C51C3634CB1}"/>
              </a:ext>
            </a:extLst>
          </p:cNvPr>
          <p:cNvSpPr>
            <a:spLocks noGrp="1"/>
          </p:cNvSpPr>
          <p:nvPr>
            <p:ph type="sldNum" sz="quarter" idx="12"/>
          </p:nvPr>
        </p:nvSpPr>
        <p:spPr/>
        <p:txBody>
          <a:bodyPr/>
          <a:lstStyle/>
          <a:p>
            <a:fld id="{174AA435-B3B0-4B6E-A265-E4C5F17628FB}" type="slidenum">
              <a:rPr lang="en-US" smtClean="0"/>
              <a:t>11</a:t>
            </a:fld>
            <a:endParaRPr lang="en-US"/>
          </a:p>
        </p:txBody>
      </p:sp>
      <p:sp>
        <p:nvSpPr>
          <p:cNvPr id="13" name="Title 1">
            <a:extLst>
              <a:ext uri="{FF2B5EF4-FFF2-40B4-BE49-F238E27FC236}">
                <a16:creationId xmlns:a16="http://schemas.microsoft.com/office/drawing/2014/main" id="{DCA9879C-B727-43E1-A5D9-98536EA59631}"/>
              </a:ext>
            </a:extLst>
          </p:cNvPr>
          <p:cNvSpPr>
            <a:spLocks noGrp="1"/>
          </p:cNvSpPr>
          <p:nvPr>
            <p:ph type="title"/>
          </p:nvPr>
        </p:nvSpPr>
        <p:spPr>
          <a:xfrm>
            <a:off x="699713" y="248038"/>
            <a:ext cx="10654087" cy="1159200"/>
          </a:xfrm>
        </p:spPr>
        <p:txBody>
          <a:bodyPr vert="horz" lIns="91440" tIns="45720" rIns="91440" bIns="45720" rtlCol="0" anchor="ctr">
            <a:normAutofit/>
          </a:bodyPr>
          <a:lstStyle/>
          <a:p>
            <a:r>
              <a:rPr lang="en-US" sz="4000" dirty="0">
                <a:solidFill>
                  <a:srgbClr val="FFFFFF"/>
                </a:solidFill>
              </a:rPr>
              <a:t>2A. </a:t>
            </a:r>
            <a:r>
              <a:rPr lang="en-US" sz="4000" kern="1200" dirty="0">
                <a:solidFill>
                  <a:srgbClr val="FFFFFF"/>
                </a:solidFill>
                <a:latin typeface="+mj-lt"/>
                <a:ea typeface="+mj-ea"/>
                <a:cs typeface="+mj-cs"/>
              </a:rPr>
              <a:t>Graph-based Unsupervised Entity Resolution </a:t>
            </a:r>
          </a:p>
        </p:txBody>
      </p:sp>
      <p:graphicFrame>
        <p:nvGraphicFramePr>
          <p:cNvPr id="15" name="Table 3">
            <a:extLst>
              <a:ext uri="{FF2B5EF4-FFF2-40B4-BE49-F238E27FC236}">
                <a16:creationId xmlns:a16="http://schemas.microsoft.com/office/drawing/2014/main" id="{C86FC6B0-921D-428A-AC91-6E623C9B045A}"/>
              </a:ext>
            </a:extLst>
          </p:cNvPr>
          <p:cNvGraphicFramePr>
            <a:graphicFrameLocks noGrp="1"/>
          </p:cNvGraphicFramePr>
          <p:nvPr>
            <p:extLst>
              <p:ext uri="{D42A27DB-BD31-4B8C-83A1-F6EECF244321}">
                <p14:modId xmlns:p14="http://schemas.microsoft.com/office/powerpoint/2010/main" val="1293661675"/>
              </p:ext>
            </p:extLst>
          </p:nvPr>
        </p:nvGraphicFramePr>
        <p:xfrm>
          <a:off x="312821" y="1655276"/>
          <a:ext cx="11566358" cy="1369160"/>
        </p:xfrm>
        <a:graphic>
          <a:graphicData uri="http://schemas.openxmlformats.org/drawingml/2006/table">
            <a:tbl>
              <a:tblPr bandRow="1">
                <a:tableStyleId>{69012ECD-51FC-41F1-AA8D-1B2483CD663E}</a:tableStyleId>
              </a:tblPr>
              <a:tblGrid>
                <a:gridCol w="861206">
                  <a:extLst>
                    <a:ext uri="{9D8B030D-6E8A-4147-A177-3AD203B41FA5}">
                      <a16:colId xmlns:a16="http://schemas.microsoft.com/office/drawing/2014/main" val="1794621553"/>
                    </a:ext>
                  </a:extLst>
                </a:gridCol>
                <a:gridCol w="1009338">
                  <a:extLst>
                    <a:ext uri="{9D8B030D-6E8A-4147-A177-3AD203B41FA5}">
                      <a16:colId xmlns:a16="http://schemas.microsoft.com/office/drawing/2014/main" val="535834941"/>
                    </a:ext>
                  </a:extLst>
                </a:gridCol>
                <a:gridCol w="1062973">
                  <a:extLst>
                    <a:ext uri="{9D8B030D-6E8A-4147-A177-3AD203B41FA5}">
                      <a16:colId xmlns:a16="http://schemas.microsoft.com/office/drawing/2014/main" val="2095301508"/>
                    </a:ext>
                  </a:extLst>
                </a:gridCol>
                <a:gridCol w="1162579">
                  <a:extLst>
                    <a:ext uri="{9D8B030D-6E8A-4147-A177-3AD203B41FA5}">
                      <a16:colId xmlns:a16="http://schemas.microsoft.com/office/drawing/2014/main" val="2694532426"/>
                    </a:ext>
                  </a:extLst>
                </a:gridCol>
                <a:gridCol w="994017">
                  <a:extLst>
                    <a:ext uri="{9D8B030D-6E8A-4147-A177-3AD203B41FA5}">
                      <a16:colId xmlns:a16="http://schemas.microsoft.com/office/drawing/2014/main" val="2347112580"/>
                    </a:ext>
                  </a:extLst>
                </a:gridCol>
                <a:gridCol w="2227593">
                  <a:extLst>
                    <a:ext uri="{9D8B030D-6E8A-4147-A177-3AD203B41FA5}">
                      <a16:colId xmlns:a16="http://schemas.microsoft.com/office/drawing/2014/main" val="3498155842"/>
                    </a:ext>
                  </a:extLst>
                </a:gridCol>
                <a:gridCol w="1504812">
                  <a:extLst>
                    <a:ext uri="{9D8B030D-6E8A-4147-A177-3AD203B41FA5}">
                      <a16:colId xmlns:a16="http://schemas.microsoft.com/office/drawing/2014/main" val="1586708687"/>
                    </a:ext>
                  </a:extLst>
                </a:gridCol>
                <a:gridCol w="641564">
                  <a:extLst>
                    <a:ext uri="{9D8B030D-6E8A-4147-A177-3AD203B41FA5}">
                      <a16:colId xmlns:a16="http://schemas.microsoft.com/office/drawing/2014/main" val="936409758"/>
                    </a:ext>
                  </a:extLst>
                </a:gridCol>
                <a:gridCol w="822898">
                  <a:extLst>
                    <a:ext uri="{9D8B030D-6E8A-4147-A177-3AD203B41FA5}">
                      <a16:colId xmlns:a16="http://schemas.microsoft.com/office/drawing/2014/main" val="3634825785"/>
                    </a:ext>
                  </a:extLst>
                </a:gridCol>
                <a:gridCol w="1279378">
                  <a:extLst>
                    <a:ext uri="{9D8B030D-6E8A-4147-A177-3AD203B41FA5}">
                      <a16:colId xmlns:a16="http://schemas.microsoft.com/office/drawing/2014/main" val="3218398629"/>
                    </a:ext>
                  </a:extLst>
                </a:gridCol>
              </a:tblGrid>
              <a:tr h="180594">
                <a:tc>
                  <a:txBody>
                    <a:bodyPr/>
                    <a:lstStyle/>
                    <a:p>
                      <a:r>
                        <a:rPr lang="en-US" sz="1300" dirty="0">
                          <a:solidFill>
                            <a:schemeClr val="tx1"/>
                          </a:solidFill>
                        </a:rPr>
                        <a:t>A920554</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1</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TIMOTHY</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RODRECUS</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AARON</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3812 COUNTRY CLUB RD # A</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WINSTON SALEM</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NC</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27104</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613-87-4562</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extLst>
                  <a:ext uri="{0D108BD9-81ED-4DB2-BD59-A6C34878D82A}">
                    <a16:rowId xmlns:a16="http://schemas.microsoft.com/office/drawing/2014/main" val="840878011"/>
                  </a:ext>
                </a:extLst>
              </a:tr>
              <a:tr h="173649">
                <a:tc>
                  <a:txBody>
                    <a:bodyPr/>
                    <a:lstStyle/>
                    <a:p>
                      <a:r>
                        <a:rPr lang="en-US" sz="1300" dirty="0">
                          <a:solidFill>
                            <a:schemeClr val="tx1"/>
                          </a:solidFill>
                        </a:rPr>
                        <a:t>A934767</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2</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TIMOTHY</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RODRECUS</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AARON</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3812 COUNTRY CLUB RD # A</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WINSTON SALEM</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NC</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27104</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613-87-4562</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extLst>
                  <a:ext uri="{0D108BD9-81ED-4DB2-BD59-A6C34878D82A}">
                    <a16:rowId xmlns:a16="http://schemas.microsoft.com/office/drawing/2014/main" val="2572695552"/>
                  </a:ext>
                </a:extLst>
              </a:tr>
              <a:tr h="180594">
                <a:tc>
                  <a:txBody>
                    <a:bodyPr/>
                    <a:lstStyle/>
                    <a:p>
                      <a:r>
                        <a:rPr lang="en-US" sz="1300" dirty="0">
                          <a:solidFill>
                            <a:schemeClr val="tx1"/>
                          </a:solidFill>
                        </a:rPr>
                        <a:t>A934513</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3</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TRACEY</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LEIGH</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pPr algn="l"/>
                      <a:r>
                        <a:rPr lang="en-US" sz="1300" dirty="0">
                          <a:solidFill>
                            <a:schemeClr val="tx1"/>
                          </a:solidFill>
                        </a:rPr>
                        <a:t>AARON</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176 NOTTIDGE CT</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CLEMMONS</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NC</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27012</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954451341</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extLst>
                  <a:ext uri="{0D108BD9-81ED-4DB2-BD59-A6C34878D82A}">
                    <a16:rowId xmlns:a16="http://schemas.microsoft.com/office/drawing/2014/main" val="1174987008"/>
                  </a:ext>
                </a:extLst>
              </a:tr>
              <a:tr h="164040">
                <a:tc>
                  <a:txBody>
                    <a:bodyPr/>
                    <a:lstStyle/>
                    <a:p>
                      <a:r>
                        <a:rPr lang="en-US" sz="1300" dirty="0">
                          <a:solidFill>
                            <a:schemeClr val="tx1"/>
                          </a:solidFill>
                        </a:rPr>
                        <a:t>A960838</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4</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VELMA</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JACKSON</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AARON</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2599 SHIELDALE DR</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WINSTON SALEM</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NC</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27107</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559-64-4215</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extLst>
                  <a:ext uri="{0D108BD9-81ED-4DB2-BD59-A6C34878D82A}">
                    <a16:rowId xmlns:a16="http://schemas.microsoft.com/office/drawing/2014/main" val="718530565"/>
                  </a:ext>
                </a:extLst>
              </a:tr>
              <a:tr h="169365">
                <a:tc>
                  <a:txBody>
                    <a:bodyPr/>
                    <a:lstStyle/>
                    <a:p>
                      <a:r>
                        <a:rPr lang="en-US" sz="1300" dirty="0">
                          <a:solidFill>
                            <a:schemeClr val="tx1"/>
                          </a:solidFill>
                        </a:rPr>
                        <a:t>A948701</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5</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VERONICA</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OLIVIA</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AARON</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3401 LOCHURST CT</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PFAFFTOWN</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NC</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27040</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tc>
                  <a:txBody>
                    <a:bodyPr/>
                    <a:lstStyle/>
                    <a:p>
                      <a:r>
                        <a:rPr lang="en-US" sz="1300" dirty="0">
                          <a:solidFill>
                            <a:schemeClr val="tx1"/>
                          </a:solidFill>
                        </a:rPr>
                        <a:t>335-39-4837</a:t>
                      </a:r>
                      <a:endParaRPr lang="en-US" sz="1300" dirty="0">
                        <a:solidFill>
                          <a:schemeClr val="tx1"/>
                        </a:solidFill>
                        <a:latin typeface="Times New Roman" panose="02020603050405020304" pitchFamily="18" charset="0"/>
                        <a:cs typeface="Times New Roman" panose="02020603050405020304" pitchFamily="18" charset="0"/>
                      </a:endParaRPr>
                    </a:p>
                  </a:txBody>
                  <a:tcPr marL="75711" marR="75711" marT="37856" marB="37856"/>
                </a:tc>
                <a:extLst>
                  <a:ext uri="{0D108BD9-81ED-4DB2-BD59-A6C34878D82A}">
                    <a16:rowId xmlns:a16="http://schemas.microsoft.com/office/drawing/2014/main" val="3481149190"/>
                  </a:ext>
                </a:extLst>
              </a:tr>
            </a:tbl>
          </a:graphicData>
        </a:graphic>
      </p:graphicFrame>
      <p:sp>
        <p:nvSpPr>
          <p:cNvPr id="17" name="Oval 16">
            <a:extLst>
              <a:ext uri="{FF2B5EF4-FFF2-40B4-BE49-F238E27FC236}">
                <a16:creationId xmlns:a16="http://schemas.microsoft.com/office/drawing/2014/main" id="{933182AB-BAD4-48CD-B374-E1A4AAF87D3F}"/>
              </a:ext>
            </a:extLst>
          </p:cNvPr>
          <p:cNvSpPr/>
          <p:nvPr/>
        </p:nvSpPr>
        <p:spPr>
          <a:xfrm>
            <a:off x="7259740" y="3882600"/>
            <a:ext cx="629409" cy="6294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latin typeface="Times New Roman" panose="02020603050405020304" pitchFamily="18" charset="0"/>
                <a:cs typeface="Times New Roman" panose="02020603050405020304" pitchFamily="18" charset="0"/>
              </a:rPr>
              <a:t>A920554</a:t>
            </a:r>
            <a:endParaRPr lang="en-US"/>
          </a:p>
        </p:txBody>
      </p:sp>
      <p:sp>
        <p:nvSpPr>
          <p:cNvPr id="18" name="Oval 17">
            <a:extLst>
              <a:ext uri="{FF2B5EF4-FFF2-40B4-BE49-F238E27FC236}">
                <a16:creationId xmlns:a16="http://schemas.microsoft.com/office/drawing/2014/main" id="{8F5FE55C-2CDA-41AA-97F9-F8610648D60F}"/>
              </a:ext>
            </a:extLst>
          </p:cNvPr>
          <p:cNvSpPr/>
          <p:nvPr/>
        </p:nvSpPr>
        <p:spPr>
          <a:xfrm>
            <a:off x="7251459" y="5904541"/>
            <a:ext cx="629409" cy="6294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latin typeface="Times New Roman" panose="02020603050405020304" pitchFamily="18" charset="0"/>
                <a:cs typeface="Times New Roman" panose="02020603050405020304" pitchFamily="18" charset="0"/>
              </a:rPr>
              <a:t>A934767</a:t>
            </a:r>
            <a:endParaRPr lang="en-US" dirty="0"/>
          </a:p>
        </p:txBody>
      </p:sp>
      <p:sp>
        <p:nvSpPr>
          <p:cNvPr id="19" name="Oval 18">
            <a:extLst>
              <a:ext uri="{FF2B5EF4-FFF2-40B4-BE49-F238E27FC236}">
                <a16:creationId xmlns:a16="http://schemas.microsoft.com/office/drawing/2014/main" id="{E57BC7D5-3D88-47E4-93E8-E99112D540CF}"/>
              </a:ext>
            </a:extLst>
          </p:cNvPr>
          <p:cNvSpPr/>
          <p:nvPr/>
        </p:nvSpPr>
        <p:spPr>
          <a:xfrm>
            <a:off x="7276300" y="3191062"/>
            <a:ext cx="629409" cy="6294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latin typeface="Times New Roman" panose="02020603050405020304" pitchFamily="18" charset="0"/>
                <a:cs typeface="Times New Roman" panose="02020603050405020304" pitchFamily="18" charset="0"/>
              </a:rPr>
              <a:t>A948701</a:t>
            </a:r>
            <a:endParaRPr lang="en-US" dirty="0"/>
          </a:p>
        </p:txBody>
      </p:sp>
      <p:sp>
        <p:nvSpPr>
          <p:cNvPr id="20" name="Oval 19">
            <a:extLst>
              <a:ext uri="{FF2B5EF4-FFF2-40B4-BE49-F238E27FC236}">
                <a16:creationId xmlns:a16="http://schemas.microsoft.com/office/drawing/2014/main" id="{A2801099-0CEE-4E8E-AFB4-AC34FCC31DEB}"/>
              </a:ext>
            </a:extLst>
          </p:cNvPr>
          <p:cNvSpPr/>
          <p:nvPr/>
        </p:nvSpPr>
        <p:spPr>
          <a:xfrm>
            <a:off x="7251460" y="4556858"/>
            <a:ext cx="629409" cy="6294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latin typeface="Times New Roman" panose="02020603050405020304" pitchFamily="18" charset="0"/>
                <a:cs typeface="Times New Roman" panose="02020603050405020304" pitchFamily="18" charset="0"/>
              </a:rPr>
              <a:t>A934513</a:t>
            </a:r>
            <a:endParaRPr lang="en-US" dirty="0"/>
          </a:p>
        </p:txBody>
      </p:sp>
      <p:sp>
        <p:nvSpPr>
          <p:cNvPr id="21" name="Oval 20">
            <a:extLst>
              <a:ext uri="{FF2B5EF4-FFF2-40B4-BE49-F238E27FC236}">
                <a16:creationId xmlns:a16="http://schemas.microsoft.com/office/drawing/2014/main" id="{EFEF8D39-4150-4A89-BE18-AB8CF7D598BE}"/>
              </a:ext>
            </a:extLst>
          </p:cNvPr>
          <p:cNvSpPr/>
          <p:nvPr/>
        </p:nvSpPr>
        <p:spPr>
          <a:xfrm>
            <a:off x="7259740" y="5224118"/>
            <a:ext cx="629409" cy="62940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latin typeface="Times New Roman" panose="02020603050405020304" pitchFamily="18" charset="0"/>
                <a:cs typeface="Times New Roman" panose="02020603050405020304" pitchFamily="18" charset="0"/>
              </a:rPr>
              <a:t>A960838</a:t>
            </a:r>
            <a:endParaRPr lang="en-US" dirty="0"/>
          </a:p>
        </p:txBody>
      </p:sp>
      <p:sp>
        <p:nvSpPr>
          <p:cNvPr id="22" name="Rectangle 21">
            <a:extLst>
              <a:ext uri="{FF2B5EF4-FFF2-40B4-BE49-F238E27FC236}">
                <a16:creationId xmlns:a16="http://schemas.microsoft.com/office/drawing/2014/main" id="{C83E61F8-EB80-40C6-B8E6-DC91D0CB930B}"/>
              </a:ext>
            </a:extLst>
          </p:cNvPr>
          <p:cNvSpPr/>
          <p:nvPr/>
        </p:nvSpPr>
        <p:spPr>
          <a:xfrm>
            <a:off x="3415760" y="3798262"/>
            <a:ext cx="738242" cy="2927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latin typeface="Times New Roman" panose="02020603050405020304" pitchFamily="18" charset="0"/>
                <a:cs typeface="Times New Roman" panose="02020603050405020304" pitchFamily="18" charset="0"/>
              </a:rPr>
              <a:t>RODRECUS</a:t>
            </a:r>
            <a:endParaRPr lang="en-US" sz="1200" dirty="0"/>
          </a:p>
        </p:txBody>
      </p:sp>
      <p:sp>
        <p:nvSpPr>
          <p:cNvPr id="23" name="Rectangle 22">
            <a:extLst>
              <a:ext uri="{FF2B5EF4-FFF2-40B4-BE49-F238E27FC236}">
                <a16:creationId xmlns:a16="http://schemas.microsoft.com/office/drawing/2014/main" id="{65F6D348-AEFC-41DE-A4FD-EC303D0E5A60}"/>
              </a:ext>
            </a:extLst>
          </p:cNvPr>
          <p:cNvSpPr/>
          <p:nvPr/>
        </p:nvSpPr>
        <p:spPr>
          <a:xfrm>
            <a:off x="3408734" y="4591126"/>
            <a:ext cx="738242" cy="2927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latin typeface="Times New Roman" panose="02020603050405020304" pitchFamily="18" charset="0"/>
                <a:cs typeface="Times New Roman" panose="02020603050405020304" pitchFamily="18" charset="0"/>
              </a:rPr>
              <a:t>AARON</a:t>
            </a:r>
            <a:endParaRPr lang="en-US" sz="1200" dirty="0"/>
          </a:p>
        </p:txBody>
      </p:sp>
      <p:sp>
        <p:nvSpPr>
          <p:cNvPr id="24" name="Rectangle 23">
            <a:extLst>
              <a:ext uri="{FF2B5EF4-FFF2-40B4-BE49-F238E27FC236}">
                <a16:creationId xmlns:a16="http://schemas.microsoft.com/office/drawing/2014/main" id="{3BD7C879-9156-482E-9073-05BE24CD7DA8}"/>
              </a:ext>
            </a:extLst>
          </p:cNvPr>
          <p:cNvSpPr/>
          <p:nvPr/>
        </p:nvSpPr>
        <p:spPr>
          <a:xfrm>
            <a:off x="3408734" y="5022501"/>
            <a:ext cx="738242" cy="2927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latin typeface="Times New Roman" panose="02020603050405020304" pitchFamily="18" charset="0"/>
                <a:cs typeface="Times New Roman" panose="02020603050405020304" pitchFamily="18" charset="0"/>
              </a:rPr>
              <a:t>TRACEY</a:t>
            </a:r>
            <a:endParaRPr lang="en-US" sz="1200" dirty="0"/>
          </a:p>
        </p:txBody>
      </p:sp>
      <p:sp>
        <p:nvSpPr>
          <p:cNvPr id="25" name="Rectangle 24">
            <a:extLst>
              <a:ext uri="{FF2B5EF4-FFF2-40B4-BE49-F238E27FC236}">
                <a16:creationId xmlns:a16="http://schemas.microsoft.com/office/drawing/2014/main" id="{65E52B50-1E98-4B68-88F1-BFE51A3C7C95}"/>
              </a:ext>
            </a:extLst>
          </p:cNvPr>
          <p:cNvSpPr/>
          <p:nvPr/>
        </p:nvSpPr>
        <p:spPr>
          <a:xfrm>
            <a:off x="3406854" y="5412876"/>
            <a:ext cx="738242" cy="2927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latin typeface="Times New Roman" panose="02020603050405020304" pitchFamily="18" charset="0"/>
                <a:cs typeface="Times New Roman" panose="02020603050405020304" pitchFamily="18" charset="0"/>
              </a:rPr>
              <a:t>LEIGH</a:t>
            </a:r>
            <a:endParaRPr lang="en-US" sz="1200" dirty="0"/>
          </a:p>
        </p:txBody>
      </p:sp>
      <p:sp>
        <p:nvSpPr>
          <p:cNvPr id="26" name="Rectangle 25">
            <a:extLst>
              <a:ext uri="{FF2B5EF4-FFF2-40B4-BE49-F238E27FC236}">
                <a16:creationId xmlns:a16="http://schemas.microsoft.com/office/drawing/2014/main" id="{0C81521B-92D4-48A4-9BB0-EE05B994ADA0}"/>
              </a:ext>
            </a:extLst>
          </p:cNvPr>
          <p:cNvSpPr/>
          <p:nvPr/>
        </p:nvSpPr>
        <p:spPr>
          <a:xfrm>
            <a:off x="3415760" y="4214292"/>
            <a:ext cx="738242" cy="2927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latin typeface="Times New Roman" panose="02020603050405020304" pitchFamily="18" charset="0"/>
                <a:cs typeface="Times New Roman" panose="02020603050405020304" pitchFamily="18" charset="0"/>
              </a:rPr>
              <a:t>CLEMMONS</a:t>
            </a:r>
            <a:endParaRPr lang="en-US" sz="1200" dirty="0"/>
          </a:p>
        </p:txBody>
      </p:sp>
      <p:sp>
        <p:nvSpPr>
          <p:cNvPr id="27" name="Rectangle 26">
            <a:extLst>
              <a:ext uri="{FF2B5EF4-FFF2-40B4-BE49-F238E27FC236}">
                <a16:creationId xmlns:a16="http://schemas.microsoft.com/office/drawing/2014/main" id="{C32FFF46-EA56-449A-AA8B-9A6931A45B79}"/>
              </a:ext>
            </a:extLst>
          </p:cNvPr>
          <p:cNvSpPr/>
          <p:nvPr/>
        </p:nvSpPr>
        <p:spPr>
          <a:xfrm>
            <a:off x="3408734" y="5805324"/>
            <a:ext cx="738242" cy="2927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latin typeface="Times New Roman" panose="02020603050405020304" pitchFamily="18" charset="0"/>
                <a:cs typeface="Times New Roman" panose="02020603050405020304" pitchFamily="18" charset="0"/>
              </a:rPr>
              <a:t>WINSTON</a:t>
            </a:r>
            <a:endParaRPr lang="en-US" sz="1200" dirty="0"/>
          </a:p>
        </p:txBody>
      </p:sp>
      <p:sp>
        <p:nvSpPr>
          <p:cNvPr id="28" name="Rectangle 27">
            <a:extLst>
              <a:ext uri="{FF2B5EF4-FFF2-40B4-BE49-F238E27FC236}">
                <a16:creationId xmlns:a16="http://schemas.microsoft.com/office/drawing/2014/main" id="{435737B4-D91D-48EC-B7AE-551921E14EE3}"/>
              </a:ext>
            </a:extLst>
          </p:cNvPr>
          <p:cNvSpPr/>
          <p:nvPr/>
        </p:nvSpPr>
        <p:spPr>
          <a:xfrm>
            <a:off x="3415760" y="3371951"/>
            <a:ext cx="738242" cy="2927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latin typeface="Times New Roman" panose="02020603050405020304" pitchFamily="18" charset="0"/>
                <a:cs typeface="Times New Roman" panose="02020603050405020304" pitchFamily="18" charset="0"/>
              </a:rPr>
              <a:t>TIMOTHY</a:t>
            </a:r>
            <a:endParaRPr lang="en-US" sz="1200" dirty="0"/>
          </a:p>
        </p:txBody>
      </p:sp>
      <p:sp>
        <p:nvSpPr>
          <p:cNvPr id="29" name="Rectangle 28">
            <a:extLst>
              <a:ext uri="{FF2B5EF4-FFF2-40B4-BE49-F238E27FC236}">
                <a16:creationId xmlns:a16="http://schemas.microsoft.com/office/drawing/2014/main" id="{5240718B-1ACD-4393-A650-0663173C9418}"/>
              </a:ext>
            </a:extLst>
          </p:cNvPr>
          <p:cNvSpPr/>
          <p:nvPr/>
        </p:nvSpPr>
        <p:spPr>
          <a:xfrm>
            <a:off x="3401708" y="6184083"/>
            <a:ext cx="738242" cy="29275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latin typeface="Times New Roman" panose="02020603050405020304" pitchFamily="18" charset="0"/>
                <a:cs typeface="Times New Roman" panose="02020603050405020304" pitchFamily="18" charset="0"/>
              </a:rPr>
              <a:t>SALEM</a:t>
            </a:r>
            <a:endParaRPr lang="en-US" sz="1200" dirty="0"/>
          </a:p>
        </p:txBody>
      </p:sp>
      <p:cxnSp>
        <p:nvCxnSpPr>
          <p:cNvPr id="30" name="Straight Connector 29">
            <a:extLst>
              <a:ext uri="{FF2B5EF4-FFF2-40B4-BE49-F238E27FC236}">
                <a16:creationId xmlns:a16="http://schemas.microsoft.com/office/drawing/2014/main" id="{AEFCF750-9309-440F-A6D3-E7ECAA04D085}"/>
              </a:ext>
            </a:extLst>
          </p:cNvPr>
          <p:cNvCxnSpPr>
            <a:stCxn id="28" idx="3"/>
            <a:endCxn id="17" idx="2"/>
          </p:cNvCxnSpPr>
          <p:nvPr/>
        </p:nvCxnSpPr>
        <p:spPr>
          <a:xfrm>
            <a:off x="4154002" y="3518327"/>
            <a:ext cx="3105738" cy="67897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AE54154-3799-4EBD-BA31-6BA75004A913}"/>
              </a:ext>
            </a:extLst>
          </p:cNvPr>
          <p:cNvCxnSpPr>
            <a:cxnSpLocks/>
            <a:stCxn id="28" idx="3"/>
            <a:endCxn id="18" idx="2"/>
          </p:cNvCxnSpPr>
          <p:nvPr/>
        </p:nvCxnSpPr>
        <p:spPr>
          <a:xfrm>
            <a:off x="4154002" y="3518327"/>
            <a:ext cx="3097457" cy="2700919"/>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A02D192-26A5-443A-B43B-163630144A38}"/>
              </a:ext>
            </a:extLst>
          </p:cNvPr>
          <p:cNvCxnSpPr>
            <a:cxnSpLocks/>
            <a:stCxn id="22" idx="3"/>
            <a:endCxn id="17" idx="2"/>
          </p:cNvCxnSpPr>
          <p:nvPr/>
        </p:nvCxnSpPr>
        <p:spPr>
          <a:xfrm>
            <a:off x="4154002" y="3944638"/>
            <a:ext cx="3105738" cy="252667"/>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D8CE926-B63B-426C-A8A0-7D15F608989C}"/>
              </a:ext>
            </a:extLst>
          </p:cNvPr>
          <p:cNvCxnSpPr>
            <a:cxnSpLocks/>
            <a:stCxn id="22" idx="3"/>
            <a:endCxn id="18" idx="2"/>
          </p:cNvCxnSpPr>
          <p:nvPr/>
        </p:nvCxnSpPr>
        <p:spPr>
          <a:xfrm>
            <a:off x="4154002" y="3944638"/>
            <a:ext cx="3097457" cy="22746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43B027C-21C5-4986-8BA3-10FCCD15F951}"/>
              </a:ext>
            </a:extLst>
          </p:cNvPr>
          <p:cNvCxnSpPr>
            <a:stCxn id="23" idx="3"/>
            <a:endCxn id="19" idx="2"/>
          </p:cNvCxnSpPr>
          <p:nvPr/>
        </p:nvCxnSpPr>
        <p:spPr>
          <a:xfrm flipV="1">
            <a:off x="4146976" y="3505767"/>
            <a:ext cx="3129324" cy="1231735"/>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A36E42E-DFB1-439E-A6F7-B58707C01C32}"/>
              </a:ext>
            </a:extLst>
          </p:cNvPr>
          <p:cNvCxnSpPr>
            <a:cxnSpLocks/>
            <a:stCxn id="23" idx="3"/>
            <a:endCxn id="17" idx="2"/>
          </p:cNvCxnSpPr>
          <p:nvPr/>
        </p:nvCxnSpPr>
        <p:spPr>
          <a:xfrm flipV="1">
            <a:off x="4146976" y="4197305"/>
            <a:ext cx="3112764" cy="5401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5D73589-3546-4678-A62B-0F3904927932}"/>
              </a:ext>
            </a:extLst>
          </p:cNvPr>
          <p:cNvCxnSpPr>
            <a:cxnSpLocks/>
            <a:stCxn id="23" idx="3"/>
            <a:endCxn id="21" idx="2"/>
          </p:cNvCxnSpPr>
          <p:nvPr/>
        </p:nvCxnSpPr>
        <p:spPr>
          <a:xfrm>
            <a:off x="4146976" y="4737502"/>
            <a:ext cx="3112764" cy="801321"/>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6BD180C-68B7-47AA-B3F7-A8EEE567785B}"/>
              </a:ext>
            </a:extLst>
          </p:cNvPr>
          <p:cNvCxnSpPr>
            <a:cxnSpLocks/>
            <a:stCxn id="23" idx="3"/>
            <a:endCxn id="20" idx="2"/>
          </p:cNvCxnSpPr>
          <p:nvPr/>
        </p:nvCxnSpPr>
        <p:spPr>
          <a:xfrm>
            <a:off x="4146976" y="4737502"/>
            <a:ext cx="3104484" cy="134061"/>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830EA95-EF63-4405-B8F2-6AB65B54E78A}"/>
              </a:ext>
            </a:extLst>
          </p:cNvPr>
          <p:cNvCxnSpPr>
            <a:stCxn id="24" idx="3"/>
            <a:endCxn id="20" idx="2"/>
          </p:cNvCxnSpPr>
          <p:nvPr/>
        </p:nvCxnSpPr>
        <p:spPr>
          <a:xfrm flipV="1">
            <a:off x="4146976" y="4871563"/>
            <a:ext cx="3104484" cy="297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BC07753-0210-4C80-9EDD-70F26424A81F}"/>
              </a:ext>
            </a:extLst>
          </p:cNvPr>
          <p:cNvCxnSpPr>
            <a:stCxn id="26" idx="3"/>
            <a:endCxn id="20" idx="2"/>
          </p:cNvCxnSpPr>
          <p:nvPr/>
        </p:nvCxnSpPr>
        <p:spPr>
          <a:xfrm>
            <a:off x="4154002" y="4360668"/>
            <a:ext cx="3097458" cy="510895"/>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BDB29037-B10A-4963-B9BB-132605C31E62}"/>
              </a:ext>
            </a:extLst>
          </p:cNvPr>
          <p:cNvCxnSpPr>
            <a:cxnSpLocks/>
            <a:stCxn id="27" idx="3"/>
            <a:endCxn id="17" idx="2"/>
          </p:cNvCxnSpPr>
          <p:nvPr/>
        </p:nvCxnSpPr>
        <p:spPr>
          <a:xfrm flipV="1">
            <a:off x="4146976" y="4197305"/>
            <a:ext cx="3112764" cy="1754395"/>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A179AF6-83F7-4502-9160-38C92A7CCAD3}"/>
              </a:ext>
            </a:extLst>
          </p:cNvPr>
          <p:cNvCxnSpPr>
            <a:stCxn id="27" idx="3"/>
            <a:endCxn id="18" idx="2"/>
          </p:cNvCxnSpPr>
          <p:nvPr/>
        </p:nvCxnSpPr>
        <p:spPr>
          <a:xfrm>
            <a:off x="4146976" y="5951700"/>
            <a:ext cx="3104483" cy="267546"/>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90FC021-8024-44E8-9C64-545502E6071C}"/>
              </a:ext>
            </a:extLst>
          </p:cNvPr>
          <p:cNvCxnSpPr>
            <a:cxnSpLocks/>
            <a:stCxn id="27" idx="3"/>
            <a:endCxn id="21" idx="2"/>
          </p:cNvCxnSpPr>
          <p:nvPr/>
        </p:nvCxnSpPr>
        <p:spPr>
          <a:xfrm flipV="1">
            <a:off x="4146976" y="5538823"/>
            <a:ext cx="3112764" cy="412877"/>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4AAE18B-2033-4F4A-B3BC-42543DD51CA9}"/>
              </a:ext>
            </a:extLst>
          </p:cNvPr>
          <p:cNvCxnSpPr>
            <a:stCxn id="29" idx="3"/>
            <a:endCxn id="17" idx="2"/>
          </p:cNvCxnSpPr>
          <p:nvPr/>
        </p:nvCxnSpPr>
        <p:spPr>
          <a:xfrm flipV="1">
            <a:off x="4139950" y="4197305"/>
            <a:ext cx="3119790" cy="2133154"/>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AADCE68-9C8A-48D4-97F5-2BA22C9202BA}"/>
              </a:ext>
            </a:extLst>
          </p:cNvPr>
          <p:cNvCxnSpPr>
            <a:stCxn id="29" idx="3"/>
            <a:endCxn id="21" idx="2"/>
          </p:cNvCxnSpPr>
          <p:nvPr/>
        </p:nvCxnSpPr>
        <p:spPr>
          <a:xfrm flipV="1">
            <a:off x="4139950" y="5538823"/>
            <a:ext cx="3119790" cy="791636"/>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837837BF-1044-42E4-A4A8-85261188C52E}"/>
              </a:ext>
            </a:extLst>
          </p:cNvPr>
          <p:cNvCxnSpPr>
            <a:stCxn id="29" idx="3"/>
            <a:endCxn id="18" idx="2"/>
          </p:cNvCxnSpPr>
          <p:nvPr/>
        </p:nvCxnSpPr>
        <p:spPr>
          <a:xfrm flipV="1">
            <a:off x="4139950" y="6219246"/>
            <a:ext cx="3111509" cy="111213"/>
          </a:xfrm>
          <a:prstGeom prst="line">
            <a:avLst/>
          </a:prstGeom>
        </p:spPr>
        <p:style>
          <a:lnRef idx="1">
            <a:schemeClr val="accent1"/>
          </a:lnRef>
          <a:fillRef idx="0">
            <a:schemeClr val="accent1"/>
          </a:fillRef>
          <a:effectRef idx="0">
            <a:schemeClr val="accent1"/>
          </a:effectRef>
          <a:fontRef idx="minor">
            <a:schemeClr val="tx1"/>
          </a:fontRef>
        </p:style>
      </p:cxnSp>
      <p:sp>
        <p:nvSpPr>
          <p:cNvPr id="46" name="Arrow: Right 45">
            <a:extLst>
              <a:ext uri="{FF2B5EF4-FFF2-40B4-BE49-F238E27FC236}">
                <a16:creationId xmlns:a16="http://schemas.microsoft.com/office/drawing/2014/main" id="{3041BE0D-A979-4F2A-B153-0BE2DF4AF001}"/>
              </a:ext>
            </a:extLst>
          </p:cNvPr>
          <p:cNvSpPr/>
          <p:nvPr/>
        </p:nvSpPr>
        <p:spPr>
          <a:xfrm rot="5400000">
            <a:off x="5664406" y="3280128"/>
            <a:ext cx="126194" cy="45719"/>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487028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98F54C69-2D42-4BDA-BB03-23B08CFC6034}"/>
              </a:ext>
            </a:extLst>
          </p:cNvPr>
          <p:cNvSpPr>
            <a:spLocks noGrp="1"/>
          </p:cNvSpPr>
          <p:nvPr>
            <p:ph type="dt" sz="half" idx="10"/>
          </p:nvPr>
        </p:nvSpPr>
        <p:spPr/>
        <p:txBody>
          <a:bodyPr/>
          <a:lstStyle/>
          <a:p>
            <a:fld id="{DE8E64D8-F25C-4F32-81E3-512112A01F75}" type="datetime1">
              <a:rPr lang="en-US" smtClean="0"/>
              <a:t>5/19/2023</a:t>
            </a:fld>
            <a:endParaRPr lang="en-US"/>
          </a:p>
        </p:txBody>
      </p:sp>
      <p:sp>
        <p:nvSpPr>
          <p:cNvPr id="4" name="Footer Placeholder 3">
            <a:extLst>
              <a:ext uri="{FF2B5EF4-FFF2-40B4-BE49-F238E27FC236}">
                <a16:creationId xmlns:a16="http://schemas.microsoft.com/office/drawing/2014/main" id="{500DF955-30C5-43D9-AD7C-47429431991A}"/>
              </a:ext>
            </a:extLst>
          </p:cNvPr>
          <p:cNvSpPr>
            <a:spLocks noGrp="1"/>
          </p:cNvSpPr>
          <p:nvPr>
            <p:ph type="ftr" sz="quarter" idx="11"/>
          </p:nvPr>
        </p:nvSpPr>
        <p:spPr/>
        <p:txBody>
          <a:bodyPr/>
          <a:lstStyle/>
          <a:p>
            <a:r>
              <a:rPr lang="en-US" dirty="0"/>
              <a:t>Ebeid - Spring 2023</a:t>
            </a:r>
          </a:p>
        </p:txBody>
      </p:sp>
      <p:sp>
        <p:nvSpPr>
          <p:cNvPr id="6" name="Slide Number Placeholder 5">
            <a:extLst>
              <a:ext uri="{FF2B5EF4-FFF2-40B4-BE49-F238E27FC236}">
                <a16:creationId xmlns:a16="http://schemas.microsoft.com/office/drawing/2014/main" id="{A2086338-A4FA-4CD8-BBAB-4C51C3634CB1}"/>
              </a:ext>
            </a:extLst>
          </p:cNvPr>
          <p:cNvSpPr>
            <a:spLocks noGrp="1"/>
          </p:cNvSpPr>
          <p:nvPr>
            <p:ph type="sldNum" sz="quarter" idx="12"/>
          </p:nvPr>
        </p:nvSpPr>
        <p:spPr/>
        <p:txBody>
          <a:bodyPr/>
          <a:lstStyle/>
          <a:p>
            <a:fld id="{174AA435-B3B0-4B6E-A265-E4C5F17628FB}" type="slidenum">
              <a:rPr lang="en-US" smtClean="0"/>
              <a:t>12</a:t>
            </a:fld>
            <a:endParaRPr lang="en-US"/>
          </a:p>
        </p:txBody>
      </p:sp>
      <p:sp>
        <p:nvSpPr>
          <p:cNvPr id="13" name="Title 1">
            <a:extLst>
              <a:ext uri="{FF2B5EF4-FFF2-40B4-BE49-F238E27FC236}">
                <a16:creationId xmlns:a16="http://schemas.microsoft.com/office/drawing/2014/main" id="{DCA9879C-B727-43E1-A5D9-98536EA59631}"/>
              </a:ext>
            </a:extLst>
          </p:cNvPr>
          <p:cNvSpPr>
            <a:spLocks noGrp="1"/>
          </p:cNvSpPr>
          <p:nvPr>
            <p:ph type="title"/>
          </p:nvPr>
        </p:nvSpPr>
        <p:spPr>
          <a:xfrm>
            <a:off x="699713" y="248038"/>
            <a:ext cx="10654087" cy="1159200"/>
          </a:xfrm>
        </p:spPr>
        <p:txBody>
          <a:bodyPr vert="horz" lIns="91440" tIns="45720" rIns="91440" bIns="45720" rtlCol="0" anchor="ctr">
            <a:normAutofit/>
          </a:bodyPr>
          <a:lstStyle/>
          <a:p>
            <a:r>
              <a:rPr lang="en-US" sz="4000" dirty="0">
                <a:solidFill>
                  <a:srgbClr val="FFFFFF"/>
                </a:solidFill>
              </a:rPr>
              <a:t>2A. </a:t>
            </a:r>
            <a:r>
              <a:rPr lang="en-US" sz="4000" kern="1200" dirty="0">
                <a:solidFill>
                  <a:srgbClr val="FFFFFF"/>
                </a:solidFill>
                <a:latin typeface="+mj-lt"/>
                <a:ea typeface="+mj-ea"/>
                <a:cs typeface="+mj-cs"/>
              </a:rPr>
              <a:t>Graph-based Unsupervised Entity Resolution </a:t>
            </a:r>
          </a:p>
        </p:txBody>
      </p:sp>
      <p:graphicFrame>
        <p:nvGraphicFramePr>
          <p:cNvPr id="47" name="Table 4">
            <a:extLst>
              <a:ext uri="{FF2B5EF4-FFF2-40B4-BE49-F238E27FC236}">
                <a16:creationId xmlns:a16="http://schemas.microsoft.com/office/drawing/2014/main" id="{53263E9E-3281-4CFE-9CC5-7347FFCFF711}"/>
              </a:ext>
            </a:extLst>
          </p:cNvPr>
          <p:cNvGraphicFramePr>
            <a:graphicFrameLocks/>
          </p:cNvGraphicFramePr>
          <p:nvPr>
            <p:extLst>
              <p:ext uri="{D42A27DB-BD31-4B8C-83A1-F6EECF244321}">
                <p14:modId xmlns:p14="http://schemas.microsoft.com/office/powerpoint/2010/main" val="3778098956"/>
              </p:ext>
            </p:extLst>
          </p:nvPr>
        </p:nvGraphicFramePr>
        <p:xfrm>
          <a:off x="189061" y="2975345"/>
          <a:ext cx="5950387" cy="2144124"/>
        </p:xfrm>
        <a:graphic>
          <a:graphicData uri="http://schemas.openxmlformats.org/drawingml/2006/table">
            <a:tbl>
              <a:tblPr firstRow="1" bandRow="1">
                <a:tableStyleId>{69012ECD-51FC-41F1-AA8D-1B2483CD663E}</a:tableStyleId>
              </a:tblPr>
              <a:tblGrid>
                <a:gridCol w="670243">
                  <a:extLst>
                    <a:ext uri="{9D8B030D-6E8A-4147-A177-3AD203B41FA5}">
                      <a16:colId xmlns:a16="http://schemas.microsoft.com/office/drawing/2014/main" val="52755125"/>
                    </a:ext>
                  </a:extLst>
                </a:gridCol>
                <a:gridCol w="816293">
                  <a:extLst>
                    <a:ext uri="{9D8B030D-6E8A-4147-A177-3AD203B41FA5}">
                      <a16:colId xmlns:a16="http://schemas.microsoft.com/office/drawing/2014/main" val="2569821008"/>
                    </a:ext>
                  </a:extLst>
                </a:gridCol>
                <a:gridCol w="4463851">
                  <a:extLst>
                    <a:ext uri="{9D8B030D-6E8A-4147-A177-3AD203B41FA5}">
                      <a16:colId xmlns:a16="http://schemas.microsoft.com/office/drawing/2014/main" val="1107235451"/>
                    </a:ext>
                  </a:extLst>
                </a:gridCol>
              </a:tblGrid>
              <a:tr h="261711">
                <a:tc>
                  <a:txBody>
                    <a:bodyPr/>
                    <a:lstStyle/>
                    <a:p>
                      <a:r>
                        <a:rPr lang="en-US" sz="900" dirty="0"/>
                        <a:t>Cluster ID</a:t>
                      </a:r>
                    </a:p>
                  </a:txBody>
                  <a:tcPr/>
                </a:tc>
                <a:tc>
                  <a:txBody>
                    <a:bodyPr/>
                    <a:lstStyle/>
                    <a:p>
                      <a:r>
                        <a:rPr lang="en-US" sz="900" dirty="0"/>
                        <a:t>Reference ID</a:t>
                      </a:r>
                    </a:p>
                  </a:txBody>
                  <a:tcPr/>
                </a:tc>
                <a:tc>
                  <a:txBody>
                    <a:bodyPr/>
                    <a:lstStyle/>
                    <a:p>
                      <a:r>
                        <a:rPr lang="en-US" sz="900" dirty="0"/>
                        <a:t>Reference Body</a:t>
                      </a:r>
                    </a:p>
                  </a:txBody>
                  <a:tcPr/>
                </a:tc>
                <a:extLst>
                  <a:ext uri="{0D108BD9-81ED-4DB2-BD59-A6C34878D82A}">
                    <a16:rowId xmlns:a16="http://schemas.microsoft.com/office/drawing/2014/main" val="2634674775"/>
                  </a:ext>
                </a:extLst>
              </a:tr>
              <a:tr h="261711">
                <a:tc>
                  <a:txBody>
                    <a:bodyPr/>
                    <a:lstStyle/>
                    <a:p>
                      <a:r>
                        <a:rPr lang="en-US" sz="900" kern="1200" dirty="0">
                          <a:solidFill>
                            <a:schemeClr val="dk1"/>
                          </a:solidFill>
                          <a:effectLst/>
                        </a:rPr>
                        <a:t>A824917</a:t>
                      </a:r>
                      <a:endParaRPr lang="en-US" sz="900" dirty="0"/>
                    </a:p>
                  </a:txBody>
                  <a:tcPr/>
                </a:tc>
                <a:tc>
                  <a:txBody>
                    <a:bodyPr/>
                    <a:lstStyle/>
                    <a:p>
                      <a:r>
                        <a:rPr lang="en-US" sz="900" kern="1200" dirty="0">
                          <a:solidFill>
                            <a:schemeClr val="dk1"/>
                          </a:solidFill>
                          <a:effectLst/>
                        </a:rPr>
                        <a:t>A985464</a:t>
                      </a:r>
                      <a:endParaRPr lang="en-US" sz="900" dirty="0"/>
                    </a:p>
                  </a:txBody>
                  <a:tcPr/>
                </a:tc>
                <a:tc>
                  <a:txBody>
                    <a:bodyPr/>
                    <a:lstStyle/>
                    <a:p>
                      <a:r>
                        <a:rPr lang="en-US" sz="900" kern="1200" dirty="0">
                          <a:solidFill>
                            <a:schemeClr val="dk1"/>
                          </a:solidFill>
                          <a:effectLst/>
                        </a:rPr>
                        <a:t>LLOYD AARON DEAN 2475 SPICEWOOD DR WINSTON SALEM NC 27106</a:t>
                      </a:r>
                      <a:endParaRPr lang="en-US" sz="900" dirty="0"/>
                    </a:p>
                  </a:txBody>
                  <a:tcPr/>
                </a:tc>
                <a:extLst>
                  <a:ext uri="{0D108BD9-81ED-4DB2-BD59-A6C34878D82A}">
                    <a16:rowId xmlns:a16="http://schemas.microsoft.com/office/drawing/2014/main" val="2152247753"/>
                  </a:ext>
                </a:extLst>
              </a:tr>
              <a:tr h="261711">
                <a:tc>
                  <a:txBody>
                    <a:bodyPr/>
                    <a:lstStyle/>
                    <a:p>
                      <a:r>
                        <a:rPr lang="en-US" sz="900" kern="1200" dirty="0">
                          <a:solidFill>
                            <a:schemeClr val="dk1"/>
                          </a:solidFill>
                          <a:effectLst/>
                        </a:rPr>
                        <a:t>A824917</a:t>
                      </a:r>
                      <a:endParaRPr lang="en-US" sz="900" dirty="0"/>
                    </a:p>
                  </a:txBody>
                  <a:tcPr/>
                </a:tc>
                <a:tc>
                  <a:txBody>
                    <a:bodyPr/>
                    <a:lstStyle/>
                    <a:p>
                      <a:r>
                        <a:rPr lang="en-US" sz="900" kern="1200" dirty="0">
                          <a:solidFill>
                            <a:schemeClr val="dk1"/>
                          </a:solidFill>
                          <a:effectLst/>
                        </a:rPr>
                        <a:t>A956423</a:t>
                      </a:r>
                      <a:endParaRPr lang="en-US" sz="900" dirty="0"/>
                    </a:p>
                  </a:txBody>
                  <a:tcPr/>
                </a:tc>
                <a:tc>
                  <a:txBody>
                    <a:bodyPr/>
                    <a:lstStyle/>
                    <a:p>
                      <a:r>
                        <a:rPr lang="en-US" sz="900" kern="1200" dirty="0">
                          <a:solidFill>
                            <a:schemeClr val="dk1"/>
                          </a:solidFill>
                          <a:effectLst/>
                        </a:rPr>
                        <a:t>LLOYD AARON DEAN 2475 SPICEWOOD DR WINSTON SALEM NC 27106 456 18 2098</a:t>
                      </a:r>
                      <a:endParaRPr lang="en-US" sz="900" dirty="0"/>
                    </a:p>
                  </a:txBody>
                  <a:tcPr/>
                </a:tc>
                <a:extLst>
                  <a:ext uri="{0D108BD9-81ED-4DB2-BD59-A6C34878D82A}">
                    <a16:rowId xmlns:a16="http://schemas.microsoft.com/office/drawing/2014/main" val="985346649"/>
                  </a:ext>
                </a:extLst>
              </a:tr>
              <a:tr h="261711">
                <a:tc>
                  <a:txBody>
                    <a:bodyPr/>
                    <a:lstStyle/>
                    <a:p>
                      <a:r>
                        <a:rPr lang="en-US" sz="900" kern="1200" dirty="0">
                          <a:solidFill>
                            <a:schemeClr val="dk1"/>
                          </a:solidFill>
                          <a:effectLst/>
                        </a:rPr>
                        <a:t>A824917</a:t>
                      </a:r>
                      <a:endParaRPr lang="en-US" sz="900" dirty="0"/>
                    </a:p>
                  </a:txBody>
                  <a:tcPr/>
                </a:tc>
                <a:tc>
                  <a:txBody>
                    <a:bodyPr/>
                    <a:lstStyle/>
                    <a:p>
                      <a:r>
                        <a:rPr lang="en-US" sz="900" kern="1200" dirty="0">
                          <a:solidFill>
                            <a:schemeClr val="dk1"/>
                          </a:solidFill>
                          <a:effectLst/>
                        </a:rPr>
                        <a:t>A956296</a:t>
                      </a:r>
                      <a:endParaRPr lang="en-US" sz="900" dirty="0"/>
                    </a:p>
                  </a:txBody>
                  <a:tcPr/>
                </a:tc>
                <a:tc>
                  <a:txBody>
                    <a:bodyPr/>
                    <a:lstStyle/>
                    <a:p>
                      <a:r>
                        <a:rPr lang="en-US" sz="900" kern="1200" dirty="0">
                          <a:solidFill>
                            <a:schemeClr val="dk1"/>
                          </a:solidFill>
                          <a:effectLst/>
                        </a:rPr>
                        <a:t>LLOYD AARON D 2475 SPICEWOOD DR WINSTON SALEM NC 27106 456 18 2098</a:t>
                      </a:r>
                      <a:endParaRPr lang="en-US" sz="900" dirty="0"/>
                    </a:p>
                  </a:txBody>
                  <a:tcPr/>
                </a:tc>
                <a:extLst>
                  <a:ext uri="{0D108BD9-81ED-4DB2-BD59-A6C34878D82A}">
                    <a16:rowId xmlns:a16="http://schemas.microsoft.com/office/drawing/2014/main" val="661283967"/>
                  </a:ext>
                </a:extLst>
              </a:tr>
              <a:tr h="261711">
                <a:tc>
                  <a:txBody>
                    <a:bodyPr/>
                    <a:lstStyle/>
                    <a:p>
                      <a:r>
                        <a:rPr lang="en-US" sz="900" kern="1200" dirty="0">
                          <a:solidFill>
                            <a:schemeClr val="dk1"/>
                          </a:solidFill>
                          <a:effectLst/>
                        </a:rPr>
                        <a:t>A824917</a:t>
                      </a:r>
                      <a:endParaRPr lang="en-US" sz="900" dirty="0"/>
                    </a:p>
                  </a:txBody>
                  <a:tcPr/>
                </a:tc>
                <a:tc>
                  <a:txBody>
                    <a:bodyPr/>
                    <a:lstStyle/>
                    <a:p>
                      <a:r>
                        <a:rPr lang="en-US" sz="900" kern="1200" dirty="0">
                          <a:solidFill>
                            <a:schemeClr val="dk1"/>
                          </a:solidFill>
                          <a:effectLst/>
                        </a:rPr>
                        <a:t>A830349</a:t>
                      </a:r>
                      <a:endParaRPr lang="en-US" sz="900" dirty="0"/>
                    </a:p>
                  </a:txBody>
                  <a:tcPr/>
                </a:tc>
                <a:tc>
                  <a:txBody>
                    <a:bodyPr/>
                    <a:lstStyle/>
                    <a:p>
                      <a:r>
                        <a:rPr lang="en-US" sz="900" kern="1200" dirty="0">
                          <a:solidFill>
                            <a:schemeClr val="dk1"/>
                          </a:solidFill>
                          <a:effectLst/>
                        </a:rPr>
                        <a:t>LLOYD AARON DEAN 2475 SPICEWOOD DR WINSTON SALEM NC 27106 456182098</a:t>
                      </a:r>
                      <a:endParaRPr lang="en-US" sz="900" dirty="0"/>
                    </a:p>
                  </a:txBody>
                  <a:tcPr/>
                </a:tc>
                <a:extLst>
                  <a:ext uri="{0D108BD9-81ED-4DB2-BD59-A6C34878D82A}">
                    <a16:rowId xmlns:a16="http://schemas.microsoft.com/office/drawing/2014/main" val="3392383407"/>
                  </a:ext>
                </a:extLst>
              </a:tr>
              <a:tr h="261711">
                <a:tc>
                  <a:txBody>
                    <a:bodyPr/>
                    <a:lstStyle/>
                    <a:p>
                      <a:r>
                        <a:rPr lang="en-US" sz="900" kern="1200" dirty="0">
                          <a:solidFill>
                            <a:schemeClr val="dk1"/>
                          </a:solidFill>
                          <a:effectLst/>
                        </a:rPr>
                        <a:t>A824917</a:t>
                      </a:r>
                      <a:endParaRPr lang="en-US" sz="900" dirty="0"/>
                    </a:p>
                  </a:txBody>
                  <a:tcPr/>
                </a:tc>
                <a:tc>
                  <a:txBody>
                    <a:bodyPr/>
                    <a:lstStyle/>
                    <a:p>
                      <a:r>
                        <a:rPr lang="en-US" sz="900" kern="1200" dirty="0">
                          <a:solidFill>
                            <a:schemeClr val="dk1"/>
                          </a:solidFill>
                          <a:effectLst/>
                        </a:rPr>
                        <a:t>A875214</a:t>
                      </a:r>
                      <a:endParaRPr lang="en-US" sz="900" dirty="0"/>
                    </a:p>
                  </a:txBody>
                  <a:tcPr/>
                </a:tc>
                <a:tc>
                  <a:txBody>
                    <a:bodyPr/>
                    <a:lstStyle/>
                    <a:p>
                      <a:r>
                        <a:rPr lang="en-US" sz="900" kern="1200" dirty="0">
                          <a:solidFill>
                            <a:schemeClr val="dk1"/>
                          </a:solidFill>
                          <a:effectLst/>
                        </a:rPr>
                        <a:t>ANDREEW AARON STEPHEN 2475 SPICEWOOD DR WINSTON SALEM NC 27106 601 70 6106</a:t>
                      </a:r>
                      <a:endParaRPr lang="en-US" sz="900" dirty="0"/>
                    </a:p>
                  </a:txBody>
                  <a:tcPr/>
                </a:tc>
                <a:extLst>
                  <a:ext uri="{0D108BD9-81ED-4DB2-BD59-A6C34878D82A}">
                    <a16:rowId xmlns:a16="http://schemas.microsoft.com/office/drawing/2014/main" val="2962138383"/>
                  </a:ext>
                </a:extLst>
              </a:tr>
              <a:tr h="261711">
                <a:tc>
                  <a:txBody>
                    <a:bodyPr/>
                    <a:lstStyle/>
                    <a:p>
                      <a:r>
                        <a:rPr lang="en-US" sz="900" kern="1200" dirty="0">
                          <a:solidFill>
                            <a:schemeClr val="dk1"/>
                          </a:solidFill>
                          <a:effectLst/>
                        </a:rPr>
                        <a:t>A824917</a:t>
                      </a:r>
                      <a:endParaRPr lang="en-US" sz="900" dirty="0"/>
                    </a:p>
                  </a:txBody>
                  <a:tcPr/>
                </a:tc>
                <a:tc>
                  <a:txBody>
                    <a:bodyPr/>
                    <a:lstStyle/>
                    <a:p>
                      <a:r>
                        <a:rPr lang="en-US" sz="900" kern="1200" dirty="0">
                          <a:solidFill>
                            <a:schemeClr val="dk1"/>
                          </a:solidFill>
                          <a:effectLst/>
                        </a:rPr>
                        <a:t>A824917</a:t>
                      </a:r>
                      <a:endParaRPr lang="en-US" sz="900" dirty="0"/>
                    </a:p>
                  </a:txBody>
                  <a:tcPr/>
                </a:tc>
                <a:tc>
                  <a:txBody>
                    <a:bodyPr/>
                    <a:lstStyle/>
                    <a:p>
                      <a:r>
                        <a:rPr lang="en-US" sz="900" kern="1200" dirty="0">
                          <a:solidFill>
                            <a:schemeClr val="dk1"/>
                          </a:solidFill>
                          <a:effectLst/>
                        </a:rPr>
                        <a:t>ANDREW AARON STEPHEN 2475 SPICEWOOD DR WINSTON SALEM NC 27106 601 70 6106</a:t>
                      </a:r>
                      <a:endParaRPr lang="en-US" sz="900" dirty="0"/>
                    </a:p>
                  </a:txBody>
                  <a:tcPr/>
                </a:tc>
                <a:extLst>
                  <a:ext uri="{0D108BD9-81ED-4DB2-BD59-A6C34878D82A}">
                    <a16:rowId xmlns:a16="http://schemas.microsoft.com/office/drawing/2014/main" val="685998732"/>
                  </a:ext>
                </a:extLst>
              </a:tr>
            </a:tbl>
          </a:graphicData>
        </a:graphic>
      </p:graphicFrame>
      <p:sp>
        <p:nvSpPr>
          <p:cNvPr id="48" name="Arrow: Right 47">
            <a:extLst>
              <a:ext uri="{FF2B5EF4-FFF2-40B4-BE49-F238E27FC236}">
                <a16:creationId xmlns:a16="http://schemas.microsoft.com/office/drawing/2014/main" id="{EEAF2EEA-F10E-42C6-ACE2-7B60F00BCDF2}"/>
              </a:ext>
            </a:extLst>
          </p:cNvPr>
          <p:cNvSpPr/>
          <p:nvPr/>
        </p:nvSpPr>
        <p:spPr>
          <a:xfrm>
            <a:off x="6894536" y="2616921"/>
            <a:ext cx="406542" cy="168084"/>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1E2A96B4-8BDB-4DAE-8128-5DD306D335F4}"/>
              </a:ext>
            </a:extLst>
          </p:cNvPr>
          <p:cNvSpPr/>
          <p:nvPr/>
        </p:nvSpPr>
        <p:spPr>
          <a:xfrm>
            <a:off x="6550427" y="2488864"/>
            <a:ext cx="1238452" cy="12384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A824917</a:t>
            </a:r>
            <a:endParaRPr lang="en-US" sz="1200" b="1" dirty="0"/>
          </a:p>
        </p:txBody>
      </p:sp>
      <p:sp>
        <p:nvSpPr>
          <p:cNvPr id="50" name="Oval 49">
            <a:extLst>
              <a:ext uri="{FF2B5EF4-FFF2-40B4-BE49-F238E27FC236}">
                <a16:creationId xmlns:a16="http://schemas.microsoft.com/office/drawing/2014/main" id="{5097254A-2600-4BDD-BF11-E4B8273C5F63}"/>
              </a:ext>
            </a:extLst>
          </p:cNvPr>
          <p:cNvSpPr/>
          <p:nvPr/>
        </p:nvSpPr>
        <p:spPr>
          <a:xfrm>
            <a:off x="6797863" y="4667576"/>
            <a:ext cx="1238452" cy="12384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A985464</a:t>
            </a:r>
            <a:endParaRPr lang="en-US" sz="1200" b="1" dirty="0"/>
          </a:p>
        </p:txBody>
      </p:sp>
      <p:sp>
        <p:nvSpPr>
          <p:cNvPr id="51" name="Oval 50">
            <a:extLst>
              <a:ext uri="{FF2B5EF4-FFF2-40B4-BE49-F238E27FC236}">
                <a16:creationId xmlns:a16="http://schemas.microsoft.com/office/drawing/2014/main" id="{723F4D15-951C-4283-B577-0DD615865632}"/>
              </a:ext>
            </a:extLst>
          </p:cNvPr>
          <p:cNvSpPr/>
          <p:nvPr/>
        </p:nvSpPr>
        <p:spPr>
          <a:xfrm>
            <a:off x="7845924" y="1128404"/>
            <a:ext cx="1238452" cy="12384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A830349</a:t>
            </a:r>
            <a:endParaRPr lang="en-US" sz="1200" b="1" dirty="0"/>
          </a:p>
        </p:txBody>
      </p:sp>
      <p:sp>
        <p:nvSpPr>
          <p:cNvPr id="52" name="Oval 51">
            <a:extLst>
              <a:ext uri="{FF2B5EF4-FFF2-40B4-BE49-F238E27FC236}">
                <a16:creationId xmlns:a16="http://schemas.microsoft.com/office/drawing/2014/main" id="{221D8BCF-76B3-45E8-A19B-D66C682E05CA}"/>
              </a:ext>
            </a:extLst>
          </p:cNvPr>
          <p:cNvSpPr/>
          <p:nvPr/>
        </p:nvSpPr>
        <p:spPr>
          <a:xfrm>
            <a:off x="9204511" y="5377486"/>
            <a:ext cx="1238452" cy="12384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A956423</a:t>
            </a:r>
            <a:endParaRPr lang="en-US" sz="1200" b="1" dirty="0"/>
          </a:p>
        </p:txBody>
      </p:sp>
      <p:sp>
        <p:nvSpPr>
          <p:cNvPr id="53" name="Oval 52">
            <a:extLst>
              <a:ext uri="{FF2B5EF4-FFF2-40B4-BE49-F238E27FC236}">
                <a16:creationId xmlns:a16="http://schemas.microsoft.com/office/drawing/2014/main" id="{8701CE50-D405-4B57-9698-F4FFBA2435E8}"/>
              </a:ext>
            </a:extLst>
          </p:cNvPr>
          <p:cNvSpPr/>
          <p:nvPr/>
        </p:nvSpPr>
        <p:spPr>
          <a:xfrm>
            <a:off x="10620144" y="3957667"/>
            <a:ext cx="1238452" cy="12384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A956296</a:t>
            </a:r>
            <a:endParaRPr lang="en-US" sz="1200" b="1" dirty="0"/>
          </a:p>
        </p:txBody>
      </p:sp>
      <p:sp>
        <p:nvSpPr>
          <p:cNvPr id="54" name="Oval 53">
            <a:extLst>
              <a:ext uri="{FF2B5EF4-FFF2-40B4-BE49-F238E27FC236}">
                <a16:creationId xmlns:a16="http://schemas.microsoft.com/office/drawing/2014/main" id="{18C3DF83-0523-41C8-A451-D05FC05B6C73}"/>
              </a:ext>
            </a:extLst>
          </p:cNvPr>
          <p:cNvSpPr/>
          <p:nvPr/>
        </p:nvSpPr>
        <p:spPr>
          <a:xfrm>
            <a:off x="10153997" y="1699693"/>
            <a:ext cx="1238452" cy="12384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A875214</a:t>
            </a:r>
            <a:endParaRPr lang="en-US" sz="1200" b="1" dirty="0"/>
          </a:p>
        </p:txBody>
      </p:sp>
      <p:cxnSp>
        <p:nvCxnSpPr>
          <p:cNvPr id="55" name="Straight Connector 54">
            <a:extLst>
              <a:ext uri="{FF2B5EF4-FFF2-40B4-BE49-F238E27FC236}">
                <a16:creationId xmlns:a16="http://schemas.microsoft.com/office/drawing/2014/main" id="{4B6C64F1-4313-421D-9BB0-DB44D0EDA452}"/>
              </a:ext>
            </a:extLst>
          </p:cNvPr>
          <p:cNvCxnSpPr>
            <a:cxnSpLocks/>
            <a:stCxn id="51" idx="6"/>
            <a:endCxn id="54" idx="1"/>
          </p:cNvCxnSpPr>
          <p:nvPr/>
        </p:nvCxnSpPr>
        <p:spPr>
          <a:xfrm>
            <a:off x="9084376" y="1747630"/>
            <a:ext cx="1250988" cy="133430"/>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1B8B727-207A-4BFB-98E7-F29C4F9D4E95}"/>
              </a:ext>
            </a:extLst>
          </p:cNvPr>
          <p:cNvCxnSpPr>
            <a:cxnSpLocks/>
            <a:stCxn id="54" idx="4"/>
            <a:endCxn id="53" idx="7"/>
          </p:cNvCxnSpPr>
          <p:nvPr/>
        </p:nvCxnSpPr>
        <p:spPr>
          <a:xfrm>
            <a:off x="10773223" y="2938145"/>
            <a:ext cx="904006" cy="1200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D850D94-5B58-4990-92D1-0F5257E0C1E3}"/>
              </a:ext>
            </a:extLst>
          </p:cNvPr>
          <p:cNvCxnSpPr>
            <a:stCxn id="53" idx="3"/>
            <a:endCxn id="52" idx="7"/>
          </p:cNvCxnSpPr>
          <p:nvPr/>
        </p:nvCxnSpPr>
        <p:spPr>
          <a:xfrm flipH="1">
            <a:off x="10261596" y="5014752"/>
            <a:ext cx="539915" cy="544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EBFEAED1-5279-4203-A78B-25244BFB8550}"/>
              </a:ext>
            </a:extLst>
          </p:cNvPr>
          <p:cNvCxnSpPr>
            <a:cxnSpLocks/>
            <a:stCxn id="52" idx="2"/>
            <a:endCxn id="50" idx="4"/>
          </p:cNvCxnSpPr>
          <p:nvPr/>
        </p:nvCxnSpPr>
        <p:spPr>
          <a:xfrm flipH="1" flipV="1">
            <a:off x="7417089" y="5906028"/>
            <a:ext cx="1787422" cy="90684"/>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C32D0DC-845A-4D1C-B99C-549147BCD18A}"/>
              </a:ext>
            </a:extLst>
          </p:cNvPr>
          <p:cNvCxnSpPr>
            <a:stCxn id="50" idx="0"/>
            <a:endCxn id="49" idx="4"/>
          </p:cNvCxnSpPr>
          <p:nvPr/>
        </p:nvCxnSpPr>
        <p:spPr>
          <a:xfrm flipH="1" flipV="1">
            <a:off x="7169653" y="3727316"/>
            <a:ext cx="247436" cy="94026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3F335B4-E9A0-4687-B33E-FB172002AA7A}"/>
              </a:ext>
            </a:extLst>
          </p:cNvPr>
          <p:cNvCxnSpPr>
            <a:cxnSpLocks/>
            <a:stCxn id="49" idx="0"/>
            <a:endCxn id="51" idx="2"/>
          </p:cNvCxnSpPr>
          <p:nvPr/>
        </p:nvCxnSpPr>
        <p:spPr>
          <a:xfrm flipV="1">
            <a:off x="7169653" y="1747630"/>
            <a:ext cx="676271" cy="741234"/>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50726238-E10F-4EE0-8C18-DFC53E9820E5}"/>
              </a:ext>
            </a:extLst>
          </p:cNvPr>
          <p:cNvCxnSpPr>
            <a:cxnSpLocks/>
            <a:stCxn id="51" idx="3"/>
            <a:endCxn id="50" idx="7"/>
          </p:cNvCxnSpPr>
          <p:nvPr/>
        </p:nvCxnSpPr>
        <p:spPr>
          <a:xfrm flipH="1">
            <a:off x="7854948" y="2185489"/>
            <a:ext cx="172343" cy="2663454"/>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FCD778E-63F1-451F-98A7-FD30C33FBAFA}"/>
              </a:ext>
            </a:extLst>
          </p:cNvPr>
          <p:cNvCxnSpPr>
            <a:cxnSpLocks/>
            <a:stCxn id="51" idx="5"/>
            <a:endCxn id="53" idx="0"/>
          </p:cNvCxnSpPr>
          <p:nvPr/>
        </p:nvCxnSpPr>
        <p:spPr>
          <a:xfrm>
            <a:off x="8903009" y="2185489"/>
            <a:ext cx="2336361" cy="1772178"/>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C0805483-2D1D-4B50-960A-C8BD02197417}"/>
              </a:ext>
            </a:extLst>
          </p:cNvPr>
          <p:cNvCxnSpPr>
            <a:cxnSpLocks/>
            <a:stCxn id="52" idx="0"/>
            <a:endCxn id="51" idx="4"/>
          </p:cNvCxnSpPr>
          <p:nvPr/>
        </p:nvCxnSpPr>
        <p:spPr>
          <a:xfrm flipH="1" flipV="1">
            <a:off x="8465150" y="2366856"/>
            <a:ext cx="1358587" cy="3010630"/>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7397F670-97F2-4C81-901D-548BC8C11C4B}"/>
              </a:ext>
            </a:extLst>
          </p:cNvPr>
          <p:cNvCxnSpPr>
            <a:cxnSpLocks/>
            <a:stCxn id="49" idx="6"/>
            <a:endCxn id="53" idx="1"/>
          </p:cNvCxnSpPr>
          <p:nvPr/>
        </p:nvCxnSpPr>
        <p:spPr>
          <a:xfrm>
            <a:off x="7788879" y="3108090"/>
            <a:ext cx="3012632" cy="1030944"/>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E89562A-15F6-4191-B3BC-D3AAC2E9A8A1}"/>
              </a:ext>
            </a:extLst>
          </p:cNvPr>
          <p:cNvCxnSpPr>
            <a:cxnSpLocks/>
            <a:stCxn id="49" idx="7"/>
            <a:endCxn id="54" idx="2"/>
          </p:cNvCxnSpPr>
          <p:nvPr/>
        </p:nvCxnSpPr>
        <p:spPr>
          <a:xfrm flipV="1">
            <a:off x="7607512" y="2318919"/>
            <a:ext cx="2546485" cy="351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E13FFCF-7B7D-4132-A0A3-21985A44D75C}"/>
              </a:ext>
            </a:extLst>
          </p:cNvPr>
          <p:cNvCxnSpPr>
            <a:cxnSpLocks/>
            <a:stCxn id="50" idx="5"/>
            <a:endCxn id="53" idx="2"/>
          </p:cNvCxnSpPr>
          <p:nvPr/>
        </p:nvCxnSpPr>
        <p:spPr>
          <a:xfrm flipV="1">
            <a:off x="7854948" y="4576893"/>
            <a:ext cx="2765196" cy="1147768"/>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44BE31DA-D35F-4D73-BC13-94D62D5101CC}"/>
              </a:ext>
            </a:extLst>
          </p:cNvPr>
          <p:cNvCxnSpPr>
            <a:stCxn id="49" idx="5"/>
            <a:endCxn id="52" idx="1"/>
          </p:cNvCxnSpPr>
          <p:nvPr/>
        </p:nvCxnSpPr>
        <p:spPr>
          <a:xfrm>
            <a:off x="7607512" y="3545949"/>
            <a:ext cx="1778366" cy="2012904"/>
          </a:xfrm>
          <a:prstGeom prst="line">
            <a:avLst/>
          </a:prstGeom>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5BFCF584-B7AF-453E-821B-030044F1E31F}"/>
              </a:ext>
            </a:extLst>
          </p:cNvPr>
          <p:cNvSpPr txBox="1"/>
          <p:nvPr/>
        </p:nvSpPr>
        <p:spPr>
          <a:xfrm rot="18509583">
            <a:off x="7133750" y="1873902"/>
            <a:ext cx="536347"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0.78</a:t>
            </a:r>
          </a:p>
        </p:txBody>
      </p:sp>
      <p:sp>
        <p:nvSpPr>
          <p:cNvPr id="69" name="TextBox 68">
            <a:extLst>
              <a:ext uri="{FF2B5EF4-FFF2-40B4-BE49-F238E27FC236}">
                <a16:creationId xmlns:a16="http://schemas.microsoft.com/office/drawing/2014/main" id="{7CF708FA-1524-4F13-989F-5A442A600217}"/>
              </a:ext>
            </a:extLst>
          </p:cNvPr>
          <p:cNvSpPr txBox="1"/>
          <p:nvPr/>
        </p:nvSpPr>
        <p:spPr>
          <a:xfrm rot="449452">
            <a:off x="9317599" y="1510953"/>
            <a:ext cx="602711"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0.78</a:t>
            </a:r>
          </a:p>
        </p:txBody>
      </p:sp>
      <p:sp>
        <p:nvSpPr>
          <p:cNvPr id="70" name="TextBox 69">
            <a:extLst>
              <a:ext uri="{FF2B5EF4-FFF2-40B4-BE49-F238E27FC236}">
                <a16:creationId xmlns:a16="http://schemas.microsoft.com/office/drawing/2014/main" id="{65E3C219-FAB0-41A2-AE83-E1346B653561}"/>
              </a:ext>
            </a:extLst>
          </p:cNvPr>
          <p:cNvSpPr txBox="1"/>
          <p:nvPr/>
        </p:nvSpPr>
        <p:spPr>
          <a:xfrm rot="20580654">
            <a:off x="9748883" y="4560583"/>
            <a:ext cx="373823"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0.9</a:t>
            </a:r>
          </a:p>
        </p:txBody>
      </p:sp>
      <p:sp>
        <p:nvSpPr>
          <p:cNvPr id="71" name="TextBox 70">
            <a:extLst>
              <a:ext uri="{FF2B5EF4-FFF2-40B4-BE49-F238E27FC236}">
                <a16:creationId xmlns:a16="http://schemas.microsoft.com/office/drawing/2014/main" id="{EE403008-538A-4DE3-9480-1379A748BEFA}"/>
              </a:ext>
            </a:extLst>
          </p:cNvPr>
          <p:cNvSpPr txBox="1"/>
          <p:nvPr/>
        </p:nvSpPr>
        <p:spPr>
          <a:xfrm rot="18509583">
            <a:off x="10195023" y="5094264"/>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0.9</a:t>
            </a:r>
          </a:p>
        </p:txBody>
      </p:sp>
      <p:sp>
        <p:nvSpPr>
          <p:cNvPr id="72" name="TextBox 71">
            <a:extLst>
              <a:ext uri="{FF2B5EF4-FFF2-40B4-BE49-F238E27FC236}">
                <a16:creationId xmlns:a16="http://schemas.microsoft.com/office/drawing/2014/main" id="{DCC0BD8C-CEEE-4008-9343-17BB12E542D6}"/>
              </a:ext>
            </a:extLst>
          </p:cNvPr>
          <p:cNvSpPr txBox="1"/>
          <p:nvPr/>
        </p:nvSpPr>
        <p:spPr>
          <a:xfrm rot="21446359">
            <a:off x="8300146" y="5706295"/>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1.0</a:t>
            </a:r>
          </a:p>
        </p:txBody>
      </p:sp>
      <p:sp>
        <p:nvSpPr>
          <p:cNvPr id="73" name="TextBox 72">
            <a:extLst>
              <a:ext uri="{FF2B5EF4-FFF2-40B4-BE49-F238E27FC236}">
                <a16:creationId xmlns:a16="http://schemas.microsoft.com/office/drawing/2014/main" id="{0DE5F5E9-117F-4363-BF56-7A875CDC59C4}"/>
              </a:ext>
            </a:extLst>
          </p:cNvPr>
          <p:cNvSpPr txBox="1"/>
          <p:nvPr/>
        </p:nvSpPr>
        <p:spPr>
          <a:xfrm rot="3218784">
            <a:off x="10989142" y="3173327"/>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0.6</a:t>
            </a:r>
          </a:p>
        </p:txBody>
      </p:sp>
      <p:sp>
        <p:nvSpPr>
          <p:cNvPr id="74" name="TextBox 73">
            <a:extLst>
              <a:ext uri="{FF2B5EF4-FFF2-40B4-BE49-F238E27FC236}">
                <a16:creationId xmlns:a16="http://schemas.microsoft.com/office/drawing/2014/main" id="{2A9BFF40-6EC1-44C6-A0BA-8DC12FEC62FC}"/>
              </a:ext>
            </a:extLst>
          </p:cNvPr>
          <p:cNvSpPr txBox="1"/>
          <p:nvPr/>
        </p:nvSpPr>
        <p:spPr>
          <a:xfrm rot="1186064">
            <a:off x="9143979" y="3410457"/>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0.6</a:t>
            </a:r>
          </a:p>
        </p:txBody>
      </p:sp>
      <p:sp>
        <p:nvSpPr>
          <p:cNvPr id="75" name="TextBox 74">
            <a:extLst>
              <a:ext uri="{FF2B5EF4-FFF2-40B4-BE49-F238E27FC236}">
                <a16:creationId xmlns:a16="http://schemas.microsoft.com/office/drawing/2014/main" id="{69988514-8722-48BD-8202-262EFF42C8A2}"/>
              </a:ext>
            </a:extLst>
          </p:cNvPr>
          <p:cNvSpPr txBox="1"/>
          <p:nvPr/>
        </p:nvSpPr>
        <p:spPr>
          <a:xfrm rot="4766206">
            <a:off x="7203332" y="4038995"/>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0.8</a:t>
            </a:r>
          </a:p>
        </p:txBody>
      </p:sp>
      <p:sp>
        <p:nvSpPr>
          <p:cNvPr id="76" name="TextBox 75">
            <a:extLst>
              <a:ext uri="{FF2B5EF4-FFF2-40B4-BE49-F238E27FC236}">
                <a16:creationId xmlns:a16="http://schemas.microsoft.com/office/drawing/2014/main" id="{E1AE5C22-AE41-4E4B-8E0E-CD71836C7A47}"/>
              </a:ext>
            </a:extLst>
          </p:cNvPr>
          <p:cNvSpPr txBox="1"/>
          <p:nvPr/>
        </p:nvSpPr>
        <p:spPr>
          <a:xfrm rot="5400000">
            <a:off x="7860040" y="3531670"/>
            <a:ext cx="4040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1.0</a:t>
            </a:r>
          </a:p>
        </p:txBody>
      </p:sp>
      <p:sp>
        <p:nvSpPr>
          <p:cNvPr id="77" name="TextBox 76">
            <a:extLst>
              <a:ext uri="{FF2B5EF4-FFF2-40B4-BE49-F238E27FC236}">
                <a16:creationId xmlns:a16="http://schemas.microsoft.com/office/drawing/2014/main" id="{F99CF4C3-B288-44CD-A4BB-1AA0F91B3CB0}"/>
              </a:ext>
            </a:extLst>
          </p:cNvPr>
          <p:cNvSpPr txBox="1"/>
          <p:nvPr/>
        </p:nvSpPr>
        <p:spPr>
          <a:xfrm rot="2851893">
            <a:off x="8221642" y="4133966"/>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0.6</a:t>
            </a:r>
          </a:p>
        </p:txBody>
      </p:sp>
      <p:sp>
        <p:nvSpPr>
          <p:cNvPr id="78" name="TextBox 77">
            <a:extLst>
              <a:ext uri="{FF2B5EF4-FFF2-40B4-BE49-F238E27FC236}">
                <a16:creationId xmlns:a16="http://schemas.microsoft.com/office/drawing/2014/main" id="{AD4784DF-B27B-481B-920C-691F7883F9F4}"/>
              </a:ext>
            </a:extLst>
          </p:cNvPr>
          <p:cNvSpPr txBox="1"/>
          <p:nvPr/>
        </p:nvSpPr>
        <p:spPr>
          <a:xfrm rot="4056326">
            <a:off x="8700207" y="2933077"/>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0.9</a:t>
            </a:r>
          </a:p>
        </p:txBody>
      </p:sp>
      <p:sp>
        <p:nvSpPr>
          <p:cNvPr id="79" name="TextBox 78">
            <a:extLst>
              <a:ext uri="{FF2B5EF4-FFF2-40B4-BE49-F238E27FC236}">
                <a16:creationId xmlns:a16="http://schemas.microsoft.com/office/drawing/2014/main" id="{C7B258D1-7A2C-4A6A-97DC-EF5D5D3AEF34}"/>
              </a:ext>
            </a:extLst>
          </p:cNvPr>
          <p:cNvSpPr txBox="1"/>
          <p:nvPr/>
        </p:nvSpPr>
        <p:spPr>
          <a:xfrm rot="21188057">
            <a:off x="9235205" y="2147584"/>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0.9</a:t>
            </a:r>
          </a:p>
        </p:txBody>
      </p:sp>
      <p:sp>
        <p:nvSpPr>
          <p:cNvPr id="80" name="TextBox 79">
            <a:extLst>
              <a:ext uri="{FF2B5EF4-FFF2-40B4-BE49-F238E27FC236}">
                <a16:creationId xmlns:a16="http://schemas.microsoft.com/office/drawing/2014/main" id="{91158AB3-C56D-480D-92FF-51670865F29C}"/>
              </a:ext>
            </a:extLst>
          </p:cNvPr>
          <p:cNvSpPr txBox="1"/>
          <p:nvPr/>
        </p:nvSpPr>
        <p:spPr>
          <a:xfrm rot="2134014">
            <a:off x="10065578" y="2948233"/>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0.8</a:t>
            </a:r>
          </a:p>
        </p:txBody>
      </p:sp>
      <p:cxnSp>
        <p:nvCxnSpPr>
          <p:cNvPr id="81" name="Straight Connector 80">
            <a:extLst>
              <a:ext uri="{FF2B5EF4-FFF2-40B4-BE49-F238E27FC236}">
                <a16:creationId xmlns:a16="http://schemas.microsoft.com/office/drawing/2014/main" id="{6BCEC7E9-35FB-4EE1-9FBB-813960411ACE}"/>
              </a:ext>
            </a:extLst>
          </p:cNvPr>
          <p:cNvCxnSpPr>
            <a:stCxn id="54" idx="3"/>
            <a:endCxn id="50" idx="6"/>
          </p:cNvCxnSpPr>
          <p:nvPr/>
        </p:nvCxnSpPr>
        <p:spPr>
          <a:xfrm flipH="1">
            <a:off x="8036315" y="2756778"/>
            <a:ext cx="2299049" cy="2530024"/>
          </a:xfrm>
          <a:prstGeom prst="line">
            <a:avLst/>
          </a:prstGeom>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D28917AD-F011-42E3-9661-602BC3EA5F82}"/>
              </a:ext>
            </a:extLst>
          </p:cNvPr>
          <p:cNvSpPr txBox="1"/>
          <p:nvPr/>
        </p:nvSpPr>
        <p:spPr>
          <a:xfrm rot="18601060">
            <a:off x="9499516" y="3064176"/>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0.8</a:t>
            </a:r>
          </a:p>
        </p:txBody>
      </p:sp>
      <p:cxnSp>
        <p:nvCxnSpPr>
          <p:cNvPr id="83" name="Straight Connector 82">
            <a:extLst>
              <a:ext uri="{FF2B5EF4-FFF2-40B4-BE49-F238E27FC236}">
                <a16:creationId xmlns:a16="http://schemas.microsoft.com/office/drawing/2014/main" id="{BDC3AE8C-6370-48BC-9838-201192F471FD}"/>
              </a:ext>
            </a:extLst>
          </p:cNvPr>
          <p:cNvCxnSpPr>
            <a:stCxn id="54" idx="4"/>
          </p:cNvCxnSpPr>
          <p:nvPr/>
        </p:nvCxnSpPr>
        <p:spPr>
          <a:xfrm flipH="1">
            <a:off x="9823737" y="2938145"/>
            <a:ext cx="949486" cy="2552116"/>
          </a:xfrm>
          <a:prstGeom prst="line">
            <a:avLst/>
          </a:prstGeom>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8A076F43-A5CE-491B-8860-00D1EE7F5CAD}"/>
              </a:ext>
            </a:extLst>
          </p:cNvPr>
          <p:cNvSpPr txBox="1"/>
          <p:nvPr/>
        </p:nvSpPr>
        <p:spPr>
          <a:xfrm rot="17268870">
            <a:off x="10147572" y="3512913"/>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0.6</a:t>
            </a:r>
          </a:p>
        </p:txBody>
      </p:sp>
      <p:sp>
        <p:nvSpPr>
          <p:cNvPr id="85" name="Arrow: Right 84">
            <a:extLst>
              <a:ext uri="{FF2B5EF4-FFF2-40B4-BE49-F238E27FC236}">
                <a16:creationId xmlns:a16="http://schemas.microsoft.com/office/drawing/2014/main" id="{4FFC97D3-7455-4A51-A25F-6B30230935D0}"/>
              </a:ext>
            </a:extLst>
          </p:cNvPr>
          <p:cNvSpPr/>
          <p:nvPr/>
        </p:nvSpPr>
        <p:spPr>
          <a:xfrm>
            <a:off x="6250227" y="3966112"/>
            <a:ext cx="406542" cy="168084"/>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405864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C95809-1897-4598-80A6-32D1B53F202F}"/>
              </a:ext>
            </a:extLst>
          </p:cNvPr>
          <p:cNvSpPr>
            <a:spLocks noGrp="1"/>
          </p:cNvSpPr>
          <p:nvPr>
            <p:ph type="title"/>
          </p:nvPr>
        </p:nvSpPr>
        <p:spPr>
          <a:xfrm>
            <a:off x="838200" y="278535"/>
            <a:ext cx="9895951" cy="1033669"/>
          </a:xfrm>
        </p:spPr>
        <p:txBody>
          <a:bodyPr>
            <a:normAutofit fontScale="90000"/>
          </a:bodyPr>
          <a:lstStyle/>
          <a:p>
            <a:r>
              <a:rPr lang="en-US" sz="4000" dirty="0">
                <a:solidFill>
                  <a:srgbClr val="FFFFFF"/>
                </a:solidFill>
              </a:rPr>
              <a:t>2A. </a:t>
            </a:r>
            <a:r>
              <a:rPr lang="en-US" sz="4000" kern="1200" dirty="0">
                <a:solidFill>
                  <a:srgbClr val="FFFFFF"/>
                </a:solidFill>
                <a:latin typeface="+mj-lt"/>
                <a:ea typeface="+mj-ea"/>
                <a:cs typeface="+mj-cs"/>
              </a:rPr>
              <a:t>Graph-based Unsupervised Entity Resolution </a:t>
            </a:r>
            <a:endParaRPr lang="en-US" sz="4000" dirty="0">
              <a:solidFill>
                <a:srgbClr val="FFFFFF"/>
              </a:solidFill>
            </a:endParaRPr>
          </a:p>
        </p:txBody>
      </p:sp>
      <p:sp>
        <p:nvSpPr>
          <p:cNvPr id="4" name="Date Placeholder 3">
            <a:extLst>
              <a:ext uri="{FF2B5EF4-FFF2-40B4-BE49-F238E27FC236}">
                <a16:creationId xmlns:a16="http://schemas.microsoft.com/office/drawing/2014/main" id="{BD5A8EF5-1D2C-43EF-BE0E-6848FB3B8103}"/>
              </a:ext>
            </a:extLst>
          </p:cNvPr>
          <p:cNvSpPr>
            <a:spLocks noGrp="1"/>
          </p:cNvSpPr>
          <p:nvPr>
            <p:ph type="dt" sz="half" idx="10"/>
          </p:nvPr>
        </p:nvSpPr>
        <p:spPr/>
        <p:txBody>
          <a:bodyPr/>
          <a:lstStyle/>
          <a:p>
            <a:fld id="{512C8548-BDD0-4D67-82DF-8B0877410303}" type="datetime1">
              <a:rPr lang="en-US" smtClean="0"/>
              <a:t>5/19/2023</a:t>
            </a:fld>
            <a:endParaRPr lang="en-US"/>
          </a:p>
        </p:txBody>
      </p:sp>
      <p:sp>
        <p:nvSpPr>
          <p:cNvPr id="5" name="Footer Placeholder 4">
            <a:extLst>
              <a:ext uri="{FF2B5EF4-FFF2-40B4-BE49-F238E27FC236}">
                <a16:creationId xmlns:a16="http://schemas.microsoft.com/office/drawing/2014/main" id="{22713089-7C73-42EC-A066-EAFFDCC826D5}"/>
              </a:ext>
            </a:extLst>
          </p:cNvPr>
          <p:cNvSpPr>
            <a:spLocks noGrp="1"/>
          </p:cNvSpPr>
          <p:nvPr>
            <p:ph type="ftr" sz="quarter" idx="11"/>
          </p:nvPr>
        </p:nvSpPr>
        <p:spPr/>
        <p:txBody>
          <a:bodyPr/>
          <a:lstStyle/>
          <a:p>
            <a:r>
              <a:rPr lang="en-US" dirty="0"/>
              <a:t>Ebeid - Spring 2023</a:t>
            </a:r>
          </a:p>
        </p:txBody>
      </p:sp>
      <p:sp>
        <p:nvSpPr>
          <p:cNvPr id="6" name="Slide Number Placeholder 5">
            <a:extLst>
              <a:ext uri="{FF2B5EF4-FFF2-40B4-BE49-F238E27FC236}">
                <a16:creationId xmlns:a16="http://schemas.microsoft.com/office/drawing/2014/main" id="{C627CBF4-4AEE-41BF-A857-DBC168FA0AF7}"/>
              </a:ext>
            </a:extLst>
          </p:cNvPr>
          <p:cNvSpPr>
            <a:spLocks noGrp="1"/>
          </p:cNvSpPr>
          <p:nvPr>
            <p:ph type="sldNum" sz="quarter" idx="12"/>
          </p:nvPr>
        </p:nvSpPr>
        <p:spPr/>
        <p:txBody>
          <a:bodyPr/>
          <a:lstStyle/>
          <a:p>
            <a:fld id="{174AA435-B3B0-4B6E-A265-E4C5F17628FB}" type="slidenum">
              <a:rPr lang="en-US" smtClean="0"/>
              <a:t>13</a:t>
            </a:fld>
            <a:endParaRPr lang="en-US"/>
          </a:p>
        </p:txBody>
      </p:sp>
      <p:sp>
        <p:nvSpPr>
          <p:cNvPr id="15" name="Oval 14">
            <a:extLst>
              <a:ext uri="{FF2B5EF4-FFF2-40B4-BE49-F238E27FC236}">
                <a16:creationId xmlns:a16="http://schemas.microsoft.com/office/drawing/2014/main" id="{9FBADAA2-DB1F-4A93-9541-1D53D4B604C7}"/>
              </a:ext>
            </a:extLst>
          </p:cNvPr>
          <p:cNvSpPr/>
          <p:nvPr/>
        </p:nvSpPr>
        <p:spPr>
          <a:xfrm>
            <a:off x="6608617" y="2613555"/>
            <a:ext cx="1238452" cy="12384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A824917</a:t>
            </a:r>
            <a:endParaRPr lang="en-US" sz="1200" b="1" dirty="0"/>
          </a:p>
        </p:txBody>
      </p:sp>
      <p:sp>
        <p:nvSpPr>
          <p:cNvPr id="17" name="Oval 16">
            <a:extLst>
              <a:ext uri="{FF2B5EF4-FFF2-40B4-BE49-F238E27FC236}">
                <a16:creationId xmlns:a16="http://schemas.microsoft.com/office/drawing/2014/main" id="{4DB334E9-09F5-4A18-A0F8-FC967F4F74D3}"/>
              </a:ext>
            </a:extLst>
          </p:cNvPr>
          <p:cNvSpPr/>
          <p:nvPr/>
        </p:nvSpPr>
        <p:spPr>
          <a:xfrm>
            <a:off x="6856053" y="4792267"/>
            <a:ext cx="1238452" cy="1238452"/>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A985464</a:t>
            </a:r>
            <a:endParaRPr lang="en-US" sz="1200" b="1" dirty="0"/>
          </a:p>
        </p:txBody>
      </p:sp>
      <p:sp>
        <p:nvSpPr>
          <p:cNvPr id="18" name="Oval 17">
            <a:extLst>
              <a:ext uri="{FF2B5EF4-FFF2-40B4-BE49-F238E27FC236}">
                <a16:creationId xmlns:a16="http://schemas.microsoft.com/office/drawing/2014/main" id="{5ED73396-DFF0-481E-BC10-C274BB5FA31E}"/>
              </a:ext>
            </a:extLst>
          </p:cNvPr>
          <p:cNvSpPr/>
          <p:nvPr/>
        </p:nvSpPr>
        <p:spPr>
          <a:xfrm>
            <a:off x="7904114" y="1253095"/>
            <a:ext cx="1238452" cy="1238452"/>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A830349</a:t>
            </a:r>
            <a:endParaRPr lang="en-US" sz="1200" b="1" dirty="0"/>
          </a:p>
        </p:txBody>
      </p:sp>
      <p:sp>
        <p:nvSpPr>
          <p:cNvPr id="19" name="Oval 18">
            <a:extLst>
              <a:ext uri="{FF2B5EF4-FFF2-40B4-BE49-F238E27FC236}">
                <a16:creationId xmlns:a16="http://schemas.microsoft.com/office/drawing/2014/main" id="{E9F4F318-76AF-4D37-B4E2-0891BB241D91}"/>
              </a:ext>
            </a:extLst>
          </p:cNvPr>
          <p:cNvSpPr/>
          <p:nvPr/>
        </p:nvSpPr>
        <p:spPr>
          <a:xfrm>
            <a:off x="9262701" y="5502177"/>
            <a:ext cx="1238452" cy="123845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A956423</a:t>
            </a:r>
            <a:endParaRPr lang="en-US" sz="1200" b="1" dirty="0"/>
          </a:p>
        </p:txBody>
      </p:sp>
      <p:sp>
        <p:nvSpPr>
          <p:cNvPr id="20" name="Oval 19">
            <a:extLst>
              <a:ext uri="{FF2B5EF4-FFF2-40B4-BE49-F238E27FC236}">
                <a16:creationId xmlns:a16="http://schemas.microsoft.com/office/drawing/2014/main" id="{FEAA9EA1-69E2-472E-A2FA-55D643483722}"/>
              </a:ext>
            </a:extLst>
          </p:cNvPr>
          <p:cNvSpPr/>
          <p:nvPr/>
        </p:nvSpPr>
        <p:spPr>
          <a:xfrm>
            <a:off x="10678334" y="4082358"/>
            <a:ext cx="1238452" cy="1238452"/>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A956296</a:t>
            </a:r>
            <a:endParaRPr lang="en-US" sz="1200" b="1" dirty="0"/>
          </a:p>
        </p:txBody>
      </p:sp>
      <p:sp>
        <p:nvSpPr>
          <p:cNvPr id="21" name="Oval 20">
            <a:extLst>
              <a:ext uri="{FF2B5EF4-FFF2-40B4-BE49-F238E27FC236}">
                <a16:creationId xmlns:a16="http://schemas.microsoft.com/office/drawing/2014/main" id="{667598AE-A5AE-4DFB-AD18-5717CC9334D2}"/>
              </a:ext>
            </a:extLst>
          </p:cNvPr>
          <p:cNvSpPr/>
          <p:nvPr/>
        </p:nvSpPr>
        <p:spPr>
          <a:xfrm>
            <a:off x="10212187" y="1824384"/>
            <a:ext cx="1238452" cy="1238452"/>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A875214</a:t>
            </a:r>
            <a:endParaRPr lang="en-US" sz="1200" b="1" dirty="0"/>
          </a:p>
        </p:txBody>
      </p:sp>
      <p:sp>
        <p:nvSpPr>
          <p:cNvPr id="22" name="Arrow: Right 21">
            <a:extLst>
              <a:ext uri="{FF2B5EF4-FFF2-40B4-BE49-F238E27FC236}">
                <a16:creationId xmlns:a16="http://schemas.microsoft.com/office/drawing/2014/main" id="{950582D0-DA51-4008-9DC0-F986B8339188}"/>
              </a:ext>
            </a:extLst>
          </p:cNvPr>
          <p:cNvSpPr/>
          <p:nvPr/>
        </p:nvSpPr>
        <p:spPr>
          <a:xfrm rot="10800000">
            <a:off x="5898057" y="3789179"/>
            <a:ext cx="406542" cy="168084"/>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926D1655-F8C8-45C5-B4D7-3A8AA3E60C62}"/>
              </a:ext>
            </a:extLst>
          </p:cNvPr>
          <p:cNvCxnSpPr>
            <a:cxnSpLocks/>
            <a:stCxn id="18" idx="6"/>
            <a:endCxn id="21" idx="1"/>
          </p:cNvCxnSpPr>
          <p:nvPr/>
        </p:nvCxnSpPr>
        <p:spPr>
          <a:xfrm>
            <a:off x="9142566" y="1872321"/>
            <a:ext cx="1250988" cy="13343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1CB451E-2D1D-4366-857D-F6BA51793566}"/>
              </a:ext>
            </a:extLst>
          </p:cNvPr>
          <p:cNvCxnSpPr>
            <a:cxnSpLocks/>
            <a:stCxn id="21" idx="5"/>
            <a:endCxn id="20" idx="0"/>
          </p:cNvCxnSpPr>
          <p:nvPr/>
        </p:nvCxnSpPr>
        <p:spPr>
          <a:xfrm>
            <a:off x="11269272" y="2881469"/>
            <a:ext cx="28288" cy="1200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2488ACF-0601-4B11-A68C-7BDB96CFBBD4}"/>
              </a:ext>
            </a:extLst>
          </p:cNvPr>
          <p:cNvCxnSpPr>
            <a:stCxn id="20" idx="3"/>
            <a:endCxn id="19" idx="7"/>
          </p:cNvCxnSpPr>
          <p:nvPr/>
        </p:nvCxnSpPr>
        <p:spPr>
          <a:xfrm flipH="1">
            <a:off x="10319786" y="5139443"/>
            <a:ext cx="539915" cy="544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728B090-6FCF-4F75-9E7A-498082ED7F2B}"/>
              </a:ext>
            </a:extLst>
          </p:cNvPr>
          <p:cNvCxnSpPr>
            <a:cxnSpLocks/>
            <a:stCxn id="19" idx="2"/>
            <a:endCxn id="17" idx="4"/>
          </p:cNvCxnSpPr>
          <p:nvPr/>
        </p:nvCxnSpPr>
        <p:spPr>
          <a:xfrm flipH="1" flipV="1">
            <a:off x="7475279" y="6030719"/>
            <a:ext cx="1787422" cy="90684"/>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702828B-0AC5-41EA-8C7D-678A83AB04DB}"/>
              </a:ext>
            </a:extLst>
          </p:cNvPr>
          <p:cNvCxnSpPr>
            <a:stCxn id="17" idx="0"/>
            <a:endCxn id="15" idx="4"/>
          </p:cNvCxnSpPr>
          <p:nvPr/>
        </p:nvCxnSpPr>
        <p:spPr>
          <a:xfrm flipH="1" flipV="1">
            <a:off x="7227843" y="3852007"/>
            <a:ext cx="247436" cy="94026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79900E2-B802-4FC9-B786-DE089F35F660}"/>
              </a:ext>
            </a:extLst>
          </p:cNvPr>
          <p:cNvCxnSpPr>
            <a:cxnSpLocks/>
            <a:stCxn id="15" idx="0"/>
            <a:endCxn id="18" idx="2"/>
          </p:cNvCxnSpPr>
          <p:nvPr/>
        </p:nvCxnSpPr>
        <p:spPr>
          <a:xfrm flipV="1">
            <a:off x="7227843" y="1872321"/>
            <a:ext cx="676271" cy="741234"/>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7721AE6-D84E-4778-AD88-FD93527517EB}"/>
              </a:ext>
            </a:extLst>
          </p:cNvPr>
          <p:cNvCxnSpPr>
            <a:cxnSpLocks/>
            <a:stCxn id="18" idx="3"/>
            <a:endCxn id="17" idx="7"/>
          </p:cNvCxnSpPr>
          <p:nvPr/>
        </p:nvCxnSpPr>
        <p:spPr>
          <a:xfrm flipH="1">
            <a:off x="7913138" y="2310180"/>
            <a:ext cx="172343" cy="2663454"/>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D8F3A63-DB49-40B3-8DD4-15531DFE03B8}"/>
              </a:ext>
            </a:extLst>
          </p:cNvPr>
          <p:cNvCxnSpPr>
            <a:cxnSpLocks/>
            <a:stCxn id="18" idx="5"/>
            <a:endCxn id="20" idx="1"/>
          </p:cNvCxnSpPr>
          <p:nvPr/>
        </p:nvCxnSpPr>
        <p:spPr>
          <a:xfrm>
            <a:off x="8961199" y="2310180"/>
            <a:ext cx="1898502" cy="1953545"/>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ED4F71E-2F69-43D4-BBFB-4017CE692F9F}"/>
              </a:ext>
            </a:extLst>
          </p:cNvPr>
          <p:cNvCxnSpPr>
            <a:stCxn id="19" idx="0"/>
            <a:endCxn id="18" idx="4"/>
          </p:cNvCxnSpPr>
          <p:nvPr/>
        </p:nvCxnSpPr>
        <p:spPr>
          <a:xfrm flipH="1" flipV="1">
            <a:off x="8523340" y="2491547"/>
            <a:ext cx="1358587" cy="301063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993DBD8-4692-4498-BB91-AA1CF31D5DDA}"/>
              </a:ext>
            </a:extLst>
          </p:cNvPr>
          <p:cNvCxnSpPr>
            <a:cxnSpLocks/>
            <a:stCxn id="15" idx="7"/>
            <a:endCxn id="21" idx="2"/>
          </p:cNvCxnSpPr>
          <p:nvPr/>
        </p:nvCxnSpPr>
        <p:spPr>
          <a:xfrm flipV="1">
            <a:off x="7665702" y="2443610"/>
            <a:ext cx="2546485" cy="351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F6BDA0A-4CFA-4BD1-95C1-C9246C372C8A}"/>
              </a:ext>
            </a:extLst>
          </p:cNvPr>
          <p:cNvCxnSpPr>
            <a:cxnSpLocks/>
            <a:stCxn id="17" idx="5"/>
            <a:endCxn id="20" idx="2"/>
          </p:cNvCxnSpPr>
          <p:nvPr/>
        </p:nvCxnSpPr>
        <p:spPr>
          <a:xfrm flipV="1">
            <a:off x="7913138" y="4701584"/>
            <a:ext cx="2765196" cy="1147768"/>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DCF222C-D9CD-4E89-9FB3-2318C031E111}"/>
              </a:ext>
            </a:extLst>
          </p:cNvPr>
          <p:cNvCxnSpPr>
            <a:stCxn id="15" idx="5"/>
            <a:endCxn id="19" idx="1"/>
          </p:cNvCxnSpPr>
          <p:nvPr/>
        </p:nvCxnSpPr>
        <p:spPr>
          <a:xfrm>
            <a:off x="7665702" y="3670640"/>
            <a:ext cx="1778366" cy="2012904"/>
          </a:xfrm>
          <a:prstGeom prst="line">
            <a:avLst/>
          </a:prstGeom>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181A24C5-FC68-4DC8-BE03-0F87DF1C3E3B}"/>
              </a:ext>
            </a:extLst>
          </p:cNvPr>
          <p:cNvSpPr txBox="1"/>
          <p:nvPr/>
        </p:nvSpPr>
        <p:spPr>
          <a:xfrm rot="18509583">
            <a:off x="7191940" y="1998593"/>
            <a:ext cx="536347"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0.78</a:t>
            </a:r>
          </a:p>
        </p:txBody>
      </p:sp>
      <p:sp>
        <p:nvSpPr>
          <p:cNvPr id="36" name="TextBox 35">
            <a:extLst>
              <a:ext uri="{FF2B5EF4-FFF2-40B4-BE49-F238E27FC236}">
                <a16:creationId xmlns:a16="http://schemas.microsoft.com/office/drawing/2014/main" id="{F4450FC0-1A2C-46AE-822B-41D075F666C4}"/>
              </a:ext>
            </a:extLst>
          </p:cNvPr>
          <p:cNvSpPr txBox="1"/>
          <p:nvPr/>
        </p:nvSpPr>
        <p:spPr>
          <a:xfrm rot="449452">
            <a:off x="9375789" y="1635644"/>
            <a:ext cx="602711"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0.78</a:t>
            </a:r>
          </a:p>
        </p:txBody>
      </p:sp>
      <p:sp>
        <p:nvSpPr>
          <p:cNvPr id="37" name="TextBox 36">
            <a:extLst>
              <a:ext uri="{FF2B5EF4-FFF2-40B4-BE49-F238E27FC236}">
                <a16:creationId xmlns:a16="http://schemas.microsoft.com/office/drawing/2014/main" id="{175A24BC-99A7-4A98-8837-617F386F3F58}"/>
              </a:ext>
            </a:extLst>
          </p:cNvPr>
          <p:cNvSpPr txBox="1"/>
          <p:nvPr/>
        </p:nvSpPr>
        <p:spPr>
          <a:xfrm rot="20580654">
            <a:off x="9807073" y="4685274"/>
            <a:ext cx="373823"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0.9</a:t>
            </a:r>
          </a:p>
        </p:txBody>
      </p:sp>
      <p:sp>
        <p:nvSpPr>
          <p:cNvPr id="38" name="TextBox 37">
            <a:extLst>
              <a:ext uri="{FF2B5EF4-FFF2-40B4-BE49-F238E27FC236}">
                <a16:creationId xmlns:a16="http://schemas.microsoft.com/office/drawing/2014/main" id="{24769A2D-0D81-43E4-8FBD-12ACD67F204D}"/>
              </a:ext>
            </a:extLst>
          </p:cNvPr>
          <p:cNvSpPr txBox="1"/>
          <p:nvPr/>
        </p:nvSpPr>
        <p:spPr>
          <a:xfrm rot="18509583">
            <a:off x="10253213" y="5218955"/>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0.9</a:t>
            </a:r>
          </a:p>
        </p:txBody>
      </p:sp>
      <p:sp>
        <p:nvSpPr>
          <p:cNvPr id="39" name="TextBox 38">
            <a:extLst>
              <a:ext uri="{FF2B5EF4-FFF2-40B4-BE49-F238E27FC236}">
                <a16:creationId xmlns:a16="http://schemas.microsoft.com/office/drawing/2014/main" id="{60ED8D8D-7B07-48A4-8510-94DF4AD59D11}"/>
              </a:ext>
            </a:extLst>
          </p:cNvPr>
          <p:cNvSpPr txBox="1"/>
          <p:nvPr/>
        </p:nvSpPr>
        <p:spPr>
          <a:xfrm rot="21446359">
            <a:off x="8358336" y="5830986"/>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1.0</a:t>
            </a:r>
          </a:p>
        </p:txBody>
      </p:sp>
      <p:sp>
        <p:nvSpPr>
          <p:cNvPr id="40" name="TextBox 39">
            <a:extLst>
              <a:ext uri="{FF2B5EF4-FFF2-40B4-BE49-F238E27FC236}">
                <a16:creationId xmlns:a16="http://schemas.microsoft.com/office/drawing/2014/main" id="{43F2077A-70CE-4CA2-9476-02D7F7EECD1A}"/>
              </a:ext>
            </a:extLst>
          </p:cNvPr>
          <p:cNvSpPr txBox="1"/>
          <p:nvPr/>
        </p:nvSpPr>
        <p:spPr>
          <a:xfrm rot="5400000">
            <a:off x="11209410" y="3297632"/>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0.6</a:t>
            </a:r>
          </a:p>
        </p:txBody>
      </p:sp>
      <p:sp>
        <p:nvSpPr>
          <p:cNvPr id="41" name="TextBox 40">
            <a:extLst>
              <a:ext uri="{FF2B5EF4-FFF2-40B4-BE49-F238E27FC236}">
                <a16:creationId xmlns:a16="http://schemas.microsoft.com/office/drawing/2014/main" id="{8E5DB0A1-5CE2-4849-BDC9-D0FE3FD02B10}"/>
              </a:ext>
            </a:extLst>
          </p:cNvPr>
          <p:cNvSpPr txBox="1"/>
          <p:nvPr/>
        </p:nvSpPr>
        <p:spPr>
          <a:xfrm rot="4766206">
            <a:off x="7261522" y="4163686"/>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0.8</a:t>
            </a:r>
          </a:p>
        </p:txBody>
      </p:sp>
      <p:sp>
        <p:nvSpPr>
          <p:cNvPr id="42" name="TextBox 41">
            <a:extLst>
              <a:ext uri="{FF2B5EF4-FFF2-40B4-BE49-F238E27FC236}">
                <a16:creationId xmlns:a16="http://schemas.microsoft.com/office/drawing/2014/main" id="{18A65A3A-A1BC-496A-92B4-A0BEE9FEBB07}"/>
              </a:ext>
            </a:extLst>
          </p:cNvPr>
          <p:cNvSpPr txBox="1"/>
          <p:nvPr/>
        </p:nvSpPr>
        <p:spPr>
          <a:xfrm rot="5400000">
            <a:off x="7918230" y="3656361"/>
            <a:ext cx="4040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1.0</a:t>
            </a:r>
          </a:p>
        </p:txBody>
      </p:sp>
      <p:sp>
        <p:nvSpPr>
          <p:cNvPr id="43" name="TextBox 42">
            <a:extLst>
              <a:ext uri="{FF2B5EF4-FFF2-40B4-BE49-F238E27FC236}">
                <a16:creationId xmlns:a16="http://schemas.microsoft.com/office/drawing/2014/main" id="{2F2BE4E9-E5C8-41BE-A782-F916058A30E0}"/>
              </a:ext>
            </a:extLst>
          </p:cNvPr>
          <p:cNvSpPr txBox="1"/>
          <p:nvPr/>
        </p:nvSpPr>
        <p:spPr>
          <a:xfrm rot="2851893">
            <a:off x="8279832" y="4258657"/>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0.6</a:t>
            </a:r>
          </a:p>
        </p:txBody>
      </p:sp>
      <p:sp>
        <p:nvSpPr>
          <p:cNvPr id="44" name="TextBox 43">
            <a:extLst>
              <a:ext uri="{FF2B5EF4-FFF2-40B4-BE49-F238E27FC236}">
                <a16:creationId xmlns:a16="http://schemas.microsoft.com/office/drawing/2014/main" id="{50FE9912-9969-4D26-B186-FABDEA763B68}"/>
              </a:ext>
            </a:extLst>
          </p:cNvPr>
          <p:cNvSpPr txBox="1"/>
          <p:nvPr/>
        </p:nvSpPr>
        <p:spPr>
          <a:xfrm rot="4056326">
            <a:off x="8758397" y="3057768"/>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0.9</a:t>
            </a:r>
          </a:p>
        </p:txBody>
      </p:sp>
      <p:sp>
        <p:nvSpPr>
          <p:cNvPr id="45" name="TextBox 44">
            <a:extLst>
              <a:ext uri="{FF2B5EF4-FFF2-40B4-BE49-F238E27FC236}">
                <a16:creationId xmlns:a16="http://schemas.microsoft.com/office/drawing/2014/main" id="{77806D34-AFDD-40B1-B987-4BAF218ABE0F}"/>
              </a:ext>
            </a:extLst>
          </p:cNvPr>
          <p:cNvSpPr txBox="1"/>
          <p:nvPr/>
        </p:nvSpPr>
        <p:spPr>
          <a:xfrm rot="21188057">
            <a:off x="9293395" y="2272275"/>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0.9</a:t>
            </a:r>
          </a:p>
        </p:txBody>
      </p:sp>
      <p:sp>
        <p:nvSpPr>
          <p:cNvPr id="46" name="TextBox 45">
            <a:extLst>
              <a:ext uri="{FF2B5EF4-FFF2-40B4-BE49-F238E27FC236}">
                <a16:creationId xmlns:a16="http://schemas.microsoft.com/office/drawing/2014/main" id="{45620EB5-A576-4811-B97E-66629AC2D828}"/>
              </a:ext>
            </a:extLst>
          </p:cNvPr>
          <p:cNvSpPr txBox="1"/>
          <p:nvPr/>
        </p:nvSpPr>
        <p:spPr>
          <a:xfrm rot="2720860">
            <a:off x="9513945" y="2799179"/>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0.8</a:t>
            </a:r>
          </a:p>
        </p:txBody>
      </p:sp>
      <p:cxnSp>
        <p:nvCxnSpPr>
          <p:cNvPr id="47" name="Straight Connector 46">
            <a:extLst>
              <a:ext uri="{FF2B5EF4-FFF2-40B4-BE49-F238E27FC236}">
                <a16:creationId xmlns:a16="http://schemas.microsoft.com/office/drawing/2014/main" id="{DFC4B439-A3B2-41A5-B3CE-6CAEC078BC9B}"/>
              </a:ext>
            </a:extLst>
          </p:cNvPr>
          <p:cNvCxnSpPr>
            <a:stCxn id="21" idx="3"/>
            <a:endCxn id="17" idx="6"/>
          </p:cNvCxnSpPr>
          <p:nvPr/>
        </p:nvCxnSpPr>
        <p:spPr>
          <a:xfrm flipH="1">
            <a:off x="8094505" y="2881469"/>
            <a:ext cx="2299049" cy="2530024"/>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3CBE5A9E-F206-4897-A38F-5A74F5D6DBA7}"/>
              </a:ext>
            </a:extLst>
          </p:cNvPr>
          <p:cNvSpPr txBox="1"/>
          <p:nvPr/>
        </p:nvSpPr>
        <p:spPr>
          <a:xfrm rot="18601060">
            <a:off x="9557706" y="3188867"/>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0.8</a:t>
            </a:r>
          </a:p>
        </p:txBody>
      </p:sp>
      <p:cxnSp>
        <p:nvCxnSpPr>
          <p:cNvPr id="49" name="Straight Connector 48">
            <a:extLst>
              <a:ext uri="{FF2B5EF4-FFF2-40B4-BE49-F238E27FC236}">
                <a16:creationId xmlns:a16="http://schemas.microsoft.com/office/drawing/2014/main" id="{01BC84BE-6B36-4F7A-88DA-96240B74E1BE}"/>
              </a:ext>
            </a:extLst>
          </p:cNvPr>
          <p:cNvCxnSpPr>
            <a:cxnSpLocks/>
            <a:stCxn id="21" idx="4"/>
            <a:endCxn id="19" idx="0"/>
          </p:cNvCxnSpPr>
          <p:nvPr/>
        </p:nvCxnSpPr>
        <p:spPr>
          <a:xfrm flipH="1">
            <a:off x="9881927" y="3062836"/>
            <a:ext cx="949486" cy="2439341"/>
          </a:xfrm>
          <a:prstGeom prst="line">
            <a:avLst/>
          </a:prstGeom>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55553A05-A595-4B64-8E03-13805005ADFC}"/>
              </a:ext>
            </a:extLst>
          </p:cNvPr>
          <p:cNvSpPr txBox="1"/>
          <p:nvPr/>
        </p:nvSpPr>
        <p:spPr>
          <a:xfrm rot="17805345">
            <a:off x="10109546" y="3959109"/>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0.6</a:t>
            </a:r>
          </a:p>
        </p:txBody>
      </p:sp>
      <p:sp>
        <p:nvSpPr>
          <p:cNvPr id="51" name="Oval 50">
            <a:extLst>
              <a:ext uri="{FF2B5EF4-FFF2-40B4-BE49-F238E27FC236}">
                <a16:creationId xmlns:a16="http://schemas.microsoft.com/office/drawing/2014/main" id="{7F4503B7-E575-4256-B5BC-3137B6FC1D99}"/>
              </a:ext>
            </a:extLst>
          </p:cNvPr>
          <p:cNvSpPr/>
          <p:nvPr/>
        </p:nvSpPr>
        <p:spPr>
          <a:xfrm>
            <a:off x="605920" y="2626631"/>
            <a:ext cx="1238452" cy="1238452"/>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A824917</a:t>
            </a:r>
            <a:endParaRPr lang="en-US" sz="1200" b="1" dirty="0"/>
          </a:p>
        </p:txBody>
      </p:sp>
      <p:sp>
        <p:nvSpPr>
          <p:cNvPr id="52" name="Oval 51">
            <a:extLst>
              <a:ext uri="{FF2B5EF4-FFF2-40B4-BE49-F238E27FC236}">
                <a16:creationId xmlns:a16="http://schemas.microsoft.com/office/drawing/2014/main" id="{2B8F5A28-6567-46AC-A572-34CDF18D0C95}"/>
              </a:ext>
            </a:extLst>
          </p:cNvPr>
          <p:cNvSpPr/>
          <p:nvPr/>
        </p:nvSpPr>
        <p:spPr>
          <a:xfrm>
            <a:off x="853356" y="4805343"/>
            <a:ext cx="1238452" cy="1238452"/>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A985464</a:t>
            </a:r>
            <a:endParaRPr lang="en-US" sz="1200" b="1" dirty="0"/>
          </a:p>
        </p:txBody>
      </p:sp>
      <p:sp>
        <p:nvSpPr>
          <p:cNvPr id="53" name="Oval 52">
            <a:extLst>
              <a:ext uri="{FF2B5EF4-FFF2-40B4-BE49-F238E27FC236}">
                <a16:creationId xmlns:a16="http://schemas.microsoft.com/office/drawing/2014/main" id="{85B4A88E-3629-42BD-BF4F-ECB1F557A732}"/>
              </a:ext>
            </a:extLst>
          </p:cNvPr>
          <p:cNvSpPr/>
          <p:nvPr/>
        </p:nvSpPr>
        <p:spPr>
          <a:xfrm>
            <a:off x="1901417" y="1266171"/>
            <a:ext cx="1238452" cy="1238452"/>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A830349</a:t>
            </a:r>
            <a:endParaRPr lang="en-US" sz="1200" b="1" dirty="0"/>
          </a:p>
        </p:txBody>
      </p:sp>
      <p:sp>
        <p:nvSpPr>
          <p:cNvPr id="54" name="Oval 53">
            <a:extLst>
              <a:ext uri="{FF2B5EF4-FFF2-40B4-BE49-F238E27FC236}">
                <a16:creationId xmlns:a16="http://schemas.microsoft.com/office/drawing/2014/main" id="{FEE41AB7-DEF8-42A2-9152-B1EC468EF9A2}"/>
              </a:ext>
            </a:extLst>
          </p:cNvPr>
          <p:cNvSpPr/>
          <p:nvPr/>
        </p:nvSpPr>
        <p:spPr>
          <a:xfrm>
            <a:off x="3260004" y="5515253"/>
            <a:ext cx="1238452" cy="1238452"/>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A956423</a:t>
            </a:r>
            <a:endParaRPr lang="en-US" sz="1200" b="1" dirty="0"/>
          </a:p>
        </p:txBody>
      </p:sp>
      <p:sp>
        <p:nvSpPr>
          <p:cNvPr id="55" name="Oval 54">
            <a:extLst>
              <a:ext uri="{FF2B5EF4-FFF2-40B4-BE49-F238E27FC236}">
                <a16:creationId xmlns:a16="http://schemas.microsoft.com/office/drawing/2014/main" id="{7B098A06-93C7-49E0-84EC-BB474A1E979D}"/>
              </a:ext>
            </a:extLst>
          </p:cNvPr>
          <p:cNvSpPr/>
          <p:nvPr/>
        </p:nvSpPr>
        <p:spPr>
          <a:xfrm>
            <a:off x="4675637" y="4095434"/>
            <a:ext cx="1238452" cy="1238452"/>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A956296</a:t>
            </a:r>
            <a:endParaRPr lang="en-US" sz="1200" b="1" dirty="0"/>
          </a:p>
        </p:txBody>
      </p:sp>
      <p:sp>
        <p:nvSpPr>
          <p:cNvPr id="56" name="Oval 55">
            <a:extLst>
              <a:ext uri="{FF2B5EF4-FFF2-40B4-BE49-F238E27FC236}">
                <a16:creationId xmlns:a16="http://schemas.microsoft.com/office/drawing/2014/main" id="{80265023-60DD-4AB6-92DF-2972F58433EA}"/>
              </a:ext>
            </a:extLst>
          </p:cNvPr>
          <p:cNvSpPr/>
          <p:nvPr/>
        </p:nvSpPr>
        <p:spPr>
          <a:xfrm>
            <a:off x="4209490" y="1837460"/>
            <a:ext cx="1238452" cy="1238452"/>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A875214</a:t>
            </a:r>
            <a:endParaRPr lang="en-US" sz="1200" b="1" dirty="0"/>
          </a:p>
        </p:txBody>
      </p:sp>
      <p:cxnSp>
        <p:nvCxnSpPr>
          <p:cNvPr id="57" name="Straight Connector 56">
            <a:extLst>
              <a:ext uri="{FF2B5EF4-FFF2-40B4-BE49-F238E27FC236}">
                <a16:creationId xmlns:a16="http://schemas.microsoft.com/office/drawing/2014/main" id="{8D748436-56ED-4DBC-AD09-064C7E1C7777}"/>
              </a:ext>
            </a:extLst>
          </p:cNvPr>
          <p:cNvCxnSpPr>
            <a:cxnSpLocks/>
            <a:stCxn id="53" idx="6"/>
            <a:endCxn id="56" idx="1"/>
          </p:cNvCxnSpPr>
          <p:nvPr/>
        </p:nvCxnSpPr>
        <p:spPr>
          <a:xfrm>
            <a:off x="3139869" y="1885397"/>
            <a:ext cx="1250988" cy="133430"/>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F6A58C2A-CC8A-4474-AD7D-988DA1D675E6}"/>
              </a:ext>
            </a:extLst>
          </p:cNvPr>
          <p:cNvCxnSpPr>
            <a:cxnSpLocks/>
            <a:stCxn id="56" idx="4"/>
            <a:endCxn id="55" idx="7"/>
          </p:cNvCxnSpPr>
          <p:nvPr/>
        </p:nvCxnSpPr>
        <p:spPr>
          <a:xfrm>
            <a:off x="4828716" y="3075912"/>
            <a:ext cx="904006" cy="1200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1AE3363D-9A7A-4905-9561-021900E3BEFB}"/>
              </a:ext>
            </a:extLst>
          </p:cNvPr>
          <p:cNvCxnSpPr>
            <a:stCxn id="55" idx="3"/>
            <a:endCxn id="54" idx="7"/>
          </p:cNvCxnSpPr>
          <p:nvPr/>
        </p:nvCxnSpPr>
        <p:spPr>
          <a:xfrm flipH="1">
            <a:off x="4317089" y="5152519"/>
            <a:ext cx="539915" cy="544101"/>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D7B1D83-826C-40E0-8A40-23DA1ED6FF4D}"/>
              </a:ext>
            </a:extLst>
          </p:cNvPr>
          <p:cNvCxnSpPr>
            <a:cxnSpLocks/>
            <a:stCxn id="54" idx="2"/>
            <a:endCxn id="52" idx="4"/>
          </p:cNvCxnSpPr>
          <p:nvPr/>
        </p:nvCxnSpPr>
        <p:spPr>
          <a:xfrm flipH="1" flipV="1">
            <a:off x="1472582" y="6043795"/>
            <a:ext cx="1787422" cy="90684"/>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89D42CD5-E5F6-461E-93E5-A6EA30EED37F}"/>
              </a:ext>
            </a:extLst>
          </p:cNvPr>
          <p:cNvCxnSpPr>
            <a:stCxn id="52" idx="0"/>
            <a:endCxn id="51" idx="4"/>
          </p:cNvCxnSpPr>
          <p:nvPr/>
        </p:nvCxnSpPr>
        <p:spPr>
          <a:xfrm flipH="1" flipV="1">
            <a:off x="1225146" y="3865083"/>
            <a:ext cx="247436" cy="94026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CC83CC50-E76C-4FFC-9CC0-CED772C46357}"/>
              </a:ext>
            </a:extLst>
          </p:cNvPr>
          <p:cNvCxnSpPr>
            <a:cxnSpLocks/>
            <a:stCxn id="51" idx="0"/>
            <a:endCxn id="53" idx="2"/>
          </p:cNvCxnSpPr>
          <p:nvPr/>
        </p:nvCxnSpPr>
        <p:spPr>
          <a:xfrm flipV="1">
            <a:off x="1225146" y="1885397"/>
            <a:ext cx="676271" cy="741234"/>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45BCB3D1-FB57-484A-8D17-DFCAEB53B9A9}"/>
              </a:ext>
            </a:extLst>
          </p:cNvPr>
          <p:cNvCxnSpPr>
            <a:cxnSpLocks/>
            <a:stCxn id="53" idx="3"/>
            <a:endCxn id="52" idx="7"/>
          </p:cNvCxnSpPr>
          <p:nvPr/>
        </p:nvCxnSpPr>
        <p:spPr>
          <a:xfrm flipH="1">
            <a:off x="1910441" y="2323256"/>
            <a:ext cx="172343" cy="2663454"/>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F12C2BA-41F3-4505-8EF7-BC949714F455}"/>
              </a:ext>
            </a:extLst>
          </p:cNvPr>
          <p:cNvCxnSpPr>
            <a:cxnSpLocks/>
            <a:stCxn id="53" idx="5"/>
            <a:endCxn id="55" idx="0"/>
          </p:cNvCxnSpPr>
          <p:nvPr/>
        </p:nvCxnSpPr>
        <p:spPr>
          <a:xfrm>
            <a:off x="2958502" y="2323256"/>
            <a:ext cx="2336361" cy="1772178"/>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FC656FEA-2D63-42AF-89AF-EDB3F988923D}"/>
              </a:ext>
            </a:extLst>
          </p:cNvPr>
          <p:cNvCxnSpPr>
            <a:stCxn id="54" idx="0"/>
            <a:endCxn id="53" idx="4"/>
          </p:cNvCxnSpPr>
          <p:nvPr/>
        </p:nvCxnSpPr>
        <p:spPr>
          <a:xfrm flipH="1" flipV="1">
            <a:off x="2520643" y="2504623"/>
            <a:ext cx="1358587" cy="3010630"/>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B6417331-6575-453E-864F-C88774AE840E}"/>
              </a:ext>
            </a:extLst>
          </p:cNvPr>
          <p:cNvCxnSpPr>
            <a:cxnSpLocks/>
            <a:stCxn id="51" idx="7"/>
            <a:endCxn id="56" idx="2"/>
          </p:cNvCxnSpPr>
          <p:nvPr/>
        </p:nvCxnSpPr>
        <p:spPr>
          <a:xfrm flipV="1">
            <a:off x="1663005" y="2456686"/>
            <a:ext cx="2546485" cy="351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76BDD35-D22C-41E1-B3FF-C496B37001A9}"/>
              </a:ext>
            </a:extLst>
          </p:cNvPr>
          <p:cNvCxnSpPr>
            <a:cxnSpLocks/>
            <a:stCxn id="52" idx="5"/>
            <a:endCxn id="55" idx="2"/>
          </p:cNvCxnSpPr>
          <p:nvPr/>
        </p:nvCxnSpPr>
        <p:spPr>
          <a:xfrm flipV="1">
            <a:off x="1910441" y="4714660"/>
            <a:ext cx="2765196" cy="1147768"/>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7DCF0C9-74EE-415E-B145-DD92BF28C38D}"/>
              </a:ext>
            </a:extLst>
          </p:cNvPr>
          <p:cNvCxnSpPr>
            <a:stCxn id="51" idx="5"/>
            <a:endCxn id="54" idx="1"/>
          </p:cNvCxnSpPr>
          <p:nvPr/>
        </p:nvCxnSpPr>
        <p:spPr>
          <a:xfrm>
            <a:off x="1663005" y="3683716"/>
            <a:ext cx="1778366" cy="2012904"/>
          </a:xfrm>
          <a:prstGeom prst="line">
            <a:avLst/>
          </a:prstGeom>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FA72BD34-2344-4F6D-B810-474F59956FF5}"/>
              </a:ext>
            </a:extLst>
          </p:cNvPr>
          <p:cNvSpPr txBox="1"/>
          <p:nvPr/>
        </p:nvSpPr>
        <p:spPr>
          <a:xfrm rot="18509583">
            <a:off x="1189243" y="2011669"/>
            <a:ext cx="536347"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0.78</a:t>
            </a:r>
          </a:p>
        </p:txBody>
      </p:sp>
      <p:sp>
        <p:nvSpPr>
          <p:cNvPr id="70" name="TextBox 69">
            <a:extLst>
              <a:ext uri="{FF2B5EF4-FFF2-40B4-BE49-F238E27FC236}">
                <a16:creationId xmlns:a16="http://schemas.microsoft.com/office/drawing/2014/main" id="{1226F4C7-830B-49C1-AAA5-0483605EECF0}"/>
              </a:ext>
            </a:extLst>
          </p:cNvPr>
          <p:cNvSpPr txBox="1"/>
          <p:nvPr/>
        </p:nvSpPr>
        <p:spPr>
          <a:xfrm rot="449452">
            <a:off x="3373092" y="1648720"/>
            <a:ext cx="602711"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0.78</a:t>
            </a:r>
          </a:p>
        </p:txBody>
      </p:sp>
      <p:sp>
        <p:nvSpPr>
          <p:cNvPr id="71" name="TextBox 70">
            <a:extLst>
              <a:ext uri="{FF2B5EF4-FFF2-40B4-BE49-F238E27FC236}">
                <a16:creationId xmlns:a16="http://schemas.microsoft.com/office/drawing/2014/main" id="{E21DF15D-33A6-48BE-9B07-B471CBE26613}"/>
              </a:ext>
            </a:extLst>
          </p:cNvPr>
          <p:cNvSpPr txBox="1"/>
          <p:nvPr/>
        </p:nvSpPr>
        <p:spPr>
          <a:xfrm rot="20580654">
            <a:off x="3804376" y="4698350"/>
            <a:ext cx="373823"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0.9</a:t>
            </a:r>
          </a:p>
        </p:txBody>
      </p:sp>
      <p:sp>
        <p:nvSpPr>
          <p:cNvPr id="72" name="TextBox 71">
            <a:extLst>
              <a:ext uri="{FF2B5EF4-FFF2-40B4-BE49-F238E27FC236}">
                <a16:creationId xmlns:a16="http://schemas.microsoft.com/office/drawing/2014/main" id="{200AC7B1-65AA-41E9-9F23-A3DD6CD2CA89}"/>
              </a:ext>
            </a:extLst>
          </p:cNvPr>
          <p:cNvSpPr txBox="1"/>
          <p:nvPr/>
        </p:nvSpPr>
        <p:spPr>
          <a:xfrm rot="18509583">
            <a:off x="4250516" y="5232031"/>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0.9</a:t>
            </a:r>
          </a:p>
        </p:txBody>
      </p:sp>
      <p:sp>
        <p:nvSpPr>
          <p:cNvPr id="73" name="TextBox 72">
            <a:extLst>
              <a:ext uri="{FF2B5EF4-FFF2-40B4-BE49-F238E27FC236}">
                <a16:creationId xmlns:a16="http://schemas.microsoft.com/office/drawing/2014/main" id="{CCCDB8A3-5004-419F-B172-B313F6528881}"/>
              </a:ext>
            </a:extLst>
          </p:cNvPr>
          <p:cNvSpPr txBox="1"/>
          <p:nvPr/>
        </p:nvSpPr>
        <p:spPr>
          <a:xfrm rot="346570">
            <a:off x="2355639" y="5844062"/>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1.0</a:t>
            </a:r>
          </a:p>
        </p:txBody>
      </p:sp>
      <p:sp>
        <p:nvSpPr>
          <p:cNvPr id="74" name="TextBox 73">
            <a:extLst>
              <a:ext uri="{FF2B5EF4-FFF2-40B4-BE49-F238E27FC236}">
                <a16:creationId xmlns:a16="http://schemas.microsoft.com/office/drawing/2014/main" id="{C895DBD5-20EA-4362-B059-B31F5E29CD9D}"/>
              </a:ext>
            </a:extLst>
          </p:cNvPr>
          <p:cNvSpPr txBox="1"/>
          <p:nvPr/>
        </p:nvSpPr>
        <p:spPr>
          <a:xfrm rot="3218784">
            <a:off x="5044635" y="3311094"/>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0.6</a:t>
            </a:r>
          </a:p>
        </p:txBody>
      </p:sp>
      <p:sp>
        <p:nvSpPr>
          <p:cNvPr id="75" name="TextBox 74">
            <a:extLst>
              <a:ext uri="{FF2B5EF4-FFF2-40B4-BE49-F238E27FC236}">
                <a16:creationId xmlns:a16="http://schemas.microsoft.com/office/drawing/2014/main" id="{C1C8BCE3-860C-452A-B023-EAD6D6C9A56D}"/>
              </a:ext>
            </a:extLst>
          </p:cNvPr>
          <p:cNvSpPr txBox="1"/>
          <p:nvPr/>
        </p:nvSpPr>
        <p:spPr>
          <a:xfrm rot="4766206">
            <a:off x="1258825" y="4176762"/>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0.8</a:t>
            </a:r>
          </a:p>
        </p:txBody>
      </p:sp>
      <p:sp>
        <p:nvSpPr>
          <p:cNvPr id="76" name="TextBox 75">
            <a:extLst>
              <a:ext uri="{FF2B5EF4-FFF2-40B4-BE49-F238E27FC236}">
                <a16:creationId xmlns:a16="http://schemas.microsoft.com/office/drawing/2014/main" id="{46C8E406-DD26-40DD-B9B4-5E36A9B39EFE}"/>
              </a:ext>
            </a:extLst>
          </p:cNvPr>
          <p:cNvSpPr txBox="1"/>
          <p:nvPr/>
        </p:nvSpPr>
        <p:spPr>
          <a:xfrm rot="5400000">
            <a:off x="1915533" y="3669437"/>
            <a:ext cx="4040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1.0</a:t>
            </a:r>
          </a:p>
        </p:txBody>
      </p:sp>
      <p:sp>
        <p:nvSpPr>
          <p:cNvPr id="77" name="TextBox 76">
            <a:extLst>
              <a:ext uri="{FF2B5EF4-FFF2-40B4-BE49-F238E27FC236}">
                <a16:creationId xmlns:a16="http://schemas.microsoft.com/office/drawing/2014/main" id="{C2D35168-3268-4A11-8EC5-7872CC808537}"/>
              </a:ext>
            </a:extLst>
          </p:cNvPr>
          <p:cNvSpPr txBox="1"/>
          <p:nvPr/>
        </p:nvSpPr>
        <p:spPr>
          <a:xfrm rot="2851893">
            <a:off x="2277135" y="4271733"/>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0.6</a:t>
            </a:r>
          </a:p>
        </p:txBody>
      </p:sp>
      <p:sp>
        <p:nvSpPr>
          <p:cNvPr id="78" name="TextBox 77">
            <a:extLst>
              <a:ext uri="{FF2B5EF4-FFF2-40B4-BE49-F238E27FC236}">
                <a16:creationId xmlns:a16="http://schemas.microsoft.com/office/drawing/2014/main" id="{C49E9028-4E02-4B47-917F-EBF4D73765D6}"/>
              </a:ext>
            </a:extLst>
          </p:cNvPr>
          <p:cNvSpPr txBox="1"/>
          <p:nvPr/>
        </p:nvSpPr>
        <p:spPr>
          <a:xfrm rot="4056326">
            <a:off x="2755700" y="3070844"/>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0.9</a:t>
            </a:r>
          </a:p>
        </p:txBody>
      </p:sp>
      <p:sp>
        <p:nvSpPr>
          <p:cNvPr id="79" name="TextBox 78">
            <a:extLst>
              <a:ext uri="{FF2B5EF4-FFF2-40B4-BE49-F238E27FC236}">
                <a16:creationId xmlns:a16="http://schemas.microsoft.com/office/drawing/2014/main" id="{768177CA-B350-494C-9BC5-F2DEC17BA1FB}"/>
              </a:ext>
            </a:extLst>
          </p:cNvPr>
          <p:cNvSpPr txBox="1"/>
          <p:nvPr/>
        </p:nvSpPr>
        <p:spPr>
          <a:xfrm rot="21188057">
            <a:off x="3290698" y="2285351"/>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0.9</a:t>
            </a:r>
          </a:p>
        </p:txBody>
      </p:sp>
      <p:sp>
        <p:nvSpPr>
          <p:cNvPr id="80" name="TextBox 79">
            <a:extLst>
              <a:ext uri="{FF2B5EF4-FFF2-40B4-BE49-F238E27FC236}">
                <a16:creationId xmlns:a16="http://schemas.microsoft.com/office/drawing/2014/main" id="{3B1BFDC0-8CE9-4412-A5CE-E7B738A12EC2}"/>
              </a:ext>
            </a:extLst>
          </p:cNvPr>
          <p:cNvSpPr txBox="1"/>
          <p:nvPr/>
        </p:nvSpPr>
        <p:spPr>
          <a:xfrm rot="2134014">
            <a:off x="4121071" y="3086000"/>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0.8</a:t>
            </a:r>
          </a:p>
        </p:txBody>
      </p:sp>
      <p:cxnSp>
        <p:nvCxnSpPr>
          <p:cNvPr id="81" name="Straight Connector 80">
            <a:extLst>
              <a:ext uri="{FF2B5EF4-FFF2-40B4-BE49-F238E27FC236}">
                <a16:creationId xmlns:a16="http://schemas.microsoft.com/office/drawing/2014/main" id="{D9185D26-A369-459A-B715-6E7F54D2A671}"/>
              </a:ext>
            </a:extLst>
          </p:cNvPr>
          <p:cNvCxnSpPr>
            <a:stCxn id="56" idx="3"/>
            <a:endCxn id="52" idx="6"/>
          </p:cNvCxnSpPr>
          <p:nvPr/>
        </p:nvCxnSpPr>
        <p:spPr>
          <a:xfrm flipH="1">
            <a:off x="2091808" y="2894545"/>
            <a:ext cx="2299049" cy="2530024"/>
          </a:xfrm>
          <a:prstGeom prst="line">
            <a:avLst/>
          </a:prstGeom>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1EC24B0D-E52E-495E-83A3-E1274CA454B5}"/>
              </a:ext>
            </a:extLst>
          </p:cNvPr>
          <p:cNvSpPr txBox="1"/>
          <p:nvPr/>
        </p:nvSpPr>
        <p:spPr>
          <a:xfrm rot="18601060">
            <a:off x="3555009" y="3201943"/>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0.8</a:t>
            </a:r>
          </a:p>
        </p:txBody>
      </p:sp>
      <p:cxnSp>
        <p:nvCxnSpPr>
          <p:cNvPr id="83" name="Straight Connector 82">
            <a:extLst>
              <a:ext uri="{FF2B5EF4-FFF2-40B4-BE49-F238E27FC236}">
                <a16:creationId xmlns:a16="http://schemas.microsoft.com/office/drawing/2014/main" id="{D95AD9D0-E6AA-43E9-8320-626FEF465B6C}"/>
              </a:ext>
            </a:extLst>
          </p:cNvPr>
          <p:cNvCxnSpPr>
            <a:cxnSpLocks/>
            <a:stCxn id="56" idx="4"/>
            <a:endCxn id="54" idx="0"/>
          </p:cNvCxnSpPr>
          <p:nvPr/>
        </p:nvCxnSpPr>
        <p:spPr>
          <a:xfrm flipH="1">
            <a:off x="3879230" y="3075912"/>
            <a:ext cx="949486" cy="2439341"/>
          </a:xfrm>
          <a:prstGeom prst="line">
            <a:avLst/>
          </a:prstGeom>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C6BAC3A4-C789-4BD6-8801-20D7BC0AC281}"/>
              </a:ext>
            </a:extLst>
          </p:cNvPr>
          <p:cNvSpPr txBox="1"/>
          <p:nvPr/>
        </p:nvSpPr>
        <p:spPr>
          <a:xfrm rot="17268870">
            <a:off x="4203065" y="3650680"/>
            <a:ext cx="437704"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0.6</a:t>
            </a:r>
          </a:p>
        </p:txBody>
      </p:sp>
      <p:pic>
        <p:nvPicPr>
          <p:cNvPr id="85" name="Picture 84" descr="A picture containing text, watch, clock&#10;&#10;Description automatically generated">
            <a:extLst>
              <a:ext uri="{FF2B5EF4-FFF2-40B4-BE49-F238E27FC236}">
                <a16:creationId xmlns:a16="http://schemas.microsoft.com/office/drawing/2014/main" id="{DACE0CEF-65D8-4D73-84DB-C811C608D6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94924" y="1081841"/>
            <a:ext cx="2419350" cy="523875"/>
          </a:xfrm>
          <a:prstGeom prst="rect">
            <a:avLst/>
          </a:prstGeom>
        </p:spPr>
      </p:pic>
      <p:sp>
        <p:nvSpPr>
          <p:cNvPr id="86" name="TextBox 85">
            <a:extLst>
              <a:ext uri="{FF2B5EF4-FFF2-40B4-BE49-F238E27FC236}">
                <a16:creationId xmlns:a16="http://schemas.microsoft.com/office/drawing/2014/main" id="{285C2F87-0F59-493F-B03F-9785F88B03AF}"/>
              </a:ext>
            </a:extLst>
          </p:cNvPr>
          <p:cNvSpPr txBox="1"/>
          <p:nvPr/>
        </p:nvSpPr>
        <p:spPr>
          <a:xfrm>
            <a:off x="5194050" y="1501518"/>
            <a:ext cx="2473410" cy="507831"/>
          </a:xfrm>
          <a:prstGeom prst="rect">
            <a:avLst/>
          </a:prstGeom>
          <a:noFill/>
        </p:spPr>
        <p:txBody>
          <a:bodyPr wrap="square" rtlCol="0">
            <a:spAutoFit/>
          </a:bodyPr>
          <a:lstStyle/>
          <a:p>
            <a:r>
              <a:rPr lang="en-US" sz="900" dirty="0"/>
              <a:t>m </a:t>
            </a:r>
            <a:r>
              <a:rPr lang="en-US" sz="900" dirty="0">
                <a:sym typeface="Wingdings" panose="05000000000000000000" pitchFamily="2" charset="2"/>
              </a:rPr>
              <a:t> is the sum of all edge weights in the graph</a:t>
            </a:r>
          </a:p>
          <a:p>
            <a:r>
              <a:rPr lang="en-US" sz="900" dirty="0">
                <a:sym typeface="Wingdings" panose="05000000000000000000" pitchFamily="2" charset="2"/>
              </a:rPr>
              <a:t>A  weight between node </a:t>
            </a:r>
            <a:r>
              <a:rPr lang="en-US" sz="900" dirty="0" err="1">
                <a:sym typeface="Wingdings" panose="05000000000000000000" pitchFamily="2" charset="2"/>
              </a:rPr>
              <a:t>i</a:t>
            </a:r>
            <a:r>
              <a:rPr lang="en-US" sz="900" dirty="0">
                <a:sym typeface="Wingdings" panose="05000000000000000000" pitchFamily="2" charset="2"/>
              </a:rPr>
              <a:t> and node j</a:t>
            </a:r>
          </a:p>
          <a:p>
            <a:r>
              <a:rPr lang="en-US" sz="900" dirty="0">
                <a:sym typeface="Wingdings" panose="05000000000000000000" pitchFamily="2" charset="2"/>
              </a:rPr>
              <a:t>k  sum of weights of node </a:t>
            </a:r>
            <a:r>
              <a:rPr lang="en-US" sz="900" dirty="0" err="1">
                <a:sym typeface="Wingdings" panose="05000000000000000000" pitchFamily="2" charset="2"/>
              </a:rPr>
              <a:t>i</a:t>
            </a:r>
            <a:r>
              <a:rPr lang="en-US" sz="900" dirty="0">
                <a:sym typeface="Wingdings" panose="05000000000000000000" pitchFamily="2" charset="2"/>
              </a:rPr>
              <a:t> neighborhood</a:t>
            </a:r>
          </a:p>
        </p:txBody>
      </p:sp>
    </p:spTree>
    <p:extLst>
      <p:ext uri="{BB962C8B-B14F-4D97-AF65-F5344CB8AC3E}">
        <p14:creationId xmlns:p14="http://schemas.microsoft.com/office/powerpoint/2010/main" val="3137313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C95809-1897-4598-80A6-32D1B53F202F}"/>
              </a:ext>
            </a:extLst>
          </p:cNvPr>
          <p:cNvSpPr>
            <a:spLocks noGrp="1"/>
          </p:cNvSpPr>
          <p:nvPr>
            <p:ph type="title"/>
          </p:nvPr>
        </p:nvSpPr>
        <p:spPr>
          <a:xfrm>
            <a:off x="838200" y="278535"/>
            <a:ext cx="9895951" cy="1033669"/>
          </a:xfrm>
        </p:spPr>
        <p:txBody>
          <a:bodyPr>
            <a:normAutofit/>
          </a:bodyPr>
          <a:lstStyle/>
          <a:p>
            <a:r>
              <a:rPr lang="en-US" sz="4000" dirty="0">
                <a:solidFill>
                  <a:srgbClr val="FFFFFF"/>
                </a:solidFill>
              </a:rPr>
              <a:t>2A. Evaluation</a:t>
            </a:r>
          </a:p>
        </p:txBody>
      </p:sp>
      <p:sp>
        <p:nvSpPr>
          <p:cNvPr id="4" name="Date Placeholder 3">
            <a:extLst>
              <a:ext uri="{FF2B5EF4-FFF2-40B4-BE49-F238E27FC236}">
                <a16:creationId xmlns:a16="http://schemas.microsoft.com/office/drawing/2014/main" id="{BD5A8EF5-1D2C-43EF-BE0E-6848FB3B8103}"/>
              </a:ext>
            </a:extLst>
          </p:cNvPr>
          <p:cNvSpPr>
            <a:spLocks noGrp="1"/>
          </p:cNvSpPr>
          <p:nvPr>
            <p:ph type="dt" sz="half" idx="10"/>
          </p:nvPr>
        </p:nvSpPr>
        <p:spPr/>
        <p:txBody>
          <a:bodyPr/>
          <a:lstStyle/>
          <a:p>
            <a:fld id="{512C8548-BDD0-4D67-82DF-8B0877410303}" type="datetime1">
              <a:rPr lang="en-US" smtClean="0"/>
              <a:t>5/19/2023</a:t>
            </a:fld>
            <a:endParaRPr lang="en-US"/>
          </a:p>
        </p:txBody>
      </p:sp>
      <p:sp>
        <p:nvSpPr>
          <p:cNvPr id="5" name="Footer Placeholder 4">
            <a:extLst>
              <a:ext uri="{FF2B5EF4-FFF2-40B4-BE49-F238E27FC236}">
                <a16:creationId xmlns:a16="http://schemas.microsoft.com/office/drawing/2014/main" id="{22713089-7C73-42EC-A066-EAFFDCC826D5}"/>
              </a:ext>
            </a:extLst>
          </p:cNvPr>
          <p:cNvSpPr>
            <a:spLocks noGrp="1"/>
          </p:cNvSpPr>
          <p:nvPr>
            <p:ph type="ftr" sz="quarter" idx="11"/>
          </p:nvPr>
        </p:nvSpPr>
        <p:spPr/>
        <p:txBody>
          <a:bodyPr/>
          <a:lstStyle/>
          <a:p>
            <a:r>
              <a:rPr lang="en-US" dirty="0"/>
              <a:t>Ebeid - Spring 2023</a:t>
            </a:r>
          </a:p>
        </p:txBody>
      </p:sp>
      <p:sp>
        <p:nvSpPr>
          <p:cNvPr id="6" name="Slide Number Placeholder 5">
            <a:extLst>
              <a:ext uri="{FF2B5EF4-FFF2-40B4-BE49-F238E27FC236}">
                <a16:creationId xmlns:a16="http://schemas.microsoft.com/office/drawing/2014/main" id="{C627CBF4-4AEE-41BF-A857-DBC168FA0AF7}"/>
              </a:ext>
            </a:extLst>
          </p:cNvPr>
          <p:cNvSpPr>
            <a:spLocks noGrp="1"/>
          </p:cNvSpPr>
          <p:nvPr>
            <p:ph type="sldNum" sz="quarter" idx="12"/>
          </p:nvPr>
        </p:nvSpPr>
        <p:spPr/>
        <p:txBody>
          <a:bodyPr/>
          <a:lstStyle/>
          <a:p>
            <a:fld id="{174AA435-B3B0-4B6E-A265-E4C5F17628FB}" type="slidenum">
              <a:rPr lang="en-US" smtClean="0"/>
              <a:t>14</a:t>
            </a:fld>
            <a:endParaRPr lang="en-US"/>
          </a:p>
        </p:txBody>
      </p:sp>
      <p:graphicFrame>
        <p:nvGraphicFramePr>
          <p:cNvPr id="13" name="Table 12">
            <a:extLst>
              <a:ext uri="{FF2B5EF4-FFF2-40B4-BE49-F238E27FC236}">
                <a16:creationId xmlns:a16="http://schemas.microsoft.com/office/drawing/2014/main" id="{D55CFE54-3786-4C44-B6B6-7EB2D33E9288}"/>
              </a:ext>
            </a:extLst>
          </p:cNvPr>
          <p:cNvGraphicFramePr>
            <a:graphicFrameLocks noGrp="1"/>
          </p:cNvGraphicFramePr>
          <p:nvPr>
            <p:extLst>
              <p:ext uri="{D42A27DB-BD31-4B8C-83A1-F6EECF244321}">
                <p14:modId xmlns:p14="http://schemas.microsoft.com/office/powerpoint/2010/main" val="1831738344"/>
              </p:ext>
            </p:extLst>
          </p:nvPr>
        </p:nvGraphicFramePr>
        <p:xfrm>
          <a:off x="838200" y="2048053"/>
          <a:ext cx="10515600" cy="1467104"/>
        </p:xfrm>
        <a:graphic>
          <a:graphicData uri="http://schemas.openxmlformats.org/drawingml/2006/table">
            <a:tbl>
              <a:tblPr firstRow="1" firstCol="1" bandRow="1">
                <a:tableStyleId>{69012ECD-51FC-41F1-AA8D-1B2483CD663E}</a:tableStyleId>
              </a:tblPr>
              <a:tblGrid>
                <a:gridCol w="1669877">
                  <a:extLst>
                    <a:ext uri="{9D8B030D-6E8A-4147-A177-3AD203B41FA5}">
                      <a16:colId xmlns:a16="http://schemas.microsoft.com/office/drawing/2014/main" val="269539896"/>
                    </a:ext>
                  </a:extLst>
                </a:gridCol>
                <a:gridCol w="1976933">
                  <a:extLst>
                    <a:ext uri="{9D8B030D-6E8A-4147-A177-3AD203B41FA5}">
                      <a16:colId xmlns:a16="http://schemas.microsoft.com/office/drawing/2014/main" val="3324433808"/>
                    </a:ext>
                  </a:extLst>
                </a:gridCol>
                <a:gridCol w="1400678">
                  <a:extLst>
                    <a:ext uri="{9D8B030D-6E8A-4147-A177-3AD203B41FA5}">
                      <a16:colId xmlns:a16="http://schemas.microsoft.com/office/drawing/2014/main" val="2230641032"/>
                    </a:ext>
                  </a:extLst>
                </a:gridCol>
                <a:gridCol w="1831818">
                  <a:extLst>
                    <a:ext uri="{9D8B030D-6E8A-4147-A177-3AD203B41FA5}">
                      <a16:colId xmlns:a16="http://schemas.microsoft.com/office/drawing/2014/main" val="1377405668"/>
                    </a:ext>
                  </a:extLst>
                </a:gridCol>
                <a:gridCol w="3636294">
                  <a:extLst>
                    <a:ext uri="{9D8B030D-6E8A-4147-A177-3AD203B41FA5}">
                      <a16:colId xmlns:a16="http://schemas.microsoft.com/office/drawing/2014/main" val="1250076251"/>
                    </a:ext>
                  </a:extLst>
                </a:gridCol>
              </a:tblGrid>
              <a:tr h="0">
                <a:tc>
                  <a:txBody>
                    <a:bodyPr/>
                    <a:lstStyle/>
                    <a:p>
                      <a:pPr marL="0" marR="0" indent="0" algn="just">
                        <a:lnSpc>
                          <a:spcPct val="200000"/>
                        </a:lnSpc>
                        <a:spcBef>
                          <a:spcPts val="0"/>
                        </a:spcBef>
                        <a:spcAft>
                          <a:spcPts val="0"/>
                        </a:spcAft>
                      </a:pPr>
                      <a:r>
                        <a:rPr lang="en-US" sz="1400" kern="1200" dirty="0">
                          <a:effectLst/>
                        </a:rPr>
                        <a:t>Method</a:t>
                      </a:r>
                      <a:endParaRPr lang="en-US" sz="2000" kern="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a:effectLst/>
                        </a:rPr>
                        <a:t>Precision</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a:effectLst/>
                        </a:rPr>
                        <a:t>Recall</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dirty="0">
                          <a:effectLst/>
                        </a:rPr>
                        <a:t>F1-Score</a:t>
                      </a:r>
                      <a:endParaRPr lang="en-US" sz="2000" kern="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a:effectLst/>
                        </a:rPr>
                        <a:t>Balanced Accuracy</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80591666"/>
                  </a:ext>
                </a:extLst>
              </a:tr>
              <a:tr h="0">
                <a:tc>
                  <a:txBody>
                    <a:bodyPr/>
                    <a:lstStyle/>
                    <a:p>
                      <a:pPr marL="0" marR="0" indent="0" algn="just">
                        <a:lnSpc>
                          <a:spcPct val="200000"/>
                        </a:lnSpc>
                        <a:spcBef>
                          <a:spcPts val="0"/>
                        </a:spcBef>
                        <a:spcAft>
                          <a:spcPts val="0"/>
                        </a:spcAft>
                      </a:pPr>
                      <a:r>
                        <a:rPr lang="en-US" sz="1400" kern="1200">
                          <a:effectLst/>
                        </a:rPr>
                        <a:t>DWM</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dirty="0">
                          <a:effectLst/>
                        </a:rPr>
                        <a:t>72.43</a:t>
                      </a:r>
                      <a:endParaRPr lang="en-US" sz="2000" kern="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a:effectLst/>
                        </a:rPr>
                        <a:t>57.82</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a:effectLst/>
                        </a:rPr>
                        <a:t>62.97</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a:effectLst/>
                        </a:rPr>
                        <a:t>76.89</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16409882"/>
                  </a:ext>
                </a:extLst>
              </a:tr>
              <a:tr h="0">
                <a:tc>
                  <a:txBody>
                    <a:bodyPr/>
                    <a:lstStyle/>
                    <a:p>
                      <a:pPr marL="0" marR="0" indent="0" algn="just">
                        <a:lnSpc>
                          <a:spcPct val="200000"/>
                        </a:lnSpc>
                        <a:spcBef>
                          <a:spcPts val="0"/>
                        </a:spcBef>
                        <a:spcAft>
                          <a:spcPts val="0"/>
                        </a:spcAft>
                      </a:pPr>
                      <a:r>
                        <a:rPr lang="en-US" sz="1400" kern="1200">
                          <a:effectLst/>
                        </a:rPr>
                        <a:t>GDWM</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a:effectLst/>
                        </a:rPr>
                        <a:t>84.78</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a:effectLst/>
                        </a:rPr>
                        <a:t>68.62</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a:effectLst/>
                        </a:rPr>
                        <a:t>71.47</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a:effectLst/>
                        </a:rPr>
                        <a:t>84.31</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60510904"/>
                  </a:ext>
                </a:extLst>
              </a:tr>
              <a:tr h="0">
                <a:tc>
                  <a:txBody>
                    <a:bodyPr/>
                    <a:lstStyle/>
                    <a:p>
                      <a:pPr marL="0" marR="0" indent="0" algn="just">
                        <a:lnSpc>
                          <a:spcPct val="200000"/>
                        </a:lnSpc>
                        <a:spcBef>
                          <a:spcPts val="0"/>
                        </a:spcBef>
                        <a:spcAft>
                          <a:spcPts val="0"/>
                        </a:spcAft>
                      </a:pPr>
                      <a:r>
                        <a:rPr lang="en-US" sz="1400" kern="1200">
                          <a:effectLst/>
                        </a:rPr>
                        <a:t>ModER</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a:effectLst/>
                        </a:rPr>
                        <a:t>80.308</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dirty="0">
                          <a:effectLst/>
                        </a:rPr>
                        <a:t>44.24</a:t>
                      </a:r>
                      <a:endParaRPr lang="en-US" sz="2000" kern="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a:effectLst/>
                        </a:rPr>
                        <a:t>51.691</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dirty="0">
                          <a:effectLst/>
                        </a:rPr>
                        <a:t>72.113</a:t>
                      </a:r>
                      <a:endParaRPr lang="en-US" sz="2000" kern="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62665897"/>
                  </a:ext>
                </a:extLst>
              </a:tr>
            </a:tbl>
          </a:graphicData>
        </a:graphic>
      </p:graphicFrame>
      <p:graphicFrame>
        <p:nvGraphicFramePr>
          <p:cNvPr id="15" name="Table 14">
            <a:extLst>
              <a:ext uri="{FF2B5EF4-FFF2-40B4-BE49-F238E27FC236}">
                <a16:creationId xmlns:a16="http://schemas.microsoft.com/office/drawing/2014/main" id="{2555A636-2203-4579-9769-119CAE20DD17}"/>
              </a:ext>
            </a:extLst>
          </p:cNvPr>
          <p:cNvGraphicFramePr>
            <a:graphicFrameLocks noGrp="1"/>
          </p:cNvGraphicFramePr>
          <p:nvPr>
            <p:extLst>
              <p:ext uri="{D42A27DB-BD31-4B8C-83A1-F6EECF244321}">
                <p14:modId xmlns:p14="http://schemas.microsoft.com/office/powerpoint/2010/main" val="1226766309"/>
              </p:ext>
            </p:extLst>
          </p:nvPr>
        </p:nvGraphicFramePr>
        <p:xfrm>
          <a:off x="838200" y="4433760"/>
          <a:ext cx="10515600" cy="1100328"/>
        </p:xfrm>
        <a:graphic>
          <a:graphicData uri="http://schemas.openxmlformats.org/drawingml/2006/table">
            <a:tbl>
              <a:tblPr firstRow="1" firstCol="1" bandRow="1">
                <a:tableStyleId>{69012ECD-51FC-41F1-AA8D-1B2483CD663E}</a:tableStyleId>
              </a:tblPr>
              <a:tblGrid>
                <a:gridCol w="5228356">
                  <a:extLst>
                    <a:ext uri="{9D8B030D-6E8A-4147-A177-3AD203B41FA5}">
                      <a16:colId xmlns:a16="http://schemas.microsoft.com/office/drawing/2014/main" val="2527239464"/>
                    </a:ext>
                  </a:extLst>
                </a:gridCol>
                <a:gridCol w="5287244">
                  <a:extLst>
                    <a:ext uri="{9D8B030D-6E8A-4147-A177-3AD203B41FA5}">
                      <a16:colId xmlns:a16="http://schemas.microsoft.com/office/drawing/2014/main" val="3123546304"/>
                    </a:ext>
                  </a:extLst>
                </a:gridCol>
              </a:tblGrid>
              <a:tr h="0">
                <a:tc>
                  <a:txBody>
                    <a:bodyPr/>
                    <a:lstStyle/>
                    <a:p>
                      <a:pPr marL="0" marR="0" indent="0" algn="just">
                        <a:lnSpc>
                          <a:spcPct val="200000"/>
                        </a:lnSpc>
                        <a:spcBef>
                          <a:spcPts val="0"/>
                        </a:spcBef>
                        <a:spcAft>
                          <a:spcPts val="0"/>
                        </a:spcAft>
                      </a:pPr>
                      <a:r>
                        <a:rPr lang="en-US" sz="1400" kern="1200" dirty="0">
                          <a:effectLst/>
                        </a:rPr>
                        <a:t>Model</a:t>
                      </a:r>
                      <a:endParaRPr lang="en-US" sz="2000" kern="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dirty="0">
                          <a:effectLst/>
                        </a:rPr>
                        <a:t>F1-Score</a:t>
                      </a:r>
                      <a:endParaRPr lang="en-US" sz="2000" kern="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07773585"/>
                  </a:ext>
                </a:extLst>
              </a:tr>
              <a:tr h="182245">
                <a:tc>
                  <a:txBody>
                    <a:bodyPr/>
                    <a:lstStyle/>
                    <a:p>
                      <a:pPr marL="0" marR="0" indent="0" algn="just">
                        <a:lnSpc>
                          <a:spcPct val="200000"/>
                        </a:lnSpc>
                        <a:spcBef>
                          <a:spcPts val="0"/>
                        </a:spcBef>
                        <a:spcAft>
                          <a:spcPts val="0"/>
                        </a:spcAft>
                      </a:pPr>
                      <a:r>
                        <a:rPr lang="en-US" sz="1400" kern="1200">
                          <a:effectLst/>
                        </a:rPr>
                        <a:t>Magellan</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dirty="0">
                          <a:effectLst/>
                        </a:rPr>
                        <a:t>43.6</a:t>
                      </a:r>
                      <a:endParaRPr lang="en-US" sz="2000" kern="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45822315"/>
                  </a:ext>
                </a:extLst>
              </a:tr>
              <a:tr h="0">
                <a:tc>
                  <a:txBody>
                    <a:bodyPr/>
                    <a:lstStyle/>
                    <a:p>
                      <a:pPr marL="0" marR="0" indent="0" algn="just">
                        <a:lnSpc>
                          <a:spcPct val="200000"/>
                        </a:lnSpc>
                        <a:spcBef>
                          <a:spcPts val="0"/>
                        </a:spcBef>
                        <a:spcAft>
                          <a:spcPts val="0"/>
                        </a:spcAft>
                      </a:pPr>
                      <a:r>
                        <a:rPr lang="en-US" sz="1400" kern="1200">
                          <a:effectLst/>
                        </a:rPr>
                        <a:t>ModER</a:t>
                      </a:r>
                      <a:endParaRPr lang="en-US" sz="2000" kern="12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just">
                        <a:lnSpc>
                          <a:spcPct val="200000"/>
                        </a:lnSpc>
                        <a:spcBef>
                          <a:spcPts val="0"/>
                        </a:spcBef>
                        <a:spcAft>
                          <a:spcPts val="0"/>
                        </a:spcAft>
                      </a:pPr>
                      <a:r>
                        <a:rPr lang="en-US" sz="1400" kern="1200" dirty="0">
                          <a:effectLst/>
                        </a:rPr>
                        <a:t>58.82</a:t>
                      </a:r>
                      <a:endParaRPr lang="en-US" sz="2000" kern="12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61041739"/>
                  </a:ext>
                </a:extLst>
              </a:tr>
            </a:tbl>
          </a:graphicData>
        </a:graphic>
      </p:graphicFrame>
      <p:sp>
        <p:nvSpPr>
          <p:cNvPr id="17" name="TextBox 16">
            <a:extLst>
              <a:ext uri="{FF2B5EF4-FFF2-40B4-BE49-F238E27FC236}">
                <a16:creationId xmlns:a16="http://schemas.microsoft.com/office/drawing/2014/main" id="{68082540-46A9-4265-8731-596194C48242}"/>
              </a:ext>
            </a:extLst>
          </p:cNvPr>
          <p:cNvSpPr txBox="1"/>
          <p:nvPr/>
        </p:nvSpPr>
        <p:spPr>
          <a:xfrm>
            <a:off x="1143000" y="1690688"/>
            <a:ext cx="6562165" cy="369332"/>
          </a:xfrm>
          <a:prstGeom prst="rect">
            <a:avLst/>
          </a:prstGeom>
          <a:noFill/>
        </p:spPr>
        <p:txBody>
          <a:bodyPr wrap="square" rtlCol="0">
            <a:spAutoFit/>
          </a:bodyPr>
          <a:lstStyle/>
          <a:p>
            <a:r>
              <a:rPr lang="en-US" dirty="0"/>
              <a:t>Results averaged across 18 samples with equivalent parameters</a:t>
            </a:r>
          </a:p>
        </p:txBody>
      </p:sp>
      <p:sp>
        <p:nvSpPr>
          <p:cNvPr id="18" name="TextBox 17">
            <a:extLst>
              <a:ext uri="{FF2B5EF4-FFF2-40B4-BE49-F238E27FC236}">
                <a16:creationId xmlns:a16="http://schemas.microsoft.com/office/drawing/2014/main" id="{F0DA9353-A76D-48DF-BBCF-E0477044747B}"/>
              </a:ext>
            </a:extLst>
          </p:cNvPr>
          <p:cNvSpPr txBox="1"/>
          <p:nvPr/>
        </p:nvSpPr>
        <p:spPr>
          <a:xfrm>
            <a:off x="1143000" y="4064428"/>
            <a:ext cx="6562165" cy="369332"/>
          </a:xfrm>
          <a:prstGeom prst="rect">
            <a:avLst/>
          </a:prstGeom>
          <a:noFill/>
        </p:spPr>
        <p:txBody>
          <a:bodyPr wrap="square" rtlCol="0">
            <a:spAutoFit/>
          </a:bodyPr>
          <a:lstStyle/>
          <a:p>
            <a:r>
              <a:rPr lang="en-US" dirty="0"/>
              <a:t>F1-scores on the </a:t>
            </a:r>
            <a:r>
              <a:rPr lang="en-US" dirty="0" err="1"/>
              <a:t>Abt</a:t>
            </a:r>
            <a:r>
              <a:rPr lang="en-US" dirty="0"/>
              <a:t>-Buy benchmark dataset</a:t>
            </a:r>
          </a:p>
        </p:txBody>
      </p:sp>
    </p:spTree>
    <p:extLst>
      <p:ext uri="{BB962C8B-B14F-4D97-AF65-F5344CB8AC3E}">
        <p14:creationId xmlns:p14="http://schemas.microsoft.com/office/powerpoint/2010/main" val="28947636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9B4AD6-112E-4FB0-A878-222DF1196AC8}"/>
              </a:ext>
            </a:extLst>
          </p:cNvPr>
          <p:cNvSpPr>
            <a:spLocks noGrp="1"/>
          </p:cNvSpPr>
          <p:nvPr>
            <p:ph type="title"/>
          </p:nvPr>
        </p:nvSpPr>
        <p:spPr>
          <a:xfrm>
            <a:off x="838200" y="278535"/>
            <a:ext cx="9895951" cy="1033669"/>
          </a:xfrm>
        </p:spPr>
        <p:txBody>
          <a:bodyPr>
            <a:normAutofit/>
          </a:bodyPr>
          <a:lstStyle/>
          <a:p>
            <a:r>
              <a:rPr lang="en-US" sz="4000" dirty="0">
                <a:solidFill>
                  <a:srgbClr val="FFFFFF"/>
                </a:solidFill>
              </a:rPr>
              <a:t>2A. Future Work</a:t>
            </a:r>
          </a:p>
        </p:txBody>
      </p:sp>
      <p:sp>
        <p:nvSpPr>
          <p:cNvPr id="3" name="Content Placeholder 2">
            <a:extLst>
              <a:ext uri="{FF2B5EF4-FFF2-40B4-BE49-F238E27FC236}">
                <a16:creationId xmlns:a16="http://schemas.microsoft.com/office/drawing/2014/main" id="{33E3EBD2-EAFD-41B3-B9CB-3ABA6E342AB1}"/>
              </a:ext>
            </a:extLst>
          </p:cNvPr>
          <p:cNvSpPr>
            <a:spLocks noGrp="1"/>
          </p:cNvSpPr>
          <p:nvPr>
            <p:ph idx="1"/>
          </p:nvPr>
        </p:nvSpPr>
        <p:spPr>
          <a:xfrm>
            <a:off x="1371599" y="2318197"/>
            <a:ext cx="9724031" cy="3683358"/>
          </a:xfrm>
        </p:spPr>
        <p:txBody>
          <a:bodyPr anchor="ctr">
            <a:normAutofit/>
          </a:bodyPr>
          <a:lstStyle/>
          <a:p>
            <a:r>
              <a:rPr lang="en-US" sz="2000" dirty="0"/>
              <a:t> Real-life use cases: PubMed affiliations, Integrating bibliographic databases</a:t>
            </a:r>
          </a:p>
          <a:p>
            <a:r>
              <a:rPr lang="en-US" sz="2000" dirty="0"/>
              <a:t>Scalability issues to files with more than 100K rows</a:t>
            </a:r>
          </a:p>
          <a:p>
            <a:r>
              <a:rPr lang="en-US" sz="2000" dirty="0"/>
              <a:t>Deep Learning Models like Siamese Neural Networks or Transformer based so that we learn the similarity instead of computing it heuristically</a:t>
            </a:r>
          </a:p>
        </p:txBody>
      </p:sp>
      <p:sp>
        <p:nvSpPr>
          <p:cNvPr id="4" name="Date Placeholder 3">
            <a:extLst>
              <a:ext uri="{FF2B5EF4-FFF2-40B4-BE49-F238E27FC236}">
                <a16:creationId xmlns:a16="http://schemas.microsoft.com/office/drawing/2014/main" id="{1E7794C3-88E2-4614-8904-E3478CDE7B08}"/>
              </a:ext>
            </a:extLst>
          </p:cNvPr>
          <p:cNvSpPr>
            <a:spLocks noGrp="1"/>
          </p:cNvSpPr>
          <p:nvPr>
            <p:ph type="dt" sz="half" idx="10"/>
          </p:nvPr>
        </p:nvSpPr>
        <p:spPr/>
        <p:txBody>
          <a:bodyPr/>
          <a:lstStyle/>
          <a:p>
            <a:fld id="{F2A07B06-9404-4B0D-BCEF-DAD4C584F911}" type="datetime1">
              <a:rPr lang="en-US" smtClean="0"/>
              <a:t>5/19/2023</a:t>
            </a:fld>
            <a:endParaRPr lang="en-US"/>
          </a:p>
        </p:txBody>
      </p:sp>
      <p:sp>
        <p:nvSpPr>
          <p:cNvPr id="5" name="Footer Placeholder 4">
            <a:extLst>
              <a:ext uri="{FF2B5EF4-FFF2-40B4-BE49-F238E27FC236}">
                <a16:creationId xmlns:a16="http://schemas.microsoft.com/office/drawing/2014/main" id="{2D4C46F1-93F2-4544-8565-3F32815D69FF}"/>
              </a:ext>
            </a:extLst>
          </p:cNvPr>
          <p:cNvSpPr>
            <a:spLocks noGrp="1"/>
          </p:cNvSpPr>
          <p:nvPr>
            <p:ph type="ftr" sz="quarter" idx="11"/>
          </p:nvPr>
        </p:nvSpPr>
        <p:spPr/>
        <p:txBody>
          <a:bodyPr/>
          <a:lstStyle/>
          <a:p>
            <a:r>
              <a:rPr lang="en-US" dirty="0"/>
              <a:t>Ebeid - Spring 2023</a:t>
            </a:r>
          </a:p>
        </p:txBody>
      </p:sp>
      <p:sp>
        <p:nvSpPr>
          <p:cNvPr id="6" name="Slide Number Placeholder 5">
            <a:extLst>
              <a:ext uri="{FF2B5EF4-FFF2-40B4-BE49-F238E27FC236}">
                <a16:creationId xmlns:a16="http://schemas.microsoft.com/office/drawing/2014/main" id="{1750FF5E-CE77-4C35-ACAA-96132FBEB83B}"/>
              </a:ext>
            </a:extLst>
          </p:cNvPr>
          <p:cNvSpPr>
            <a:spLocks noGrp="1"/>
          </p:cNvSpPr>
          <p:nvPr>
            <p:ph type="sldNum" sz="quarter" idx="12"/>
          </p:nvPr>
        </p:nvSpPr>
        <p:spPr/>
        <p:txBody>
          <a:bodyPr/>
          <a:lstStyle/>
          <a:p>
            <a:fld id="{174AA435-B3B0-4B6E-A265-E4C5F17628FB}" type="slidenum">
              <a:rPr lang="en-US" smtClean="0"/>
              <a:t>15</a:t>
            </a:fld>
            <a:endParaRPr lang="en-US"/>
          </a:p>
        </p:txBody>
      </p:sp>
    </p:spTree>
    <p:extLst>
      <p:ext uri="{BB962C8B-B14F-4D97-AF65-F5344CB8AC3E}">
        <p14:creationId xmlns:p14="http://schemas.microsoft.com/office/powerpoint/2010/main" val="40518125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73B301CE-AA75-4FBD-BD5D-E6B355AEE2D8}"/>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38524" y="1966293"/>
            <a:ext cx="7914951" cy="4452160"/>
          </a:xfrm>
          <a:prstGeom prst="rect">
            <a:avLst/>
          </a:prstGeom>
        </p:spPr>
      </p:pic>
      <p:sp>
        <p:nvSpPr>
          <p:cNvPr id="3" name="Date Placeholder 2">
            <a:extLst>
              <a:ext uri="{FF2B5EF4-FFF2-40B4-BE49-F238E27FC236}">
                <a16:creationId xmlns:a16="http://schemas.microsoft.com/office/drawing/2014/main" id="{712473BC-A6BB-4F1B-B40C-B044CC34FD7D}"/>
              </a:ext>
            </a:extLst>
          </p:cNvPr>
          <p:cNvSpPr>
            <a:spLocks noGrp="1"/>
          </p:cNvSpPr>
          <p:nvPr>
            <p:ph type="dt" sz="half" idx="10"/>
          </p:nvPr>
        </p:nvSpPr>
        <p:spPr/>
        <p:txBody>
          <a:bodyPr/>
          <a:lstStyle/>
          <a:p>
            <a:fld id="{4E2D249B-8966-4790-BE72-2A52BEAF226E}" type="datetime1">
              <a:rPr lang="en-US" smtClean="0"/>
              <a:t>5/19/2023</a:t>
            </a:fld>
            <a:endParaRPr lang="en-US"/>
          </a:p>
        </p:txBody>
      </p:sp>
      <p:sp>
        <p:nvSpPr>
          <p:cNvPr id="4" name="Footer Placeholder 3">
            <a:extLst>
              <a:ext uri="{FF2B5EF4-FFF2-40B4-BE49-F238E27FC236}">
                <a16:creationId xmlns:a16="http://schemas.microsoft.com/office/drawing/2014/main" id="{2A5E5F88-8B6C-411E-9627-7F3A2F29EBFD}"/>
              </a:ext>
            </a:extLst>
          </p:cNvPr>
          <p:cNvSpPr>
            <a:spLocks noGrp="1"/>
          </p:cNvSpPr>
          <p:nvPr>
            <p:ph type="ftr" sz="quarter" idx="11"/>
          </p:nvPr>
        </p:nvSpPr>
        <p:spPr/>
        <p:txBody>
          <a:bodyPr/>
          <a:lstStyle/>
          <a:p>
            <a:r>
              <a:rPr lang="en-US" dirty="0"/>
              <a:t>Ebeid - Spring 2023</a:t>
            </a:r>
          </a:p>
        </p:txBody>
      </p:sp>
      <p:sp>
        <p:nvSpPr>
          <p:cNvPr id="6" name="Slide Number Placeholder 5">
            <a:extLst>
              <a:ext uri="{FF2B5EF4-FFF2-40B4-BE49-F238E27FC236}">
                <a16:creationId xmlns:a16="http://schemas.microsoft.com/office/drawing/2014/main" id="{5052BEF0-C554-409A-A913-31E8F5090823}"/>
              </a:ext>
            </a:extLst>
          </p:cNvPr>
          <p:cNvSpPr>
            <a:spLocks noGrp="1"/>
          </p:cNvSpPr>
          <p:nvPr>
            <p:ph type="sldNum" sz="quarter" idx="12"/>
          </p:nvPr>
        </p:nvSpPr>
        <p:spPr/>
        <p:txBody>
          <a:bodyPr/>
          <a:lstStyle/>
          <a:p>
            <a:fld id="{174AA435-B3B0-4B6E-A265-E4C5F17628FB}" type="slidenum">
              <a:rPr lang="en-US" smtClean="0"/>
              <a:t>16</a:t>
            </a:fld>
            <a:endParaRPr lang="en-US"/>
          </a:p>
        </p:txBody>
      </p:sp>
      <p:sp>
        <p:nvSpPr>
          <p:cNvPr id="15" name="Title 1">
            <a:extLst>
              <a:ext uri="{FF2B5EF4-FFF2-40B4-BE49-F238E27FC236}">
                <a16:creationId xmlns:a16="http://schemas.microsoft.com/office/drawing/2014/main" id="{1BA13C34-0F73-440C-AB95-185CA3D3C777}"/>
              </a:ext>
            </a:extLst>
          </p:cNvPr>
          <p:cNvSpPr>
            <a:spLocks noGrp="1"/>
          </p:cNvSpPr>
          <p:nvPr>
            <p:ph type="title"/>
          </p:nvPr>
        </p:nvSpPr>
        <p:spPr>
          <a:xfrm>
            <a:off x="838200" y="270319"/>
            <a:ext cx="9895951" cy="1033669"/>
          </a:xfrm>
        </p:spPr>
        <p:txBody>
          <a:bodyPr>
            <a:normAutofit/>
          </a:bodyPr>
          <a:lstStyle/>
          <a:p>
            <a:r>
              <a:rPr lang="en-US" sz="4000" dirty="0">
                <a:solidFill>
                  <a:srgbClr val="FFFFFF"/>
                </a:solidFill>
              </a:rPr>
              <a:t>3B. </a:t>
            </a:r>
            <a:r>
              <a:rPr lang="en-US" sz="4000" dirty="0" err="1">
                <a:solidFill>
                  <a:srgbClr val="FFFFFF"/>
                </a:solidFill>
              </a:rPr>
              <a:t>MedGraph</a:t>
            </a:r>
            <a:endParaRPr lang="en-US" sz="4000" dirty="0">
              <a:solidFill>
                <a:srgbClr val="FFFFFF"/>
              </a:solidFill>
            </a:endParaRPr>
          </a:p>
        </p:txBody>
      </p:sp>
      <p:sp>
        <p:nvSpPr>
          <p:cNvPr id="2" name="TextBox 1">
            <a:extLst>
              <a:ext uri="{FF2B5EF4-FFF2-40B4-BE49-F238E27FC236}">
                <a16:creationId xmlns:a16="http://schemas.microsoft.com/office/drawing/2014/main" id="{A455D66C-CA70-26EC-72B1-47732723C02C}"/>
              </a:ext>
            </a:extLst>
          </p:cNvPr>
          <p:cNvSpPr txBox="1"/>
          <p:nvPr/>
        </p:nvSpPr>
        <p:spPr>
          <a:xfrm>
            <a:off x="1294564" y="1706657"/>
            <a:ext cx="10059236" cy="246221"/>
          </a:xfrm>
          <a:prstGeom prst="rect">
            <a:avLst/>
          </a:prstGeom>
          <a:noFill/>
        </p:spPr>
        <p:txBody>
          <a:bodyPr wrap="square">
            <a:spAutoFit/>
          </a:bodyPr>
          <a:lstStyle/>
          <a:p>
            <a:r>
              <a:rPr lang="en-US" sz="1000" dirty="0">
                <a:effectLst/>
                <a:latin typeface="Linux Libertine" panose="02000503000000000000" pitchFamily="2" charset="0"/>
                <a:ea typeface="Calibri" panose="020F0502020204030204" pitchFamily="34" charset="0"/>
                <a:cs typeface="Times New Roman" panose="02020603050405020304" pitchFamily="18" charset="0"/>
              </a:rPr>
              <a:t>Xu, J., Kim, S., Song, M., </a:t>
            </a:r>
            <a:r>
              <a:rPr lang="en-US" sz="1000" dirty="0" err="1">
                <a:effectLst/>
                <a:latin typeface="Linux Libertine" panose="02000503000000000000" pitchFamily="2" charset="0"/>
                <a:ea typeface="Calibri" panose="020F0502020204030204" pitchFamily="34" charset="0"/>
                <a:cs typeface="Times New Roman" panose="02020603050405020304" pitchFamily="18" charset="0"/>
              </a:rPr>
              <a:t>Jeong</a:t>
            </a:r>
            <a:r>
              <a:rPr lang="en-US" sz="1000" dirty="0">
                <a:effectLst/>
                <a:latin typeface="Linux Libertine" panose="02000503000000000000" pitchFamily="2" charset="0"/>
                <a:ea typeface="Calibri" panose="020F0502020204030204" pitchFamily="34" charset="0"/>
                <a:cs typeface="Times New Roman" panose="02020603050405020304" pitchFamily="18" charset="0"/>
              </a:rPr>
              <a:t>, M., Kim, D., Kang, J., Rousseau, J., Li, X., Xu, W., </a:t>
            </a:r>
            <a:r>
              <a:rPr lang="en-US" sz="1000" dirty="0" err="1">
                <a:effectLst/>
                <a:latin typeface="Linux Libertine" panose="02000503000000000000" pitchFamily="2" charset="0"/>
                <a:ea typeface="Calibri" panose="020F0502020204030204" pitchFamily="34" charset="0"/>
                <a:cs typeface="Times New Roman" panose="02020603050405020304" pitchFamily="18" charset="0"/>
              </a:rPr>
              <a:t>Torvik</a:t>
            </a:r>
            <a:r>
              <a:rPr lang="en-US" sz="1000" dirty="0">
                <a:effectLst/>
                <a:latin typeface="Linux Libertine" panose="02000503000000000000" pitchFamily="2" charset="0"/>
                <a:ea typeface="Calibri" panose="020F0502020204030204" pitchFamily="34" charset="0"/>
                <a:cs typeface="Times New Roman" panose="02020603050405020304" pitchFamily="18" charset="0"/>
              </a:rPr>
              <a:t>, V., Bu, Y., Chen, C., Ebeid, I. A. et al. (2020) Building a PubMed knowledge graph. Sci Data.</a:t>
            </a:r>
            <a:endParaRPr lang="en-US" sz="1000" dirty="0"/>
          </a:p>
        </p:txBody>
      </p:sp>
    </p:spTree>
    <p:extLst>
      <p:ext uri="{BB962C8B-B14F-4D97-AF65-F5344CB8AC3E}">
        <p14:creationId xmlns:p14="http://schemas.microsoft.com/office/powerpoint/2010/main" val="1430013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D91330D7-21AC-4BF9-B2FB-B9E64C51A4A6}"/>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38524" y="1966293"/>
            <a:ext cx="7914951" cy="4452160"/>
          </a:xfrm>
          <a:prstGeom prst="rect">
            <a:avLst/>
          </a:prstGeom>
        </p:spPr>
      </p:pic>
      <p:sp>
        <p:nvSpPr>
          <p:cNvPr id="3" name="Date Placeholder 2">
            <a:extLst>
              <a:ext uri="{FF2B5EF4-FFF2-40B4-BE49-F238E27FC236}">
                <a16:creationId xmlns:a16="http://schemas.microsoft.com/office/drawing/2014/main" id="{A6F4E5A0-19EF-4F35-BA4E-016300E8AB53}"/>
              </a:ext>
            </a:extLst>
          </p:cNvPr>
          <p:cNvSpPr>
            <a:spLocks noGrp="1"/>
          </p:cNvSpPr>
          <p:nvPr>
            <p:ph type="dt" sz="half" idx="10"/>
          </p:nvPr>
        </p:nvSpPr>
        <p:spPr/>
        <p:txBody>
          <a:bodyPr/>
          <a:lstStyle/>
          <a:p>
            <a:fld id="{2B172AB9-8F24-4E70-AB7B-1AE46296A49A}" type="datetime1">
              <a:rPr lang="en-US" smtClean="0"/>
              <a:t>5/19/2023</a:t>
            </a:fld>
            <a:endParaRPr lang="en-US"/>
          </a:p>
        </p:txBody>
      </p:sp>
      <p:sp>
        <p:nvSpPr>
          <p:cNvPr id="4" name="Footer Placeholder 3">
            <a:extLst>
              <a:ext uri="{FF2B5EF4-FFF2-40B4-BE49-F238E27FC236}">
                <a16:creationId xmlns:a16="http://schemas.microsoft.com/office/drawing/2014/main" id="{7720D5D9-2C1F-4344-BC69-BD2BAA600783}"/>
              </a:ext>
            </a:extLst>
          </p:cNvPr>
          <p:cNvSpPr>
            <a:spLocks noGrp="1"/>
          </p:cNvSpPr>
          <p:nvPr>
            <p:ph type="ftr" sz="quarter" idx="11"/>
          </p:nvPr>
        </p:nvSpPr>
        <p:spPr/>
        <p:txBody>
          <a:bodyPr/>
          <a:lstStyle/>
          <a:p>
            <a:r>
              <a:rPr lang="en-US" dirty="0"/>
              <a:t>Ebeid - Spring 2023</a:t>
            </a:r>
          </a:p>
        </p:txBody>
      </p:sp>
      <p:sp>
        <p:nvSpPr>
          <p:cNvPr id="5" name="Slide Number Placeholder 4">
            <a:extLst>
              <a:ext uri="{FF2B5EF4-FFF2-40B4-BE49-F238E27FC236}">
                <a16:creationId xmlns:a16="http://schemas.microsoft.com/office/drawing/2014/main" id="{804BC526-7D6A-4427-9BCC-09CD8427FD65}"/>
              </a:ext>
            </a:extLst>
          </p:cNvPr>
          <p:cNvSpPr>
            <a:spLocks noGrp="1"/>
          </p:cNvSpPr>
          <p:nvPr>
            <p:ph type="sldNum" sz="quarter" idx="12"/>
          </p:nvPr>
        </p:nvSpPr>
        <p:spPr/>
        <p:txBody>
          <a:bodyPr/>
          <a:lstStyle/>
          <a:p>
            <a:fld id="{174AA435-B3B0-4B6E-A265-E4C5F17628FB}" type="slidenum">
              <a:rPr lang="en-US" smtClean="0"/>
              <a:t>17</a:t>
            </a:fld>
            <a:endParaRPr lang="en-US"/>
          </a:p>
        </p:txBody>
      </p:sp>
      <p:sp>
        <p:nvSpPr>
          <p:cNvPr id="13" name="Title 1">
            <a:extLst>
              <a:ext uri="{FF2B5EF4-FFF2-40B4-BE49-F238E27FC236}">
                <a16:creationId xmlns:a16="http://schemas.microsoft.com/office/drawing/2014/main" id="{6B7403EA-781C-4505-ADBD-391718B3B3CF}"/>
              </a:ext>
            </a:extLst>
          </p:cNvPr>
          <p:cNvSpPr>
            <a:spLocks noGrp="1"/>
          </p:cNvSpPr>
          <p:nvPr>
            <p:ph type="title"/>
          </p:nvPr>
        </p:nvSpPr>
        <p:spPr>
          <a:xfrm>
            <a:off x="838200" y="270319"/>
            <a:ext cx="9895951" cy="1033669"/>
          </a:xfrm>
        </p:spPr>
        <p:txBody>
          <a:bodyPr>
            <a:normAutofit/>
          </a:bodyPr>
          <a:lstStyle/>
          <a:p>
            <a:r>
              <a:rPr lang="en-US" sz="4000" dirty="0">
                <a:solidFill>
                  <a:srgbClr val="FFFFFF"/>
                </a:solidFill>
              </a:rPr>
              <a:t>3B. </a:t>
            </a:r>
            <a:r>
              <a:rPr lang="en-US" sz="4000" dirty="0" err="1">
                <a:solidFill>
                  <a:srgbClr val="FFFFFF"/>
                </a:solidFill>
              </a:rPr>
              <a:t>MedGraph</a:t>
            </a:r>
            <a:endParaRPr lang="en-US" sz="4000" dirty="0">
              <a:solidFill>
                <a:srgbClr val="FFFFFF"/>
              </a:solidFill>
            </a:endParaRPr>
          </a:p>
        </p:txBody>
      </p:sp>
    </p:spTree>
    <p:extLst>
      <p:ext uri="{BB962C8B-B14F-4D97-AF65-F5344CB8AC3E}">
        <p14:creationId xmlns:p14="http://schemas.microsoft.com/office/powerpoint/2010/main" val="13425258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A6F4E5A0-19EF-4F35-BA4E-016300E8AB53}"/>
              </a:ext>
            </a:extLst>
          </p:cNvPr>
          <p:cNvSpPr>
            <a:spLocks noGrp="1"/>
          </p:cNvSpPr>
          <p:nvPr>
            <p:ph type="dt" sz="half" idx="10"/>
          </p:nvPr>
        </p:nvSpPr>
        <p:spPr/>
        <p:txBody>
          <a:bodyPr/>
          <a:lstStyle/>
          <a:p>
            <a:fld id="{2B172AB9-8F24-4E70-AB7B-1AE46296A49A}" type="datetime1">
              <a:rPr lang="en-US" smtClean="0"/>
              <a:t>5/19/2023</a:t>
            </a:fld>
            <a:endParaRPr lang="en-US"/>
          </a:p>
        </p:txBody>
      </p:sp>
      <p:sp>
        <p:nvSpPr>
          <p:cNvPr id="4" name="Footer Placeholder 3">
            <a:extLst>
              <a:ext uri="{FF2B5EF4-FFF2-40B4-BE49-F238E27FC236}">
                <a16:creationId xmlns:a16="http://schemas.microsoft.com/office/drawing/2014/main" id="{7720D5D9-2C1F-4344-BC69-BD2BAA600783}"/>
              </a:ext>
            </a:extLst>
          </p:cNvPr>
          <p:cNvSpPr>
            <a:spLocks noGrp="1"/>
          </p:cNvSpPr>
          <p:nvPr>
            <p:ph type="ftr" sz="quarter" idx="11"/>
          </p:nvPr>
        </p:nvSpPr>
        <p:spPr/>
        <p:txBody>
          <a:bodyPr/>
          <a:lstStyle/>
          <a:p>
            <a:r>
              <a:rPr lang="en-US" dirty="0"/>
              <a:t>Ebeid - Spring 2023</a:t>
            </a:r>
          </a:p>
        </p:txBody>
      </p:sp>
      <p:sp>
        <p:nvSpPr>
          <p:cNvPr id="5" name="Slide Number Placeholder 4">
            <a:extLst>
              <a:ext uri="{FF2B5EF4-FFF2-40B4-BE49-F238E27FC236}">
                <a16:creationId xmlns:a16="http://schemas.microsoft.com/office/drawing/2014/main" id="{804BC526-7D6A-4427-9BCC-09CD8427FD65}"/>
              </a:ext>
            </a:extLst>
          </p:cNvPr>
          <p:cNvSpPr>
            <a:spLocks noGrp="1"/>
          </p:cNvSpPr>
          <p:nvPr>
            <p:ph type="sldNum" sz="quarter" idx="12"/>
          </p:nvPr>
        </p:nvSpPr>
        <p:spPr/>
        <p:txBody>
          <a:bodyPr/>
          <a:lstStyle/>
          <a:p>
            <a:fld id="{174AA435-B3B0-4B6E-A265-E4C5F17628FB}" type="slidenum">
              <a:rPr lang="en-US" smtClean="0"/>
              <a:t>18</a:t>
            </a:fld>
            <a:endParaRPr lang="en-US"/>
          </a:p>
        </p:txBody>
      </p:sp>
      <p:sp>
        <p:nvSpPr>
          <p:cNvPr id="13" name="Title 1">
            <a:extLst>
              <a:ext uri="{FF2B5EF4-FFF2-40B4-BE49-F238E27FC236}">
                <a16:creationId xmlns:a16="http://schemas.microsoft.com/office/drawing/2014/main" id="{6B7403EA-781C-4505-ADBD-391718B3B3CF}"/>
              </a:ext>
            </a:extLst>
          </p:cNvPr>
          <p:cNvSpPr>
            <a:spLocks noGrp="1"/>
          </p:cNvSpPr>
          <p:nvPr>
            <p:ph type="title"/>
          </p:nvPr>
        </p:nvSpPr>
        <p:spPr>
          <a:xfrm>
            <a:off x="838200" y="270319"/>
            <a:ext cx="9895951" cy="1033669"/>
          </a:xfrm>
        </p:spPr>
        <p:txBody>
          <a:bodyPr>
            <a:normAutofit/>
          </a:bodyPr>
          <a:lstStyle/>
          <a:p>
            <a:r>
              <a:rPr lang="en-US" sz="4000" dirty="0">
                <a:solidFill>
                  <a:srgbClr val="FFFFFF"/>
                </a:solidFill>
              </a:rPr>
              <a:t>3B. </a:t>
            </a:r>
            <a:r>
              <a:rPr lang="en-US" sz="4000" dirty="0" err="1">
                <a:solidFill>
                  <a:srgbClr val="FFFFFF"/>
                </a:solidFill>
              </a:rPr>
              <a:t>MedGraph</a:t>
            </a:r>
            <a:endParaRPr lang="en-US" sz="4000" dirty="0">
              <a:solidFill>
                <a:srgbClr val="FFFFFF"/>
              </a:solidFill>
            </a:endParaRPr>
          </a:p>
        </p:txBody>
      </p:sp>
      <p:pic>
        <p:nvPicPr>
          <p:cNvPr id="15" name="Content Placeholder 5" descr="Diagram&#10;&#10;Description automatically generated">
            <a:extLst>
              <a:ext uri="{FF2B5EF4-FFF2-40B4-BE49-F238E27FC236}">
                <a16:creationId xmlns:a16="http://schemas.microsoft.com/office/drawing/2014/main" id="{320529F8-BE08-4093-A755-3C7E87BB2EC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83124" y="2046956"/>
            <a:ext cx="7225748" cy="4172869"/>
          </a:xfrm>
          <a:prstGeom prst="rect">
            <a:avLst/>
          </a:prstGeom>
        </p:spPr>
      </p:pic>
    </p:spTree>
    <p:extLst>
      <p:ext uri="{BB962C8B-B14F-4D97-AF65-F5344CB8AC3E}">
        <p14:creationId xmlns:p14="http://schemas.microsoft.com/office/powerpoint/2010/main" val="32051564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B951AB27-6ED8-451A-BD5C-86811DBAA382}"/>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1811" y="1625163"/>
            <a:ext cx="10388373" cy="4452160"/>
          </a:xfrm>
          <a:prstGeom prst="rect">
            <a:avLst/>
          </a:prstGeom>
        </p:spPr>
      </p:pic>
      <p:sp>
        <p:nvSpPr>
          <p:cNvPr id="3" name="Date Placeholder 2">
            <a:extLst>
              <a:ext uri="{FF2B5EF4-FFF2-40B4-BE49-F238E27FC236}">
                <a16:creationId xmlns:a16="http://schemas.microsoft.com/office/drawing/2014/main" id="{F2C1A84B-826D-48F1-99AF-9B8E7BBD7B61}"/>
              </a:ext>
            </a:extLst>
          </p:cNvPr>
          <p:cNvSpPr>
            <a:spLocks noGrp="1"/>
          </p:cNvSpPr>
          <p:nvPr>
            <p:ph type="dt" sz="half" idx="10"/>
          </p:nvPr>
        </p:nvSpPr>
        <p:spPr/>
        <p:txBody>
          <a:bodyPr/>
          <a:lstStyle/>
          <a:p>
            <a:fld id="{C8B54865-12CD-4C32-BF2F-7DDD2EB59576}" type="datetime1">
              <a:rPr lang="en-US" smtClean="0"/>
              <a:t>5/19/2023</a:t>
            </a:fld>
            <a:endParaRPr lang="en-US"/>
          </a:p>
        </p:txBody>
      </p:sp>
      <p:sp>
        <p:nvSpPr>
          <p:cNvPr id="4" name="Footer Placeholder 3">
            <a:extLst>
              <a:ext uri="{FF2B5EF4-FFF2-40B4-BE49-F238E27FC236}">
                <a16:creationId xmlns:a16="http://schemas.microsoft.com/office/drawing/2014/main" id="{D272A1F6-FC41-4C18-87A5-D23735AE4B64}"/>
              </a:ext>
            </a:extLst>
          </p:cNvPr>
          <p:cNvSpPr>
            <a:spLocks noGrp="1"/>
          </p:cNvSpPr>
          <p:nvPr>
            <p:ph type="ftr" sz="quarter" idx="11"/>
          </p:nvPr>
        </p:nvSpPr>
        <p:spPr/>
        <p:txBody>
          <a:bodyPr/>
          <a:lstStyle/>
          <a:p>
            <a:r>
              <a:rPr lang="en-US" dirty="0"/>
              <a:t>Ebeid - Spring 2023</a:t>
            </a:r>
          </a:p>
        </p:txBody>
      </p:sp>
      <p:sp>
        <p:nvSpPr>
          <p:cNvPr id="5" name="Slide Number Placeholder 4">
            <a:extLst>
              <a:ext uri="{FF2B5EF4-FFF2-40B4-BE49-F238E27FC236}">
                <a16:creationId xmlns:a16="http://schemas.microsoft.com/office/drawing/2014/main" id="{734FAFC6-FF74-4A51-AA5A-6721A63024B0}"/>
              </a:ext>
            </a:extLst>
          </p:cNvPr>
          <p:cNvSpPr>
            <a:spLocks noGrp="1"/>
          </p:cNvSpPr>
          <p:nvPr>
            <p:ph type="sldNum" sz="quarter" idx="12"/>
          </p:nvPr>
        </p:nvSpPr>
        <p:spPr/>
        <p:txBody>
          <a:bodyPr/>
          <a:lstStyle/>
          <a:p>
            <a:fld id="{174AA435-B3B0-4B6E-A265-E4C5F17628FB}" type="slidenum">
              <a:rPr lang="en-US" smtClean="0"/>
              <a:t>19</a:t>
            </a:fld>
            <a:endParaRPr lang="en-US"/>
          </a:p>
        </p:txBody>
      </p:sp>
      <p:sp>
        <p:nvSpPr>
          <p:cNvPr id="16" name="Title 1">
            <a:extLst>
              <a:ext uri="{FF2B5EF4-FFF2-40B4-BE49-F238E27FC236}">
                <a16:creationId xmlns:a16="http://schemas.microsoft.com/office/drawing/2014/main" id="{C145E37B-B34C-42A6-96AB-6E207E5AC1C7}"/>
              </a:ext>
            </a:extLst>
          </p:cNvPr>
          <p:cNvSpPr>
            <a:spLocks noGrp="1"/>
          </p:cNvSpPr>
          <p:nvPr>
            <p:ph type="title"/>
          </p:nvPr>
        </p:nvSpPr>
        <p:spPr>
          <a:xfrm>
            <a:off x="901811" y="270319"/>
            <a:ext cx="9895951" cy="1033669"/>
          </a:xfrm>
        </p:spPr>
        <p:txBody>
          <a:bodyPr>
            <a:normAutofit/>
          </a:bodyPr>
          <a:lstStyle/>
          <a:p>
            <a:r>
              <a:rPr lang="en-US" sz="4000" dirty="0">
                <a:solidFill>
                  <a:srgbClr val="FFFFFF"/>
                </a:solidFill>
              </a:rPr>
              <a:t>3B. </a:t>
            </a:r>
            <a:r>
              <a:rPr lang="en-US" sz="4000" dirty="0" err="1">
                <a:solidFill>
                  <a:srgbClr val="FFFFFF"/>
                </a:solidFill>
              </a:rPr>
              <a:t>MedGraph</a:t>
            </a:r>
            <a:endParaRPr lang="en-US" sz="4000" dirty="0">
              <a:solidFill>
                <a:srgbClr val="FFFFFF"/>
              </a:solidFill>
            </a:endParaRPr>
          </a:p>
        </p:txBody>
      </p:sp>
    </p:spTree>
    <p:extLst>
      <p:ext uri="{BB962C8B-B14F-4D97-AF65-F5344CB8AC3E}">
        <p14:creationId xmlns:p14="http://schemas.microsoft.com/office/powerpoint/2010/main" val="34247368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D9EA6DFF-2301-407E-B064-39382AD3E4F9}"/>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2225" y="2390263"/>
            <a:ext cx="11327549" cy="3604220"/>
          </a:xfrm>
          <a:prstGeom prst="rect">
            <a:avLst/>
          </a:prstGeom>
        </p:spPr>
      </p:pic>
      <p:sp>
        <p:nvSpPr>
          <p:cNvPr id="3" name="Date Placeholder 2">
            <a:extLst>
              <a:ext uri="{FF2B5EF4-FFF2-40B4-BE49-F238E27FC236}">
                <a16:creationId xmlns:a16="http://schemas.microsoft.com/office/drawing/2014/main" id="{4C6C03E0-32D3-4302-A70A-A2D8C02F4607}"/>
              </a:ext>
            </a:extLst>
          </p:cNvPr>
          <p:cNvSpPr>
            <a:spLocks noGrp="1"/>
          </p:cNvSpPr>
          <p:nvPr>
            <p:ph type="dt" sz="half" idx="10"/>
          </p:nvPr>
        </p:nvSpPr>
        <p:spPr/>
        <p:txBody>
          <a:bodyPr/>
          <a:lstStyle/>
          <a:p>
            <a:fld id="{DCCBE05B-154D-4594-839C-7CDE0AF63F9F}" type="datetime1">
              <a:rPr lang="en-US" smtClean="0"/>
              <a:t>5/19/2023</a:t>
            </a:fld>
            <a:endParaRPr lang="en-US"/>
          </a:p>
        </p:txBody>
      </p:sp>
      <p:sp>
        <p:nvSpPr>
          <p:cNvPr id="4" name="Footer Placeholder 3">
            <a:extLst>
              <a:ext uri="{FF2B5EF4-FFF2-40B4-BE49-F238E27FC236}">
                <a16:creationId xmlns:a16="http://schemas.microsoft.com/office/drawing/2014/main" id="{672364F5-CEE2-41EA-BCCB-14589505DB34}"/>
              </a:ext>
            </a:extLst>
          </p:cNvPr>
          <p:cNvSpPr>
            <a:spLocks noGrp="1"/>
          </p:cNvSpPr>
          <p:nvPr>
            <p:ph type="ftr" sz="quarter" idx="11"/>
          </p:nvPr>
        </p:nvSpPr>
        <p:spPr/>
        <p:txBody>
          <a:bodyPr/>
          <a:lstStyle/>
          <a:p>
            <a:r>
              <a:rPr lang="en-US" dirty="0"/>
              <a:t>Ebeid - Spring 2023</a:t>
            </a:r>
          </a:p>
        </p:txBody>
      </p:sp>
      <p:sp>
        <p:nvSpPr>
          <p:cNvPr id="5" name="Slide Number Placeholder 4">
            <a:extLst>
              <a:ext uri="{FF2B5EF4-FFF2-40B4-BE49-F238E27FC236}">
                <a16:creationId xmlns:a16="http://schemas.microsoft.com/office/drawing/2014/main" id="{9AB669CA-B28F-4248-A60A-35FB181FB8CF}"/>
              </a:ext>
            </a:extLst>
          </p:cNvPr>
          <p:cNvSpPr>
            <a:spLocks noGrp="1"/>
          </p:cNvSpPr>
          <p:nvPr>
            <p:ph type="sldNum" sz="quarter" idx="12"/>
          </p:nvPr>
        </p:nvSpPr>
        <p:spPr/>
        <p:txBody>
          <a:bodyPr/>
          <a:lstStyle/>
          <a:p>
            <a:fld id="{174AA435-B3B0-4B6E-A265-E4C5F17628FB}" type="slidenum">
              <a:rPr lang="en-US" smtClean="0"/>
              <a:t>20</a:t>
            </a:fld>
            <a:endParaRPr lang="en-US"/>
          </a:p>
        </p:txBody>
      </p:sp>
      <p:sp>
        <p:nvSpPr>
          <p:cNvPr id="13" name="Title 1">
            <a:extLst>
              <a:ext uri="{FF2B5EF4-FFF2-40B4-BE49-F238E27FC236}">
                <a16:creationId xmlns:a16="http://schemas.microsoft.com/office/drawing/2014/main" id="{6D933D27-2E0D-459F-8AAB-45CAF178BCAA}"/>
              </a:ext>
            </a:extLst>
          </p:cNvPr>
          <p:cNvSpPr>
            <a:spLocks noGrp="1"/>
          </p:cNvSpPr>
          <p:nvPr>
            <p:ph type="title"/>
          </p:nvPr>
        </p:nvSpPr>
        <p:spPr>
          <a:xfrm>
            <a:off x="838200" y="270319"/>
            <a:ext cx="9895951" cy="1033669"/>
          </a:xfrm>
        </p:spPr>
        <p:txBody>
          <a:bodyPr>
            <a:normAutofit/>
          </a:bodyPr>
          <a:lstStyle/>
          <a:p>
            <a:r>
              <a:rPr lang="en-US" sz="4000" dirty="0">
                <a:solidFill>
                  <a:srgbClr val="FFFFFF"/>
                </a:solidFill>
              </a:rPr>
              <a:t>3B. </a:t>
            </a:r>
            <a:r>
              <a:rPr lang="en-US" sz="4000" dirty="0" err="1">
                <a:solidFill>
                  <a:srgbClr val="FFFFFF"/>
                </a:solidFill>
              </a:rPr>
              <a:t>MedGraph</a:t>
            </a:r>
            <a:endParaRPr lang="en-US" sz="4000" dirty="0">
              <a:solidFill>
                <a:srgbClr val="FFFFFF"/>
              </a:solidFill>
            </a:endParaRPr>
          </a:p>
        </p:txBody>
      </p:sp>
    </p:spTree>
    <p:extLst>
      <p:ext uri="{BB962C8B-B14F-4D97-AF65-F5344CB8AC3E}">
        <p14:creationId xmlns:p14="http://schemas.microsoft.com/office/powerpoint/2010/main" val="4893947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6942A305-E08B-4078-A1C0-85934CB65CA2}"/>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1813" y="1966293"/>
            <a:ext cx="10388373" cy="4452160"/>
          </a:xfrm>
          <a:prstGeom prst="rect">
            <a:avLst/>
          </a:prstGeom>
        </p:spPr>
      </p:pic>
      <p:sp>
        <p:nvSpPr>
          <p:cNvPr id="3" name="Date Placeholder 2">
            <a:extLst>
              <a:ext uri="{FF2B5EF4-FFF2-40B4-BE49-F238E27FC236}">
                <a16:creationId xmlns:a16="http://schemas.microsoft.com/office/drawing/2014/main" id="{F03EBED9-18E5-40EC-B33F-FF7793199F9E}"/>
              </a:ext>
            </a:extLst>
          </p:cNvPr>
          <p:cNvSpPr>
            <a:spLocks noGrp="1"/>
          </p:cNvSpPr>
          <p:nvPr>
            <p:ph type="dt" sz="half" idx="10"/>
          </p:nvPr>
        </p:nvSpPr>
        <p:spPr/>
        <p:txBody>
          <a:bodyPr/>
          <a:lstStyle/>
          <a:p>
            <a:fld id="{0DAF5194-9F1E-4BF8-87DF-950447BAF9FC}" type="datetime1">
              <a:rPr lang="en-US" smtClean="0"/>
              <a:t>5/19/2023</a:t>
            </a:fld>
            <a:endParaRPr lang="en-US"/>
          </a:p>
        </p:txBody>
      </p:sp>
      <p:sp>
        <p:nvSpPr>
          <p:cNvPr id="4" name="Footer Placeholder 3">
            <a:extLst>
              <a:ext uri="{FF2B5EF4-FFF2-40B4-BE49-F238E27FC236}">
                <a16:creationId xmlns:a16="http://schemas.microsoft.com/office/drawing/2014/main" id="{86B2C80F-080B-416E-9B88-00A69F151A9E}"/>
              </a:ext>
            </a:extLst>
          </p:cNvPr>
          <p:cNvSpPr>
            <a:spLocks noGrp="1"/>
          </p:cNvSpPr>
          <p:nvPr>
            <p:ph type="ftr" sz="quarter" idx="11"/>
          </p:nvPr>
        </p:nvSpPr>
        <p:spPr/>
        <p:txBody>
          <a:bodyPr/>
          <a:lstStyle/>
          <a:p>
            <a:r>
              <a:rPr lang="en-US" dirty="0"/>
              <a:t>Ebeid - Spring 2023</a:t>
            </a:r>
          </a:p>
        </p:txBody>
      </p:sp>
      <p:sp>
        <p:nvSpPr>
          <p:cNvPr id="5" name="Slide Number Placeholder 4">
            <a:extLst>
              <a:ext uri="{FF2B5EF4-FFF2-40B4-BE49-F238E27FC236}">
                <a16:creationId xmlns:a16="http://schemas.microsoft.com/office/drawing/2014/main" id="{809DAC4E-F213-48A5-B9FF-B97B04BBF2EB}"/>
              </a:ext>
            </a:extLst>
          </p:cNvPr>
          <p:cNvSpPr>
            <a:spLocks noGrp="1"/>
          </p:cNvSpPr>
          <p:nvPr>
            <p:ph type="sldNum" sz="quarter" idx="12"/>
          </p:nvPr>
        </p:nvSpPr>
        <p:spPr/>
        <p:txBody>
          <a:bodyPr/>
          <a:lstStyle/>
          <a:p>
            <a:fld id="{174AA435-B3B0-4B6E-A265-E4C5F17628FB}" type="slidenum">
              <a:rPr lang="en-US" smtClean="0"/>
              <a:t>21</a:t>
            </a:fld>
            <a:endParaRPr lang="en-US"/>
          </a:p>
        </p:txBody>
      </p:sp>
      <p:sp>
        <p:nvSpPr>
          <p:cNvPr id="13" name="Title 1">
            <a:extLst>
              <a:ext uri="{FF2B5EF4-FFF2-40B4-BE49-F238E27FC236}">
                <a16:creationId xmlns:a16="http://schemas.microsoft.com/office/drawing/2014/main" id="{3653ED28-D4CC-4A37-81C8-238F1A13DE42}"/>
              </a:ext>
            </a:extLst>
          </p:cNvPr>
          <p:cNvSpPr>
            <a:spLocks noGrp="1"/>
          </p:cNvSpPr>
          <p:nvPr>
            <p:ph type="title"/>
          </p:nvPr>
        </p:nvSpPr>
        <p:spPr>
          <a:xfrm>
            <a:off x="901813" y="270319"/>
            <a:ext cx="9895951" cy="1033669"/>
          </a:xfrm>
        </p:spPr>
        <p:txBody>
          <a:bodyPr>
            <a:normAutofit/>
          </a:bodyPr>
          <a:lstStyle/>
          <a:p>
            <a:r>
              <a:rPr lang="en-US" sz="4000" dirty="0">
                <a:solidFill>
                  <a:srgbClr val="FFFFFF"/>
                </a:solidFill>
              </a:rPr>
              <a:t>3B. </a:t>
            </a:r>
            <a:r>
              <a:rPr lang="en-US" sz="4000" dirty="0" err="1">
                <a:solidFill>
                  <a:srgbClr val="FFFFFF"/>
                </a:solidFill>
              </a:rPr>
              <a:t>MedGraph</a:t>
            </a:r>
            <a:endParaRPr lang="en-US" sz="4000" dirty="0">
              <a:solidFill>
                <a:srgbClr val="FFFFFF"/>
              </a:solidFill>
            </a:endParaRPr>
          </a:p>
        </p:txBody>
      </p:sp>
    </p:spTree>
    <p:extLst>
      <p:ext uri="{BB962C8B-B14F-4D97-AF65-F5344CB8AC3E}">
        <p14:creationId xmlns:p14="http://schemas.microsoft.com/office/powerpoint/2010/main" val="11486130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413323-9734-400F-80F2-FAF40910FBD6}"/>
              </a:ext>
            </a:extLst>
          </p:cNvPr>
          <p:cNvSpPr>
            <a:spLocks noGrp="1"/>
          </p:cNvSpPr>
          <p:nvPr>
            <p:ph type="title"/>
          </p:nvPr>
        </p:nvSpPr>
        <p:spPr>
          <a:xfrm>
            <a:off x="838200" y="278535"/>
            <a:ext cx="9895951" cy="1033669"/>
          </a:xfrm>
        </p:spPr>
        <p:txBody>
          <a:bodyPr>
            <a:normAutofit/>
          </a:bodyPr>
          <a:lstStyle/>
          <a:p>
            <a:r>
              <a:rPr lang="en-US" sz="4000" dirty="0">
                <a:solidFill>
                  <a:srgbClr val="FFFFFF"/>
                </a:solidFill>
              </a:rPr>
              <a:t>3B. Evaluation</a:t>
            </a:r>
          </a:p>
        </p:txBody>
      </p:sp>
      <p:sp>
        <p:nvSpPr>
          <p:cNvPr id="4" name="Date Placeholder 3">
            <a:extLst>
              <a:ext uri="{FF2B5EF4-FFF2-40B4-BE49-F238E27FC236}">
                <a16:creationId xmlns:a16="http://schemas.microsoft.com/office/drawing/2014/main" id="{ECC04C1A-4826-4190-87DC-D88CB6BC2F99}"/>
              </a:ext>
            </a:extLst>
          </p:cNvPr>
          <p:cNvSpPr>
            <a:spLocks noGrp="1"/>
          </p:cNvSpPr>
          <p:nvPr>
            <p:ph type="dt" sz="half" idx="10"/>
          </p:nvPr>
        </p:nvSpPr>
        <p:spPr/>
        <p:txBody>
          <a:bodyPr/>
          <a:lstStyle/>
          <a:p>
            <a:fld id="{E2FCAC12-4D43-42B8-BF28-27AC1D6C2E7B}" type="datetime1">
              <a:rPr lang="en-US" smtClean="0"/>
              <a:t>5/19/2023</a:t>
            </a:fld>
            <a:endParaRPr lang="en-US"/>
          </a:p>
        </p:txBody>
      </p:sp>
      <p:sp>
        <p:nvSpPr>
          <p:cNvPr id="5" name="Footer Placeholder 4">
            <a:extLst>
              <a:ext uri="{FF2B5EF4-FFF2-40B4-BE49-F238E27FC236}">
                <a16:creationId xmlns:a16="http://schemas.microsoft.com/office/drawing/2014/main" id="{5AD98504-9D0A-4C35-91D5-6E0CC73191DB}"/>
              </a:ext>
            </a:extLst>
          </p:cNvPr>
          <p:cNvSpPr>
            <a:spLocks noGrp="1"/>
          </p:cNvSpPr>
          <p:nvPr>
            <p:ph type="ftr" sz="quarter" idx="11"/>
          </p:nvPr>
        </p:nvSpPr>
        <p:spPr/>
        <p:txBody>
          <a:bodyPr/>
          <a:lstStyle/>
          <a:p>
            <a:r>
              <a:rPr lang="en-US" dirty="0"/>
              <a:t>Ebeid - Spring 2023</a:t>
            </a:r>
          </a:p>
        </p:txBody>
      </p:sp>
      <p:sp>
        <p:nvSpPr>
          <p:cNvPr id="6" name="Slide Number Placeholder 5">
            <a:extLst>
              <a:ext uri="{FF2B5EF4-FFF2-40B4-BE49-F238E27FC236}">
                <a16:creationId xmlns:a16="http://schemas.microsoft.com/office/drawing/2014/main" id="{B5DEF635-AC87-4AD9-8F3D-FF031A5E8D4F}"/>
              </a:ext>
            </a:extLst>
          </p:cNvPr>
          <p:cNvSpPr>
            <a:spLocks noGrp="1"/>
          </p:cNvSpPr>
          <p:nvPr>
            <p:ph type="sldNum" sz="quarter" idx="12"/>
          </p:nvPr>
        </p:nvSpPr>
        <p:spPr/>
        <p:txBody>
          <a:bodyPr/>
          <a:lstStyle/>
          <a:p>
            <a:fld id="{174AA435-B3B0-4B6E-A265-E4C5F17628FB}" type="slidenum">
              <a:rPr lang="en-US" smtClean="0"/>
              <a:t>22</a:t>
            </a:fld>
            <a:endParaRPr lang="en-US"/>
          </a:p>
        </p:txBody>
      </p:sp>
      <p:graphicFrame>
        <p:nvGraphicFramePr>
          <p:cNvPr id="13" name="Table 12">
            <a:extLst>
              <a:ext uri="{FF2B5EF4-FFF2-40B4-BE49-F238E27FC236}">
                <a16:creationId xmlns:a16="http://schemas.microsoft.com/office/drawing/2014/main" id="{BE621CCA-CAB3-488E-94CF-2D541DC934FC}"/>
              </a:ext>
            </a:extLst>
          </p:cNvPr>
          <p:cNvGraphicFramePr>
            <a:graphicFrameLocks noGrp="1"/>
          </p:cNvGraphicFramePr>
          <p:nvPr>
            <p:extLst>
              <p:ext uri="{D42A27DB-BD31-4B8C-83A1-F6EECF244321}">
                <p14:modId xmlns:p14="http://schemas.microsoft.com/office/powerpoint/2010/main" val="426225947"/>
              </p:ext>
            </p:extLst>
          </p:nvPr>
        </p:nvGraphicFramePr>
        <p:xfrm>
          <a:off x="838198" y="2106348"/>
          <a:ext cx="10515599" cy="3727704"/>
        </p:xfrm>
        <a:graphic>
          <a:graphicData uri="http://schemas.openxmlformats.org/drawingml/2006/table">
            <a:tbl>
              <a:tblPr firstRow="1" firstCol="1" bandRow="1">
                <a:tableStyleId>{5C22544A-7EE6-4342-B048-85BDC9FD1C3A}</a:tableStyleId>
              </a:tblPr>
              <a:tblGrid>
                <a:gridCol w="1038941">
                  <a:extLst>
                    <a:ext uri="{9D8B030D-6E8A-4147-A177-3AD203B41FA5}">
                      <a16:colId xmlns:a16="http://schemas.microsoft.com/office/drawing/2014/main" val="3703667801"/>
                    </a:ext>
                  </a:extLst>
                </a:gridCol>
                <a:gridCol w="1038941">
                  <a:extLst>
                    <a:ext uri="{9D8B030D-6E8A-4147-A177-3AD203B41FA5}">
                      <a16:colId xmlns:a16="http://schemas.microsoft.com/office/drawing/2014/main" val="1659908286"/>
                    </a:ext>
                  </a:extLst>
                </a:gridCol>
                <a:gridCol w="664586">
                  <a:extLst>
                    <a:ext uri="{9D8B030D-6E8A-4147-A177-3AD203B41FA5}">
                      <a16:colId xmlns:a16="http://schemas.microsoft.com/office/drawing/2014/main" val="1724611969"/>
                    </a:ext>
                  </a:extLst>
                </a:gridCol>
                <a:gridCol w="664586">
                  <a:extLst>
                    <a:ext uri="{9D8B030D-6E8A-4147-A177-3AD203B41FA5}">
                      <a16:colId xmlns:a16="http://schemas.microsoft.com/office/drawing/2014/main" val="1929159998"/>
                    </a:ext>
                  </a:extLst>
                </a:gridCol>
                <a:gridCol w="666689">
                  <a:extLst>
                    <a:ext uri="{9D8B030D-6E8A-4147-A177-3AD203B41FA5}">
                      <a16:colId xmlns:a16="http://schemas.microsoft.com/office/drawing/2014/main" val="1154168168"/>
                    </a:ext>
                  </a:extLst>
                </a:gridCol>
                <a:gridCol w="666689">
                  <a:extLst>
                    <a:ext uri="{9D8B030D-6E8A-4147-A177-3AD203B41FA5}">
                      <a16:colId xmlns:a16="http://schemas.microsoft.com/office/drawing/2014/main" val="3466384352"/>
                    </a:ext>
                  </a:extLst>
                </a:gridCol>
                <a:gridCol w="666689">
                  <a:extLst>
                    <a:ext uri="{9D8B030D-6E8A-4147-A177-3AD203B41FA5}">
                      <a16:colId xmlns:a16="http://schemas.microsoft.com/office/drawing/2014/main" val="1658360759"/>
                    </a:ext>
                  </a:extLst>
                </a:gridCol>
                <a:gridCol w="666689">
                  <a:extLst>
                    <a:ext uri="{9D8B030D-6E8A-4147-A177-3AD203B41FA5}">
                      <a16:colId xmlns:a16="http://schemas.microsoft.com/office/drawing/2014/main" val="3428719016"/>
                    </a:ext>
                  </a:extLst>
                </a:gridCol>
                <a:gridCol w="759226">
                  <a:extLst>
                    <a:ext uri="{9D8B030D-6E8A-4147-A177-3AD203B41FA5}">
                      <a16:colId xmlns:a16="http://schemas.microsoft.com/office/drawing/2014/main" val="3616942747"/>
                    </a:ext>
                  </a:extLst>
                </a:gridCol>
                <a:gridCol w="759226">
                  <a:extLst>
                    <a:ext uri="{9D8B030D-6E8A-4147-A177-3AD203B41FA5}">
                      <a16:colId xmlns:a16="http://schemas.microsoft.com/office/drawing/2014/main" val="3024821805"/>
                    </a:ext>
                  </a:extLst>
                </a:gridCol>
                <a:gridCol w="759226">
                  <a:extLst>
                    <a:ext uri="{9D8B030D-6E8A-4147-A177-3AD203B41FA5}">
                      <a16:colId xmlns:a16="http://schemas.microsoft.com/office/drawing/2014/main" val="573819018"/>
                    </a:ext>
                  </a:extLst>
                </a:gridCol>
                <a:gridCol w="759226">
                  <a:extLst>
                    <a:ext uri="{9D8B030D-6E8A-4147-A177-3AD203B41FA5}">
                      <a16:colId xmlns:a16="http://schemas.microsoft.com/office/drawing/2014/main" val="3618652654"/>
                    </a:ext>
                  </a:extLst>
                </a:gridCol>
                <a:gridCol w="851764">
                  <a:extLst>
                    <a:ext uri="{9D8B030D-6E8A-4147-A177-3AD203B41FA5}">
                      <a16:colId xmlns:a16="http://schemas.microsoft.com/office/drawing/2014/main" val="1264036323"/>
                    </a:ext>
                  </a:extLst>
                </a:gridCol>
                <a:gridCol w="553121">
                  <a:extLst>
                    <a:ext uri="{9D8B030D-6E8A-4147-A177-3AD203B41FA5}">
                      <a16:colId xmlns:a16="http://schemas.microsoft.com/office/drawing/2014/main" val="3536683533"/>
                    </a:ext>
                  </a:extLst>
                </a:gridCol>
              </a:tblGrid>
              <a:tr h="0">
                <a:tc>
                  <a:txBody>
                    <a:bodyPr/>
                    <a:lstStyle/>
                    <a:p>
                      <a:pPr marL="0" marR="0">
                        <a:lnSpc>
                          <a:spcPct val="200000"/>
                        </a:lnSpc>
                        <a:spcBef>
                          <a:spcPts val="0"/>
                        </a:spcBef>
                        <a:spcAft>
                          <a:spcPts val="0"/>
                        </a:spcAft>
                      </a:pPr>
                      <a:r>
                        <a:rPr lang="en-US" sz="1400">
                          <a:effectLst/>
                        </a:rPr>
                        <a:t>Metric</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Method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K=5</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K=10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K=25</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K=50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K=75</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K=100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K=150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K=250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K=500</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dirty="0">
                          <a:effectLst/>
                        </a:rPr>
                        <a:t>K=1000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29572297"/>
                  </a:ext>
                </a:extLst>
              </a:tr>
              <a:tr h="0">
                <a:tc rowSpan="2">
                  <a:txBody>
                    <a:bodyPr/>
                    <a:lstStyle/>
                    <a:p>
                      <a:pPr marL="0" marR="0">
                        <a:lnSpc>
                          <a:spcPct val="200000"/>
                        </a:lnSpc>
                        <a:spcBef>
                          <a:spcPts val="0"/>
                        </a:spcBef>
                        <a:spcAft>
                          <a:spcPts val="0"/>
                        </a:spcAft>
                      </a:pPr>
                      <a:r>
                        <a:rPr lang="en-US" sz="1400" dirty="0">
                          <a:effectLst/>
                        </a:rPr>
                        <a:t>Recall</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TFIDF</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0.053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0.062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0.078</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0.113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0.177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0.197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0.202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0.207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0.217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0.22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0.22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dirty="0">
                          <a:effectLst/>
                        </a:rPr>
                        <a:t>0.22</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48574110"/>
                  </a:ext>
                </a:extLst>
              </a:tr>
              <a:tr h="0">
                <a:tc vMerge="1">
                  <a:txBody>
                    <a:bodyPr/>
                    <a:lstStyle/>
                    <a:p>
                      <a:endParaRPr lang="en-US"/>
                    </a:p>
                  </a:txBody>
                  <a:tcPr/>
                </a:tc>
                <a:tc>
                  <a:txBody>
                    <a:bodyPr/>
                    <a:lstStyle/>
                    <a:p>
                      <a:pPr marL="0" marR="0">
                        <a:lnSpc>
                          <a:spcPct val="200000"/>
                        </a:lnSpc>
                        <a:spcBef>
                          <a:spcPts val="0"/>
                        </a:spcBef>
                        <a:spcAft>
                          <a:spcPts val="0"/>
                        </a:spcAft>
                      </a:pPr>
                      <a:r>
                        <a:rPr lang="en-US" sz="1400">
                          <a:effectLst/>
                        </a:rPr>
                        <a:t>MedGraph</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0.227</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0.245</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0.297</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0.392</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0.545</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0.646</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0.693</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0.726</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0.749</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0.846</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0.931</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0.976</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20413094"/>
                  </a:ext>
                </a:extLst>
              </a:tr>
              <a:tr h="0">
                <a:tc rowSpan="2">
                  <a:txBody>
                    <a:bodyPr/>
                    <a:lstStyle/>
                    <a:p>
                      <a:pPr marL="0" marR="0">
                        <a:lnSpc>
                          <a:spcPct val="200000"/>
                        </a:lnSpc>
                        <a:spcBef>
                          <a:spcPts val="0"/>
                        </a:spcBef>
                        <a:spcAft>
                          <a:spcPts val="0"/>
                        </a:spcAft>
                      </a:pPr>
                      <a:r>
                        <a:rPr lang="en-US" sz="1400">
                          <a:effectLst/>
                        </a:rPr>
                        <a:t>Precision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TFIDF</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0.467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0.307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0.293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0.248</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0.171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0.136</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0.117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0.064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0.032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0.016</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07279246"/>
                  </a:ext>
                </a:extLst>
              </a:tr>
              <a:tr h="0">
                <a:tc vMerge="1">
                  <a:txBody>
                    <a:bodyPr/>
                    <a:lstStyle/>
                    <a:p>
                      <a:endParaRPr lang="en-US"/>
                    </a:p>
                  </a:txBody>
                  <a:tcPr/>
                </a:tc>
                <a:tc>
                  <a:txBody>
                    <a:bodyPr/>
                    <a:lstStyle/>
                    <a:p>
                      <a:pPr marL="0" marR="0">
                        <a:lnSpc>
                          <a:spcPct val="200000"/>
                        </a:lnSpc>
                        <a:spcBef>
                          <a:spcPts val="0"/>
                        </a:spcBef>
                        <a:spcAft>
                          <a:spcPts val="0"/>
                        </a:spcAft>
                      </a:pPr>
                      <a:r>
                        <a:rPr lang="en-US" sz="1400">
                          <a:effectLst/>
                        </a:rPr>
                        <a:t>MedGraph</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0.867</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0.667</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0.507</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0.453</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0.336</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0.248</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0.202</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0.172</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0.134</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0.103</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0.064</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0.034</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7322645"/>
                  </a:ext>
                </a:extLst>
              </a:tr>
              <a:tr h="0">
                <a:tc rowSpan="2">
                  <a:txBody>
                    <a:bodyPr/>
                    <a:lstStyle/>
                    <a:p>
                      <a:pPr marL="0" marR="0">
                        <a:lnSpc>
                          <a:spcPct val="200000"/>
                        </a:lnSpc>
                        <a:spcBef>
                          <a:spcPts val="0"/>
                        </a:spcBef>
                        <a:spcAft>
                          <a:spcPts val="0"/>
                        </a:spcAft>
                      </a:pPr>
                      <a:r>
                        <a:rPr lang="en-US" sz="1400">
                          <a:effectLst/>
                        </a:rPr>
                        <a:t>F1-Score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TFIDF</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0.081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0.083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0.09</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0.122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0.161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0.138</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0.118</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0.107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0.097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dirty="0">
                          <a:effectLst/>
                        </a:rPr>
                        <a:t>0.074</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0.046</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0.026</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03845142"/>
                  </a:ext>
                </a:extLst>
              </a:tr>
              <a:tr h="0">
                <a:tc vMerge="1">
                  <a:txBody>
                    <a:bodyPr/>
                    <a:lstStyle/>
                    <a:p>
                      <a:endParaRPr lang="en-US"/>
                    </a:p>
                  </a:txBody>
                  <a:tcPr/>
                </a:tc>
                <a:tc>
                  <a:txBody>
                    <a:bodyPr/>
                    <a:lstStyle/>
                    <a:p>
                      <a:pPr marL="0" marR="0">
                        <a:lnSpc>
                          <a:spcPct val="200000"/>
                        </a:lnSpc>
                        <a:spcBef>
                          <a:spcPts val="0"/>
                        </a:spcBef>
                        <a:spcAft>
                          <a:spcPts val="0"/>
                        </a:spcAft>
                      </a:pPr>
                      <a:r>
                        <a:rPr lang="en-US" sz="1400">
                          <a:effectLst/>
                        </a:rPr>
                        <a:t>MedGraph</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0.279</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0.245</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0.235</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0.276</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0.282</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0.253</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0.221</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0.197</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0.161</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0.134</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0.095</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0.056</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40041824"/>
                  </a:ext>
                </a:extLst>
              </a:tr>
              <a:tr h="0">
                <a:tc rowSpan="2">
                  <a:txBody>
                    <a:bodyPr/>
                    <a:lstStyle/>
                    <a:p>
                      <a:pPr marL="0" marR="0">
                        <a:lnSpc>
                          <a:spcPct val="200000"/>
                        </a:lnSpc>
                        <a:spcBef>
                          <a:spcPts val="0"/>
                        </a:spcBef>
                        <a:spcAft>
                          <a:spcPts val="0"/>
                        </a:spcAft>
                      </a:pPr>
                      <a:r>
                        <a:rPr lang="en-US" sz="1400">
                          <a:effectLst/>
                        </a:rPr>
                        <a:t>MAP</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TFIDF</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0.467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0.383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0.272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0.221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0.184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0.177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0.175</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0.174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0.174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0.173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0.173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0.173</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62564191"/>
                  </a:ext>
                </a:extLst>
              </a:tr>
              <a:tr h="0">
                <a:tc vMerge="1">
                  <a:txBody>
                    <a:bodyPr/>
                    <a:lstStyle/>
                    <a:p>
                      <a:endParaRPr lang="en-US"/>
                    </a:p>
                  </a:txBody>
                  <a:tcPr/>
                </a:tc>
                <a:tc>
                  <a:txBody>
                    <a:bodyPr/>
                    <a:lstStyle/>
                    <a:p>
                      <a:pPr marL="0" marR="0">
                        <a:lnSpc>
                          <a:spcPct val="200000"/>
                        </a:lnSpc>
                        <a:spcBef>
                          <a:spcPts val="0"/>
                        </a:spcBef>
                        <a:spcAft>
                          <a:spcPts val="0"/>
                        </a:spcAft>
                      </a:pPr>
                      <a:r>
                        <a:rPr lang="en-US" sz="1400">
                          <a:effectLst/>
                        </a:rPr>
                        <a:t>MedGraph</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0.867</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0.55</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b="1" dirty="0">
                          <a:effectLst/>
                        </a:rPr>
                        <a:t>0.284</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0.168</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0.077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0.041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0.028</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0.021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0.014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0.009</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a:effectLst/>
                        </a:rPr>
                        <a:t>0.004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200000"/>
                        </a:lnSpc>
                        <a:spcBef>
                          <a:spcPts val="0"/>
                        </a:spcBef>
                        <a:spcAft>
                          <a:spcPts val="0"/>
                        </a:spcAft>
                      </a:pPr>
                      <a:r>
                        <a:rPr lang="en-US" sz="1400" dirty="0">
                          <a:effectLst/>
                        </a:rPr>
                        <a:t>0.002</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29247402"/>
                  </a:ext>
                </a:extLst>
              </a:tr>
            </a:tbl>
          </a:graphicData>
        </a:graphic>
      </p:graphicFrame>
    </p:spTree>
    <p:extLst>
      <p:ext uri="{BB962C8B-B14F-4D97-AF65-F5344CB8AC3E}">
        <p14:creationId xmlns:p14="http://schemas.microsoft.com/office/powerpoint/2010/main" val="5417279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6994D9-3757-46C5-B859-5D1649C8E34B}"/>
              </a:ext>
            </a:extLst>
          </p:cNvPr>
          <p:cNvSpPr>
            <a:spLocks noGrp="1"/>
          </p:cNvSpPr>
          <p:nvPr>
            <p:ph type="title"/>
          </p:nvPr>
        </p:nvSpPr>
        <p:spPr>
          <a:xfrm>
            <a:off x="838200" y="278535"/>
            <a:ext cx="9895951" cy="1033669"/>
          </a:xfrm>
        </p:spPr>
        <p:txBody>
          <a:bodyPr>
            <a:normAutofit/>
          </a:bodyPr>
          <a:lstStyle/>
          <a:p>
            <a:r>
              <a:rPr lang="en-US" sz="4000" dirty="0">
                <a:solidFill>
                  <a:srgbClr val="FFFFFF"/>
                </a:solidFill>
              </a:rPr>
              <a:t>3B. Future Work</a:t>
            </a:r>
          </a:p>
        </p:txBody>
      </p:sp>
      <p:sp>
        <p:nvSpPr>
          <p:cNvPr id="3" name="Content Placeholder 2">
            <a:extLst>
              <a:ext uri="{FF2B5EF4-FFF2-40B4-BE49-F238E27FC236}">
                <a16:creationId xmlns:a16="http://schemas.microsoft.com/office/drawing/2014/main" id="{90DCE804-4D5A-437C-81B3-E30B5A3DBCD0}"/>
              </a:ext>
            </a:extLst>
          </p:cNvPr>
          <p:cNvSpPr>
            <a:spLocks noGrp="1"/>
          </p:cNvSpPr>
          <p:nvPr>
            <p:ph idx="1"/>
          </p:nvPr>
        </p:nvSpPr>
        <p:spPr>
          <a:xfrm>
            <a:off x="1371599" y="2318197"/>
            <a:ext cx="9724031" cy="3683358"/>
          </a:xfrm>
        </p:spPr>
        <p:txBody>
          <a:bodyPr anchor="ctr">
            <a:normAutofit/>
          </a:bodyPr>
          <a:lstStyle/>
          <a:p>
            <a:r>
              <a:rPr lang="en-US" sz="2000" dirty="0"/>
              <a:t>A/B testing</a:t>
            </a:r>
          </a:p>
          <a:p>
            <a:r>
              <a:rPr lang="en-US" sz="2000" dirty="0"/>
              <a:t>Run on the full PubMed dataset</a:t>
            </a:r>
          </a:p>
          <a:p>
            <a:r>
              <a:rPr lang="en-US" sz="2000" dirty="0"/>
              <a:t>GNN (GCN, GAT, Message Passing) to avoid inductive bias</a:t>
            </a:r>
          </a:p>
          <a:p>
            <a:endParaRPr lang="en-US" sz="2000" dirty="0"/>
          </a:p>
        </p:txBody>
      </p:sp>
      <p:sp>
        <p:nvSpPr>
          <p:cNvPr id="4" name="Date Placeholder 3">
            <a:extLst>
              <a:ext uri="{FF2B5EF4-FFF2-40B4-BE49-F238E27FC236}">
                <a16:creationId xmlns:a16="http://schemas.microsoft.com/office/drawing/2014/main" id="{8CEE47C2-90DE-4B59-8334-68B63830DA2D}"/>
              </a:ext>
            </a:extLst>
          </p:cNvPr>
          <p:cNvSpPr>
            <a:spLocks noGrp="1"/>
          </p:cNvSpPr>
          <p:nvPr>
            <p:ph type="dt" sz="half" idx="10"/>
          </p:nvPr>
        </p:nvSpPr>
        <p:spPr/>
        <p:txBody>
          <a:bodyPr/>
          <a:lstStyle/>
          <a:p>
            <a:fld id="{5F8F02D7-DDED-4548-9671-B52A562FC6C8}" type="datetime1">
              <a:rPr lang="en-US" smtClean="0"/>
              <a:t>5/19/2023</a:t>
            </a:fld>
            <a:endParaRPr lang="en-US"/>
          </a:p>
        </p:txBody>
      </p:sp>
      <p:sp>
        <p:nvSpPr>
          <p:cNvPr id="5" name="Footer Placeholder 4">
            <a:extLst>
              <a:ext uri="{FF2B5EF4-FFF2-40B4-BE49-F238E27FC236}">
                <a16:creationId xmlns:a16="http://schemas.microsoft.com/office/drawing/2014/main" id="{48B207F9-E808-471D-B2FF-F19AD414C0C2}"/>
              </a:ext>
            </a:extLst>
          </p:cNvPr>
          <p:cNvSpPr>
            <a:spLocks noGrp="1"/>
          </p:cNvSpPr>
          <p:nvPr>
            <p:ph type="ftr" sz="quarter" idx="11"/>
          </p:nvPr>
        </p:nvSpPr>
        <p:spPr/>
        <p:txBody>
          <a:bodyPr/>
          <a:lstStyle/>
          <a:p>
            <a:r>
              <a:rPr lang="en-US" dirty="0"/>
              <a:t>Ebeid - Spring 2023</a:t>
            </a:r>
          </a:p>
        </p:txBody>
      </p:sp>
      <p:sp>
        <p:nvSpPr>
          <p:cNvPr id="6" name="Slide Number Placeholder 5">
            <a:extLst>
              <a:ext uri="{FF2B5EF4-FFF2-40B4-BE49-F238E27FC236}">
                <a16:creationId xmlns:a16="http://schemas.microsoft.com/office/drawing/2014/main" id="{EE042561-A815-4170-BFB6-8D2C06D8416A}"/>
              </a:ext>
            </a:extLst>
          </p:cNvPr>
          <p:cNvSpPr>
            <a:spLocks noGrp="1"/>
          </p:cNvSpPr>
          <p:nvPr>
            <p:ph type="sldNum" sz="quarter" idx="12"/>
          </p:nvPr>
        </p:nvSpPr>
        <p:spPr/>
        <p:txBody>
          <a:bodyPr/>
          <a:lstStyle/>
          <a:p>
            <a:fld id="{174AA435-B3B0-4B6E-A265-E4C5F17628FB}" type="slidenum">
              <a:rPr lang="en-US" smtClean="0"/>
              <a:t>23</a:t>
            </a:fld>
            <a:endParaRPr lang="en-US"/>
          </a:p>
        </p:txBody>
      </p:sp>
    </p:spTree>
    <p:extLst>
      <p:ext uri="{BB962C8B-B14F-4D97-AF65-F5344CB8AC3E}">
        <p14:creationId xmlns:p14="http://schemas.microsoft.com/office/powerpoint/2010/main" val="16029066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6994D9-3757-46C5-B859-5D1649C8E34B}"/>
              </a:ext>
            </a:extLst>
          </p:cNvPr>
          <p:cNvSpPr>
            <a:spLocks noGrp="1"/>
          </p:cNvSpPr>
          <p:nvPr>
            <p:ph type="title"/>
          </p:nvPr>
        </p:nvSpPr>
        <p:spPr>
          <a:xfrm>
            <a:off x="838200" y="278535"/>
            <a:ext cx="9895951" cy="1033669"/>
          </a:xfrm>
        </p:spPr>
        <p:txBody>
          <a:bodyPr>
            <a:normAutofit/>
          </a:bodyPr>
          <a:lstStyle/>
          <a:p>
            <a:r>
              <a:rPr lang="en-US" sz="4000" dirty="0">
                <a:solidFill>
                  <a:srgbClr val="FFFFFF"/>
                </a:solidFill>
              </a:rPr>
              <a:t>3B. Future Work</a:t>
            </a:r>
          </a:p>
        </p:txBody>
      </p:sp>
      <p:sp>
        <p:nvSpPr>
          <p:cNvPr id="4" name="Date Placeholder 3">
            <a:extLst>
              <a:ext uri="{FF2B5EF4-FFF2-40B4-BE49-F238E27FC236}">
                <a16:creationId xmlns:a16="http://schemas.microsoft.com/office/drawing/2014/main" id="{8CEE47C2-90DE-4B59-8334-68B63830DA2D}"/>
              </a:ext>
            </a:extLst>
          </p:cNvPr>
          <p:cNvSpPr>
            <a:spLocks noGrp="1"/>
          </p:cNvSpPr>
          <p:nvPr>
            <p:ph type="dt" sz="half" idx="10"/>
          </p:nvPr>
        </p:nvSpPr>
        <p:spPr/>
        <p:txBody>
          <a:bodyPr/>
          <a:lstStyle/>
          <a:p>
            <a:fld id="{5F8F02D7-DDED-4548-9671-B52A562FC6C8}" type="datetime1">
              <a:rPr lang="en-US" smtClean="0"/>
              <a:t>5/19/2023</a:t>
            </a:fld>
            <a:endParaRPr lang="en-US"/>
          </a:p>
        </p:txBody>
      </p:sp>
      <p:sp>
        <p:nvSpPr>
          <p:cNvPr id="5" name="Footer Placeholder 4">
            <a:extLst>
              <a:ext uri="{FF2B5EF4-FFF2-40B4-BE49-F238E27FC236}">
                <a16:creationId xmlns:a16="http://schemas.microsoft.com/office/drawing/2014/main" id="{48B207F9-E808-471D-B2FF-F19AD414C0C2}"/>
              </a:ext>
            </a:extLst>
          </p:cNvPr>
          <p:cNvSpPr>
            <a:spLocks noGrp="1"/>
          </p:cNvSpPr>
          <p:nvPr>
            <p:ph type="ftr" sz="quarter" idx="11"/>
          </p:nvPr>
        </p:nvSpPr>
        <p:spPr/>
        <p:txBody>
          <a:bodyPr/>
          <a:lstStyle/>
          <a:p>
            <a:r>
              <a:rPr lang="en-US" dirty="0"/>
              <a:t>Ebeid - Spring 2023</a:t>
            </a:r>
          </a:p>
        </p:txBody>
      </p:sp>
      <p:sp>
        <p:nvSpPr>
          <p:cNvPr id="6" name="Slide Number Placeholder 5">
            <a:extLst>
              <a:ext uri="{FF2B5EF4-FFF2-40B4-BE49-F238E27FC236}">
                <a16:creationId xmlns:a16="http://schemas.microsoft.com/office/drawing/2014/main" id="{EE042561-A815-4170-BFB6-8D2C06D8416A}"/>
              </a:ext>
            </a:extLst>
          </p:cNvPr>
          <p:cNvSpPr>
            <a:spLocks noGrp="1"/>
          </p:cNvSpPr>
          <p:nvPr>
            <p:ph type="sldNum" sz="quarter" idx="12"/>
          </p:nvPr>
        </p:nvSpPr>
        <p:spPr/>
        <p:txBody>
          <a:bodyPr/>
          <a:lstStyle/>
          <a:p>
            <a:fld id="{174AA435-B3B0-4B6E-A265-E4C5F17628FB}" type="slidenum">
              <a:rPr lang="en-US" smtClean="0"/>
              <a:t>24</a:t>
            </a:fld>
            <a:endParaRPr lang="en-US"/>
          </a:p>
        </p:txBody>
      </p:sp>
      <p:pic>
        <p:nvPicPr>
          <p:cNvPr id="15" name="Content Placeholder 6" descr="Chart, bubble chart&#10;&#10;Description automatically generated">
            <a:extLst>
              <a:ext uri="{FF2B5EF4-FFF2-40B4-BE49-F238E27FC236}">
                <a16:creationId xmlns:a16="http://schemas.microsoft.com/office/drawing/2014/main" id="{2CF8E075-0F37-478F-93AB-8BE791FBDF7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83124" y="1950385"/>
            <a:ext cx="7225748" cy="4136740"/>
          </a:xfrm>
          <a:prstGeom prst="rect">
            <a:avLst/>
          </a:prstGeom>
        </p:spPr>
      </p:pic>
    </p:spTree>
    <p:extLst>
      <p:ext uri="{BB962C8B-B14F-4D97-AF65-F5344CB8AC3E}">
        <p14:creationId xmlns:p14="http://schemas.microsoft.com/office/powerpoint/2010/main" val="1177713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B85F72-3F13-4019-ABB9-EAB6BCB65CEC}"/>
              </a:ext>
            </a:extLst>
          </p:cNvPr>
          <p:cNvSpPr>
            <a:spLocks noGrp="1"/>
          </p:cNvSpPr>
          <p:nvPr>
            <p:ph type="title"/>
          </p:nvPr>
        </p:nvSpPr>
        <p:spPr>
          <a:xfrm>
            <a:off x="838200" y="278535"/>
            <a:ext cx="9895951" cy="1033669"/>
          </a:xfrm>
        </p:spPr>
        <p:txBody>
          <a:bodyPr>
            <a:normAutofit/>
          </a:bodyPr>
          <a:lstStyle/>
          <a:p>
            <a:r>
              <a:rPr lang="en-US" sz="4000" dirty="0">
                <a:solidFill>
                  <a:srgbClr val="FFFFFF"/>
                </a:solidFill>
              </a:rPr>
              <a:t>3. Previous Work</a:t>
            </a:r>
          </a:p>
        </p:txBody>
      </p:sp>
      <p:sp>
        <p:nvSpPr>
          <p:cNvPr id="3" name="Content Placeholder 2">
            <a:extLst>
              <a:ext uri="{FF2B5EF4-FFF2-40B4-BE49-F238E27FC236}">
                <a16:creationId xmlns:a16="http://schemas.microsoft.com/office/drawing/2014/main" id="{FF5EC322-C0F3-440E-B675-02F9FC831DA4}"/>
              </a:ext>
            </a:extLst>
          </p:cNvPr>
          <p:cNvSpPr>
            <a:spLocks noGrp="1"/>
          </p:cNvSpPr>
          <p:nvPr>
            <p:ph idx="1"/>
          </p:nvPr>
        </p:nvSpPr>
        <p:spPr>
          <a:xfrm>
            <a:off x="1371599" y="2318197"/>
            <a:ext cx="9724031" cy="3683358"/>
          </a:xfrm>
        </p:spPr>
        <p:txBody>
          <a:bodyPr anchor="ctr">
            <a:normAutofit/>
          </a:bodyPr>
          <a:lstStyle/>
          <a:p>
            <a:pPr marL="914400" lvl="1" indent="-457200">
              <a:buFont typeface="+mj-lt"/>
              <a:buAutoNum type="alphaUcPeriod"/>
            </a:pPr>
            <a:r>
              <a:rPr lang="en-US" sz="2000" b="1" dirty="0"/>
              <a:t>Graph-based Entity Resolution and NLP for Data Integration</a:t>
            </a:r>
          </a:p>
          <a:p>
            <a:pPr marL="914400" lvl="1" indent="-457200">
              <a:buFont typeface="+mj-lt"/>
              <a:buAutoNum type="alphaUcPeriod"/>
            </a:pPr>
            <a:r>
              <a:rPr lang="en-US" sz="2000" b="1" dirty="0"/>
              <a:t>Biomedical Knowledge Discovery, Information Retrieval &amp; Data Mining</a:t>
            </a:r>
          </a:p>
          <a:p>
            <a:pPr marL="914400" lvl="1" indent="-457200">
              <a:buFont typeface="+mj-lt"/>
              <a:buAutoNum type="alphaUcPeriod"/>
            </a:pPr>
            <a:r>
              <a:rPr lang="en-US" sz="2000" b="1" dirty="0"/>
              <a:t>HCI, UX, Visualization &amp; Eye Tracking</a:t>
            </a:r>
          </a:p>
        </p:txBody>
      </p:sp>
      <p:sp>
        <p:nvSpPr>
          <p:cNvPr id="4" name="Date Placeholder 3">
            <a:extLst>
              <a:ext uri="{FF2B5EF4-FFF2-40B4-BE49-F238E27FC236}">
                <a16:creationId xmlns:a16="http://schemas.microsoft.com/office/drawing/2014/main" id="{1D270EA4-15BB-47FB-8DF6-CE6CB87855CF}"/>
              </a:ext>
            </a:extLst>
          </p:cNvPr>
          <p:cNvSpPr>
            <a:spLocks noGrp="1"/>
          </p:cNvSpPr>
          <p:nvPr>
            <p:ph type="dt" sz="half" idx="10"/>
          </p:nvPr>
        </p:nvSpPr>
        <p:spPr/>
        <p:txBody>
          <a:bodyPr/>
          <a:lstStyle/>
          <a:p>
            <a:fld id="{94476323-3C13-412D-AF3E-6F658411519E}" type="datetime1">
              <a:rPr lang="en-US" smtClean="0"/>
              <a:t>5/19/2023</a:t>
            </a:fld>
            <a:endParaRPr lang="en-US"/>
          </a:p>
        </p:txBody>
      </p:sp>
      <p:sp>
        <p:nvSpPr>
          <p:cNvPr id="5" name="Footer Placeholder 4">
            <a:extLst>
              <a:ext uri="{FF2B5EF4-FFF2-40B4-BE49-F238E27FC236}">
                <a16:creationId xmlns:a16="http://schemas.microsoft.com/office/drawing/2014/main" id="{D8036A01-0239-4996-A8F1-74B2A0440FE1}"/>
              </a:ext>
            </a:extLst>
          </p:cNvPr>
          <p:cNvSpPr>
            <a:spLocks noGrp="1"/>
          </p:cNvSpPr>
          <p:nvPr>
            <p:ph type="ftr" sz="quarter" idx="11"/>
          </p:nvPr>
        </p:nvSpPr>
        <p:spPr/>
        <p:txBody>
          <a:bodyPr/>
          <a:lstStyle/>
          <a:p>
            <a:r>
              <a:rPr lang="en-US" dirty="0"/>
              <a:t>Ebeid - Spring 2023</a:t>
            </a:r>
          </a:p>
        </p:txBody>
      </p:sp>
      <p:sp>
        <p:nvSpPr>
          <p:cNvPr id="6" name="Slide Number Placeholder 5">
            <a:extLst>
              <a:ext uri="{FF2B5EF4-FFF2-40B4-BE49-F238E27FC236}">
                <a16:creationId xmlns:a16="http://schemas.microsoft.com/office/drawing/2014/main" id="{72318A8A-94F4-4E26-9F26-40A094B20A0C}"/>
              </a:ext>
            </a:extLst>
          </p:cNvPr>
          <p:cNvSpPr>
            <a:spLocks noGrp="1"/>
          </p:cNvSpPr>
          <p:nvPr>
            <p:ph type="sldNum" sz="quarter" idx="12"/>
          </p:nvPr>
        </p:nvSpPr>
        <p:spPr/>
        <p:txBody>
          <a:bodyPr/>
          <a:lstStyle/>
          <a:p>
            <a:fld id="{174AA435-B3B0-4B6E-A265-E4C5F17628FB}" type="slidenum">
              <a:rPr lang="en-US" smtClean="0"/>
              <a:t>25</a:t>
            </a:fld>
            <a:endParaRPr lang="en-US"/>
          </a:p>
        </p:txBody>
      </p:sp>
    </p:spTree>
    <p:extLst>
      <p:ext uri="{BB962C8B-B14F-4D97-AF65-F5344CB8AC3E}">
        <p14:creationId xmlns:p14="http://schemas.microsoft.com/office/powerpoint/2010/main" val="4804706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006168-38A9-48C2-8164-F363FAB894F2}"/>
              </a:ext>
            </a:extLst>
          </p:cNvPr>
          <p:cNvSpPr>
            <a:spLocks noGrp="1"/>
          </p:cNvSpPr>
          <p:nvPr>
            <p:ph type="title"/>
          </p:nvPr>
        </p:nvSpPr>
        <p:spPr>
          <a:xfrm>
            <a:off x="838200" y="278535"/>
            <a:ext cx="9895951" cy="1033669"/>
          </a:xfrm>
        </p:spPr>
        <p:txBody>
          <a:bodyPr>
            <a:normAutofit/>
          </a:bodyPr>
          <a:lstStyle/>
          <a:p>
            <a:r>
              <a:rPr lang="en-US" sz="3400" dirty="0">
                <a:solidFill>
                  <a:srgbClr val="FFFFFF"/>
                </a:solidFill>
              </a:rPr>
              <a:t>3A. Data Integration &amp; Entity Resolution</a:t>
            </a:r>
          </a:p>
        </p:txBody>
      </p:sp>
      <p:sp>
        <p:nvSpPr>
          <p:cNvPr id="3" name="Content Placeholder 2">
            <a:extLst>
              <a:ext uri="{FF2B5EF4-FFF2-40B4-BE49-F238E27FC236}">
                <a16:creationId xmlns:a16="http://schemas.microsoft.com/office/drawing/2014/main" id="{DBF20C49-82B9-4280-82FF-BFC7C95CDFFA}"/>
              </a:ext>
            </a:extLst>
          </p:cNvPr>
          <p:cNvSpPr>
            <a:spLocks noGrp="1"/>
          </p:cNvSpPr>
          <p:nvPr>
            <p:ph idx="1"/>
          </p:nvPr>
        </p:nvSpPr>
        <p:spPr>
          <a:xfrm>
            <a:off x="1371599" y="2318197"/>
            <a:ext cx="9724031" cy="3683358"/>
          </a:xfrm>
        </p:spPr>
        <p:txBody>
          <a:bodyPr anchor="ctr">
            <a:normAutofit/>
          </a:bodyPr>
          <a:lstStyle/>
          <a:p>
            <a:pPr marL="342900" indent="-342900">
              <a:buFont typeface="+mj-lt"/>
              <a:buAutoNum type="arabicPeriod"/>
            </a:pPr>
            <a:r>
              <a:rPr lang="en-US" sz="1700" b="1" dirty="0">
                <a:effectLst/>
                <a:ea typeface="Calibri" panose="020F0502020204030204" pitchFamily="34" charset="0"/>
                <a:cs typeface="Times New Roman" panose="02020603050405020304" pitchFamily="18" charset="0"/>
              </a:rPr>
              <a:t>Graph-based unsupervised entity resolution for identifying entity profiles in ambiguous data</a:t>
            </a:r>
            <a:endParaRPr lang="en-US" sz="1700" b="1" dirty="0">
              <a:ea typeface="Calibri" panose="020F0502020204030204" pitchFamily="34" charset="0"/>
              <a:cs typeface="Times New Roman" panose="02020603050405020304" pitchFamily="18" charset="0"/>
            </a:endParaRPr>
          </a:p>
          <a:p>
            <a:pPr marL="342900" indent="-342900">
              <a:buFont typeface="+mj-lt"/>
              <a:buAutoNum type="arabicPeriod"/>
            </a:pPr>
            <a:endParaRPr lang="en-US" sz="1700" b="1" dirty="0">
              <a:ea typeface="Calibri" panose="020F0502020204030204" pitchFamily="34" charset="0"/>
              <a:cs typeface="Times New Roman" panose="02020603050405020304" pitchFamily="18" charset="0"/>
            </a:endParaRPr>
          </a:p>
          <a:p>
            <a:pPr marL="342900" indent="-342900">
              <a:buFont typeface="+mj-lt"/>
              <a:buAutoNum type="arabicPeriod"/>
            </a:pPr>
            <a:r>
              <a:rPr lang="en-US" sz="1700" b="1" dirty="0">
                <a:effectLst/>
                <a:ea typeface="Calibri" panose="020F0502020204030204" pitchFamily="34" charset="0"/>
              </a:rPr>
              <a:t>Graph-based hierarchical record clustering for unsupervised entity resolution</a:t>
            </a:r>
          </a:p>
          <a:p>
            <a:pPr marL="342900" indent="-342900">
              <a:buFont typeface="+mj-lt"/>
              <a:buAutoNum type="arabicPeriod"/>
            </a:pPr>
            <a:endParaRPr lang="en-US" sz="1700" dirty="0">
              <a:effectLst/>
              <a:ea typeface="Calibri" panose="020F0502020204030204" pitchFamily="34" charset="0"/>
            </a:endParaRPr>
          </a:p>
          <a:p>
            <a:pPr marL="342900" indent="-342900">
              <a:buFont typeface="+mj-lt"/>
              <a:buAutoNum type="arabicPeriod"/>
            </a:pPr>
            <a:r>
              <a:rPr lang="en-US" sz="1700" b="1" dirty="0" err="1">
                <a:effectLst/>
                <a:ea typeface="Calibri" panose="020F0502020204030204" pitchFamily="34" charset="0"/>
              </a:rPr>
              <a:t>ModER</a:t>
            </a:r>
            <a:r>
              <a:rPr lang="en-US" sz="1700" b="1" dirty="0">
                <a:effectLst/>
                <a:ea typeface="Calibri" panose="020F0502020204030204" pitchFamily="34" charset="0"/>
              </a:rPr>
              <a:t>: Graph-based unsupervised entity resolution using composite modularity optimization and locality sensitive hashing</a:t>
            </a:r>
          </a:p>
          <a:p>
            <a:pPr marL="342900" indent="-342900">
              <a:buFont typeface="+mj-lt"/>
              <a:buAutoNum type="arabicPeriod"/>
            </a:pPr>
            <a:endParaRPr lang="en-US" sz="1700" b="1" dirty="0">
              <a:ea typeface="Calibri" panose="020F0502020204030204" pitchFamily="34" charset="0"/>
            </a:endParaRPr>
          </a:p>
          <a:p>
            <a:pPr marL="342900" indent="-342900">
              <a:buFont typeface="+mj-lt"/>
              <a:buAutoNum type="arabicPeriod"/>
            </a:pPr>
            <a:r>
              <a:rPr lang="en-US" sz="1700" b="1" dirty="0">
                <a:effectLst/>
                <a:ea typeface="Calibri" panose="020F0502020204030204" pitchFamily="34" charset="0"/>
                <a:cs typeface="Times New Roman" panose="02020603050405020304" pitchFamily="18" charset="0"/>
              </a:rPr>
              <a:t>Computational social science for nonprofit studies: Developing a toolbox and knowledge base for the field</a:t>
            </a:r>
            <a:endParaRPr lang="en-US" sz="1700" dirty="0">
              <a:effectLst/>
              <a:ea typeface="Calibri" panose="020F0502020204030204" pitchFamily="34" charset="0"/>
            </a:endParaRPr>
          </a:p>
          <a:p>
            <a:endParaRPr lang="en-US" sz="1700" b="1" dirty="0">
              <a:effectLst/>
              <a:ea typeface="Calibri" panose="020F0502020204030204" pitchFamily="34" charset="0"/>
              <a:cs typeface="Times New Roman" panose="02020603050405020304" pitchFamily="18" charset="0"/>
            </a:endParaRPr>
          </a:p>
        </p:txBody>
      </p:sp>
      <p:sp>
        <p:nvSpPr>
          <p:cNvPr id="4" name="Date Placeholder 3">
            <a:extLst>
              <a:ext uri="{FF2B5EF4-FFF2-40B4-BE49-F238E27FC236}">
                <a16:creationId xmlns:a16="http://schemas.microsoft.com/office/drawing/2014/main" id="{5D5A68BE-1AE9-4270-ABD3-902E0161BB30}"/>
              </a:ext>
            </a:extLst>
          </p:cNvPr>
          <p:cNvSpPr>
            <a:spLocks noGrp="1"/>
          </p:cNvSpPr>
          <p:nvPr>
            <p:ph type="dt" sz="half" idx="10"/>
          </p:nvPr>
        </p:nvSpPr>
        <p:spPr/>
        <p:txBody>
          <a:bodyPr/>
          <a:lstStyle/>
          <a:p>
            <a:fld id="{97C9EFBF-0236-47B0-B1A0-A4CA3CE50892}" type="datetime1">
              <a:rPr lang="en-US" smtClean="0"/>
              <a:t>5/19/2023</a:t>
            </a:fld>
            <a:endParaRPr lang="en-US"/>
          </a:p>
        </p:txBody>
      </p:sp>
      <p:sp>
        <p:nvSpPr>
          <p:cNvPr id="5" name="Footer Placeholder 4">
            <a:extLst>
              <a:ext uri="{FF2B5EF4-FFF2-40B4-BE49-F238E27FC236}">
                <a16:creationId xmlns:a16="http://schemas.microsoft.com/office/drawing/2014/main" id="{6B195960-8095-4637-B2AA-A17E3FBDD7A5}"/>
              </a:ext>
            </a:extLst>
          </p:cNvPr>
          <p:cNvSpPr>
            <a:spLocks noGrp="1"/>
          </p:cNvSpPr>
          <p:nvPr>
            <p:ph type="ftr" sz="quarter" idx="11"/>
          </p:nvPr>
        </p:nvSpPr>
        <p:spPr/>
        <p:txBody>
          <a:bodyPr/>
          <a:lstStyle/>
          <a:p>
            <a:r>
              <a:rPr lang="en-US" dirty="0"/>
              <a:t>Ebeid - Spring 2023</a:t>
            </a:r>
          </a:p>
        </p:txBody>
      </p:sp>
      <p:sp>
        <p:nvSpPr>
          <p:cNvPr id="6" name="Slide Number Placeholder 5">
            <a:extLst>
              <a:ext uri="{FF2B5EF4-FFF2-40B4-BE49-F238E27FC236}">
                <a16:creationId xmlns:a16="http://schemas.microsoft.com/office/drawing/2014/main" id="{3CE6A103-4F7C-4CBE-9260-CA6DCC9D6F6A}"/>
              </a:ext>
            </a:extLst>
          </p:cNvPr>
          <p:cNvSpPr>
            <a:spLocks noGrp="1"/>
          </p:cNvSpPr>
          <p:nvPr>
            <p:ph type="sldNum" sz="quarter" idx="12"/>
          </p:nvPr>
        </p:nvSpPr>
        <p:spPr/>
        <p:txBody>
          <a:bodyPr/>
          <a:lstStyle/>
          <a:p>
            <a:fld id="{174AA435-B3B0-4B6E-A265-E4C5F17628FB}" type="slidenum">
              <a:rPr lang="en-US" smtClean="0"/>
              <a:t>26</a:t>
            </a:fld>
            <a:endParaRPr lang="en-US"/>
          </a:p>
        </p:txBody>
      </p:sp>
      <p:sp>
        <p:nvSpPr>
          <p:cNvPr id="13" name="TextBox 12">
            <a:extLst>
              <a:ext uri="{FF2B5EF4-FFF2-40B4-BE49-F238E27FC236}">
                <a16:creationId xmlns:a16="http://schemas.microsoft.com/office/drawing/2014/main" id="{7D8B1CEE-192F-4B3B-9191-6468285D810A}"/>
              </a:ext>
            </a:extLst>
          </p:cNvPr>
          <p:cNvSpPr txBox="1"/>
          <p:nvPr/>
        </p:nvSpPr>
        <p:spPr>
          <a:xfrm>
            <a:off x="566893" y="2945869"/>
            <a:ext cx="10167258" cy="246221"/>
          </a:xfrm>
          <a:prstGeom prst="rect">
            <a:avLst/>
          </a:prstGeom>
          <a:noFill/>
        </p:spPr>
        <p:txBody>
          <a:bodyPr wrap="square">
            <a:spAutoFit/>
          </a:bodyPr>
          <a:lstStyle/>
          <a:p>
            <a:r>
              <a:rPr lang="en-US" sz="1000" dirty="0"/>
              <a:t>Ebeid, I. A. (2022). Graph-Based Unsupervised Entity Resolution for Identifying Entity Profiles in Ambiguous Data (Doctoral dissertation, University of Arkansas at Little Rock).</a:t>
            </a:r>
          </a:p>
        </p:txBody>
      </p:sp>
      <p:sp>
        <p:nvSpPr>
          <p:cNvPr id="15" name="TextBox 14">
            <a:extLst>
              <a:ext uri="{FF2B5EF4-FFF2-40B4-BE49-F238E27FC236}">
                <a16:creationId xmlns:a16="http://schemas.microsoft.com/office/drawing/2014/main" id="{670F8131-8254-49FF-9A6B-6DCF713766EF}"/>
              </a:ext>
            </a:extLst>
          </p:cNvPr>
          <p:cNvSpPr txBox="1"/>
          <p:nvPr/>
        </p:nvSpPr>
        <p:spPr>
          <a:xfrm>
            <a:off x="556716" y="3541053"/>
            <a:ext cx="11353796" cy="400110"/>
          </a:xfrm>
          <a:prstGeom prst="rect">
            <a:avLst/>
          </a:prstGeom>
          <a:noFill/>
        </p:spPr>
        <p:txBody>
          <a:bodyPr wrap="square">
            <a:spAutoFit/>
          </a:bodyPr>
          <a:lstStyle/>
          <a:p>
            <a:r>
              <a:rPr lang="en-US" sz="1000" dirty="0"/>
              <a:t>Ebeid, I. A., </a:t>
            </a:r>
            <a:r>
              <a:rPr lang="en-US" sz="1000" dirty="0" err="1"/>
              <a:t>Talburt</a:t>
            </a:r>
            <a:r>
              <a:rPr lang="en-US" sz="1000" dirty="0"/>
              <a:t>, J. R., &amp; Siddique, M. A. S. (2022). Graph-based hierarchical record clustering for unsupervised entity resolution. In ITNG 2022 19th International Conference on Information Technology-New Generations (pp. 107-118). Springer, Cham.</a:t>
            </a:r>
          </a:p>
        </p:txBody>
      </p:sp>
      <p:sp>
        <p:nvSpPr>
          <p:cNvPr id="17" name="TextBox 16">
            <a:extLst>
              <a:ext uri="{FF2B5EF4-FFF2-40B4-BE49-F238E27FC236}">
                <a16:creationId xmlns:a16="http://schemas.microsoft.com/office/drawing/2014/main" id="{3E308683-80E9-4264-96C7-6C049F5AF607}"/>
              </a:ext>
            </a:extLst>
          </p:cNvPr>
          <p:cNvSpPr txBox="1"/>
          <p:nvPr/>
        </p:nvSpPr>
        <p:spPr>
          <a:xfrm>
            <a:off x="556716" y="4503409"/>
            <a:ext cx="11353796" cy="400110"/>
          </a:xfrm>
          <a:prstGeom prst="rect">
            <a:avLst/>
          </a:prstGeom>
          <a:noFill/>
        </p:spPr>
        <p:txBody>
          <a:bodyPr wrap="square">
            <a:spAutoFit/>
          </a:bodyPr>
          <a:lstStyle/>
          <a:p>
            <a:r>
              <a:rPr lang="en-US" sz="1000" dirty="0"/>
              <a:t>Islam </a:t>
            </a:r>
            <a:r>
              <a:rPr lang="en-US" sz="1000" dirty="0" err="1"/>
              <a:t>Akef</a:t>
            </a:r>
            <a:r>
              <a:rPr lang="en-US" sz="1000" dirty="0"/>
              <a:t> Ebeid, John R. </a:t>
            </a:r>
            <a:r>
              <a:rPr lang="en-US" sz="1000" dirty="0" err="1"/>
              <a:t>Talburt</a:t>
            </a:r>
            <a:r>
              <a:rPr lang="en-US" sz="1000" dirty="0"/>
              <a:t>, Nicholas Kofi </a:t>
            </a:r>
            <a:r>
              <a:rPr lang="en-US" sz="1000" dirty="0" err="1"/>
              <a:t>Akortia</a:t>
            </a:r>
            <a:r>
              <a:rPr lang="en-US" sz="1000" dirty="0"/>
              <a:t> Hagan and Md Abdus Salam Siddique, “</a:t>
            </a:r>
            <a:r>
              <a:rPr lang="en-US" sz="1000" dirty="0" err="1"/>
              <a:t>ModER</a:t>
            </a:r>
            <a:r>
              <a:rPr lang="en-US" sz="1000" dirty="0"/>
              <a:t>: Graph-based Unsupervised Entity Resolution using Composite Modularity Optimization and Locality Sensitive Hashing” International Journal of Advanced Computer Science and Applications(IJACSA), 13(9), 2022. http://dx.doi.org/10.14569/IJACSA.2022.0130901</a:t>
            </a:r>
          </a:p>
        </p:txBody>
      </p:sp>
      <p:sp>
        <p:nvSpPr>
          <p:cNvPr id="19" name="TextBox 18">
            <a:extLst>
              <a:ext uri="{FF2B5EF4-FFF2-40B4-BE49-F238E27FC236}">
                <a16:creationId xmlns:a16="http://schemas.microsoft.com/office/drawing/2014/main" id="{F40B5FC0-2CD2-4A92-AF68-8B9A4D24884E}"/>
              </a:ext>
            </a:extLst>
          </p:cNvPr>
          <p:cNvSpPr txBox="1"/>
          <p:nvPr/>
        </p:nvSpPr>
        <p:spPr>
          <a:xfrm>
            <a:off x="566893" y="5444792"/>
            <a:ext cx="10792111" cy="400110"/>
          </a:xfrm>
          <a:prstGeom prst="rect">
            <a:avLst/>
          </a:prstGeom>
          <a:noFill/>
        </p:spPr>
        <p:txBody>
          <a:bodyPr wrap="square">
            <a:spAutoFit/>
          </a:bodyPr>
          <a:lstStyle/>
          <a:p>
            <a:r>
              <a:rPr lang="en-US" sz="1000" dirty="0"/>
              <a:t>Ma, J., Ebeid, I. A., de Wit, A., Xu, M., Yang, Y., </a:t>
            </a:r>
            <a:r>
              <a:rPr lang="en-US" sz="1000" dirty="0" err="1"/>
              <a:t>Bekkers</a:t>
            </a:r>
            <a:r>
              <a:rPr lang="en-US" sz="1000" dirty="0"/>
              <a:t>, R., &amp; </a:t>
            </a:r>
            <a:r>
              <a:rPr lang="en-US" sz="1000" dirty="0" err="1"/>
              <a:t>Wiepking</a:t>
            </a:r>
            <a:r>
              <a:rPr lang="en-US" sz="1000" dirty="0"/>
              <a:t>, P. (2021). Computational social science for nonprofit studies: Developing a toolbox and knowledge base for the field. VOLUNTAS: International Journal of Voluntary and Nonprofit Organizations, 1–12. https://link.springer.com/article/10.1007/s11266-021-00414-x</a:t>
            </a:r>
          </a:p>
        </p:txBody>
      </p:sp>
    </p:spTree>
    <p:extLst>
      <p:ext uri="{BB962C8B-B14F-4D97-AF65-F5344CB8AC3E}">
        <p14:creationId xmlns:p14="http://schemas.microsoft.com/office/powerpoint/2010/main" val="42039619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AF8544-18D1-4539-80D1-06853EFFAF88}"/>
              </a:ext>
            </a:extLst>
          </p:cNvPr>
          <p:cNvSpPr>
            <a:spLocks noGrp="1"/>
          </p:cNvSpPr>
          <p:nvPr>
            <p:ph type="title"/>
          </p:nvPr>
        </p:nvSpPr>
        <p:spPr>
          <a:xfrm>
            <a:off x="838200" y="278535"/>
            <a:ext cx="9895951" cy="1033669"/>
          </a:xfrm>
        </p:spPr>
        <p:txBody>
          <a:bodyPr>
            <a:normAutofit/>
          </a:bodyPr>
          <a:lstStyle/>
          <a:p>
            <a:r>
              <a:rPr lang="en-US" sz="3400" dirty="0">
                <a:solidFill>
                  <a:srgbClr val="FFFFFF"/>
                </a:solidFill>
              </a:rPr>
              <a:t>3B. Biomedical Information Retrieval and Mining</a:t>
            </a:r>
          </a:p>
        </p:txBody>
      </p:sp>
      <p:sp>
        <p:nvSpPr>
          <p:cNvPr id="3" name="Content Placeholder 2">
            <a:extLst>
              <a:ext uri="{FF2B5EF4-FFF2-40B4-BE49-F238E27FC236}">
                <a16:creationId xmlns:a16="http://schemas.microsoft.com/office/drawing/2014/main" id="{5F0625C2-D0BB-46C3-AF98-D3A949D3B5E9}"/>
              </a:ext>
            </a:extLst>
          </p:cNvPr>
          <p:cNvSpPr>
            <a:spLocks noGrp="1"/>
          </p:cNvSpPr>
          <p:nvPr>
            <p:ph idx="1"/>
          </p:nvPr>
        </p:nvSpPr>
        <p:spPr>
          <a:xfrm>
            <a:off x="1371599" y="2318197"/>
            <a:ext cx="9724031" cy="3683358"/>
          </a:xfrm>
        </p:spPr>
        <p:txBody>
          <a:bodyPr anchor="ctr">
            <a:normAutofit/>
          </a:bodyPr>
          <a:lstStyle/>
          <a:p>
            <a:endParaRPr lang="en-US" sz="1700" b="0" dirty="0">
              <a:effectLst/>
              <a:latin typeface="Linux Libertine" panose="02000503000000000000" pitchFamily="2" charset="0"/>
              <a:ea typeface="Calibri" panose="020F0502020204030204" pitchFamily="34" charset="0"/>
              <a:cs typeface="Times New Roman" panose="02020603050405020304" pitchFamily="18" charset="0"/>
            </a:endParaRPr>
          </a:p>
          <a:p>
            <a:pPr marL="342900" indent="-342900">
              <a:buFont typeface="+mj-lt"/>
              <a:buAutoNum type="arabicPeriod"/>
            </a:pPr>
            <a:r>
              <a:rPr lang="en-US" sz="1700" b="1" dirty="0" err="1">
                <a:effectLst/>
                <a:latin typeface="Linux Libertine" panose="02000503000000000000" pitchFamily="2" charset="0"/>
                <a:ea typeface="Calibri" panose="020F0502020204030204" pitchFamily="34" charset="0"/>
                <a:cs typeface="Times New Roman" panose="02020603050405020304" pitchFamily="18" charset="0"/>
              </a:rPr>
              <a:t>MedGraph</a:t>
            </a:r>
            <a:r>
              <a:rPr lang="en-US" sz="1700" b="1" dirty="0">
                <a:effectLst/>
                <a:latin typeface="Linux Libertine" panose="02000503000000000000" pitchFamily="2" charset="0"/>
                <a:ea typeface="Calibri" panose="020F0502020204030204" pitchFamily="34" charset="0"/>
                <a:cs typeface="Times New Roman" panose="02020603050405020304" pitchFamily="18" charset="0"/>
              </a:rPr>
              <a:t>: A semantic biomedical information retrieval framework using knowledge graph embedding for PubMed</a:t>
            </a:r>
          </a:p>
          <a:p>
            <a:pPr marL="342900" indent="-342900">
              <a:buFont typeface="+mj-lt"/>
              <a:buAutoNum type="arabicPeriod"/>
            </a:pPr>
            <a:endParaRPr lang="en-US" sz="1700" b="1" dirty="0">
              <a:effectLst/>
              <a:latin typeface="Linux Libertine" panose="02000503000000000000" pitchFamily="2" charset="0"/>
              <a:ea typeface="Calibri" panose="020F0502020204030204" pitchFamily="34" charset="0"/>
              <a:cs typeface="Times New Roman" panose="02020603050405020304" pitchFamily="18" charset="0"/>
            </a:endParaRPr>
          </a:p>
          <a:p>
            <a:pPr marL="342900" indent="-342900">
              <a:buFont typeface="+mj-lt"/>
              <a:buAutoNum type="arabicPeriod"/>
            </a:pPr>
            <a:endParaRPr lang="en-US" sz="1700" b="1" dirty="0"/>
          </a:p>
          <a:p>
            <a:pPr marL="342900" indent="-342900">
              <a:buFont typeface="+mj-lt"/>
              <a:buAutoNum type="arabicPeriod"/>
            </a:pPr>
            <a:r>
              <a:rPr lang="en-US" sz="1700" b="1" dirty="0">
                <a:effectLst/>
                <a:latin typeface="Linux Libertine" panose="02000503000000000000" pitchFamily="2" charset="0"/>
                <a:ea typeface="Calibri" panose="020F0502020204030204" pitchFamily="34" charset="0"/>
                <a:cs typeface="Times New Roman" panose="02020603050405020304" pitchFamily="18" charset="0"/>
              </a:rPr>
              <a:t>Building a PubMed knowledge graph</a:t>
            </a:r>
            <a:endParaRPr lang="en-US" sz="1700" b="1" dirty="0"/>
          </a:p>
          <a:p>
            <a:pPr marL="0" indent="0">
              <a:buNone/>
            </a:pPr>
            <a:endParaRPr lang="en-US" sz="1700" b="0" dirty="0">
              <a:effectLst/>
              <a:latin typeface="Linux Libertine" panose="02000503000000000000" pitchFamily="2" charset="0"/>
              <a:ea typeface="Calibri" panose="020F0502020204030204" pitchFamily="34" charset="0"/>
              <a:cs typeface="Times New Roman" panose="02020603050405020304" pitchFamily="18" charset="0"/>
            </a:endParaRPr>
          </a:p>
          <a:p>
            <a:pPr marL="0" indent="0">
              <a:buNone/>
            </a:pPr>
            <a:endParaRPr lang="en-US" sz="1700" b="0" dirty="0">
              <a:effectLst/>
              <a:latin typeface="Linux Libertine" panose="02000503000000000000" pitchFamily="2" charset="0"/>
              <a:ea typeface="Calibri" panose="020F0502020204030204" pitchFamily="34" charset="0"/>
              <a:cs typeface="Times New Roman" panose="02020603050405020304" pitchFamily="18" charset="0"/>
            </a:endParaRPr>
          </a:p>
          <a:p>
            <a:pPr marL="0" indent="0">
              <a:buNone/>
            </a:pP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700" dirty="0"/>
          </a:p>
        </p:txBody>
      </p:sp>
      <p:sp>
        <p:nvSpPr>
          <p:cNvPr id="4" name="Date Placeholder 3">
            <a:extLst>
              <a:ext uri="{FF2B5EF4-FFF2-40B4-BE49-F238E27FC236}">
                <a16:creationId xmlns:a16="http://schemas.microsoft.com/office/drawing/2014/main" id="{FBE82923-70EF-42D8-9760-5521A79B394E}"/>
              </a:ext>
            </a:extLst>
          </p:cNvPr>
          <p:cNvSpPr>
            <a:spLocks noGrp="1"/>
          </p:cNvSpPr>
          <p:nvPr>
            <p:ph type="dt" sz="half" idx="10"/>
          </p:nvPr>
        </p:nvSpPr>
        <p:spPr/>
        <p:txBody>
          <a:bodyPr/>
          <a:lstStyle/>
          <a:p>
            <a:fld id="{9D33B919-5AD4-40E1-92D4-2469B7FA093D}" type="datetime1">
              <a:rPr lang="en-US" smtClean="0"/>
              <a:t>5/19/2023</a:t>
            </a:fld>
            <a:endParaRPr lang="en-US"/>
          </a:p>
        </p:txBody>
      </p:sp>
      <p:sp>
        <p:nvSpPr>
          <p:cNvPr id="5" name="Footer Placeholder 4">
            <a:extLst>
              <a:ext uri="{FF2B5EF4-FFF2-40B4-BE49-F238E27FC236}">
                <a16:creationId xmlns:a16="http://schemas.microsoft.com/office/drawing/2014/main" id="{C78A811F-1728-48A6-B264-11EB7CA53568}"/>
              </a:ext>
            </a:extLst>
          </p:cNvPr>
          <p:cNvSpPr>
            <a:spLocks noGrp="1"/>
          </p:cNvSpPr>
          <p:nvPr>
            <p:ph type="ftr" sz="quarter" idx="11"/>
          </p:nvPr>
        </p:nvSpPr>
        <p:spPr/>
        <p:txBody>
          <a:bodyPr/>
          <a:lstStyle/>
          <a:p>
            <a:r>
              <a:rPr lang="en-US" dirty="0"/>
              <a:t>Ebeid - Spring 2023</a:t>
            </a:r>
          </a:p>
        </p:txBody>
      </p:sp>
      <p:sp>
        <p:nvSpPr>
          <p:cNvPr id="6" name="Slide Number Placeholder 5">
            <a:extLst>
              <a:ext uri="{FF2B5EF4-FFF2-40B4-BE49-F238E27FC236}">
                <a16:creationId xmlns:a16="http://schemas.microsoft.com/office/drawing/2014/main" id="{78CF549A-3385-4D02-BB37-CAD5F4C7C684}"/>
              </a:ext>
            </a:extLst>
          </p:cNvPr>
          <p:cNvSpPr>
            <a:spLocks noGrp="1"/>
          </p:cNvSpPr>
          <p:nvPr>
            <p:ph type="sldNum" sz="quarter" idx="12"/>
          </p:nvPr>
        </p:nvSpPr>
        <p:spPr/>
        <p:txBody>
          <a:bodyPr/>
          <a:lstStyle/>
          <a:p>
            <a:fld id="{174AA435-B3B0-4B6E-A265-E4C5F17628FB}" type="slidenum">
              <a:rPr lang="en-US" smtClean="0"/>
              <a:t>27</a:t>
            </a:fld>
            <a:endParaRPr lang="en-US"/>
          </a:p>
        </p:txBody>
      </p:sp>
      <p:sp>
        <p:nvSpPr>
          <p:cNvPr id="13" name="TextBox 12">
            <a:extLst>
              <a:ext uri="{FF2B5EF4-FFF2-40B4-BE49-F238E27FC236}">
                <a16:creationId xmlns:a16="http://schemas.microsoft.com/office/drawing/2014/main" id="{8CDEF6CD-3DC7-45A6-A000-B7881E432CD4}"/>
              </a:ext>
            </a:extLst>
          </p:cNvPr>
          <p:cNvSpPr txBox="1"/>
          <p:nvPr/>
        </p:nvSpPr>
        <p:spPr>
          <a:xfrm>
            <a:off x="967283" y="3324797"/>
            <a:ext cx="10257430" cy="400110"/>
          </a:xfrm>
          <a:prstGeom prst="rect">
            <a:avLst/>
          </a:prstGeom>
          <a:noFill/>
        </p:spPr>
        <p:txBody>
          <a:bodyPr wrap="square">
            <a:spAutoFit/>
          </a:bodyPr>
          <a:lstStyle/>
          <a:p>
            <a:r>
              <a:rPr lang="en-US" sz="1000" dirty="0"/>
              <a:t>Ebeid IA. </a:t>
            </a:r>
            <a:r>
              <a:rPr lang="en-US" sz="1000" dirty="0" err="1"/>
              <a:t>MedGraph</a:t>
            </a:r>
            <a:r>
              <a:rPr lang="en-US" sz="1000" dirty="0"/>
              <a:t>: A semantic biomedical information retrieval framework using knowledge graph embedding for PubMed. Front Big Data. 2022 Oct 19;5:965619. </a:t>
            </a:r>
            <a:r>
              <a:rPr lang="en-US" sz="1000" dirty="0" err="1"/>
              <a:t>doi</a:t>
            </a:r>
            <a:r>
              <a:rPr lang="en-US" sz="1000" dirty="0"/>
              <a:t>: 10.3389/fdata.2022.965619. PMID: 36338335; PMCID: PMC9627348.</a:t>
            </a:r>
          </a:p>
        </p:txBody>
      </p:sp>
      <p:sp>
        <p:nvSpPr>
          <p:cNvPr id="17" name="TextBox 16">
            <a:extLst>
              <a:ext uri="{FF2B5EF4-FFF2-40B4-BE49-F238E27FC236}">
                <a16:creationId xmlns:a16="http://schemas.microsoft.com/office/drawing/2014/main" id="{AFD6BF4A-F824-44C8-9834-A6954992BAF1}"/>
              </a:ext>
            </a:extLst>
          </p:cNvPr>
          <p:cNvSpPr txBox="1"/>
          <p:nvPr/>
        </p:nvSpPr>
        <p:spPr>
          <a:xfrm>
            <a:off x="967283" y="4369410"/>
            <a:ext cx="10059236" cy="246221"/>
          </a:xfrm>
          <a:prstGeom prst="rect">
            <a:avLst/>
          </a:prstGeom>
          <a:noFill/>
        </p:spPr>
        <p:txBody>
          <a:bodyPr wrap="square">
            <a:spAutoFit/>
          </a:bodyPr>
          <a:lstStyle/>
          <a:p>
            <a:r>
              <a:rPr lang="en-US" sz="1000" dirty="0">
                <a:effectLst/>
                <a:latin typeface="Linux Libertine" panose="02000503000000000000" pitchFamily="2" charset="0"/>
                <a:ea typeface="Calibri" panose="020F0502020204030204" pitchFamily="34" charset="0"/>
                <a:cs typeface="Times New Roman" panose="02020603050405020304" pitchFamily="18" charset="0"/>
              </a:rPr>
              <a:t>Xu, J., Kim, S., Song, M., </a:t>
            </a:r>
            <a:r>
              <a:rPr lang="en-US" sz="1000" dirty="0" err="1">
                <a:effectLst/>
                <a:latin typeface="Linux Libertine" panose="02000503000000000000" pitchFamily="2" charset="0"/>
                <a:ea typeface="Calibri" panose="020F0502020204030204" pitchFamily="34" charset="0"/>
                <a:cs typeface="Times New Roman" panose="02020603050405020304" pitchFamily="18" charset="0"/>
              </a:rPr>
              <a:t>Jeong</a:t>
            </a:r>
            <a:r>
              <a:rPr lang="en-US" sz="1000" dirty="0">
                <a:effectLst/>
                <a:latin typeface="Linux Libertine" panose="02000503000000000000" pitchFamily="2" charset="0"/>
                <a:ea typeface="Calibri" panose="020F0502020204030204" pitchFamily="34" charset="0"/>
                <a:cs typeface="Times New Roman" panose="02020603050405020304" pitchFamily="18" charset="0"/>
              </a:rPr>
              <a:t>, M., Kim, D., Kang, J., Rousseau, J., Li, X., Xu, W., </a:t>
            </a:r>
            <a:r>
              <a:rPr lang="en-US" sz="1000" dirty="0" err="1">
                <a:effectLst/>
                <a:latin typeface="Linux Libertine" panose="02000503000000000000" pitchFamily="2" charset="0"/>
                <a:ea typeface="Calibri" panose="020F0502020204030204" pitchFamily="34" charset="0"/>
                <a:cs typeface="Times New Roman" panose="02020603050405020304" pitchFamily="18" charset="0"/>
              </a:rPr>
              <a:t>Torvik</a:t>
            </a:r>
            <a:r>
              <a:rPr lang="en-US" sz="1000" dirty="0">
                <a:effectLst/>
                <a:latin typeface="Linux Libertine" panose="02000503000000000000" pitchFamily="2" charset="0"/>
                <a:ea typeface="Calibri" panose="020F0502020204030204" pitchFamily="34" charset="0"/>
                <a:cs typeface="Times New Roman" panose="02020603050405020304" pitchFamily="18" charset="0"/>
              </a:rPr>
              <a:t>, V., Bu, Y., Chen, C., Ebeid, I. A. et al. (2020) Building a PubMed knowledge graph. Sci Data.</a:t>
            </a:r>
            <a:endParaRPr lang="en-US" sz="1000" dirty="0"/>
          </a:p>
        </p:txBody>
      </p:sp>
    </p:spTree>
    <p:extLst>
      <p:ext uri="{BB962C8B-B14F-4D97-AF65-F5344CB8AC3E}">
        <p14:creationId xmlns:p14="http://schemas.microsoft.com/office/powerpoint/2010/main" val="16189023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AF8544-18D1-4539-80D1-06853EFFAF88}"/>
              </a:ext>
            </a:extLst>
          </p:cNvPr>
          <p:cNvSpPr>
            <a:spLocks noGrp="1"/>
          </p:cNvSpPr>
          <p:nvPr>
            <p:ph type="title"/>
          </p:nvPr>
        </p:nvSpPr>
        <p:spPr>
          <a:xfrm>
            <a:off x="838200" y="278535"/>
            <a:ext cx="9895951" cy="1033669"/>
          </a:xfrm>
        </p:spPr>
        <p:txBody>
          <a:bodyPr>
            <a:normAutofit/>
          </a:bodyPr>
          <a:lstStyle/>
          <a:p>
            <a:r>
              <a:rPr lang="en-US" sz="3400" dirty="0">
                <a:solidFill>
                  <a:srgbClr val="FFFFFF"/>
                </a:solidFill>
              </a:rPr>
              <a:t>3B. Biomedical Information Retrieval and Mining</a:t>
            </a:r>
          </a:p>
        </p:txBody>
      </p:sp>
      <p:sp>
        <p:nvSpPr>
          <p:cNvPr id="3" name="Content Placeholder 2">
            <a:extLst>
              <a:ext uri="{FF2B5EF4-FFF2-40B4-BE49-F238E27FC236}">
                <a16:creationId xmlns:a16="http://schemas.microsoft.com/office/drawing/2014/main" id="{5F0625C2-D0BB-46C3-AF98-D3A949D3B5E9}"/>
              </a:ext>
            </a:extLst>
          </p:cNvPr>
          <p:cNvSpPr>
            <a:spLocks noGrp="1"/>
          </p:cNvSpPr>
          <p:nvPr>
            <p:ph idx="1"/>
          </p:nvPr>
        </p:nvSpPr>
        <p:spPr>
          <a:xfrm>
            <a:off x="1371599" y="2318197"/>
            <a:ext cx="9724031" cy="3683358"/>
          </a:xfrm>
        </p:spPr>
        <p:txBody>
          <a:bodyPr anchor="ctr">
            <a:normAutofit/>
          </a:bodyPr>
          <a:lstStyle/>
          <a:p>
            <a:pPr marL="0" indent="0">
              <a:buNone/>
            </a:pPr>
            <a:endParaRPr lang="en-US" sz="2000" b="0" dirty="0">
              <a:effectLst/>
              <a:latin typeface="Linux Libertine" panose="02000503000000000000" pitchFamily="2" charset="0"/>
              <a:ea typeface="Calibri" panose="020F0502020204030204" pitchFamily="34" charset="0"/>
              <a:cs typeface="Times New Roman" panose="02020603050405020304" pitchFamily="18" charset="0"/>
            </a:endParaRPr>
          </a:p>
          <a:p>
            <a:pPr marL="457200" indent="-457200">
              <a:buFont typeface="+mj-lt"/>
              <a:buAutoNum type="arabicPeriod"/>
            </a:pPr>
            <a:r>
              <a:rPr lang="en-US" sz="2000" b="1" dirty="0">
                <a:effectLst/>
                <a:latin typeface="Linux Libertine" panose="02000503000000000000" pitchFamily="2" charset="0"/>
                <a:ea typeface="Calibri" panose="020F0502020204030204" pitchFamily="34" charset="0"/>
                <a:cs typeface="Times New Roman" panose="02020603050405020304" pitchFamily="18" charset="0"/>
              </a:rPr>
              <a:t>Analyzing knowledge entities about COVID-19 using entity metrics</a:t>
            </a:r>
          </a:p>
          <a:p>
            <a:pPr marL="457200" indent="-457200">
              <a:buFont typeface="+mj-lt"/>
              <a:buAutoNum type="arabicPeriod"/>
            </a:pPr>
            <a:endParaRPr lang="en-US" sz="2000" b="0" dirty="0">
              <a:effectLst/>
              <a:latin typeface="Linux Libertine" panose="02000503000000000000" pitchFamily="2" charset="0"/>
              <a:ea typeface="Calibri" panose="020F0502020204030204" pitchFamily="34" charset="0"/>
              <a:cs typeface="Times New Roman" panose="02020603050405020304" pitchFamily="18" charset="0"/>
            </a:endParaRPr>
          </a:p>
          <a:p>
            <a:pPr marL="457200" indent="-457200">
              <a:buFont typeface="+mj-lt"/>
              <a:buAutoNum type="arabicPeriod"/>
            </a:pPr>
            <a:r>
              <a:rPr lang="en-US" sz="2000" b="1" dirty="0">
                <a:effectLst/>
                <a:latin typeface="Linux Libertine" panose="02000503000000000000" pitchFamily="2" charset="0"/>
                <a:ea typeface="Calibri" panose="020F0502020204030204" pitchFamily="34" charset="0"/>
                <a:cs typeface="Times New Roman" panose="02020603050405020304" pitchFamily="18" charset="0"/>
              </a:rPr>
              <a:t>Coronavirus Knowledge Graph: A Case Study</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p>
        </p:txBody>
      </p:sp>
      <p:sp>
        <p:nvSpPr>
          <p:cNvPr id="4" name="Date Placeholder 3">
            <a:extLst>
              <a:ext uri="{FF2B5EF4-FFF2-40B4-BE49-F238E27FC236}">
                <a16:creationId xmlns:a16="http://schemas.microsoft.com/office/drawing/2014/main" id="{0CC48E52-7013-41A4-B016-86109F435889}"/>
              </a:ext>
            </a:extLst>
          </p:cNvPr>
          <p:cNvSpPr>
            <a:spLocks noGrp="1"/>
          </p:cNvSpPr>
          <p:nvPr>
            <p:ph type="dt" sz="half" idx="10"/>
          </p:nvPr>
        </p:nvSpPr>
        <p:spPr/>
        <p:txBody>
          <a:bodyPr/>
          <a:lstStyle/>
          <a:p>
            <a:fld id="{9156DCCA-2206-4DC5-A84E-3F880F50FB54}" type="datetime1">
              <a:rPr lang="en-US" smtClean="0"/>
              <a:t>5/19/2023</a:t>
            </a:fld>
            <a:endParaRPr lang="en-US"/>
          </a:p>
        </p:txBody>
      </p:sp>
      <p:sp>
        <p:nvSpPr>
          <p:cNvPr id="5" name="Footer Placeholder 4">
            <a:extLst>
              <a:ext uri="{FF2B5EF4-FFF2-40B4-BE49-F238E27FC236}">
                <a16:creationId xmlns:a16="http://schemas.microsoft.com/office/drawing/2014/main" id="{9A12D26B-8134-42B9-84C3-CCF0CE091F25}"/>
              </a:ext>
            </a:extLst>
          </p:cNvPr>
          <p:cNvSpPr>
            <a:spLocks noGrp="1"/>
          </p:cNvSpPr>
          <p:nvPr>
            <p:ph type="ftr" sz="quarter" idx="11"/>
          </p:nvPr>
        </p:nvSpPr>
        <p:spPr/>
        <p:txBody>
          <a:bodyPr/>
          <a:lstStyle/>
          <a:p>
            <a:r>
              <a:rPr lang="en-US" dirty="0"/>
              <a:t>Ebeid - Spring 2023</a:t>
            </a:r>
          </a:p>
        </p:txBody>
      </p:sp>
      <p:sp>
        <p:nvSpPr>
          <p:cNvPr id="6" name="Slide Number Placeholder 5">
            <a:extLst>
              <a:ext uri="{FF2B5EF4-FFF2-40B4-BE49-F238E27FC236}">
                <a16:creationId xmlns:a16="http://schemas.microsoft.com/office/drawing/2014/main" id="{F7334D38-C1AE-4B04-ADCB-14C66C9E7FC0}"/>
              </a:ext>
            </a:extLst>
          </p:cNvPr>
          <p:cNvSpPr>
            <a:spLocks noGrp="1"/>
          </p:cNvSpPr>
          <p:nvPr>
            <p:ph type="sldNum" sz="quarter" idx="12"/>
          </p:nvPr>
        </p:nvSpPr>
        <p:spPr/>
        <p:txBody>
          <a:bodyPr/>
          <a:lstStyle/>
          <a:p>
            <a:fld id="{174AA435-B3B0-4B6E-A265-E4C5F17628FB}" type="slidenum">
              <a:rPr lang="en-US" smtClean="0"/>
              <a:t>28</a:t>
            </a:fld>
            <a:endParaRPr lang="en-US"/>
          </a:p>
        </p:txBody>
      </p:sp>
      <p:sp>
        <p:nvSpPr>
          <p:cNvPr id="13" name="TextBox 12">
            <a:extLst>
              <a:ext uri="{FF2B5EF4-FFF2-40B4-BE49-F238E27FC236}">
                <a16:creationId xmlns:a16="http://schemas.microsoft.com/office/drawing/2014/main" id="{33EFF7D3-CE0D-49E7-9CF7-ADC831E08EBB}"/>
              </a:ext>
            </a:extLst>
          </p:cNvPr>
          <p:cNvSpPr txBox="1"/>
          <p:nvPr/>
        </p:nvSpPr>
        <p:spPr>
          <a:xfrm>
            <a:off x="571498" y="3767660"/>
            <a:ext cx="11049000" cy="400110"/>
          </a:xfrm>
          <a:prstGeom prst="rect">
            <a:avLst/>
          </a:prstGeom>
          <a:noFill/>
        </p:spPr>
        <p:txBody>
          <a:bodyPr wrap="square">
            <a:spAutoFit/>
          </a:bodyPr>
          <a:lstStyle/>
          <a:p>
            <a:r>
              <a:rPr lang="en-US" sz="1000" dirty="0"/>
              <a:t>Yu Q, Wang Q, Zhang Y, Chen C, Ryu H, Park N, </a:t>
            </a:r>
            <a:r>
              <a:rPr lang="en-US" sz="1000" dirty="0" err="1"/>
              <a:t>Baek</a:t>
            </a:r>
            <a:r>
              <a:rPr lang="en-US" sz="1000" dirty="0"/>
              <a:t> JE, Li K, Wu Y, Li D, Xu J, Liu M, Yang JJ, Zhang C, Lu C, Zhang P, Li X, Chen B, Ebeid IA, </a:t>
            </a:r>
            <a:r>
              <a:rPr lang="en-US" sz="1000" dirty="0" err="1"/>
              <a:t>Fensel</a:t>
            </a:r>
            <a:r>
              <a:rPr lang="en-US" sz="1000" dirty="0"/>
              <a:t> J, Min C, </a:t>
            </a:r>
            <a:r>
              <a:rPr lang="en-US" sz="1000" dirty="0" err="1"/>
              <a:t>Zhai</a:t>
            </a:r>
            <a:r>
              <a:rPr lang="en-US" sz="1000" dirty="0"/>
              <a:t> Y, Song M, Ding Y, Bu Y. Analyzing knowledge entities about COVID-19 using </a:t>
            </a:r>
            <a:r>
              <a:rPr lang="en-US" sz="1000" dirty="0" err="1"/>
              <a:t>entitymetrics</a:t>
            </a:r>
            <a:r>
              <a:rPr lang="en-US" sz="1000" dirty="0"/>
              <a:t>. </a:t>
            </a:r>
            <a:r>
              <a:rPr lang="en-US" sz="1000" dirty="0" err="1"/>
              <a:t>Scientometrics</a:t>
            </a:r>
            <a:r>
              <a:rPr lang="en-US" sz="1000" dirty="0"/>
              <a:t>. 2021;126(5):4491-4509. </a:t>
            </a:r>
            <a:r>
              <a:rPr lang="en-US" sz="1000" dirty="0" err="1"/>
              <a:t>doi</a:t>
            </a:r>
            <a:r>
              <a:rPr lang="en-US" sz="1000" dirty="0"/>
              <a:t>: 10.1007/s11192-021-03933-y. </a:t>
            </a:r>
            <a:r>
              <a:rPr lang="en-US" sz="1000" dirty="0" err="1"/>
              <a:t>Epub</a:t>
            </a:r>
            <a:r>
              <a:rPr lang="en-US" sz="1000" dirty="0"/>
              <a:t> 2021 Mar 12. PMID: 33746309; PMCID: PMC7953944.</a:t>
            </a:r>
          </a:p>
        </p:txBody>
      </p:sp>
      <p:sp>
        <p:nvSpPr>
          <p:cNvPr id="15" name="TextBox 14">
            <a:extLst>
              <a:ext uri="{FF2B5EF4-FFF2-40B4-BE49-F238E27FC236}">
                <a16:creationId xmlns:a16="http://schemas.microsoft.com/office/drawing/2014/main" id="{61903B5C-CCD7-4DDA-B328-08521C82C3EE}"/>
              </a:ext>
            </a:extLst>
          </p:cNvPr>
          <p:cNvSpPr txBox="1"/>
          <p:nvPr/>
        </p:nvSpPr>
        <p:spPr>
          <a:xfrm>
            <a:off x="571498" y="4642314"/>
            <a:ext cx="10945584" cy="246221"/>
          </a:xfrm>
          <a:prstGeom prst="rect">
            <a:avLst/>
          </a:prstGeom>
          <a:noFill/>
        </p:spPr>
        <p:txBody>
          <a:bodyPr wrap="square">
            <a:spAutoFit/>
          </a:bodyPr>
          <a:lstStyle/>
          <a:p>
            <a:r>
              <a:rPr lang="en-US" sz="1000" dirty="0"/>
              <a:t>Chen, C., Ebeid, I. A., Bu, Y., &amp; Ding, Y. (2020). Coronavirus Knowledge Graph: A Case Study. </a:t>
            </a:r>
            <a:r>
              <a:rPr lang="en-US" sz="1000" dirty="0" err="1"/>
              <a:t>arXiv</a:t>
            </a:r>
            <a:r>
              <a:rPr lang="en-US" sz="1000" dirty="0"/>
              <a:t> preprint arXiv:2007.10287. https://arxiv.org/pdf/2007.10287.pdf</a:t>
            </a:r>
          </a:p>
        </p:txBody>
      </p:sp>
    </p:spTree>
    <p:extLst>
      <p:ext uri="{BB962C8B-B14F-4D97-AF65-F5344CB8AC3E}">
        <p14:creationId xmlns:p14="http://schemas.microsoft.com/office/powerpoint/2010/main" val="6959495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AF8544-18D1-4539-80D1-06853EFFAF88}"/>
              </a:ext>
            </a:extLst>
          </p:cNvPr>
          <p:cNvSpPr>
            <a:spLocks noGrp="1"/>
          </p:cNvSpPr>
          <p:nvPr>
            <p:ph type="title"/>
          </p:nvPr>
        </p:nvSpPr>
        <p:spPr>
          <a:xfrm>
            <a:off x="838200" y="278535"/>
            <a:ext cx="9895951" cy="1033669"/>
          </a:xfrm>
        </p:spPr>
        <p:txBody>
          <a:bodyPr>
            <a:normAutofit/>
          </a:bodyPr>
          <a:lstStyle/>
          <a:p>
            <a:r>
              <a:rPr lang="en-US" sz="3400" dirty="0">
                <a:solidFill>
                  <a:srgbClr val="FFFFFF"/>
                </a:solidFill>
              </a:rPr>
              <a:t>3B. Biomedical Information Retrieval and Mining</a:t>
            </a:r>
          </a:p>
        </p:txBody>
      </p:sp>
      <p:sp>
        <p:nvSpPr>
          <p:cNvPr id="3" name="Content Placeholder 2">
            <a:extLst>
              <a:ext uri="{FF2B5EF4-FFF2-40B4-BE49-F238E27FC236}">
                <a16:creationId xmlns:a16="http://schemas.microsoft.com/office/drawing/2014/main" id="{5F0625C2-D0BB-46C3-AF98-D3A949D3B5E9}"/>
              </a:ext>
            </a:extLst>
          </p:cNvPr>
          <p:cNvSpPr>
            <a:spLocks noGrp="1"/>
          </p:cNvSpPr>
          <p:nvPr>
            <p:ph idx="1"/>
          </p:nvPr>
        </p:nvSpPr>
        <p:spPr>
          <a:xfrm>
            <a:off x="311316" y="1622745"/>
            <a:ext cx="11569363" cy="1883689"/>
          </a:xfrm>
        </p:spPr>
        <p:txBody>
          <a:bodyPr anchor="ctr">
            <a:normAutofit fontScale="92500" lnSpcReduction="20000"/>
          </a:bodyPr>
          <a:lstStyle/>
          <a:p>
            <a:endParaRPr lang="en-US" sz="2000" b="0" dirty="0">
              <a:effectLst/>
              <a:latin typeface="Linux Libertine" panose="02000503000000000000" pitchFamily="2" charset="0"/>
              <a:ea typeface="Calibri" panose="020F0502020204030204" pitchFamily="34" charset="0"/>
              <a:cs typeface="Times New Roman" panose="02020603050405020304" pitchFamily="18" charset="0"/>
            </a:endParaRPr>
          </a:p>
          <a:p>
            <a:endParaRPr lang="en-US" sz="2000" dirty="0">
              <a:latin typeface="Linux Libertine" panose="02000503000000000000" pitchFamily="2" charset="0"/>
              <a:ea typeface="Calibri" panose="020F0502020204030204" pitchFamily="34" charset="0"/>
              <a:cs typeface="Times New Roman" panose="02020603050405020304" pitchFamily="18" charset="0"/>
            </a:endParaRPr>
          </a:p>
          <a:p>
            <a:endParaRPr lang="en-US" sz="2000" b="0" dirty="0">
              <a:effectLst/>
              <a:latin typeface="Linux Libertine" panose="02000503000000000000" pitchFamily="2" charset="0"/>
              <a:ea typeface="Calibri" panose="020F0502020204030204" pitchFamily="34" charset="0"/>
              <a:cs typeface="Times New Roman" panose="02020603050405020304" pitchFamily="18" charset="0"/>
            </a:endParaRPr>
          </a:p>
          <a:p>
            <a:endParaRPr lang="en-US" sz="2000" dirty="0">
              <a:latin typeface="Linux Libertine" panose="02000503000000000000" pitchFamily="2" charset="0"/>
              <a:ea typeface="Calibri" panose="020F0502020204030204" pitchFamily="34" charset="0"/>
              <a:cs typeface="Times New Roman" panose="02020603050405020304" pitchFamily="18" charset="0"/>
            </a:endParaRPr>
          </a:p>
          <a:p>
            <a:pPr marL="0" indent="0">
              <a:buNone/>
            </a:pPr>
            <a:r>
              <a:rPr lang="en-US" sz="2000" b="1" dirty="0">
                <a:effectLst/>
                <a:latin typeface="Linux Libertine" panose="02000503000000000000" pitchFamily="2" charset="0"/>
                <a:ea typeface="Calibri" panose="020F0502020204030204" pitchFamily="34" charset="0"/>
                <a:cs typeface="Times New Roman" panose="02020603050405020304" pitchFamily="18" charset="0"/>
              </a:rPr>
              <a:t>1. Biomedical Knowledge Graph Refinement and Completion Using Graph Representation Learning and Top-K Similarity Measure</a:t>
            </a:r>
          </a:p>
          <a:p>
            <a:pPr marL="0" indent="0">
              <a:buNone/>
            </a:pPr>
            <a:endParaRPr lang="en-US" sz="2000" b="0" dirty="0">
              <a:effectLst/>
              <a:latin typeface="Linux Libertine" panose="02000503000000000000" pitchFamily="2" charset="0"/>
              <a:ea typeface="Calibri" panose="020F0502020204030204" pitchFamily="34" charset="0"/>
              <a:cs typeface="Times New Roman" panose="02020603050405020304" pitchFamily="18" charset="0"/>
            </a:endParaRPr>
          </a:p>
          <a:p>
            <a:endParaRPr lang="en-US" sz="2000" b="0" dirty="0">
              <a:effectLst/>
              <a:latin typeface="Linux Libertine" panose="02000503000000000000" pitchFamily="2" charset="0"/>
              <a:ea typeface="Calibri" panose="020F0502020204030204" pitchFamily="34" charset="0"/>
              <a:cs typeface="Times New Roman" panose="02020603050405020304" pitchFamily="18" charset="0"/>
            </a:endParaRPr>
          </a:p>
          <a:p>
            <a:pPr marL="0" indent="0">
              <a:buNone/>
            </a:pP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p>
        </p:txBody>
      </p:sp>
      <p:sp>
        <p:nvSpPr>
          <p:cNvPr id="4" name="Date Placeholder 3">
            <a:extLst>
              <a:ext uri="{FF2B5EF4-FFF2-40B4-BE49-F238E27FC236}">
                <a16:creationId xmlns:a16="http://schemas.microsoft.com/office/drawing/2014/main" id="{3E0B42B5-58F1-4E21-A210-7F68AD2A49F0}"/>
              </a:ext>
            </a:extLst>
          </p:cNvPr>
          <p:cNvSpPr>
            <a:spLocks noGrp="1"/>
          </p:cNvSpPr>
          <p:nvPr>
            <p:ph type="dt" sz="half" idx="10"/>
          </p:nvPr>
        </p:nvSpPr>
        <p:spPr/>
        <p:txBody>
          <a:bodyPr/>
          <a:lstStyle/>
          <a:p>
            <a:fld id="{061F72F0-DE39-40F1-AEE1-0D5D7BFE427F}" type="datetime1">
              <a:rPr lang="en-US" smtClean="0"/>
              <a:t>5/19/2023</a:t>
            </a:fld>
            <a:endParaRPr lang="en-US"/>
          </a:p>
        </p:txBody>
      </p:sp>
      <p:sp>
        <p:nvSpPr>
          <p:cNvPr id="6" name="Footer Placeholder 5">
            <a:extLst>
              <a:ext uri="{FF2B5EF4-FFF2-40B4-BE49-F238E27FC236}">
                <a16:creationId xmlns:a16="http://schemas.microsoft.com/office/drawing/2014/main" id="{31D042EA-D8B4-440D-AE7E-0BE99C77924C}"/>
              </a:ext>
            </a:extLst>
          </p:cNvPr>
          <p:cNvSpPr>
            <a:spLocks noGrp="1"/>
          </p:cNvSpPr>
          <p:nvPr>
            <p:ph type="ftr" sz="quarter" idx="11"/>
          </p:nvPr>
        </p:nvSpPr>
        <p:spPr/>
        <p:txBody>
          <a:bodyPr/>
          <a:lstStyle/>
          <a:p>
            <a:r>
              <a:rPr lang="en-US" dirty="0"/>
              <a:t>Ebeid - Spring 2023</a:t>
            </a:r>
          </a:p>
        </p:txBody>
      </p:sp>
      <p:sp>
        <p:nvSpPr>
          <p:cNvPr id="7" name="Slide Number Placeholder 6">
            <a:extLst>
              <a:ext uri="{FF2B5EF4-FFF2-40B4-BE49-F238E27FC236}">
                <a16:creationId xmlns:a16="http://schemas.microsoft.com/office/drawing/2014/main" id="{2B4B5BB4-DB4B-41FE-A733-6002A39939F0}"/>
              </a:ext>
            </a:extLst>
          </p:cNvPr>
          <p:cNvSpPr>
            <a:spLocks noGrp="1"/>
          </p:cNvSpPr>
          <p:nvPr>
            <p:ph type="sldNum" sz="quarter" idx="12"/>
          </p:nvPr>
        </p:nvSpPr>
        <p:spPr/>
        <p:txBody>
          <a:bodyPr/>
          <a:lstStyle/>
          <a:p>
            <a:fld id="{174AA435-B3B0-4B6E-A265-E4C5F17628FB}" type="slidenum">
              <a:rPr lang="en-US" smtClean="0"/>
              <a:t>29</a:t>
            </a:fld>
            <a:endParaRPr lang="en-US"/>
          </a:p>
        </p:txBody>
      </p:sp>
      <p:pic>
        <p:nvPicPr>
          <p:cNvPr id="19" name="Content Placeholder 3" descr="Diagram&#10;&#10;Description automatically generated">
            <a:extLst>
              <a:ext uri="{FF2B5EF4-FFF2-40B4-BE49-F238E27FC236}">
                <a16:creationId xmlns:a16="http://schemas.microsoft.com/office/drawing/2014/main" id="{F356E2EB-771B-4C1E-B092-7E3808F5F3A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581400" y="3043146"/>
            <a:ext cx="4378846" cy="3291433"/>
          </a:xfrm>
          <a:prstGeom prst="rect">
            <a:avLst/>
          </a:prstGeom>
        </p:spPr>
      </p:pic>
      <p:cxnSp>
        <p:nvCxnSpPr>
          <p:cNvPr id="20" name="Straight Connector 19">
            <a:extLst>
              <a:ext uri="{FF2B5EF4-FFF2-40B4-BE49-F238E27FC236}">
                <a16:creationId xmlns:a16="http://schemas.microsoft.com/office/drawing/2014/main" id="{C5D448D1-DFB1-489B-9CAA-7D1951C65AC7}"/>
              </a:ext>
            </a:extLst>
          </p:cNvPr>
          <p:cNvCxnSpPr>
            <a:cxnSpLocks/>
          </p:cNvCxnSpPr>
          <p:nvPr/>
        </p:nvCxnSpPr>
        <p:spPr>
          <a:xfrm flipH="1">
            <a:off x="5486400" y="5072743"/>
            <a:ext cx="174171" cy="892628"/>
          </a:xfrm>
          <a:prstGeom prst="line">
            <a:avLst/>
          </a:prstGeom>
          <a:ln w="76200"/>
        </p:spPr>
        <p:style>
          <a:lnRef idx="1">
            <a:schemeClr val="accent2"/>
          </a:lnRef>
          <a:fillRef idx="0">
            <a:schemeClr val="accent2"/>
          </a:fillRef>
          <a:effectRef idx="0">
            <a:schemeClr val="accent2"/>
          </a:effectRef>
          <a:fontRef idx="minor">
            <a:schemeClr val="tx1"/>
          </a:fontRef>
        </p:style>
      </p:cxnSp>
      <p:sp>
        <p:nvSpPr>
          <p:cNvPr id="23" name="TextBox 22">
            <a:extLst>
              <a:ext uri="{FF2B5EF4-FFF2-40B4-BE49-F238E27FC236}">
                <a16:creationId xmlns:a16="http://schemas.microsoft.com/office/drawing/2014/main" id="{FDC292A8-1B20-4F15-9509-06BDA829590E}"/>
              </a:ext>
            </a:extLst>
          </p:cNvPr>
          <p:cNvSpPr txBox="1"/>
          <p:nvPr/>
        </p:nvSpPr>
        <p:spPr>
          <a:xfrm>
            <a:off x="459350" y="5358051"/>
            <a:ext cx="3100279" cy="861774"/>
          </a:xfrm>
          <a:prstGeom prst="rect">
            <a:avLst/>
          </a:prstGeom>
          <a:noFill/>
        </p:spPr>
        <p:txBody>
          <a:bodyPr wrap="square">
            <a:spAutoFit/>
          </a:bodyPr>
          <a:lstStyle/>
          <a:p>
            <a:r>
              <a:rPr lang="en-US" sz="1000" dirty="0"/>
              <a:t>Chen, B., Dong, X., Jiao, D., Wang, H., Zhu, Q., Ding, Y., &amp; Wild, D. J. (2010). Chem2Bio2RDF: a semantic framework for linking and data mining chemogenomic and systems chemical biology data. BMC bioinformatics, 11(1), 1-13.</a:t>
            </a:r>
          </a:p>
        </p:txBody>
      </p:sp>
      <p:sp>
        <p:nvSpPr>
          <p:cNvPr id="17" name="TextBox 16">
            <a:extLst>
              <a:ext uri="{FF2B5EF4-FFF2-40B4-BE49-F238E27FC236}">
                <a16:creationId xmlns:a16="http://schemas.microsoft.com/office/drawing/2014/main" id="{EFD06F7A-5154-4A01-AC9F-B073BA11BD38}"/>
              </a:ext>
            </a:extLst>
          </p:cNvPr>
          <p:cNvSpPr txBox="1"/>
          <p:nvPr/>
        </p:nvSpPr>
        <p:spPr>
          <a:xfrm>
            <a:off x="250371" y="2670764"/>
            <a:ext cx="11353800" cy="246221"/>
          </a:xfrm>
          <a:prstGeom prst="rect">
            <a:avLst/>
          </a:prstGeom>
          <a:noFill/>
        </p:spPr>
        <p:txBody>
          <a:bodyPr wrap="square">
            <a:spAutoFit/>
          </a:bodyPr>
          <a:lstStyle/>
          <a:p>
            <a:r>
              <a:rPr lang="en-US" sz="1000" dirty="0">
                <a:effectLst/>
                <a:latin typeface="Linux Libertine" panose="02000503000000000000" pitchFamily="2" charset="0"/>
                <a:ea typeface="Calibri" panose="020F0502020204030204" pitchFamily="34" charset="0"/>
                <a:cs typeface="Times New Roman" panose="02020603050405020304" pitchFamily="18" charset="0"/>
              </a:rPr>
              <a:t>Ebeid I.A., Hassan M., </a:t>
            </a:r>
            <a:r>
              <a:rPr lang="en-US" sz="1000" dirty="0" err="1">
                <a:effectLst/>
                <a:latin typeface="Linux Libertine" panose="02000503000000000000" pitchFamily="2" charset="0"/>
                <a:ea typeface="Calibri" panose="020F0502020204030204" pitchFamily="34" charset="0"/>
                <a:cs typeface="Times New Roman" panose="02020603050405020304" pitchFamily="18" charset="0"/>
              </a:rPr>
              <a:t>Wanyan</a:t>
            </a:r>
            <a:r>
              <a:rPr lang="en-US" sz="1000" dirty="0">
                <a:effectLst/>
                <a:latin typeface="Linux Libertine" panose="02000503000000000000" pitchFamily="2" charset="0"/>
                <a:ea typeface="Calibri" panose="020F0502020204030204" pitchFamily="34" charset="0"/>
                <a:cs typeface="Times New Roman" panose="02020603050405020304" pitchFamily="18" charset="0"/>
              </a:rPr>
              <a:t> T., Roper J., Seal A., Ding Y. (2020) Biomedical Knowledge Graph Refinement and Completion Using Graph Representation Learning and Top-K Similarity Measure. </a:t>
            </a:r>
            <a:r>
              <a:rPr lang="en-US" sz="1000" dirty="0" err="1">
                <a:effectLst/>
                <a:latin typeface="Linux Libertine" panose="02000503000000000000" pitchFamily="2" charset="0"/>
                <a:ea typeface="Calibri" panose="020F0502020204030204" pitchFamily="34" charset="0"/>
                <a:cs typeface="Times New Roman" panose="02020603050405020304" pitchFamily="18" charset="0"/>
              </a:rPr>
              <a:t>iConference</a:t>
            </a:r>
            <a:r>
              <a:rPr lang="en-US" sz="1000" dirty="0">
                <a:effectLst/>
                <a:latin typeface="Linux Libertine" panose="02000503000000000000" pitchFamily="2" charset="0"/>
                <a:ea typeface="Calibri" panose="020F0502020204030204" pitchFamily="34" charset="0"/>
                <a:cs typeface="Times New Roman" panose="02020603050405020304" pitchFamily="18" charset="0"/>
              </a:rPr>
              <a:t>.</a:t>
            </a:r>
            <a:endParaRPr lang="en-US" sz="1000" dirty="0"/>
          </a:p>
        </p:txBody>
      </p:sp>
    </p:spTree>
    <p:extLst>
      <p:ext uri="{BB962C8B-B14F-4D97-AF65-F5344CB8AC3E}">
        <p14:creationId xmlns:p14="http://schemas.microsoft.com/office/powerpoint/2010/main" val="31912011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AF8544-18D1-4539-80D1-06853EFFAF88}"/>
              </a:ext>
            </a:extLst>
          </p:cNvPr>
          <p:cNvSpPr>
            <a:spLocks noGrp="1"/>
          </p:cNvSpPr>
          <p:nvPr>
            <p:ph type="title"/>
          </p:nvPr>
        </p:nvSpPr>
        <p:spPr>
          <a:xfrm>
            <a:off x="838200" y="278535"/>
            <a:ext cx="9895951" cy="1033669"/>
          </a:xfrm>
        </p:spPr>
        <p:txBody>
          <a:bodyPr>
            <a:normAutofit/>
          </a:bodyPr>
          <a:lstStyle/>
          <a:p>
            <a:r>
              <a:rPr lang="en-US" sz="3400" dirty="0">
                <a:solidFill>
                  <a:srgbClr val="FFFFFF"/>
                </a:solidFill>
              </a:rPr>
              <a:t>3C</a:t>
            </a:r>
            <a:r>
              <a:rPr lang="en-US" sz="3400" kern="1200" dirty="0">
                <a:solidFill>
                  <a:srgbClr val="FFFFFF"/>
                </a:solidFill>
                <a:latin typeface="+mj-lt"/>
                <a:ea typeface="+mj-ea"/>
                <a:cs typeface="+mj-cs"/>
              </a:rPr>
              <a:t>. HCI, UX, Visualization and Eye-tracking</a:t>
            </a:r>
            <a:endParaRPr lang="en-US" sz="3400" dirty="0">
              <a:solidFill>
                <a:srgbClr val="FFFFFF"/>
              </a:solidFill>
            </a:endParaRPr>
          </a:p>
        </p:txBody>
      </p:sp>
      <p:sp>
        <p:nvSpPr>
          <p:cNvPr id="4" name="Date Placeholder 3">
            <a:extLst>
              <a:ext uri="{FF2B5EF4-FFF2-40B4-BE49-F238E27FC236}">
                <a16:creationId xmlns:a16="http://schemas.microsoft.com/office/drawing/2014/main" id="{3E0B42B5-58F1-4E21-A210-7F68AD2A49F0}"/>
              </a:ext>
            </a:extLst>
          </p:cNvPr>
          <p:cNvSpPr>
            <a:spLocks noGrp="1"/>
          </p:cNvSpPr>
          <p:nvPr>
            <p:ph type="dt" sz="half" idx="10"/>
          </p:nvPr>
        </p:nvSpPr>
        <p:spPr/>
        <p:txBody>
          <a:bodyPr/>
          <a:lstStyle/>
          <a:p>
            <a:fld id="{061F72F0-DE39-40F1-AEE1-0D5D7BFE427F}" type="datetime1">
              <a:rPr lang="en-US" smtClean="0"/>
              <a:t>5/19/2023</a:t>
            </a:fld>
            <a:endParaRPr lang="en-US"/>
          </a:p>
        </p:txBody>
      </p:sp>
      <p:sp>
        <p:nvSpPr>
          <p:cNvPr id="6" name="Footer Placeholder 5">
            <a:extLst>
              <a:ext uri="{FF2B5EF4-FFF2-40B4-BE49-F238E27FC236}">
                <a16:creationId xmlns:a16="http://schemas.microsoft.com/office/drawing/2014/main" id="{31D042EA-D8B4-440D-AE7E-0BE99C77924C}"/>
              </a:ext>
            </a:extLst>
          </p:cNvPr>
          <p:cNvSpPr>
            <a:spLocks noGrp="1"/>
          </p:cNvSpPr>
          <p:nvPr>
            <p:ph type="ftr" sz="quarter" idx="11"/>
          </p:nvPr>
        </p:nvSpPr>
        <p:spPr/>
        <p:txBody>
          <a:bodyPr/>
          <a:lstStyle/>
          <a:p>
            <a:r>
              <a:rPr lang="en-US" dirty="0"/>
              <a:t>Ebeid - Spring 2023</a:t>
            </a:r>
          </a:p>
        </p:txBody>
      </p:sp>
      <p:sp>
        <p:nvSpPr>
          <p:cNvPr id="7" name="Slide Number Placeholder 6">
            <a:extLst>
              <a:ext uri="{FF2B5EF4-FFF2-40B4-BE49-F238E27FC236}">
                <a16:creationId xmlns:a16="http://schemas.microsoft.com/office/drawing/2014/main" id="{2B4B5BB4-DB4B-41FE-A733-6002A39939F0}"/>
              </a:ext>
            </a:extLst>
          </p:cNvPr>
          <p:cNvSpPr>
            <a:spLocks noGrp="1"/>
          </p:cNvSpPr>
          <p:nvPr>
            <p:ph type="sldNum" sz="quarter" idx="12"/>
          </p:nvPr>
        </p:nvSpPr>
        <p:spPr/>
        <p:txBody>
          <a:bodyPr/>
          <a:lstStyle/>
          <a:p>
            <a:fld id="{174AA435-B3B0-4B6E-A265-E4C5F17628FB}" type="slidenum">
              <a:rPr lang="en-US" smtClean="0"/>
              <a:t>30</a:t>
            </a:fld>
            <a:endParaRPr lang="en-US"/>
          </a:p>
        </p:txBody>
      </p:sp>
      <p:sp>
        <p:nvSpPr>
          <p:cNvPr id="9" name="Content Placeholder 8">
            <a:extLst>
              <a:ext uri="{FF2B5EF4-FFF2-40B4-BE49-F238E27FC236}">
                <a16:creationId xmlns:a16="http://schemas.microsoft.com/office/drawing/2014/main" id="{833F46DC-D5B1-423E-8EFA-E6EB5F15425C}"/>
              </a:ext>
            </a:extLst>
          </p:cNvPr>
          <p:cNvSpPr>
            <a:spLocks noGrp="1"/>
          </p:cNvSpPr>
          <p:nvPr>
            <p:ph idx="1"/>
          </p:nvPr>
        </p:nvSpPr>
        <p:spPr>
          <a:xfrm>
            <a:off x="838200" y="1825625"/>
            <a:ext cx="10515600" cy="911414"/>
          </a:xfrm>
        </p:spPr>
        <p:txBody>
          <a:bodyPr>
            <a:normAutofit/>
          </a:bodyPr>
          <a:lstStyle/>
          <a:p>
            <a:pPr marL="0" indent="0">
              <a:buNone/>
            </a:pPr>
            <a:r>
              <a:rPr lang="en-US" sz="1600" b="1" dirty="0">
                <a:effectLst/>
                <a:latin typeface="Linux Libertine" panose="02000503000000000000" pitchFamily="2" charset="0"/>
                <a:ea typeface="Calibri" panose="020F0502020204030204" pitchFamily="34" charset="0"/>
                <a:cs typeface="Times New Roman" panose="02020603050405020304" pitchFamily="18" charset="0"/>
              </a:rPr>
              <a:t>1. Protein Chemical Cross-linking/Mass Spectrometry: From raw data to fully immersive visualizations</a:t>
            </a:r>
          </a:p>
        </p:txBody>
      </p:sp>
      <p:pic>
        <p:nvPicPr>
          <p:cNvPr id="15" name="Content Placeholder 6" descr="Chart, treemap chart&#10;&#10;Description automatically generated">
            <a:extLst>
              <a:ext uri="{FF2B5EF4-FFF2-40B4-BE49-F238E27FC236}">
                <a16:creationId xmlns:a16="http://schemas.microsoft.com/office/drawing/2014/main" id="{2CE8214E-E91D-45CA-83C4-0466C3A2F3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59423" y="2482370"/>
            <a:ext cx="4473150" cy="3824543"/>
          </a:xfrm>
          <a:prstGeom prst="rect">
            <a:avLst/>
          </a:prstGeom>
        </p:spPr>
      </p:pic>
      <p:sp>
        <p:nvSpPr>
          <p:cNvPr id="17" name="TextBox 16">
            <a:extLst>
              <a:ext uri="{FF2B5EF4-FFF2-40B4-BE49-F238E27FC236}">
                <a16:creationId xmlns:a16="http://schemas.microsoft.com/office/drawing/2014/main" id="{01881BA3-5E08-49E4-B03F-70B0CB9F6D05}"/>
              </a:ext>
            </a:extLst>
          </p:cNvPr>
          <p:cNvSpPr txBox="1"/>
          <p:nvPr/>
        </p:nvSpPr>
        <p:spPr>
          <a:xfrm>
            <a:off x="838200" y="2126681"/>
            <a:ext cx="9568542" cy="415498"/>
          </a:xfrm>
          <a:prstGeom prst="rect">
            <a:avLst/>
          </a:prstGeom>
          <a:noFill/>
        </p:spPr>
        <p:txBody>
          <a:bodyPr wrap="square">
            <a:spAutoFit/>
          </a:bodyPr>
          <a:lstStyle/>
          <a:p>
            <a:r>
              <a:rPr lang="en-US" sz="1000" dirty="0">
                <a:effectLst/>
                <a:latin typeface="Linux Libertine" panose="02000503000000000000" pitchFamily="2" charset="0"/>
                <a:ea typeface="Calibri" panose="020F0502020204030204" pitchFamily="34" charset="0"/>
                <a:cs typeface="Times New Roman" panose="02020603050405020304" pitchFamily="18" charset="0"/>
              </a:rPr>
              <a:t>Ebeid, Islam </a:t>
            </a:r>
            <a:r>
              <a:rPr lang="en-US" sz="1000" dirty="0" err="1">
                <a:effectLst/>
                <a:latin typeface="Linux Libertine" panose="02000503000000000000" pitchFamily="2" charset="0"/>
                <a:ea typeface="Calibri" panose="020F0502020204030204" pitchFamily="34" charset="0"/>
                <a:cs typeface="Times New Roman" panose="02020603050405020304" pitchFamily="18" charset="0"/>
              </a:rPr>
              <a:t>Akef</a:t>
            </a:r>
            <a:r>
              <a:rPr lang="en-US" sz="1000" dirty="0">
                <a:effectLst/>
                <a:latin typeface="Linux Libertine" panose="02000503000000000000" pitchFamily="2" charset="0"/>
                <a:ea typeface="Calibri" panose="020F0502020204030204" pitchFamily="34" charset="0"/>
                <a:cs typeface="Times New Roman" panose="02020603050405020304" pitchFamily="18" charset="0"/>
              </a:rPr>
              <a:t> and Cruz-</a:t>
            </a:r>
            <a:r>
              <a:rPr lang="en-US" sz="1000" dirty="0" err="1">
                <a:effectLst/>
                <a:latin typeface="Linux Libertine" panose="02000503000000000000" pitchFamily="2" charset="0"/>
                <a:ea typeface="Calibri" panose="020F0502020204030204" pitchFamily="34" charset="0"/>
                <a:cs typeface="Times New Roman" panose="02020603050405020304" pitchFamily="18" charset="0"/>
              </a:rPr>
              <a:t>Neira</a:t>
            </a:r>
            <a:r>
              <a:rPr lang="en-US" sz="1000" dirty="0">
                <a:effectLst/>
                <a:latin typeface="Linux Libertine" panose="02000503000000000000" pitchFamily="2" charset="0"/>
                <a:ea typeface="Calibri" panose="020F0502020204030204" pitchFamily="34" charset="0"/>
                <a:cs typeface="Times New Roman" panose="02020603050405020304" pitchFamily="18" charset="0"/>
              </a:rPr>
              <a:t>, Carolina and Jaiswal, Mihir and </a:t>
            </a:r>
            <a:r>
              <a:rPr lang="en-US" sz="1000" dirty="0" err="1">
                <a:effectLst/>
                <a:latin typeface="Linux Libertine" panose="02000503000000000000" pitchFamily="2" charset="0"/>
                <a:ea typeface="Calibri" panose="020F0502020204030204" pitchFamily="34" charset="0"/>
                <a:cs typeface="Times New Roman" panose="02020603050405020304" pitchFamily="18" charset="0"/>
              </a:rPr>
              <a:t>Zybaylov</a:t>
            </a:r>
            <a:r>
              <a:rPr lang="en-US" sz="1000" dirty="0">
                <a:effectLst/>
                <a:latin typeface="Linux Libertine" panose="02000503000000000000" pitchFamily="2" charset="0"/>
                <a:ea typeface="Calibri" panose="020F0502020204030204" pitchFamily="34" charset="0"/>
                <a:cs typeface="Times New Roman" panose="02020603050405020304" pitchFamily="18" charset="0"/>
              </a:rPr>
              <a:t>, Boris. (2016) Protein Chemical Cross-linking/Mass Spectrometry: From raw data to fully immersive visualizations. Electronic Imaging</a:t>
            </a:r>
            <a:r>
              <a:rPr lang="en-US" sz="1000" dirty="0">
                <a:latin typeface="Linux Libertine" panose="02000503000000000000" pitchFamily="2" charset="0"/>
                <a:ea typeface="Calibri" panose="020F0502020204030204" pitchFamily="34" charset="0"/>
                <a:cs typeface="Times New Roman" panose="02020603050405020304" pitchFamily="18" charset="0"/>
              </a:rPr>
              <a:t>.</a:t>
            </a:r>
            <a:endParaRPr lang="en-US" sz="1000" dirty="0">
              <a:effectLst/>
              <a:latin typeface="Linux Libertine" panose="02000503000000000000" pitchFamily="2"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053011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B0F1C9-B57A-437A-AE19-84D492B482BF}"/>
              </a:ext>
            </a:extLst>
          </p:cNvPr>
          <p:cNvSpPr>
            <a:spLocks noGrp="1"/>
          </p:cNvSpPr>
          <p:nvPr>
            <p:ph type="title"/>
          </p:nvPr>
        </p:nvSpPr>
        <p:spPr>
          <a:xfrm>
            <a:off x="838200" y="278535"/>
            <a:ext cx="9895951" cy="1033669"/>
          </a:xfrm>
        </p:spPr>
        <p:txBody>
          <a:bodyPr>
            <a:normAutofit/>
          </a:bodyPr>
          <a:lstStyle/>
          <a:p>
            <a:r>
              <a:rPr lang="en-US" sz="3400" dirty="0">
                <a:solidFill>
                  <a:srgbClr val="FFFFFF"/>
                </a:solidFill>
              </a:rPr>
              <a:t>3C. HCI, UX, Visualization and Eye tracking</a:t>
            </a:r>
          </a:p>
        </p:txBody>
      </p:sp>
      <p:sp>
        <p:nvSpPr>
          <p:cNvPr id="3" name="Content Placeholder 2">
            <a:extLst>
              <a:ext uri="{FF2B5EF4-FFF2-40B4-BE49-F238E27FC236}">
                <a16:creationId xmlns:a16="http://schemas.microsoft.com/office/drawing/2014/main" id="{0E6ED601-3AB6-48AF-995B-B052DE689FB4}"/>
              </a:ext>
            </a:extLst>
          </p:cNvPr>
          <p:cNvSpPr>
            <a:spLocks noGrp="1"/>
          </p:cNvSpPr>
          <p:nvPr>
            <p:ph idx="1"/>
          </p:nvPr>
        </p:nvSpPr>
        <p:spPr>
          <a:xfrm>
            <a:off x="1371599" y="2318197"/>
            <a:ext cx="9724031" cy="3683358"/>
          </a:xfrm>
        </p:spPr>
        <p:txBody>
          <a:bodyPr anchor="ctr">
            <a:normAutofit/>
          </a:bodyPr>
          <a:lstStyle/>
          <a:p>
            <a:pPr marL="342900" indent="-342900">
              <a:buFont typeface="+mj-lt"/>
              <a:buAutoNum type="arabicPeriod"/>
            </a:pPr>
            <a:r>
              <a:rPr lang="en-US" sz="1400" b="1" dirty="0"/>
              <a:t>Promoting the evaluation of the credibility and the quality of online health information through online web applications</a:t>
            </a:r>
          </a:p>
          <a:p>
            <a:pPr marL="342900" indent="-342900">
              <a:buFont typeface="+mj-lt"/>
              <a:buAutoNum type="arabicPeriod"/>
            </a:pPr>
            <a:endParaRPr lang="en-US" sz="1400" b="1" dirty="0"/>
          </a:p>
          <a:p>
            <a:pPr marL="342900" indent="-342900">
              <a:buFont typeface="+mj-lt"/>
              <a:buAutoNum type="arabicPeriod"/>
            </a:pPr>
            <a:r>
              <a:rPr lang="en-US" sz="1400" b="1" dirty="0">
                <a:effectLst/>
                <a:latin typeface="Linux Libertine" panose="02000503000000000000" pitchFamily="2" charset="0"/>
                <a:ea typeface="Calibri" panose="020F0502020204030204" pitchFamily="34" charset="0"/>
                <a:cs typeface="Times New Roman" panose="02020603050405020304" pitchFamily="18" charset="0"/>
              </a:rPr>
              <a:t>Analyzing Gaze Transition Behavior using Bayesian Mixed Effects Markov Models</a:t>
            </a:r>
          </a:p>
          <a:p>
            <a:pPr marL="342900" indent="-342900">
              <a:buFont typeface="+mj-lt"/>
              <a:buAutoNum type="arabicPeriod"/>
            </a:pPr>
            <a:endParaRPr lang="en-US" sz="1400" b="1" dirty="0">
              <a:effectLst/>
              <a:latin typeface="Linux Libertine" panose="02000503000000000000" pitchFamily="2" charset="0"/>
              <a:ea typeface="Calibri" panose="020F0502020204030204" pitchFamily="34" charset="0"/>
              <a:cs typeface="Times New Roman" panose="02020603050405020304" pitchFamily="18" charset="0"/>
            </a:endParaRPr>
          </a:p>
          <a:p>
            <a:pPr marL="342900" indent="-342900">
              <a:buFont typeface="+mj-lt"/>
              <a:buAutoNum type="arabicPeriod"/>
            </a:pPr>
            <a:r>
              <a:rPr lang="en-US" sz="1400" b="1" dirty="0">
                <a:effectLst/>
                <a:latin typeface="Linux Libertine" panose="02000503000000000000" pitchFamily="2" charset="0"/>
                <a:ea typeface="Calibri" panose="020F0502020204030204" pitchFamily="34" charset="0"/>
                <a:cs typeface="Times New Roman" panose="02020603050405020304" pitchFamily="18" charset="0"/>
              </a:rPr>
              <a:t>Real-time Gaze Transition Entropy</a:t>
            </a:r>
          </a:p>
          <a:p>
            <a:pPr marL="342900" indent="-342900">
              <a:buFont typeface="+mj-lt"/>
              <a:buAutoNum type="arabicPeriod"/>
            </a:pPr>
            <a:endParaRPr lang="en-US" sz="1400" b="1" dirty="0"/>
          </a:p>
        </p:txBody>
      </p:sp>
      <p:sp>
        <p:nvSpPr>
          <p:cNvPr id="4" name="Date Placeholder 3">
            <a:extLst>
              <a:ext uri="{FF2B5EF4-FFF2-40B4-BE49-F238E27FC236}">
                <a16:creationId xmlns:a16="http://schemas.microsoft.com/office/drawing/2014/main" id="{C3090855-6D59-46BB-9493-3E972249D60D}"/>
              </a:ext>
            </a:extLst>
          </p:cNvPr>
          <p:cNvSpPr>
            <a:spLocks noGrp="1"/>
          </p:cNvSpPr>
          <p:nvPr>
            <p:ph type="dt" sz="half" idx="10"/>
          </p:nvPr>
        </p:nvSpPr>
        <p:spPr/>
        <p:txBody>
          <a:bodyPr/>
          <a:lstStyle/>
          <a:p>
            <a:fld id="{04849F8E-BC9F-4009-A118-9890BA4B1721}" type="datetime1">
              <a:rPr lang="en-US" smtClean="0"/>
              <a:t>5/19/2023</a:t>
            </a:fld>
            <a:endParaRPr lang="en-US"/>
          </a:p>
        </p:txBody>
      </p:sp>
      <p:sp>
        <p:nvSpPr>
          <p:cNvPr id="5" name="Footer Placeholder 4">
            <a:extLst>
              <a:ext uri="{FF2B5EF4-FFF2-40B4-BE49-F238E27FC236}">
                <a16:creationId xmlns:a16="http://schemas.microsoft.com/office/drawing/2014/main" id="{9034DAE2-1A10-4840-8EFA-A13A704A7661}"/>
              </a:ext>
            </a:extLst>
          </p:cNvPr>
          <p:cNvSpPr>
            <a:spLocks noGrp="1"/>
          </p:cNvSpPr>
          <p:nvPr>
            <p:ph type="ftr" sz="quarter" idx="11"/>
          </p:nvPr>
        </p:nvSpPr>
        <p:spPr/>
        <p:txBody>
          <a:bodyPr/>
          <a:lstStyle/>
          <a:p>
            <a:r>
              <a:rPr lang="en-US" dirty="0"/>
              <a:t>Ebeid - Spring 2023</a:t>
            </a:r>
          </a:p>
        </p:txBody>
      </p:sp>
      <p:sp>
        <p:nvSpPr>
          <p:cNvPr id="6" name="Slide Number Placeholder 5">
            <a:extLst>
              <a:ext uri="{FF2B5EF4-FFF2-40B4-BE49-F238E27FC236}">
                <a16:creationId xmlns:a16="http://schemas.microsoft.com/office/drawing/2014/main" id="{3EDBA864-02B7-43CE-AB6E-A1B4CF159BFB}"/>
              </a:ext>
            </a:extLst>
          </p:cNvPr>
          <p:cNvSpPr>
            <a:spLocks noGrp="1"/>
          </p:cNvSpPr>
          <p:nvPr>
            <p:ph type="sldNum" sz="quarter" idx="12"/>
          </p:nvPr>
        </p:nvSpPr>
        <p:spPr/>
        <p:txBody>
          <a:bodyPr/>
          <a:lstStyle/>
          <a:p>
            <a:fld id="{174AA435-B3B0-4B6E-A265-E4C5F17628FB}" type="slidenum">
              <a:rPr lang="en-US" smtClean="0"/>
              <a:t>31</a:t>
            </a:fld>
            <a:endParaRPr lang="en-US"/>
          </a:p>
        </p:txBody>
      </p:sp>
      <p:sp>
        <p:nvSpPr>
          <p:cNvPr id="15" name="TextBox 14">
            <a:extLst>
              <a:ext uri="{FF2B5EF4-FFF2-40B4-BE49-F238E27FC236}">
                <a16:creationId xmlns:a16="http://schemas.microsoft.com/office/drawing/2014/main" id="{F42BAF53-6753-4CAE-AA96-668E281CD366}"/>
              </a:ext>
            </a:extLst>
          </p:cNvPr>
          <p:cNvSpPr txBox="1"/>
          <p:nvPr/>
        </p:nvSpPr>
        <p:spPr>
          <a:xfrm>
            <a:off x="732428" y="4933871"/>
            <a:ext cx="8686801" cy="246221"/>
          </a:xfrm>
          <a:prstGeom prst="rect">
            <a:avLst/>
          </a:prstGeom>
          <a:noFill/>
        </p:spPr>
        <p:txBody>
          <a:bodyPr wrap="square">
            <a:spAutoFit/>
          </a:bodyPr>
          <a:lstStyle/>
          <a:p>
            <a:r>
              <a:rPr lang="en-US" sz="1000" dirty="0"/>
              <a:t>Ebeid, I. A., &amp; </a:t>
            </a:r>
            <a:r>
              <a:rPr lang="en-US" sz="1000" dirty="0" err="1"/>
              <a:t>Gwizdka</a:t>
            </a:r>
            <a:r>
              <a:rPr lang="en-US" sz="1000" dirty="0"/>
              <a:t>, J. (2018). Real-time Gaze Transition Entropy. Proceedings of the 2018 ACM Symposium on Eye Tracking Research &amp; Applications</a:t>
            </a:r>
          </a:p>
        </p:txBody>
      </p:sp>
      <p:sp>
        <p:nvSpPr>
          <p:cNvPr id="17" name="TextBox 16">
            <a:extLst>
              <a:ext uri="{FF2B5EF4-FFF2-40B4-BE49-F238E27FC236}">
                <a16:creationId xmlns:a16="http://schemas.microsoft.com/office/drawing/2014/main" id="{2B0D5D33-4611-4BB3-87C3-9ECC4293EC8F}"/>
              </a:ext>
            </a:extLst>
          </p:cNvPr>
          <p:cNvSpPr txBox="1"/>
          <p:nvPr/>
        </p:nvSpPr>
        <p:spPr>
          <a:xfrm>
            <a:off x="732428" y="4228649"/>
            <a:ext cx="10363202" cy="400110"/>
          </a:xfrm>
          <a:prstGeom prst="rect">
            <a:avLst/>
          </a:prstGeom>
          <a:noFill/>
        </p:spPr>
        <p:txBody>
          <a:bodyPr wrap="square">
            <a:spAutoFit/>
          </a:bodyPr>
          <a:lstStyle/>
          <a:p>
            <a:r>
              <a:rPr lang="en-US" sz="1000" dirty="0"/>
              <a:t>Ebeid, I. A., Bhattacharya, N., </a:t>
            </a:r>
            <a:r>
              <a:rPr lang="en-US" sz="1000" dirty="0" err="1"/>
              <a:t>Gwizdka</a:t>
            </a:r>
            <a:r>
              <a:rPr lang="en-US" sz="1000" dirty="0"/>
              <a:t>, J., &amp; Sarkar, A. (2019). Analyzing Gaze Transition Behavior using Bayesian Mixed Effects Markov Models. Proceedings of the 11th ACM Symposium on Eye Tracking Research &amp; Applications</a:t>
            </a:r>
          </a:p>
        </p:txBody>
      </p:sp>
    </p:spTree>
    <p:extLst>
      <p:ext uri="{BB962C8B-B14F-4D97-AF65-F5344CB8AC3E}">
        <p14:creationId xmlns:p14="http://schemas.microsoft.com/office/powerpoint/2010/main" val="11976703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BC7A3D-618B-4F88-94DF-84CDBB44498B}"/>
              </a:ext>
            </a:extLst>
          </p:cNvPr>
          <p:cNvSpPr>
            <a:spLocks noGrp="1"/>
          </p:cNvSpPr>
          <p:nvPr>
            <p:ph type="title"/>
          </p:nvPr>
        </p:nvSpPr>
        <p:spPr>
          <a:xfrm>
            <a:off x="838200" y="278535"/>
            <a:ext cx="9895951" cy="1033669"/>
          </a:xfrm>
        </p:spPr>
        <p:txBody>
          <a:bodyPr>
            <a:normAutofit/>
          </a:bodyPr>
          <a:lstStyle/>
          <a:p>
            <a:r>
              <a:rPr lang="en-US" sz="4000" dirty="0">
                <a:solidFill>
                  <a:srgbClr val="FFFFFF"/>
                </a:solidFill>
              </a:rPr>
              <a:t>4. Closing Remarks</a:t>
            </a:r>
          </a:p>
        </p:txBody>
      </p:sp>
      <p:sp>
        <p:nvSpPr>
          <p:cNvPr id="3" name="Content Placeholder 2">
            <a:extLst>
              <a:ext uri="{FF2B5EF4-FFF2-40B4-BE49-F238E27FC236}">
                <a16:creationId xmlns:a16="http://schemas.microsoft.com/office/drawing/2014/main" id="{0942398E-7AE5-442F-A9E3-2C9C3109B468}"/>
              </a:ext>
            </a:extLst>
          </p:cNvPr>
          <p:cNvSpPr>
            <a:spLocks noGrp="1"/>
          </p:cNvSpPr>
          <p:nvPr>
            <p:ph idx="1"/>
          </p:nvPr>
        </p:nvSpPr>
        <p:spPr>
          <a:xfrm>
            <a:off x="1371599" y="2318197"/>
            <a:ext cx="9724031" cy="3683358"/>
          </a:xfrm>
        </p:spPr>
        <p:txBody>
          <a:bodyPr anchor="ctr">
            <a:normAutofit/>
          </a:bodyPr>
          <a:lstStyle/>
          <a:p>
            <a:r>
              <a:rPr lang="en-US" sz="2000" dirty="0"/>
              <a:t>A future vision might be of having systems where you can feed multiple articles and the out is some insights or hypotheses extracted from the articles automatically</a:t>
            </a:r>
          </a:p>
          <a:p>
            <a:r>
              <a:rPr lang="en-US" sz="2000" dirty="0"/>
              <a:t>Relation extraction, entity resolution and recognition are crucial in knowledge discovery especially in the biomedical field</a:t>
            </a:r>
          </a:p>
          <a:p>
            <a:r>
              <a:rPr lang="en-US" sz="2000" dirty="0"/>
              <a:t>Graph and network methods in combination with natural language processing are incredibly useful in knowledge discovery and data integration tasks especially in biomedicine</a:t>
            </a:r>
          </a:p>
        </p:txBody>
      </p:sp>
      <p:sp>
        <p:nvSpPr>
          <p:cNvPr id="4" name="Date Placeholder 3">
            <a:extLst>
              <a:ext uri="{FF2B5EF4-FFF2-40B4-BE49-F238E27FC236}">
                <a16:creationId xmlns:a16="http://schemas.microsoft.com/office/drawing/2014/main" id="{9901D2CA-2696-447E-B611-FCFFBFBAA2BB}"/>
              </a:ext>
            </a:extLst>
          </p:cNvPr>
          <p:cNvSpPr>
            <a:spLocks noGrp="1"/>
          </p:cNvSpPr>
          <p:nvPr>
            <p:ph type="dt" sz="half" idx="10"/>
          </p:nvPr>
        </p:nvSpPr>
        <p:spPr/>
        <p:txBody>
          <a:bodyPr/>
          <a:lstStyle/>
          <a:p>
            <a:fld id="{E93756E1-26C1-4461-BCCC-FBCED09D1EE5}" type="datetime1">
              <a:rPr lang="en-US" smtClean="0"/>
              <a:t>5/19/2023</a:t>
            </a:fld>
            <a:endParaRPr lang="en-US"/>
          </a:p>
        </p:txBody>
      </p:sp>
      <p:sp>
        <p:nvSpPr>
          <p:cNvPr id="5" name="Footer Placeholder 4">
            <a:extLst>
              <a:ext uri="{FF2B5EF4-FFF2-40B4-BE49-F238E27FC236}">
                <a16:creationId xmlns:a16="http://schemas.microsoft.com/office/drawing/2014/main" id="{11A4071C-D3EF-4547-8736-1E26F9D33909}"/>
              </a:ext>
            </a:extLst>
          </p:cNvPr>
          <p:cNvSpPr>
            <a:spLocks noGrp="1"/>
          </p:cNvSpPr>
          <p:nvPr>
            <p:ph type="ftr" sz="quarter" idx="11"/>
          </p:nvPr>
        </p:nvSpPr>
        <p:spPr/>
        <p:txBody>
          <a:bodyPr/>
          <a:lstStyle/>
          <a:p>
            <a:r>
              <a:rPr lang="en-US" dirty="0"/>
              <a:t>Ebeid - Spring 2023</a:t>
            </a:r>
          </a:p>
        </p:txBody>
      </p:sp>
      <p:sp>
        <p:nvSpPr>
          <p:cNvPr id="6" name="Slide Number Placeholder 5">
            <a:extLst>
              <a:ext uri="{FF2B5EF4-FFF2-40B4-BE49-F238E27FC236}">
                <a16:creationId xmlns:a16="http://schemas.microsoft.com/office/drawing/2014/main" id="{B3FF3248-63AD-46EA-9FF5-D86B465038F8}"/>
              </a:ext>
            </a:extLst>
          </p:cNvPr>
          <p:cNvSpPr>
            <a:spLocks noGrp="1"/>
          </p:cNvSpPr>
          <p:nvPr>
            <p:ph type="sldNum" sz="quarter" idx="12"/>
          </p:nvPr>
        </p:nvSpPr>
        <p:spPr/>
        <p:txBody>
          <a:bodyPr/>
          <a:lstStyle/>
          <a:p>
            <a:fld id="{174AA435-B3B0-4B6E-A265-E4C5F17628FB}" type="slidenum">
              <a:rPr lang="en-US" smtClean="0"/>
              <a:t>32</a:t>
            </a:fld>
            <a:endParaRPr lang="en-US"/>
          </a:p>
        </p:txBody>
      </p:sp>
    </p:spTree>
    <p:extLst>
      <p:ext uri="{BB962C8B-B14F-4D97-AF65-F5344CB8AC3E}">
        <p14:creationId xmlns:p14="http://schemas.microsoft.com/office/powerpoint/2010/main" val="25710264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692C6D-44C2-443B-8E46-AB9FF543DAB3}"/>
              </a:ext>
            </a:extLst>
          </p:cNvPr>
          <p:cNvSpPr>
            <a:spLocks noGrp="1"/>
          </p:cNvSpPr>
          <p:nvPr>
            <p:ph type="title"/>
          </p:nvPr>
        </p:nvSpPr>
        <p:spPr>
          <a:xfrm>
            <a:off x="838200" y="278535"/>
            <a:ext cx="9895951" cy="1033669"/>
          </a:xfrm>
        </p:spPr>
        <p:txBody>
          <a:bodyPr>
            <a:normAutofit/>
          </a:bodyPr>
          <a:lstStyle/>
          <a:p>
            <a:r>
              <a:rPr lang="en-US" sz="4000" dirty="0">
                <a:solidFill>
                  <a:srgbClr val="FFFFFF"/>
                </a:solidFill>
              </a:rPr>
              <a:t>Thank you</a:t>
            </a:r>
          </a:p>
        </p:txBody>
      </p:sp>
      <p:sp>
        <p:nvSpPr>
          <p:cNvPr id="3" name="Content Placeholder 2">
            <a:extLst>
              <a:ext uri="{FF2B5EF4-FFF2-40B4-BE49-F238E27FC236}">
                <a16:creationId xmlns:a16="http://schemas.microsoft.com/office/drawing/2014/main" id="{5DF94FCE-C6E6-4A25-95A0-FCB66B23F44F}"/>
              </a:ext>
            </a:extLst>
          </p:cNvPr>
          <p:cNvSpPr>
            <a:spLocks noGrp="1"/>
          </p:cNvSpPr>
          <p:nvPr>
            <p:ph idx="1"/>
          </p:nvPr>
        </p:nvSpPr>
        <p:spPr>
          <a:xfrm>
            <a:off x="1371599" y="2318197"/>
            <a:ext cx="9724031" cy="3683358"/>
          </a:xfrm>
        </p:spPr>
        <p:txBody>
          <a:bodyPr anchor="ctr">
            <a:normAutofit/>
          </a:bodyPr>
          <a:lstStyle/>
          <a:p>
            <a:pPr marL="0" indent="0">
              <a:buNone/>
            </a:pPr>
            <a:r>
              <a:rPr lang="en-US" sz="2000" dirty="0"/>
              <a:t>Questions</a:t>
            </a:r>
          </a:p>
          <a:p>
            <a:pPr marL="0" indent="0">
              <a:buNone/>
            </a:pPr>
            <a:endParaRPr lang="en-US" sz="2000" dirty="0"/>
          </a:p>
          <a:p>
            <a:pPr marL="0" indent="0">
              <a:buNone/>
            </a:pPr>
            <a:endParaRPr lang="en-US" sz="2000" dirty="0"/>
          </a:p>
          <a:p>
            <a:pPr marL="0" indent="0">
              <a:buNone/>
            </a:pPr>
            <a:r>
              <a:rPr lang="en-US" sz="2000" dirty="0"/>
              <a:t>iaebeid@ualr.edu</a:t>
            </a:r>
          </a:p>
        </p:txBody>
      </p:sp>
      <p:sp>
        <p:nvSpPr>
          <p:cNvPr id="4" name="Date Placeholder 3">
            <a:extLst>
              <a:ext uri="{FF2B5EF4-FFF2-40B4-BE49-F238E27FC236}">
                <a16:creationId xmlns:a16="http://schemas.microsoft.com/office/drawing/2014/main" id="{15735A2B-25C5-4DB1-806C-949AF91C57B4}"/>
              </a:ext>
            </a:extLst>
          </p:cNvPr>
          <p:cNvSpPr>
            <a:spLocks noGrp="1"/>
          </p:cNvSpPr>
          <p:nvPr>
            <p:ph type="dt" sz="half" idx="10"/>
          </p:nvPr>
        </p:nvSpPr>
        <p:spPr/>
        <p:txBody>
          <a:bodyPr/>
          <a:lstStyle/>
          <a:p>
            <a:fld id="{A29B8A34-01BA-415F-80F5-5A7116F0B2FB}" type="datetime1">
              <a:rPr lang="en-US" smtClean="0"/>
              <a:t>5/19/2023</a:t>
            </a:fld>
            <a:endParaRPr lang="en-US"/>
          </a:p>
        </p:txBody>
      </p:sp>
      <p:sp>
        <p:nvSpPr>
          <p:cNvPr id="5" name="Footer Placeholder 4">
            <a:extLst>
              <a:ext uri="{FF2B5EF4-FFF2-40B4-BE49-F238E27FC236}">
                <a16:creationId xmlns:a16="http://schemas.microsoft.com/office/drawing/2014/main" id="{09D2388A-3EB9-440A-BD67-35C9900688EF}"/>
              </a:ext>
            </a:extLst>
          </p:cNvPr>
          <p:cNvSpPr>
            <a:spLocks noGrp="1"/>
          </p:cNvSpPr>
          <p:nvPr>
            <p:ph type="ftr" sz="quarter" idx="11"/>
          </p:nvPr>
        </p:nvSpPr>
        <p:spPr/>
        <p:txBody>
          <a:bodyPr/>
          <a:lstStyle/>
          <a:p>
            <a:r>
              <a:rPr lang="en-US" dirty="0"/>
              <a:t>Ebeid - Spring 2023</a:t>
            </a:r>
          </a:p>
        </p:txBody>
      </p:sp>
      <p:sp>
        <p:nvSpPr>
          <p:cNvPr id="6" name="Slide Number Placeholder 5">
            <a:extLst>
              <a:ext uri="{FF2B5EF4-FFF2-40B4-BE49-F238E27FC236}">
                <a16:creationId xmlns:a16="http://schemas.microsoft.com/office/drawing/2014/main" id="{BA9C0EA6-7B60-4CAE-BA7A-6BA260AE0E4C}"/>
              </a:ext>
            </a:extLst>
          </p:cNvPr>
          <p:cNvSpPr>
            <a:spLocks noGrp="1"/>
          </p:cNvSpPr>
          <p:nvPr>
            <p:ph type="sldNum" sz="quarter" idx="12"/>
          </p:nvPr>
        </p:nvSpPr>
        <p:spPr/>
        <p:txBody>
          <a:bodyPr/>
          <a:lstStyle/>
          <a:p>
            <a:fld id="{174AA435-B3B0-4B6E-A265-E4C5F17628FB}" type="slidenum">
              <a:rPr lang="en-US" smtClean="0"/>
              <a:t>33</a:t>
            </a:fld>
            <a:endParaRPr lang="en-US"/>
          </a:p>
        </p:txBody>
      </p:sp>
    </p:spTree>
    <p:extLst>
      <p:ext uri="{BB962C8B-B14F-4D97-AF65-F5344CB8AC3E}">
        <p14:creationId xmlns:p14="http://schemas.microsoft.com/office/powerpoint/2010/main" val="30944146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Linux Libertine"/>
        <a:ea typeface=""/>
        <a:cs typeface=""/>
      </a:majorFont>
      <a:minorFont>
        <a:latin typeface="Linux Libertin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1337</TotalTime>
  <Words>5026</Words>
  <Application>Microsoft Office PowerPoint</Application>
  <PresentationFormat>Widescreen</PresentationFormat>
  <Paragraphs>586</Paragraphs>
  <Slides>33</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Linux Libertine</vt:lpstr>
      <vt:lpstr>Times New Roman</vt:lpstr>
      <vt:lpstr>Office Theme</vt:lpstr>
      <vt:lpstr>The Applications of Natural Language Processing, Graph Theory, and Representation Learning in Data Integration and Mining</vt:lpstr>
      <vt:lpstr>Content</vt:lpstr>
      <vt:lpstr>1. Introduction (Resume)</vt:lpstr>
      <vt:lpstr>2. Recent Work</vt:lpstr>
      <vt:lpstr>2A. Graph-based Unsupervised Entity Resolution </vt:lpstr>
      <vt:lpstr>2A. Graph-based Unsupervised Entity Resolution </vt:lpstr>
      <vt:lpstr>2A. Graph-based Unsupervised Entity Resolution </vt:lpstr>
      <vt:lpstr>2A. Graph-based Unsupervised Entity Resolution </vt:lpstr>
      <vt:lpstr>2A. Graph-based Unsupervised Entity Resolution </vt:lpstr>
      <vt:lpstr>2A. Graph-based Unsupervised Entity Resolution </vt:lpstr>
      <vt:lpstr>2A. Graph-based Unsupervised Entity Resolution </vt:lpstr>
      <vt:lpstr>2A. Graph-based Unsupervised Entity Resolution </vt:lpstr>
      <vt:lpstr>2A. Graph-based Unsupervised Entity Resolution </vt:lpstr>
      <vt:lpstr>2A. Evaluation</vt:lpstr>
      <vt:lpstr>2A. Future Work</vt:lpstr>
      <vt:lpstr>3B. MedGraph</vt:lpstr>
      <vt:lpstr>3B. MedGraph</vt:lpstr>
      <vt:lpstr>3B. MedGraph</vt:lpstr>
      <vt:lpstr>3B. MedGraph</vt:lpstr>
      <vt:lpstr>3B. MedGraph</vt:lpstr>
      <vt:lpstr>3B. MedGraph</vt:lpstr>
      <vt:lpstr>3B. Evaluation</vt:lpstr>
      <vt:lpstr>3B. Future Work</vt:lpstr>
      <vt:lpstr>3B. Future Work</vt:lpstr>
      <vt:lpstr>3. Previous Work</vt:lpstr>
      <vt:lpstr>3A. Data Integration &amp; Entity Resolution</vt:lpstr>
      <vt:lpstr>3B. Biomedical Information Retrieval and Mining</vt:lpstr>
      <vt:lpstr>3B. Biomedical Information Retrieval and Mining</vt:lpstr>
      <vt:lpstr>3B. Biomedical Information Retrieval and Mining</vt:lpstr>
      <vt:lpstr>3C. HCI, UX, Visualization and Eye-tracking</vt:lpstr>
      <vt:lpstr>3C. HCI, UX, Visualization and Eye tracking</vt:lpstr>
      <vt:lpstr>4. Closing Remarks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Job Talk</dc:title>
  <dc:creator>Akef Ebeid</dc:creator>
  <cp:lastModifiedBy>Islam Ebeid</cp:lastModifiedBy>
  <cp:revision>307</cp:revision>
  <dcterms:created xsi:type="dcterms:W3CDTF">2021-12-14T17:19:20Z</dcterms:created>
  <dcterms:modified xsi:type="dcterms:W3CDTF">2023-05-19T14:24:04Z</dcterms:modified>
</cp:coreProperties>
</file>