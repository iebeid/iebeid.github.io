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1"/>
  </p:notesMasterIdLst>
  <p:sldIdLst>
    <p:sldId id="256" r:id="rId2"/>
    <p:sldId id="278" r:id="rId3"/>
    <p:sldId id="280" r:id="rId4"/>
    <p:sldId id="281" r:id="rId5"/>
    <p:sldId id="279" r:id="rId6"/>
    <p:sldId id="282" r:id="rId7"/>
    <p:sldId id="283" r:id="rId8"/>
    <p:sldId id="284" r:id="rId9"/>
    <p:sldId id="285" r:id="rId10"/>
    <p:sldId id="296" r:id="rId11"/>
    <p:sldId id="293" r:id="rId12"/>
    <p:sldId id="310" r:id="rId13"/>
    <p:sldId id="311" r:id="rId14"/>
    <p:sldId id="286" r:id="rId15"/>
    <p:sldId id="287" r:id="rId16"/>
    <p:sldId id="288" r:id="rId17"/>
    <p:sldId id="289" r:id="rId18"/>
    <p:sldId id="290" r:id="rId19"/>
    <p:sldId id="291" r:id="rId20"/>
    <p:sldId id="312" r:id="rId21"/>
    <p:sldId id="313" r:id="rId22"/>
    <p:sldId id="314" r:id="rId23"/>
    <p:sldId id="315" r:id="rId24"/>
    <p:sldId id="294" r:id="rId25"/>
    <p:sldId id="295" r:id="rId26"/>
    <p:sldId id="298" r:id="rId27"/>
    <p:sldId id="299" r:id="rId28"/>
    <p:sldId id="300" r:id="rId29"/>
    <p:sldId id="301" r:id="rId30"/>
    <p:sldId id="302" r:id="rId31"/>
    <p:sldId id="303" r:id="rId32"/>
    <p:sldId id="304" r:id="rId33"/>
    <p:sldId id="305" r:id="rId34"/>
    <p:sldId id="306" r:id="rId35"/>
    <p:sldId id="307" r:id="rId36"/>
    <p:sldId id="308" r:id="rId37"/>
    <p:sldId id="309" r:id="rId38"/>
    <p:sldId id="276" r:id="rId39"/>
    <p:sldId id="277"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58531" autoAdjust="0"/>
  </p:normalViewPr>
  <p:slideViewPr>
    <p:cSldViewPr snapToGrid="0">
      <p:cViewPr varScale="1">
        <p:scale>
          <a:sx n="66" d="100"/>
          <a:sy n="66" d="100"/>
        </p:scale>
        <p:origin x="2256" y="66"/>
      </p:cViewPr>
      <p:guideLst/>
    </p:cSldViewPr>
  </p:slideViewPr>
  <p:outlineViewPr>
    <p:cViewPr>
      <p:scale>
        <a:sx n="33" d="100"/>
        <a:sy n="33" d="100"/>
      </p:scale>
      <p:origin x="0" y="-5406"/>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Y-Values</c:v>
                </c:pt>
              </c:strCache>
            </c:strRef>
          </c:tx>
          <c:spPr>
            <a:ln w="1905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0.5</c:v>
                </c:pt>
                <c:pt idx="1">
                  <c:v>0.54</c:v>
                </c:pt>
                <c:pt idx="2">
                  <c:v>0.3</c:v>
                </c:pt>
                <c:pt idx="3">
                  <c:v>1</c:v>
                </c:pt>
                <c:pt idx="4">
                  <c:v>1.5</c:v>
                </c:pt>
                <c:pt idx="5">
                  <c:v>2</c:v>
                </c:pt>
              </c:numCache>
            </c:numRef>
          </c:xVal>
          <c:yVal>
            <c:numRef>
              <c:f>Sheet1!$B$2:$B$7</c:f>
              <c:numCache>
                <c:formatCode>General</c:formatCode>
                <c:ptCount val="6"/>
                <c:pt idx="0">
                  <c:v>0.5</c:v>
                </c:pt>
                <c:pt idx="1">
                  <c:v>1</c:v>
                </c:pt>
                <c:pt idx="2">
                  <c:v>1.5</c:v>
                </c:pt>
                <c:pt idx="3">
                  <c:v>1.2</c:v>
                </c:pt>
                <c:pt idx="4">
                  <c:v>0.8</c:v>
                </c:pt>
                <c:pt idx="5">
                  <c:v>1.5</c:v>
                </c:pt>
              </c:numCache>
            </c:numRef>
          </c:yVal>
          <c:smooth val="0"/>
          <c:extLst>
            <c:ext xmlns:c16="http://schemas.microsoft.com/office/drawing/2014/chart" uri="{C3380CC4-5D6E-409C-BE32-E72D297353CC}">
              <c16:uniqueId val="{00000000-2212-45AA-BDB8-FE8DA2F27939}"/>
            </c:ext>
          </c:extLst>
        </c:ser>
        <c:dLbls>
          <c:showLegendKey val="0"/>
          <c:showVal val="0"/>
          <c:showCatName val="0"/>
          <c:showSerName val="0"/>
          <c:showPercent val="0"/>
          <c:showBubbleSize val="0"/>
        </c:dLbls>
        <c:axId val="382997680"/>
        <c:axId val="382992432"/>
      </c:scatterChart>
      <c:valAx>
        <c:axId val="382997680"/>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382992432"/>
        <c:crosses val="autoZero"/>
        <c:crossBetween val="midCat"/>
      </c:valAx>
      <c:valAx>
        <c:axId val="38299243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382997680"/>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0.2888</cdr:x>
      <cdr:y>0.37176</cdr:y>
    </cdr:from>
    <cdr:to>
      <cdr:x>0.2888</cdr:x>
      <cdr:y>0.60254</cdr:y>
    </cdr:to>
    <cdr:cxnSp macro="">
      <cdr:nvCxnSpPr>
        <cdr:cNvPr id="3" name="Straight Connector 2">
          <a:extLst xmlns:a="http://schemas.openxmlformats.org/drawingml/2006/main">
            <a:ext uri="{FF2B5EF4-FFF2-40B4-BE49-F238E27FC236}">
              <a16:creationId xmlns:a16="http://schemas.microsoft.com/office/drawing/2014/main" id="{365F1DEE-5A58-4D7F-BEC3-13B649E1FF7F}"/>
            </a:ext>
          </a:extLst>
        </cdr:cNvPr>
        <cdr:cNvCxnSpPr/>
      </cdr:nvCxnSpPr>
      <cdr:spPr>
        <a:xfrm xmlns:a="http://schemas.openxmlformats.org/drawingml/2006/main">
          <a:off x="954131" y="964120"/>
          <a:ext cx="0" cy="598516"/>
        </a:xfrm>
        <a:prstGeom xmlns:a="http://schemas.openxmlformats.org/drawingml/2006/main" prst="line">
          <a:avLst/>
        </a:prstGeom>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dr:relSizeAnchor xmlns:cdr="http://schemas.openxmlformats.org/drawingml/2006/chartDrawing">
    <cdr:from>
      <cdr:x>0.2888</cdr:x>
      <cdr:y>0.26278</cdr:y>
    </cdr:from>
    <cdr:to>
      <cdr:x>0.44229</cdr:x>
      <cdr:y>0.36535</cdr:y>
    </cdr:to>
    <cdr:cxnSp macro="">
      <cdr:nvCxnSpPr>
        <cdr:cNvPr id="5" name="Straight Connector 4">
          <a:extLst xmlns:a="http://schemas.openxmlformats.org/drawingml/2006/main">
            <a:ext uri="{FF2B5EF4-FFF2-40B4-BE49-F238E27FC236}">
              <a16:creationId xmlns:a16="http://schemas.microsoft.com/office/drawing/2014/main" id="{689806AA-529E-4313-BF0F-0D6500027A57}"/>
            </a:ext>
          </a:extLst>
        </cdr:cNvPr>
        <cdr:cNvCxnSpPr/>
      </cdr:nvCxnSpPr>
      <cdr:spPr>
        <a:xfrm xmlns:a="http://schemas.openxmlformats.org/drawingml/2006/main" flipV="1">
          <a:off x="954131" y="681487"/>
          <a:ext cx="507077" cy="266007"/>
        </a:xfrm>
        <a:prstGeom xmlns:a="http://schemas.openxmlformats.org/drawingml/2006/main" prst="line">
          <a:avLst/>
        </a:prstGeom>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dr:relSizeAnchor xmlns:cdr="http://schemas.openxmlformats.org/drawingml/2006/chartDrawing">
    <cdr:from>
      <cdr:x>0.20829</cdr:x>
      <cdr:y>0.0993</cdr:y>
    </cdr:from>
    <cdr:to>
      <cdr:x>0.45235</cdr:x>
      <cdr:y>0.24995</cdr:y>
    </cdr:to>
    <cdr:cxnSp macro="">
      <cdr:nvCxnSpPr>
        <cdr:cNvPr id="10" name="Straight Connector 9">
          <a:extLst xmlns:a="http://schemas.openxmlformats.org/drawingml/2006/main">
            <a:ext uri="{FF2B5EF4-FFF2-40B4-BE49-F238E27FC236}">
              <a16:creationId xmlns:a16="http://schemas.microsoft.com/office/drawing/2014/main" id="{A8AE6460-B101-495C-9468-1AD177E9814B}"/>
            </a:ext>
          </a:extLst>
        </cdr:cNvPr>
        <cdr:cNvCxnSpPr/>
      </cdr:nvCxnSpPr>
      <cdr:spPr>
        <a:xfrm xmlns:a="http://schemas.openxmlformats.org/drawingml/2006/main">
          <a:off x="688124" y="257538"/>
          <a:ext cx="806335" cy="390698"/>
        </a:xfrm>
        <a:prstGeom xmlns:a="http://schemas.openxmlformats.org/drawingml/2006/main" prst="line">
          <a:avLst/>
        </a:prstGeom>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dr:relSizeAnchor xmlns:cdr="http://schemas.openxmlformats.org/drawingml/2006/chartDrawing">
    <cdr:from>
      <cdr:x>0.2888</cdr:x>
      <cdr:y>0.25957</cdr:y>
    </cdr:from>
    <cdr:to>
      <cdr:x>0.45487</cdr:x>
      <cdr:y>0.60254</cdr:y>
    </cdr:to>
    <cdr:cxnSp macro="">
      <cdr:nvCxnSpPr>
        <cdr:cNvPr id="15" name="Straight Connector 14">
          <a:extLst xmlns:a="http://schemas.openxmlformats.org/drawingml/2006/main">
            <a:ext uri="{FF2B5EF4-FFF2-40B4-BE49-F238E27FC236}">
              <a16:creationId xmlns:a16="http://schemas.microsoft.com/office/drawing/2014/main" id="{9AF3F827-F1A9-4AB5-AB55-1C433D8780DE}"/>
            </a:ext>
          </a:extLst>
        </cdr:cNvPr>
        <cdr:cNvCxnSpPr/>
      </cdr:nvCxnSpPr>
      <cdr:spPr>
        <a:xfrm xmlns:a="http://schemas.openxmlformats.org/drawingml/2006/main" flipH="1">
          <a:off x="954131" y="673174"/>
          <a:ext cx="548640" cy="889462"/>
        </a:xfrm>
        <a:prstGeom xmlns:a="http://schemas.openxmlformats.org/drawingml/2006/main" prst="line">
          <a:avLst/>
        </a:prstGeom>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90A533-E517-4FAA-9690-E5911E2C1C32}" type="datetimeFigureOut">
              <a:rPr lang="en-US" smtClean="0"/>
              <a:t>12/7/2021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B392EB-F905-4DEB-994A-84942BE6E492}" type="slidenum">
              <a:rPr lang="en-US" smtClean="0"/>
              <a:t>‹#›</a:t>
            </a:fld>
            <a:endParaRPr lang="en-US"/>
          </a:p>
        </p:txBody>
      </p:sp>
    </p:spTree>
    <p:extLst>
      <p:ext uri="{BB962C8B-B14F-4D97-AF65-F5344CB8AC3E}">
        <p14:creationId xmlns:p14="http://schemas.microsoft.com/office/powerpoint/2010/main" val="28811579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would like to thank you all for attending the meeting. I have been working under the guidance of Dr. Pierce on this project for the past year now. As the title points in this project, I am focused on information retrieval and knowledge graphs especially in the biomedical field. You know digital libraries like PubMed contain a lot of knowledge. Recently there has been a movement to convert the text present in those libraries into machine readable formats. The aim is to provide ways to automatically discover new knowledge from the corpus of articles through semantic web technologies like knowledge graphs. On the other hand, search and information retrieval is one form of knowledge discovery and data mining that requires better representation of information to provide more relevant results for users especially researchers in the biomedical field.</a:t>
            </a:r>
          </a:p>
        </p:txBody>
      </p:sp>
      <p:sp>
        <p:nvSpPr>
          <p:cNvPr id="4" name="Slide Number Placeholder 3"/>
          <p:cNvSpPr>
            <a:spLocks noGrp="1"/>
          </p:cNvSpPr>
          <p:nvPr>
            <p:ph type="sldNum" sz="quarter" idx="5"/>
          </p:nvPr>
        </p:nvSpPr>
        <p:spPr/>
        <p:txBody>
          <a:bodyPr/>
          <a:lstStyle/>
          <a:p>
            <a:fld id="{9AB392EB-F905-4DEB-994A-84942BE6E492}" type="slidenum">
              <a:rPr lang="en-US" smtClean="0"/>
              <a:t>1</a:t>
            </a:fld>
            <a:endParaRPr lang="en-US"/>
          </a:p>
        </p:txBody>
      </p:sp>
    </p:spTree>
    <p:extLst>
      <p:ext uri="{BB962C8B-B14F-4D97-AF65-F5344CB8AC3E}">
        <p14:creationId xmlns:p14="http://schemas.microsoft.com/office/powerpoint/2010/main" val="20871105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today I will go over what I did in this project. First, I will go over the introduction, then the background. Then, I will go over the proposed method and framework, following I will describe how I evaluated the system and the results of the evaluation then I will discuss the results and finally I will conclude and provide a full bibliography.</a:t>
            </a:r>
          </a:p>
        </p:txBody>
      </p:sp>
      <p:sp>
        <p:nvSpPr>
          <p:cNvPr id="4" name="Slide Number Placeholder 3"/>
          <p:cNvSpPr>
            <a:spLocks noGrp="1"/>
          </p:cNvSpPr>
          <p:nvPr>
            <p:ph type="sldNum" sz="quarter" idx="5"/>
          </p:nvPr>
        </p:nvSpPr>
        <p:spPr/>
        <p:txBody>
          <a:bodyPr/>
          <a:lstStyle/>
          <a:p>
            <a:fld id="{9AB392EB-F905-4DEB-994A-84942BE6E492}" type="slidenum">
              <a:rPr lang="en-US" smtClean="0"/>
              <a:t>2</a:t>
            </a:fld>
            <a:endParaRPr lang="en-US"/>
          </a:p>
        </p:txBody>
      </p:sp>
    </p:spTree>
    <p:extLst>
      <p:ext uri="{BB962C8B-B14F-4D97-AF65-F5344CB8AC3E}">
        <p14:creationId xmlns:p14="http://schemas.microsoft.com/office/powerpoint/2010/main" val="12485294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latin typeface="Linux Libertine" panose="02000503000000000000" pitchFamily="2" charset="0"/>
                <a:ea typeface="Calibri" panose="020F0502020204030204" pitchFamily="34" charset="0"/>
                <a:cs typeface="Times New Roman" panose="02020603050405020304" pitchFamily="18" charset="0"/>
              </a:rPr>
              <a:t>But first I would like to describe what is PubMed because it is the central focus here in this project. PubMed is the National Library of Medicine’s free authoritative database of citations and search engine of more than 30 million articles in biology, medicine, pharmacy, and life sciences and across multiple curated databases such as MEDLINE. </a:t>
            </a:r>
            <a:r>
              <a:rPr lang="en-US" b="0" i="0" dirty="0">
                <a:solidFill>
                  <a:srgbClr val="4D5156"/>
                </a:solidFill>
                <a:effectLst/>
                <a:latin typeface="Roboto" panose="02000000000000000000" pitchFamily="2" charset="0"/>
              </a:rPr>
              <a:t>MEDLINE is a bibliographic database of life sciences and biomedical information. It includes bibliographic information for articles from academic journals covering medicine, nursing, pharmacy, dentistry, veterinary medicine, and health care.</a:t>
            </a:r>
            <a:r>
              <a:rPr lang="en-US" sz="1200" b="0" i="0" dirty="0">
                <a:solidFill>
                  <a:srgbClr val="4D5156"/>
                </a:solidFill>
                <a:effectLst/>
                <a:latin typeface="Linux Libertine" panose="02000503000000000000" pitchFamily="2" charset="0"/>
                <a:cs typeface="Times New Roman" panose="02020603050405020304" pitchFamily="18" charset="0"/>
              </a:rPr>
              <a:t> It is the largest curated corpus by the national library of medicine. PubMed could be thought of as the search engine and the online portal on top of MEDLINE in addition to other repositories as well. However, from here on I will refer to PubMed as an entity that encompasses MEDLINE.</a:t>
            </a:r>
            <a:endParaRPr lang="en-US" sz="1200" dirty="0">
              <a:effectLst/>
              <a:latin typeface="Linux Libertine" panose="02000503000000000000" pitchFamily="2"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effectLst/>
              <a:latin typeface="Linux Libertine" panose="02000503000000000000" pitchFamily="2"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latin typeface="Linux Libertine" panose="02000503000000000000" pitchFamily="2" charset="0"/>
                <a:ea typeface="Calibri" panose="020F0502020204030204" pitchFamily="34" charset="0"/>
                <a:cs typeface="Times New Roman" panose="02020603050405020304" pitchFamily="18" charset="0"/>
              </a:rPr>
              <a:t>PubMed is used by more than 2.5 million users each day, serving clinicians, physicians, researchers, and students. It is worth mentioning that PubMed is a database of citations, not a database of full-text articles. That is because about two-thirds of the articles indexed in PubMed do not provide access to full texts. Instead, when a free full text is available by the publisher or published as open access or is supported by an NIH grant, the full article gets indexed in PubMed Central, that’s another database under PubMed and is the National Library of Medicine accessible repository of full-text articles. Accordingly, the PubMed search engine relies on metadata and citations instead of parsing full-text articles when providing a search experience. Articles’ metadata are indexed and parsed in fields to be utilized in the search process. Metadata fields include titles, abstracts, authors, journal names, publication dates, submission dates, related </a:t>
            </a:r>
            <a:r>
              <a:rPr lang="en-US" sz="1200" dirty="0" err="1">
                <a:effectLst/>
                <a:latin typeface="Linux Libertine" panose="02000503000000000000" pitchFamily="2" charset="0"/>
                <a:ea typeface="Calibri" panose="020F0502020204030204" pitchFamily="34" charset="0"/>
                <a:cs typeface="Times New Roman" panose="02020603050405020304" pitchFamily="18" charset="0"/>
              </a:rPr>
              <a:t>MeSH</a:t>
            </a:r>
            <a:r>
              <a:rPr lang="en-US" sz="1200" dirty="0">
                <a:effectLst/>
                <a:latin typeface="Linux Libertine" panose="02000503000000000000" pitchFamily="2" charset="0"/>
                <a:ea typeface="Calibri" panose="020F0502020204030204" pitchFamily="34" charset="0"/>
                <a:cs typeface="Times New Roman" panose="02020603050405020304" pitchFamily="18" charset="0"/>
              </a:rPr>
              <a:t> terms, citation and references information, funding grants, projects, and many more.</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9AB392EB-F905-4DEB-994A-84942BE6E492}" type="slidenum">
              <a:rPr lang="en-US" smtClean="0"/>
              <a:t>3</a:t>
            </a:fld>
            <a:endParaRPr lang="en-US"/>
          </a:p>
        </p:txBody>
      </p:sp>
    </p:spTree>
    <p:extLst>
      <p:ext uri="{BB962C8B-B14F-4D97-AF65-F5344CB8AC3E}">
        <p14:creationId xmlns:p14="http://schemas.microsoft.com/office/powerpoint/2010/main" val="8033203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on the website when the user enters a query in the search box. Let’s say the term “covid-19”. The result page appears with the relevant articles ranked based on the display option. The current default method in PubMed is called Best Match the other method is TFIDF and the retrieved results are ranked based on date or author names. Best Match is the latest algorithm used by PubMed to retrieve and rank returned articles. </a:t>
            </a:r>
          </a:p>
          <a:p>
            <a:endParaRPr lang="en-US" dirty="0"/>
          </a:p>
          <a:p>
            <a:r>
              <a:rPr lang="en-US" dirty="0"/>
              <a:t>More filters can be used from the left panel to filter out the results. For example, in this case we only want articles that are in English. Also, only from the MEDLINE database and not any other repository under PubMed. </a:t>
            </a:r>
          </a:p>
        </p:txBody>
      </p:sp>
      <p:sp>
        <p:nvSpPr>
          <p:cNvPr id="4" name="Slide Number Placeholder 3"/>
          <p:cNvSpPr>
            <a:spLocks noGrp="1"/>
          </p:cNvSpPr>
          <p:nvPr>
            <p:ph type="sldNum" sz="quarter" idx="5"/>
          </p:nvPr>
        </p:nvSpPr>
        <p:spPr/>
        <p:txBody>
          <a:bodyPr/>
          <a:lstStyle/>
          <a:p>
            <a:fld id="{9AB392EB-F905-4DEB-994A-84942BE6E492}" type="slidenum">
              <a:rPr lang="en-US" smtClean="0"/>
              <a:t>4</a:t>
            </a:fld>
            <a:endParaRPr lang="en-US"/>
          </a:p>
        </p:txBody>
      </p:sp>
    </p:spTree>
    <p:extLst>
      <p:ext uri="{BB962C8B-B14F-4D97-AF65-F5344CB8AC3E}">
        <p14:creationId xmlns:p14="http://schemas.microsoft.com/office/powerpoint/2010/main" val="29183684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when the user clicks on any of the articles retrieved. The article will appear with a title, abstract, list of authors, and their </a:t>
            </a:r>
            <a:r>
              <a:rPr lang="en-US" dirty="0" err="1"/>
              <a:t>affilations</a:t>
            </a:r>
            <a:r>
              <a:rPr lang="en-US" dirty="0"/>
              <a:t>, PMID, DOI, references, related keywords and </a:t>
            </a:r>
            <a:r>
              <a:rPr lang="en-US" dirty="0" err="1"/>
              <a:t>MeSH</a:t>
            </a:r>
            <a:r>
              <a:rPr lang="en-US" dirty="0"/>
              <a:t> terms. In addition to a link to the full text if available as shown in this picture. A PMID is the unique identifier provided by PubMed to each article.</a:t>
            </a:r>
          </a:p>
        </p:txBody>
      </p:sp>
      <p:sp>
        <p:nvSpPr>
          <p:cNvPr id="4" name="Slide Number Placeholder 3"/>
          <p:cNvSpPr>
            <a:spLocks noGrp="1"/>
          </p:cNvSpPr>
          <p:nvPr>
            <p:ph type="sldNum" sz="quarter" idx="5"/>
          </p:nvPr>
        </p:nvSpPr>
        <p:spPr/>
        <p:txBody>
          <a:bodyPr/>
          <a:lstStyle/>
          <a:p>
            <a:fld id="{9AB392EB-F905-4DEB-994A-84942BE6E492}" type="slidenum">
              <a:rPr lang="en-US" smtClean="0"/>
              <a:t>5</a:t>
            </a:fld>
            <a:endParaRPr lang="en-US"/>
          </a:p>
        </p:txBody>
      </p:sp>
    </p:spTree>
    <p:extLst>
      <p:ext uri="{BB962C8B-B14F-4D97-AF65-F5344CB8AC3E}">
        <p14:creationId xmlns:p14="http://schemas.microsoft.com/office/powerpoint/2010/main" val="22206779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But lets backup a little bit before the resultant ranked documents are presented to the user the query gets expanded using </a:t>
            </a:r>
            <a:r>
              <a:rPr lang="en-US" sz="1200" dirty="0">
                <a:effectLst/>
                <a:latin typeface="Linux Libertine" panose="02000503000000000000" pitchFamily="2" charset="0"/>
                <a:ea typeface="Calibri" panose="020F0502020204030204" pitchFamily="34" charset="0"/>
              </a:rPr>
              <a:t>the Automatic Term Mapping system (ATM). The ATM system expands the input query and finds which fields the query entered intended. The expanded query is then matched with the most relevant documents using </a:t>
            </a:r>
            <a:r>
              <a:rPr lang="en-US" sz="1200" dirty="0" err="1">
                <a:effectLst/>
                <a:latin typeface="Linux Libertine" panose="02000503000000000000" pitchFamily="2" charset="0"/>
                <a:ea typeface="Calibri" panose="020F0502020204030204" pitchFamily="34" charset="0"/>
              </a:rPr>
              <a:t>MeSH</a:t>
            </a:r>
            <a:r>
              <a:rPr lang="en-US" sz="1200" dirty="0">
                <a:effectLst/>
                <a:latin typeface="Linux Libertine" panose="02000503000000000000" pitchFamily="2" charset="0"/>
                <a:ea typeface="Calibri" panose="020F0502020204030204" pitchFamily="34" charset="0"/>
              </a:rPr>
              <a:t> terms, keywords, and other metadata. The most relevant articles are then retrieved using TF-IDF and ranked based on date or alphabetically using either the title or the author name.</a:t>
            </a:r>
            <a:endParaRPr lang="en-US" dirty="0"/>
          </a:p>
          <a:p>
            <a:endParaRPr lang="en-US" dirty="0"/>
          </a:p>
        </p:txBody>
      </p:sp>
      <p:sp>
        <p:nvSpPr>
          <p:cNvPr id="4" name="Slide Number Placeholder 3"/>
          <p:cNvSpPr>
            <a:spLocks noGrp="1"/>
          </p:cNvSpPr>
          <p:nvPr>
            <p:ph type="sldNum" sz="quarter" idx="5"/>
          </p:nvPr>
        </p:nvSpPr>
        <p:spPr/>
        <p:txBody>
          <a:bodyPr/>
          <a:lstStyle/>
          <a:p>
            <a:fld id="{9AB392EB-F905-4DEB-994A-84942BE6E492}" type="slidenum">
              <a:rPr lang="en-US" smtClean="0"/>
              <a:t>6</a:t>
            </a:fld>
            <a:endParaRPr lang="en-US"/>
          </a:p>
        </p:txBody>
      </p:sp>
    </p:spTree>
    <p:extLst>
      <p:ext uri="{BB962C8B-B14F-4D97-AF65-F5344CB8AC3E}">
        <p14:creationId xmlns:p14="http://schemas.microsoft.com/office/powerpoint/2010/main" val="19381327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for our example query “covid-19” </a:t>
            </a:r>
            <a:r>
              <a:rPr lang="en-US" sz="1200" dirty="0">
                <a:effectLst/>
                <a:latin typeface="Linux Libertine" panose="02000503000000000000" pitchFamily="2" charset="0"/>
                <a:ea typeface="Calibri" panose="020F0502020204030204" pitchFamily="34" charset="0"/>
              </a:rPr>
              <a:t>the Automatic Term Mapping system (ATM) will expand the query as shown in the image. So instead of just finding articles that mention covid-19 also articles that include coronavirus, </a:t>
            </a:r>
            <a:r>
              <a:rPr lang="en-US" sz="1200" dirty="0" err="1">
                <a:effectLst/>
                <a:latin typeface="Linux Libertine" panose="02000503000000000000" pitchFamily="2" charset="0"/>
                <a:ea typeface="Calibri" panose="020F0502020204030204" pitchFamily="34" charset="0"/>
              </a:rPr>
              <a:t>sars</a:t>
            </a:r>
            <a:r>
              <a:rPr lang="en-US" sz="1200" dirty="0">
                <a:effectLst/>
                <a:latin typeface="Linux Libertine" panose="02000503000000000000" pitchFamily="2" charset="0"/>
                <a:ea typeface="Calibri" panose="020F0502020204030204" pitchFamily="34" charset="0"/>
              </a:rPr>
              <a:t> </a:t>
            </a:r>
            <a:r>
              <a:rPr lang="en-US" sz="1200" dirty="0" err="1">
                <a:effectLst/>
                <a:latin typeface="Linux Libertine" panose="02000503000000000000" pitchFamily="2" charset="0"/>
                <a:ea typeface="Calibri" panose="020F0502020204030204" pitchFamily="34" charset="0"/>
              </a:rPr>
              <a:t>cov</a:t>
            </a:r>
            <a:r>
              <a:rPr lang="en-US" sz="1200" dirty="0">
                <a:effectLst/>
                <a:latin typeface="Linux Libertine" panose="02000503000000000000" pitchFamily="2" charset="0"/>
                <a:ea typeface="Calibri" panose="020F0502020204030204" pitchFamily="34" charset="0"/>
              </a:rPr>
              <a:t> 2 in addition to other related concepts to covid-19 will be searched in all fields. </a:t>
            </a:r>
            <a:endParaRPr lang="en-US" dirty="0"/>
          </a:p>
        </p:txBody>
      </p:sp>
      <p:sp>
        <p:nvSpPr>
          <p:cNvPr id="4" name="Slide Number Placeholder 3"/>
          <p:cNvSpPr>
            <a:spLocks noGrp="1"/>
          </p:cNvSpPr>
          <p:nvPr>
            <p:ph type="sldNum" sz="quarter" idx="5"/>
          </p:nvPr>
        </p:nvSpPr>
        <p:spPr/>
        <p:txBody>
          <a:bodyPr/>
          <a:lstStyle/>
          <a:p>
            <a:fld id="{9AB392EB-F905-4DEB-994A-84942BE6E492}" type="slidenum">
              <a:rPr lang="en-US" smtClean="0"/>
              <a:t>7</a:t>
            </a:fld>
            <a:endParaRPr lang="en-US"/>
          </a:p>
        </p:txBody>
      </p:sp>
    </p:spTree>
    <p:extLst>
      <p:ext uri="{BB962C8B-B14F-4D97-AF65-F5344CB8AC3E}">
        <p14:creationId xmlns:p14="http://schemas.microsoft.com/office/powerpoint/2010/main" val="16844323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 mentioned before Best Match as the latest method so how does Best Match work. The Best Match algorithm consists of two stages: first retrieval by BM25 which is the default method in PubMed and a classic TF-IDF algorithm; Second the top 500 results are re-ranked by </a:t>
            </a:r>
            <a:r>
              <a:rPr lang="en-US" dirty="0" err="1"/>
              <a:t>LambdaMART</a:t>
            </a:r>
            <a:r>
              <a:rPr lang="en-US" dirty="0"/>
              <a:t>. </a:t>
            </a:r>
            <a:r>
              <a:rPr lang="en-US" dirty="0" err="1"/>
              <a:t>LamdaMART</a:t>
            </a:r>
            <a:r>
              <a:rPr lang="en-US" dirty="0"/>
              <a:t> is a machine learning technique that aims at converting the task of document ranking into a classification task. It achieves that by extracting a set of features for documents in the PubMed database not just from the metadata but also from the historical query logs in addition to including the TFIDF scores. The model is learned offline then combined with the TFIDF retrieved documents to </a:t>
            </a:r>
            <a:r>
              <a:rPr lang="en-US" dirty="0" err="1"/>
              <a:t>rerank</a:t>
            </a:r>
            <a:r>
              <a:rPr lang="en-US" dirty="0"/>
              <a:t> the documents and present the final ranked documents to the user.</a:t>
            </a:r>
          </a:p>
        </p:txBody>
      </p:sp>
      <p:sp>
        <p:nvSpPr>
          <p:cNvPr id="4" name="Slide Number Placeholder 3"/>
          <p:cNvSpPr>
            <a:spLocks noGrp="1"/>
          </p:cNvSpPr>
          <p:nvPr>
            <p:ph type="sldNum" sz="quarter" idx="5"/>
          </p:nvPr>
        </p:nvSpPr>
        <p:spPr/>
        <p:txBody>
          <a:bodyPr/>
          <a:lstStyle/>
          <a:p>
            <a:fld id="{9AB392EB-F905-4DEB-994A-84942BE6E492}" type="slidenum">
              <a:rPr lang="en-US" smtClean="0"/>
              <a:t>8</a:t>
            </a:fld>
            <a:endParaRPr lang="en-US"/>
          </a:p>
        </p:txBody>
      </p:sp>
    </p:spTree>
    <p:extLst>
      <p:ext uri="{BB962C8B-B14F-4D97-AF65-F5344CB8AC3E}">
        <p14:creationId xmlns:p14="http://schemas.microsoft.com/office/powerpoint/2010/main" val="26494445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Currently both methods in PubMed whether the legacy TFIDF or </a:t>
            </a:r>
            <a:r>
              <a:rPr lang="en-US" dirty="0" err="1"/>
              <a:t>BestMatch</a:t>
            </a:r>
            <a:r>
              <a:rPr lang="en-US" dirty="0"/>
              <a:t> are used widely. Yet those models are not context based. At the end of the day, they just search certain fields to find keywords. In addition, the new method </a:t>
            </a:r>
            <a:r>
              <a:rPr lang="en-US" dirty="0" err="1"/>
              <a:t>BestMatch</a:t>
            </a:r>
            <a:r>
              <a:rPr lang="en-US" dirty="0"/>
              <a:t> relies on training features extracted from query logs. Those query logs contain search logs of queries that are ambiguous. It also requires retraining and redeployment. Accordingly, the learned models can be ambiguous themselves. Even though those two algorithms might return highly relevant results just because the word covid -19 appeared in the metadata of the retrieved documents they might not rank them in a way that is objectively relevant. Those disadvantages highlight the need for a retrieval and ranking model that takes context and semantics into account in addition to the ability or the potential to infer the relevance of new documents without the need for retraining. </a:t>
            </a:r>
          </a:p>
        </p:txBody>
      </p:sp>
      <p:sp>
        <p:nvSpPr>
          <p:cNvPr id="4" name="Slide Number Placeholder 3"/>
          <p:cNvSpPr>
            <a:spLocks noGrp="1"/>
          </p:cNvSpPr>
          <p:nvPr>
            <p:ph type="sldNum" sz="quarter" idx="5"/>
          </p:nvPr>
        </p:nvSpPr>
        <p:spPr/>
        <p:txBody>
          <a:bodyPr/>
          <a:lstStyle/>
          <a:p>
            <a:fld id="{9AB392EB-F905-4DEB-994A-84942BE6E492}" type="slidenum">
              <a:rPr lang="en-US" smtClean="0"/>
              <a:t>9</a:t>
            </a:fld>
            <a:endParaRPr lang="en-US"/>
          </a:p>
        </p:txBody>
      </p:sp>
    </p:spTree>
    <p:extLst>
      <p:ext uri="{BB962C8B-B14F-4D97-AF65-F5344CB8AC3E}">
        <p14:creationId xmlns:p14="http://schemas.microsoft.com/office/powerpoint/2010/main" val="39545848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Before I get into the next step which is the proposed model. I would like just to give a brief introduction to graphs and networks. So a graph as shown in the figure is made up of nodes or vertices and edges or links between those nodes and vertices. Those edges sometimes have weights and sometimes have labels. The graph like the one shown here can be represented using an edge list of tuples where each tuple pair is a source node label and a target node label. Graphs can also be represented using an adjacency matrix or a degree matrix. The use of those representations depends on the algorithm used and the application. </a:t>
            </a:r>
          </a:p>
          <a:p>
            <a:endParaRPr lang="en-US" dirty="0"/>
          </a:p>
        </p:txBody>
      </p:sp>
      <p:sp>
        <p:nvSpPr>
          <p:cNvPr id="4" name="Slide Number Placeholder 3"/>
          <p:cNvSpPr>
            <a:spLocks noGrp="1"/>
          </p:cNvSpPr>
          <p:nvPr>
            <p:ph type="sldNum" sz="quarter" idx="5"/>
          </p:nvPr>
        </p:nvSpPr>
        <p:spPr/>
        <p:txBody>
          <a:bodyPr/>
          <a:lstStyle/>
          <a:p>
            <a:fld id="{9AB392EB-F905-4DEB-994A-84942BE6E492}" type="slidenum">
              <a:rPr lang="en-US" smtClean="0"/>
              <a:t>10</a:t>
            </a:fld>
            <a:endParaRPr lang="en-US"/>
          </a:p>
        </p:txBody>
      </p:sp>
    </p:spTree>
    <p:extLst>
      <p:ext uri="{BB962C8B-B14F-4D97-AF65-F5344CB8AC3E}">
        <p14:creationId xmlns:p14="http://schemas.microsoft.com/office/powerpoint/2010/main" val="23491287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200000"/>
              </a:lnSpc>
              <a:spcBef>
                <a:spcPts val="0"/>
              </a:spcBef>
              <a:spcAft>
                <a:spcPts val="800"/>
              </a:spcAft>
            </a:pPr>
            <a:r>
              <a:rPr lang="en-US" sz="1800" dirty="0">
                <a:effectLst/>
                <a:latin typeface="Linux Libertine" panose="02000503000000000000" pitchFamily="2" charset="0"/>
                <a:ea typeface="Calibri" panose="020F0502020204030204" pitchFamily="34" charset="0"/>
                <a:cs typeface="Times New Roman" panose="02020603050405020304" pitchFamily="18" charset="0"/>
              </a:rPr>
              <a:t>The term “Knowledge Graph” has emerged to describe a new Google search technology in 2012. The term has expanded to describe any form of a knowledge base represented using a graph structure. Knowledge graphs are data models used to represent structured and unstructured knowledge in the form of triples &lt;Mount Fuji, </a:t>
            </a:r>
            <a:r>
              <a:rPr lang="en-US" sz="1800" dirty="0" err="1">
                <a:effectLst/>
                <a:latin typeface="Linux Libertine" panose="02000503000000000000" pitchFamily="2" charset="0"/>
                <a:ea typeface="Calibri" panose="020F0502020204030204" pitchFamily="34" charset="0"/>
                <a:cs typeface="Times New Roman" panose="02020603050405020304" pitchFamily="18" charset="0"/>
              </a:rPr>
              <a:t>isLocatedIn</a:t>
            </a:r>
            <a:r>
              <a:rPr lang="en-US" sz="1800" dirty="0">
                <a:effectLst/>
                <a:latin typeface="Linux Libertine" panose="02000503000000000000" pitchFamily="2" charset="0"/>
                <a:ea typeface="Calibri" panose="020F0502020204030204" pitchFamily="34" charset="0"/>
                <a:cs typeface="Times New Roman" panose="02020603050405020304" pitchFamily="18" charset="0"/>
              </a:rPr>
              <a:t>, Japan&gt;. The triples represent a semantic relationship between two objects following language semantics written in first-order logic such as &lt;subject, verb, object&gt;. So, a knowledge graph represents interrelated and semantically connected descriptions of real-world entities and relationships. The definitions of a knowledge graph vary widely.</a:t>
            </a:r>
          </a:p>
          <a:p>
            <a:pPr marL="0" marR="0">
              <a:lnSpc>
                <a:spcPct val="200000"/>
              </a:lnSpc>
              <a:spcBef>
                <a:spcPts val="0"/>
              </a:spcBef>
              <a:spcAft>
                <a:spcPts val="80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285750" marR="0" indent="-285750">
              <a:lnSpc>
                <a:spcPct val="200000"/>
              </a:lnSpc>
              <a:spcBef>
                <a:spcPts val="0"/>
              </a:spcBef>
              <a:spcAft>
                <a:spcPts val="800"/>
              </a:spcAft>
              <a:buFontTx/>
              <a:buChar char="-"/>
            </a:pPr>
            <a:r>
              <a:rPr lang="en-US" sz="1800" dirty="0">
                <a:effectLst/>
                <a:latin typeface="Linux Libertine" panose="02000503000000000000" pitchFamily="2" charset="0"/>
                <a:ea typeface="Calibri" panose="020F0502020204030204" pitchFamily="34" charset="0"/>
                <a:cs typeface="Times New Roman" panose="02020603050405020304" pitchFamily="18" charset="0"/>
              </a:rPr>
              <a:t>They describe real-world phenomena in the form of entities and relationships.</a:t>
            </a:r>
          </a:p>
          <a:p>
            <a:pPr marL="285750" marR="0" indent="-285750">
              <a:lnSpc>
                <a:spcPct val="200000"/>
              </a:lnSpc>
              <a:spcBef>
                <a:spcPts val="0"/>
              </a:spcBef>
              <a:spcAft>
                <a:spcPts val="800"/>
              </a:spcAft>
              <a:buFontTx/>
              <a:buChar char="-"/>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285750" marR="0" indent="-285750">
              <a:lnSpc>
                <a:spcPct val="200000"/>
              </a:lnSpc>
              <a:spcBef>
                <a:spcPts val="0"/>
              </a:spcBef>
              <a:spcAft>
                <a:spcPts val="800"/>
              </a:spcAft>
              <a:buFontTx/>
              <a:buChar char="-"/>
            </a:pPr>
            <a:r>
              <a:rPr lang="en-US" sz="1800" dirty="0">
                <a:effectLst/>
                <a:latin typeface="Linux Libertine" panose="02000503000000000000" pitchFamily="2" charset="0"/>
                <a:ea typeface="Calibri" panose="020F0502020204030204" pitchFamily="34" charset="0"/>
                <a:cs typeface="Times New Roman" panose="02020603050405020304" pitchFamily="18" charset="0"/>
              </a:rPr>
              <a:t>The entities and relationships are represented in a graph structure using vertices and edges.</a:t>
            </a:r>
          </a:p>
          <a:p>
            <a:pPr marL="285750" marR="0" indent="-285750">
              <a:lnSpc>
                <a:spcPct val="200000"/>
              </a:lnSpc>
              <a:spcBef>
                <a:spcPts val="0"/>
              </a:spcBef>
              <a:spcAft>
                <a:spcPts val="800"/>
              </a:spcAft>
              <a:buFontTx/>
              <a:buChar char="-"/>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285750" marR="0" indent="-285750">
              <a:lnSpc>
                <a:spcPct val="200000"/>
              </a:lnSpc>
              <a:spcBef>
                <a:spcPts val="0"/>
              </a:spcBef>
              <a:spcAft>
                <a:spcPts val="800"/>
              </a:spcAft>
              <a:buFontTx/>
              <a:buChar char="-"/>
            </a:pPr>
            <a:r>
              <a:rPr lang="en-US" sz="1800" dirty="0">
                <a:effectLst/>
                <a:latin typeface="Linux Libertine" panose="02000503000000000000" pitchFamily="2" charset="0"/>
                <a:ea typeface="Calibri" panose="020F0502020204030204" pitchFamily="34" charset="0"/>
                <a:cs typeface="Times New Roman" panose="02020603050405020304" pitchFamily="18" charset="0"/>
              </a:rPr>
              <a:t>The graph structure containing the knowledge graph can be described mathematically and represented computationally using graph theory norms.</a:t>
            </a:r>
          </a:p>
          <a:p>
            <a:pPr marL="0" marR="0" indent="0">
              <a:lnSpc>
                <a:spcPct val="200000"/>
              </a:lnSpc>
              <a:spcBef>
                <a:spcPts val="0"/>
              </a:spcBef>
              <a:spcAft>
                <a:spcPts val="800"/>
              </a:spcAft>
              <a:buFontTx/>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285750" marR="0" indent="-285750">
              <a:lnSpc>
                <a:spcPct val="200000"/>
              </a:lnSpc>
              <a:spcBef>
                <a:spcPts val="0"/>
              </a:spcBef>
              <a:spcAft>
                <a:spcPts val="800"/>
              </a:spcAft>
              <a:buFontTx/>
              <a:buChar char="-"/>
            </a:pPr>
            <a:r>
              <a:rPr lang="en-US" sz="1800" dirty="0">
                <a:effectLst/>
                <a:latin typeface="Linux Libertine" panose="02000503000000000000" pitchFamily="2" charset="0"/>
                <a:ea typeface="Calibri" panose="020F0502020204030204" pitchFamily="34" charset="0"/>
                <a:cs typeface="Times New Roman" panose="02020603050405020304" pitchFamily="18" charset="0"/>
              </a:rPr>
              <a:t>The entities’ metadata and relationships do not necessarily adhere to a schema or an ontology.</a:t>
            </a:r>
          </a:p>
          <a:p>
            <a:pPr marL="285750" marR="0" indent="-285750">
              <a:lnSpc>
                <a:spcPct val="200000"/>
              </a:lnSpc>
              <a:spcBef>
                <a:spcPts val="0"/>
              </a:spcBef>
              <a:spcAft>
                <a:spcPts val="800"/>
              </a:spcAft>
              <a:buFontTx/>
              <a:buChar char="-"/>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285750" marR="0" indent="-285750">
              <a:lnSpc>
                <a:spcPct val="200000"/>
              </a:lnSpc>
              <a:spcBef>
                <a:spcPts val="0"/>
              </a:spcBef>
              <a:spcAft>
                <a:spcPts val="800"/>
              </a:spcAft>
              <a:buFontTx/>
              <a:buChar char="-"/>
            </a:pPr>
            <a:r>
              <a:rPr lang="en-US" sz="1800" dirty="0">
                <a:effectLst/>
                <a:latin typeface="Linux Libertine" panose="02000503000000000000" pitchFamily="2" charset="0"/>
                <a:ea typeface="Calibri" panose="020F0502020204030204" pitchFamily="34" charset="0"/>
                <a:cs typeface="Times New Roman" panose="02020603050405020304" pitchFamily="18" charset="0"/>
              </a:rPr>
              <a:t>Entities of different types could be linked with multiple edges.</a:t>
            </a:r>
          </a:p>
          <a:p>
            <a:pPr marL="285750" marR="0" indent="-285750">
              <a:lnSpc>
                <a:spcPct val="200000"/>
              </a:lnSpc>
              <a:spcBef>
                <a:spcPts val="0"/>
              </a:spcBef>
              <a:spcAft>
                <a:spcPts val="800"/>
              </a:spcAft>
              <a:buFontTx/>
              <a:buChar char="-"/>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285750" marR="0" indent="-285750">
              <a:lnSpc>
                <a:spcPct val="200000"/>
              </a:lnSpc>
              <a:spcBef>
                <a:spcPts val="0"/>
              </a:spcBef>
              <a:spcAft>
                <a:spcPts val="800"/>
              </a:spcAft>
              <a:buFontTx/>
              <a:buChar char="-"/>
            </a:pPr>
            <a:r>
              <a:rPr lang="en-US" sz="1800" dirty="0">
                <a:effectLst/>
                <a:latin typeface="Linux Libertine" panose="02000503000000000000" pitchFamily="2" charset="0"/>
                <a:ea typeface="Calibri" panose="020F0502020204030204" pitchFamily="34" charset="0"/>
                <a:cs typeface="Times New Roman" panose="02020603050405020304" pitchFamily="18" charset="0"/>
              </a:rPr>
              <a:t>It could cover multiple domains of knowledge.</a:t>
            </a:r>
          </a:p>
          <a:p>
            <a:pPr marL="285750" marR="0" indent="-285750">
              <a:lnSpc>
                <a:spcPct val="200000"/>
              </a:lnSpc>
              <a:spcBef>
                <a:spcPts val="0"/>
              </a:spcBef>
              <a:spcAft>
                <a:spcPts val="800"/>
              </a:spcAft>
              <a:buFontTx/>
              <a:buChar char="-"/>
            </a:pPr>
            <a:endParaRPr lang="en-US" sz="1800" dirty="0">
              <a:effectLst/>
              <a:latin typeface="Linux Libertine" panose="02000503000000000000" pitchFamily="2" charset="0"/>
              <a:ea typeface="Calibri" panose="020F0502020204030204" pitchFamily="34" charset="0"/>
              <a:cs typeface="Times New Roman" panose="02020603050405020304" pitchFamily="18" charset="0"/>
            </a:endParaRPr>
          </a:p>
          <a:p>
            <a:pPr marL="0" marR="0" indent="0">
              <a:lnSpc>
                <a:spcPct val="200000"/>
              </a:lnSpc>
              <a:spcBef>
                <a:spcPts val="0"/>
              </a:spcBef>
              <a:spcAft>
                <a:spcPts val="800"/>
              </a:spcAft>
              <a:buFontTx/>
              <a:buNone/>
            </a:pPr>
            <a:r>
              <a:rPr lang="en-US" sz="1800" dirty="0">
                <a:effectLst/>
                <a:latin typeface="Linux Libertine" panose="02000503000000000000" pitchFamily="2" charset="0"/>
                <a:ea typeface="Calibri" panose="020F0502020204030204" pitchFamily="34" charset="0"/>
                <a:cs typeface="Times New Roman" panose="02020603050405020304" pitchFamily="18" charset="0"/>
              </a:rPr>
              <a:t>So as you can see here …</a:t>
            </a:r>
          </a:p>
          <a:p>
            <a:pPr marL="285750" marR="0" indent="-285750">
              <a:lnSpc>
                <a:spcPct val="200000"/>
              </a:lnSpc>
              <a:spcBef>
                <a:spcPts val="0"/>
              </a:spcBef>
              <a:spcAft>
                <a:spcPts val="800"/>
              </a:spcAft>
              <a:buFontTx/>
              <a:buChar char="-"/>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457200">
              <a:lnSpc>
                <a:spcPct val="200000"/>
              </a:lnSpc>
              <a:spcBef>
                <a:spcPts val="0"/>
              </a:spcBef>
              <a:spcAft>
                <a:spcPts val="800"/>
              </a:spcAft>
            </a:pPr>
            <a:r>
              <a:rPr lang="en-US" sz="1800" dirty="0">
                <a:effectLst/>
                <a:latin typeface="Linux Libertine" panose="02000503000000000000" pitchFamily="2" charset="0"/>
                <a:ea typeface="Calibri" panose="020F0502020204030204" pitchFamily="34" charset="0"/>
                <a:cs typeface="Times New Roman" panose="02020603050405020304" pitchFamily="18" charset="0"/>
              </a:rPr>
              <a:t>Knowledge graph construction can vary from manual to automatic curation by extracting entities and relations from unstructured text. Knowledge graphs can be represented using the property graph model. Knowledge graphs can also be represented using the Resources Descriptors Framework, defined by the WWW consortium. A relationship is defined between two connected entities or nodes, such as our previous example in this example. </a:t>
            </a:r>
          </a:p>
          <a:p>
            <a:pPr marL="0" marR="0" indent="457200">
              <a:lnSpc>
                <a:spcPct val="200000"/>
              </a:lnSpc>
              <a:spcBef>
                <a:spcPts val="0"/>
              </a:spcBef>
              <a:spcAft>
                <a:spcPts val="800"/>
              </a:spcAft>
            </a:pPr>
            <a:endParaRPr lang="en-US" sz="1800" dirty="0">
              <a:effectLst/>
              <a:latin typeface="Linux Libertine" panose="02000503000000000000" pitchFamily="2" charset="0"/>
              <a:ea typeface="Calibri" panose="020F0502020204030204" pitchFamily="34" charset="0"/>
              <a:cs typeface="Times New Roman" panose="02020603050405020304" pitchFamily="18" charset="0"/>
            </a:endParaRPr>
          </a:p>
          <a:p>
            <a:pPr marL="0" marR="0" indent="457200">
              <a:lnSpc>
                <a:spcPct val="200000"/>
              </a:lnSpc>
              <a:spcBef>
                <a:spcPts val="0"/>
              </a:spcBef>
              <a:spcAft>
                <a:spcPts val="800"/>
              </a:spcAft>
            </a:pPr>
            <a:r>
              <a:rPr lang="en-US" sz="1800" dirty="0">
                <a:effectLst/>
                <a:latin typeface="Linux Libertine" panose="02000503000000000000" pitchFamily="2" charset="0"/>
                <a:ea typeface="Calibri" panose="020F0502020204030204" pitchFamily="34" charset="0"/>
                <a:cs typeface="Times New Roman" panose="02020603050405020304" pitchFamily="18" charset="0"/>
              </a:rPr>
              <a:t>Knowledge graphs can be constructed and curated under two assumptions: the open-world assumption or the closed world assumption (Cai et al., 2018). In the open-world assumption, information outside the knowledge graph is assumed to be unknown, and the knowledge graph itself is considered incomplete, such as </a:t>
            </a:r>
            <a:r>
              <a:rPr lang="en-US" sz="1800" dirty="0" err="1">
                <a:effectLst/>
                <a:latin typeface="Linux Libertine" panose="02000503000000000000" pitchFamily="2" charset="0"/>
                <a:ea typeface="Calibri" panose="020F0502020204030204" pitchFamily="34" charset="0"/>
                <a:cs typeface="Times New Roman" panose="02020603050405020304" pitchFamily="18" charset="0"/>
              </a:rPr>
              <a:t>DBpedia</a:t>
            </a:r>
            <a:r>
              <a:rPr lang="en-US" sz="1800" dirty="0">
                <a:effectLst/>
                <a:latin typeface="Linux Libertine" panose="02000503000000000000" pitchFamily="2" charset="0"/>
                <a:ea typeface="Calibri" panose="020F0502020204030204" pitchFamily="34" charset="0"/>
                <a:cs typeface="Times New Roman" panose="02020603050405020304" pitchFamily="18" charset="0"/>
              </a:rPr>
              <a:t> (</a:t>
            </a:r>
            <a:r>
              <a:rPr lang="en-US" sz="1800" dirty="0" err="1">
                <a:effectLst/>
                <a:latin typeface="Linux Libertine" panose="02000503000000000000" pitchFamily="2" charset="0"/>
                <a:ea typeface="Calibri" panose="020F0502020204030204" pitchFamily="34" charset="0"/>
                <a:cs typeface="Times New Roman" panose="02020603050405020304" pitchFamily="18" charset="0"/>
              </a:rPr>
              <a:t>Bizer</a:t>
            </a:r>
            <a:r>
              <a:rPr lang="en-US" sz="1800" dirty="0">
                <a:effectLst/>
                <a:latin typeface="Linux Libertine" panose="02000503000000000000" pitchFamily="2" charset="0"/>
                <a:ea typeface="Calibri" panose="020F0502020204030204" pitchFamily="34" charset="0"/>
                <a:cs typeface="Times New Roman" panose="02020603050405020304" pitchFamily="18" charset="0"/>
              </a:rPr>
              <a:t> et al., 2009). In a closed world assumption, information outside the knowledge graph is false. The data model in the closed-world assumption can be defined in a schema or ontology described using the RDFS language or the Resource Descriptor Framework Schema (</a:t>
            </a:r>
            <a:r>
              <a:rPr lang="en-US" sz="1800" dirty="0" err="1">
                <a:effectLst/>
                <a:latin typeface="Linux Libertine" panose="02000503000000000000" pitchFamily="2" charset="0"/>
                <a:ea typeface="Calibri" panose="020F0502020204030204" pitchFamily="34" charset="0"/>
                <a:cs typeface="Times New Roman" panose="02020603050405020304" pitchFamily="18" charset="0"/>
              </a:rPr>
              <a:t>Lassila</a:t>
            </a:r>
            <a:r>
              <a:rPr lang="en-US" sz="1800" dirty="0">
                <a:effectLst/>
                <a:latin typeface="Linux Libertine" panose="02000503000000000000" pitchFamily="2" charset="0"/>
                <a:ea typeface="Calibri" panose="020F0502020204030204" pitchFamily="34" charset="0"/>
                <a:cs typeface="Times New Roman" panose="02020603050405020304" pitchFamily="18" charset="0"/>
              </a:rPr>
              <a:t> et al., 1998). A schema is a concept map or ontology describing entities in the knowledge graph and their relationships.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800" dirty="0">
                <a:effectLst/>
                <a:latin typeface="Linux Libertine" panose="02000503000000000000" pitchFamily="2" charset="0"/>
                <a:ea typeface="Calibri" panose="020F0502020204030204" pitchFamily="34" charset="0"/>
              </a:rPr>
              <a:t>Like relational databases, knowledge graphs are graph databases queried using query languages (Hogan et al., 2020). SPARQL (Harris, n.d.) and Cypher (</a:t>
            </a:r>
            <a:r>
              <a:rPr lang="en-US" sz="1800" i="1" dirty="0">
                <a:effectLst/>
                <a:latin typeface="Linux Libertine" panose="02000503000000000000" pitchFamily="2" charset="0"/>
                <a:ea typeface="Calibri" panose="020F0502020204030204" pitchFamily="34" charset="0"/>
              </a:rPr>
              <a:t>Cypher Query Language</a:t>
            </a:r>
            <a:r>
              <a:rPr lang="en-US" sz="1800" dirty="0">
                <a:effectLst/>
                <a:latin typeface="Linux Libertine" panose="02000503000000000000" pitchFamily="2" charset="0"/>
                <a:ea typeface="Calibri" panose="020F0502020204030204" pitchFamily="34" charset="0"/>
              </a:rPr>
              <a:t>, n.d.) are two popular graph query languages like the Structured Query Language (SQL). SPARQL was developed as part of the semantic web technology stack to query RDF triple stores and KGs, while Cypher is a property graph query language (Hogan et al., 2020). However, due to the unconventional structure of the graph model and the fact that knowledge graphs can be multigraphs with attributes and edges that could be weighted or labeled, graph query languages are difficult and impractical for the complex analysis of knowledge graphs. Those limitations have led to the emergence of knowledge graph mining methods and algorithms especially embedding models borrowing from graph theory, complex networks, machine learning, and deep learning to adapt approaches developed in those fields to mine knowledge graphs more flexibly and extract deeper insights (S. Wang et al., 2017).</a:t>
            </a:r>
            <a:endParaRPr lang="en-US" dirty="0"/>
          </a:p>
        </p:txBody>
      </p:sp>
      <p:sp>
        <p:nvSpPr>
          <p:cNvPr id="4" name="Slide Number Placeholder 3"/>
          <p:cNvSpPr>
            <a:spLocks noGrp="1"/>
          </p:cNvSpPr>
          <p:nvPr>
            <p:ph type="sldNum" sz="quarter" idx="5"/>
          </p:nvPr>
        </p:nvSpPr>
        <p:spPr/>
        <p:txBody>
          <a:bodyPr/>
          <a:lstStyle/>
          <a:p>
            <a:fld id="{9AB392EB-F905-4DEB-994A-84942BE6E492}" type="slidenum">
              <a:rPr lang="en-US" smtClean="0"/>
              <a:t>11</a:t>
            </a:fld>
            <a:endParaRPr lang="en-US"/>
          </a:p>
        </p:txBody>
      </p:sp>
    </p:spTree>
    <p:extLst>
      <p:ext uri="{BB962C8B-B14F-4D97-AF65-F5344CB8AC3E}">
        <p14:creationId xmlns:p14="http://schemas.microsoft.com/office/powerpoint/2010/main" val="42230468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200000"/>
              </a:lnSpc>
              <a:spcBef>
                <a:spcPts val="0"/>
              </a:spcBef>
              <a:spcAft>
                <a:spcPts val="800"/>
              </a:spcAft>
            </a:pPr>
            <a:r>
              <a:rPr lang="en-US" sz="1800" dirty="0">
                <a:effectLst/>
                <a:latin typeface="Linux Libertine" panose="02000503000000000000" pitchFamily="2" charset="0"/>
                <a:ea typeface="Calibri" panose="020F0502020204030204" pitchFamily="34" charset="0"/>
                <a:cs typeface="Times New Roman" panose="02020603050405020304" pitchFamily="18" charset="0"/>
              </a:rPr>
              <a:t>Another concept is knowledge graph embedding which they are machine learning models that aim at automatically extracting latent feature vectors from graph data without relying on stochastic and heuristic metrics and measures. All representation learning algorithms on graphs ultimately produce node embedding vectors in low-dimensional Euclidean space. The minimal constraint on the learned representations is that they preserve the graph’s structure in the Euclidean vector space. That is they are not random, they encode the structure of the graph. The node embedding vectors learned can be passed to downstream machine learning models for classification, regression, or clustering. For example, cosine distance could be applied to the learned vectors to rank the nodes compared to a query node. </a:t>
            </a:r>
          </a:p>
          <a:p>
            <a:pPr marL="0" marR="0">
              <a:lnSpc>
                <a:spcPct val="200000"/>
              </a:lnSpc>
              <a:spcBef>
                <a:spcPts val="0"/>
              </a:spcBef>
              <a:spcAft>
                <a:spcPts val="800"/>
              </a:spcAft>
            </a:pPr>
            <a:endParaRPr lang="en-US" sz="1800" dirty="0">
              <a:effectLst/>
              <a:latin typeface="Linux Libertine" panose="02000503000000000000" pitchFamily="2" charset="0"/>
              <a:ea typeface="Calibri" panose="020F0502020204030204" pitchFamily="34" charset="0"/>
              <a:cs typeface="Times New Roman" panose="02020603050405020304" pitchFamily="18" charset="0"/>
            </a:endParaRPr>
          </a:p>
          <a:p>
            <a:pPr marL="0" marR="0">
              <a:lnSpc>
                <a:spcPct val="200000"/>
              </a:lnSpc>
              <a:spcBef>
                <a:spcPts val="0"/>
              </a:spcBef>
              <a:spcAft>
                <a:spcPts val="800"/>
              </a:spcAft>
            </a:pPr>
            <a:r>
              <a:rPr lang="en-US" sz="1800" dirty="0">
                <a:effectLst/>
                <a:latin typeface="Linux Libertine" panose="02000503000000000000" pitchFamily="2" charset="0"/>
                <a:ea typeface="Calibri" panose="020F0502020204030204" pitchFamily="34" charset="0"/>
                <a:cs typeface="Times New Roman" panose="02020603050405020304" pitchFamily="18" charset="0"/>
              </a:rPr>
              <a:t>One class of graph embedding algorithms is called </a:t>
            </a:r>
            <a:r>
              <a:rPr lang="en-US" sz="1800" dirty="0">
                <a:effectLst/>
                <a:latin typeface="Linux Libertine" panose="02000503000000000000" pitchFamily="2" charset="0"/>
                <a:ea typeface="Calibri" panose="020F0502020204030204" pitchFamily="34" charset="0"/>
              </a:rPr>
              <a:t>the Skip-gram model described as an unsupervised language model aiming at learning discrete vectors of unique words given a corpus of text. The Skip-gram model has been adapted to learn vectors for individual nodes on a corpus of sampled nodes from the graph in unsupervised network and graph embedding algorithms. </a:t>
            </a:r>
            <a:endParaRPr lang="en-US" dirty="0"/>
          </a:p>
        </p:txBody>
      </p:sp>
      <p:sp>
        <p:nvSpPr>
          <p:cNvPr id="4" name="Slide Number Placeholder 3"/>
          <p:cNvSpPr>
            <a:spLocks noGrp="1"/>
          </p:cNvSpPr>
          <p:nvPr>
            <p:ph type="sldNum" sz="quarter" idx="5"/>
          </p:nvPr>
        </p:nvSpPr>
        <p:spPr/>
        <p:txBody>
          <a:bodyPr/>
          <a:lstStyle/>
          <a:p>
            <a:fld id="{9AB392EB-F905-4DEB-994A-84942BE6E492}" type="slidenum">
              <a:rPr lang="en-US" smtClean="0"/>
              <a:t>12</a:t>
            </a:fld>
            <a:endParaRPr lang="en-US"/>
          </a:p>
        </p:txBody>
      </p:sp>
    </p:spTree>
    <p:extLst>
      <p:ext uri="{BB962C8B-B14F-4D97-AF65-F5344CB8AC3E}">
        <p14:creationId xmlns:p14="http://schemas.microsoft.com/office/powerpoint/2010/main" val="23396986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200000"/>
              </a:lnSpc>
              <a:spcBef>
                <a:spcPts val="0"/>
              </a:spcBef>
              <a:spcAft>
                <a:spcPts val="800"/>
              </a:spcAft>
            </a:pPr>
            <a:r>
              <a:rPr lang="en-US" sz="1800" dirty="0">
                <a:effectLst/>
                <a:latin typeface="Linux Libertine" panose="02000503000000000000" pitchFamily="2" charset="0"/>
                <a:ea typeface="Calibri" panose="020F0502020204030204" pitchFamily="34" charset="0"/>
                <a:cs typeface="Times New Roman" panose="02020603050405020304" pitchFamily="18" charset="0"/>
              </a:rPr>
              <a:t>Knowledge graphs have been adapted to aid search engines and recommender systems. They are highly efficient in those applications due to their flexibility in modeling the data. For example (</a:t>
            </a:r>
            <a:r>
              <a:rPr lang="en-US" sz="1800" dirty="0" err="1">
                <a:effectLst/>
                <a:latin typeface="Linux Libertine" panose="02000503000000000000" pitchFamily="2" charset="0"/>
                <a:ea typeface="Calibri" panose="020F0502020204030204" pitchFamily="34" charset="0"/>
                <a:cs typeface="Times New Roman" panose="02020603050405020304" pitchFamily="18" charset="0"/>
              </a:rPr>
              <a:t>Xiong</a:t>
            </a:r>
            <a:r>
              <a:rPr lang="en-US" sz="1800" dirty="0">
                <a:effectLst/>
                <a:latin typeface="Linux Libertine" panose="02000503000000000000" pitchFamily="2" charset="0"/>
                <a:ea typeface="Calibri" panose="020F0502020204030204" pitchFamily="34" charset="0"/>
                <a:cs typeface="Times New Roman" panose="02020603050405020304" pitchFamily="18" charset="0"/>
              </a:rPr>
              <a:t> et al., 2017), the authors introduced explicit semantic ranking harnessing the power of knowledge graph embedding. The algorithm uses graph representation learning on the metadata of articles in the online search engine named Semantic Scholar (Fricke, 2018). They use a knowledge graph embedding model to represent queries and documents as vectors in the same vector space. This work is the closest to the work we present here. The authors provided strong evidence that using knowledge graph embedding in searching academic literature improves the relevance of the returned documents drastically due to the reliance on semantics and entity matching in the process. While in (Q. Wang et al., 2017), the authors demonstrated the usefulness of knowledge graphs and semantic modeling in search engines when retrieving web pages. They used a relation extraction algorithm to construct a knowledge graph. Though they have not used graph embedding, they devised a semantic matching approach based on support vector machines.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800" dirty="0">
                <a:effectLst/>
                <a:latin typeface="Linux Libertine" panose="02000503000000000000" pitchFamily="2" charset="0"/>
                <a:ea typeface="Calibri" panose="020F0502020204030204" pitchFamily="34" charset="0"/>
              </a:rPr>
              <a:t>While in (J. Z. Wang et al., 2014), the authors used an efficient graph-based search engine on par with PubMed. Their approach tackled the problem of returning relevant documents from three angles. They first built a parallel document indexer. Second, they modeled each article’s metadata, such as </a:t>
            </a:r>
            <a:r>
              <a:rPr lang="en-US" sz="1800" dirty="0" err="1">
                <a:effectLst/>
                <a:latin typeface="Linux Libertine" panose="02000503000000000000" pitchFamily="2" charset="0"/>
                <a:ea typeface="Calibri" panose="020F0502020204030204" pitchFamily="34" charset="0"/>
              </a:rPr>
              <a:t>MeSH</a:t>
            </a:r>
            <a:r>
              <a:rPr lang="en-US" sz="1800" dirty="0">
                <a:effectLst/>
                <a:latin typeface="Linux Libertine" panose="02000503000000000000" pitchFamily="2" charset="0"/>
                <a:ea typeface="Calibri" panose="020F0502020204030204" pitchFamily="34" charset="0"/>
              </a:rPr>
              <a:t> terms and keywords, as a graph and applied a personalized PageRank (Lofgren et al., 2016) to rank the concepts in the built graph, followed by TF-IDF (Pita et al., 2018) to rank the documents relative to a query. Third, they included the user’s search behavior as a factor in relevance similar to </a:t>
            </a:r>
            <a:r>
              <a:rPr lang="en-US" sz="1800" dirty="0" err="1">
                <a:effectLst/>
                <a:latin typeface="Linux Libertine" panose="02000503000000000000" pitchFamily="2" charset="0"/>
                <a:ea typeface="Calibri" panose="020F0502020204030204" pitchFamily="34" charset="0"/>
              </a:rPr>
              <a:t>BestMatch</a:t>
            </a:r>
            <a:r>
              <a:rPr lang="en-US" sz="1800" dirty="0">
                <a:effectLst/>
                <a:latin typeface="Linux Libertine" panose="02000503000000000000" pitchFamily="2" charset="0"/>
                <a:ea typeface="Calibri" panose="020F0502020204030204" pitchFamily="34" charset="0"/>
              </a:rPr>
              <a:t> (</a:t>
            </a:r>
            <a:r>
              <a:rPr lang="en-US" sz="1800" dirty="0" err="1">
                <a:effectLst/>
                <a:latin typeface="Linux Libertine" panose="02000503000000000000" pitchFamily="2" charset="0"/>
                <a:ea typeface="Calibri" panose="020F0502020204030204" pitchFamily="34" charset="0"/>
              </a:rPr>
              <a:t>Fiorini</a:t>
            </a:r>
            <a:r>
              <a:rPr lang="en-US" sz="1800" dirty="0">
                <a:effectLst/>
                <a:latin typeface="Linux Libertine" panose="02000503000000000000" pitchFamily="2" charset="0"/>
                <a:ea typeface="Calibri" panose="020F0502020204030204" pitchFamily="34" charset="0"/>
              </a:rPr>
              <a:t> et al., 2018). Despite its efficiency compared to PubMed, the algorithm requires user input and is not fully unsupervised. </a:t>
            </a:r>
          </a:p>
          <a:p>
            <a:r>
              <a:rPr lang="en-US" sz="1800" dirty="0">
                <a:effectLst/>
                <a:latin typeface="Linux Libertine" panose="02000503000000000000" pitchFamily="2" charset="0"/>
              </a:rPr>
              <a:t>In Xi et al., 2020 the authors introduced a metho to extract a knowledge graph from PubMed metadata automatically using a language model named </a:t>
            </a:r>
            <a:r>
              <a:rPr lang="en-US" sz="1800" dirty="0" err="1">
                <a:effectLst/>
                <a:latin typeface="Linux Libertine" panose="02000503000000000000" pitchFamily="2" charset="0"/>
              </a:rPr>
              <a:t>BioBERT</a:t>
            </a:r>
            <a:r>
              <a:rPr lang="en-US" sz="1800" dirty="0">
                <a:effectLst/>
                <a:latin typeface="Linux Libertine" panose="02000503000000000000" pitchFamily="2" charset="0"/>
              </a:rPr>
              <a:t>.</a:t>
            </a:r>
            <a:endParaRPr lang="en-US" dirty="0"/>
          </a:p>
        </p:txBody>
      </p:sp>
      <p:sp>
        <p:nvSpPr>
          <p:cNvPr id="4" name="Slide Number Placeholder 3"/>
          <p:cNvSpPr>
            <a:spLocks noGrp="1"/>
          </p:cNvSpPr>
          <p:nvPr>
            <p:ph type="sldNum" sz="quarter" idx="5"/>
          </p:nvPr>
        </p:nvSpPr>
        <p:spPr/>
        <p:txBody>
          <a:bodyPr/>
          <a:lstStyle/>
          <a:p>
            <a:fld id="{9AB392EB-F905-4DEB-994A-84942BE6E492}" type="slidenum">
              <a:rPr lang="en-US" smtClean="0"/>
              <a:t>13</a:t>
            </a:fld>
            <a:endParaRPr lang="en-US"/>
          </a:p>
        </p:txBody>
      </p:sp>
    </p:spTree>
    <p:extLst>
      <p:ext uri="{BB962C8B-B14F-4D97-AF65-F5344CB8AC3E}">
        <p14:creationId xmlns:p14="http://schemas.microsoft.com/office/powerpoint/2010/main" val="7820652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overcome those challenges mentioned before here I modeled the PubMed citations as a knowledge graph. The modeling relies on the metadata that has been extracted in the paper (Xu et al., 2020). Then training a knowledge graph embedding model on the remodeled PubMed data. Following I use the index built from the extracted biological entities in (Xu et al., 2020) to create query embeddings. The generated query embedding along with the article embeddings are then compared using a simple cosine distance metric and ranked accordingly. I also provide results and evidence that using Knowledge Graphs and graph representation learning is useful and important in the future in information retrieval and bibliographic search engines.</a:t>
            </a:r>
          </a:p>
        </p:txBody>
      </p:sp>
      <p:sp>
        <p:nvSpPr>
          <p:cNvPr id="4" name="Slide Number Placeholder 3"/>
          <p:cNvSpPr>
            <a:spLocks noGrp="1"/>
          </p:cNvSpPr>
          <p:nvPr>
            <p:ph type="sldNum" sz="quarter" idx="5"/>
          </p:nvPr>
        </p:nvSpPr>
        <p:spPr/>
        <p:txBody>
          <a:bodyPr/>
          <a:lstStyle/>
          <a:p>
            <a:fld id="{9AB392EB-F905-4DEB-994A-84942BE6E492}" type="slidenum">
              <a:rPr lang="en-US" smtClean="0"/>
              <a:t>14</a:t>
            </a:fld>
            <a:endParaRPr lang="en-US"/>
          </a:p>
        </p:txBody>
      </p:sp>
    </p:spTree>
    <p:extLst>
      <p:ext uri="{BB962C8B-B14F-4D97-AF65-F5344CB8AC3E}">
        <p14:creationId xmlns:p14="http://schemas.microsoft.com/office/powerpoint/2010/main" val="2772572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457200">
              <a:lnSpc>
                <a:spcPct val="200000"/>
              </a:lnSpc>
              <a:spcBef>
                <a:spcPts val="0"/>
              </a:spcBef>
              <a:spcAft>
                <a:spcPts val="800"/>
              </a:spcAft>
            </a:pPr>
            <a:r>
              <a:rPr lang="en-US" sz="1800" dirty="0">
                <a:effectLst/>
                <a:latin typeface="Linux Libertine" panose="02000503000000000000" pitchFamily="2" charset="0"/>
                <a:ea typeface="Calibri" panose="020F0502020204030204" pitchFamily="34" charset="0"/>
                <a:cs typeface="Times New Roman" panose="02020603050405020304" pitchFamily="18" charset="0"/>
              </a:rPr>
              <a:t>The Table  provides statistics and a description of the PubMed relational database for essential tables. The original dataset that they have extracted contains 27 tables linked by PMID. Here we extract metadata from 7 tables. In addition, we do not use 31 million articles for our evaluation. Instead, we choose a subset of articles that have been submitted to journals between the dates of 2/1/2019 and 2/3/2019. This subset of the articles yielded 2696 articles when queried on PubMed. We then use the 2696 articles to extract a first-order citation network from the table C04_ReferenceList. The citation network yielded 100456 articles. Finally, for the 100456 articles, we extracted the rest of the metadata from the tables listed above, which will be described later.</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9AB392EB-F905-4DEB-994A-84942BE6E492}" type="slidenum">
              <a:rPr lang="en-US" smtClean="0"/>
              <a:t>15</a:t>
            </a:fld>
            <a:endParaRPr lang="en-US"/>
          </a:p>
        </p:txBody>
      </p:sp>
    </p:spTree>
    <p:extLst>
      <p:ext uri="{BB962C8B-B14F-4D97-AF65-F5344CB8AC3E}">
        <p14:creationId xmlns:p14="http://schemas.microsoft.com/office/powerpoint/2010/main" val="6364247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t>Next comes indexing. In the dataset described in the previous slide the authors extracted the mentions of the biological entities including names of drugs, diseases, genes, proteins and species from each title and abstract of each article in PubMed by applying a named entity recognition algorithm using the deep learning model </a:t>
            </a:r>
            <a:r>
              <a:rPr lang="en-US" sz="1800" dirty="0" err="1"/>
              <a:t>BioBERT</a:t>
            </a:r>
            <a:r>
              <a:rPr lang="en-US" sz="1800" dirty="0"/>
              <a:t>. The result is an index of each mention and its exact location in each article along with its recognized entity id. Meaning that if for example Aspirin was mentioned in an article and if an alternative name for Aspirin such as NSAID or </a:t>
            </a:r>
            <a:r>
              <a:rPr lang="en-US" sz="1800" dirty="0" err="1"/>
              <a:t>acylitic</a:t>
            </a:r>
            <a:r>
              <a:rPr lang="en-US" sz="1800" dirty="0"/>
              <a:t> acid was mentioned in another article both of those mentions will belong to the same recognized entity. In addition, in that dataset the authors  extracted and disambiguated author names since the same author might appear with different names in different articles. Authors are also identified by a unique identifier in the table A02_AuthorList along with their name mentions and their articles that they have contributed to. Also, citation information from the table C04_ReferenceList where the first order citations are extracted for each article combining various sources such as PubMed and web of science. Also, for each article the funding information is extracted where each article belongs to an NIH project also the information for these projects are included such as PIs and whether those PIs are authors.</a:t>
            </a:r>
          </a:p>
        </p:txBody>
      </p:sp>
      <p:sp>
        <p:nvSpPr>
          <p:cNvPr id="4" name="Slide Number Placeholder 3"/>
          <p:cNvSpPr>
            <a:spLocks noGrp="1"/>
          </p:cNvSpPr>
          <p:nvPr>
            <p:ph type="sldNum" sz="quarter" idx="5"/>
          </p:nvPr>
        </p:nvSpPr>
        <p:spPr/>
        <p:txBody>
          <a:bodyPr/>
          <a:lstStyle/>
          <a:p>
            <a:fld id="{9AB392EB-F905-4DEB-994A-84942BE6E492}" type="slidenum">
              <a:rPr lang="en-US" smtClean="0"/>
              <a:t>16</a:t>
            </a:fld>
            <a:endParaRPr lang="en-US"/>
          </a:p>
        </p:txBody>
      </p:sp>
    </p:spTree>
    <p:extLst>
      <p:ext uri="{BB962C8B-B14F-4D97-AF65-F5344CB8AC3E}">
        <p14:creationId xmlns:p14="http://schemas.microsoft.com/office/powerpoint/2010/main" val="21031144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Linux Libertine" panose="02000503000000000000" pitchFamily="2" charset="0"/>
                <a:ea typeface="Calibri" panose="020F0502020204030204" pitchFamily="34" charset="0"/>
                <a:cs typeface="Times New Roman" panose="02020603050405020304" pitchFamily="18" charset="0"/>
              </a:rPr>
              <a:t>For each article, we first extract all author names, names of drugs, genes, proteins, diseases, and species in addition to related </a:t>
            </a:r>
            <a:r>
              <a:rPr lang="en-US" sz="1800" dirty="0" err="1">
                <a:effectLst/>
                <a:latin typeface="Linux Libertine" panose="02000503000000000000" pitchFamily="2" charset="0"/>
                <a:ea typeface="Calibri" panose="020F0502020204030204" pitchFamily="34" charset="0"/>
                <a:cs typeface="Times New Roman" panose="02020603050405020304" pitchFamily="18" charset="0"/>
              </a:rPr>
              <a:t>MeSH</a:t>
            </a:r>
            <a:r>
              <a:rPr lang="en-US" sz="1800" dirty="0">
                <a:effectLst/>
                <a:latin typeface="Linux Libertine" panose="02000503000000000000" pitchFamily="2" charset="0"/>
                <a:ea typeface="Calibri" panose="020F0502020204030204" pitchFamily="34" charset="0"/>
                <a:cs typeface="Times New Roman" panose="02020603050405020304" pitchFamily="18" charset="0"/>
              </a:rPr>
              <a:t> terms and Chemical Substances terms from the tables described above. Then, the unique identifiers representing each entity create the knowledge graph. As described before, knowledge graphs are represented as a list of triples. For example, in our case, when we extract an author name for an article from the metadata database, we represent that information as &lt;“article/</a:t>
            </a:r>
            <a:r>
              <a:rPr lang="en-US" sz="1800" dirty="0" err="1">
                <a:effectLst/>
                <a:latin typeface="Linux Libertine" panose="02000503000000000000" pitchFamily="2" charset="0"/>
                <a:ea typeface="Calibri" panose="020F0502020204030204" pitchFamily="34" charset="0"/>
                <a:cs typeface="Times New Roman" panose="02020603050405020304" pitchFamily="18" charset="0"/>
              </a:rPr>
              <a:t>pmid</a:t>
            </a:r>
            <a:r>
              <a:rPr lang="en-US" sz="1800" dirty="0">
                <a:effectLst/>
                <a:latin typeface="Linux Libertine" panose="02000503000000000000" pitchFamily="2" charset="0"/>
                <a:ea typeface="Calibri" panose="020F0502020204030204" pitchFamily="34" charset="0"/>
                <a:cs typeface="Times New Roman" panose="02020603050405020304" pitchFamily="18" charset="0"/>
              </a:rPr>
              <a:t>/86509”, “</a:t>
            </a:r>
            <a:r>
              <a:rPr lang="en-US" sz="1800" dirty="0" err="1">
                <a:effectLst/>
                <a:latin typeface="Linux Libertine" panose="02000503000000000000" pitchFamily="2" charset="0"/>
                <a:ea typeface="Calibri" panose="020F0502020204030204" pitchFamily="34" charset="0"/>
                <a:cs typeface="Times New Roman" panose="02020603050405020304" pitchFamily="18" charset="0"/>
              </a:rPr>
              <a:t>isWrittenBy</a:t>
            </a:r>
            <a:r>
              <a:rPr lang="en-US" sz="1800" dirty="0">
                <a:effectLst/>
                <a:latin typeface="Linux Libertine" panose="02000503000000000000" pitchFamily="2" charset="0"/>
                <a:ea typeface="Calibri" panose="020F0502020204030204" pitchFamily="34" charset="0"/>
                <a:cs typeface="Times New Roman" panose="02020603050405020304" pitchFamily="18" charset="0"/>
              </a:rPr>
              <a:t>/wrote,” “author/aid/6754”&gt;. Similarly, when we extract a drug name from an article, that information is represented as &lt;“</a:t>
            </a:r>
            <a:r>
              <a:rPr lang="en-US" sz="1800" dirty="0" err="1">
                <a:effectLst/>
                <a:latin typeface="Linux Libertine" panose="02000503000000000000" pitchFamily="2" charset="0"/>
                <a:ea typeface="Calibri" panose="020F0502020204030204" pitchFamily="34" charset="0"/>
                <a:cs typeface="Times New Roman" panose="02020603050405020304" pitchFamily="18" charset="0"/>
              </a:rPr>
              <a:t>bioentity</a:t>
            </a:r>
            <a:r>
              <a:rPr lang="en-US" sz="1800" dirty="0">
                <a:effectLst/>
                <a:latin typeface="Linux Libertine" panose="02000503000000000000" pitchFamily="2" charset="0"/>
                <a:ea typeface="Calibri" panose="020F0502020204030204" pitchFamily="34" charset="0"/>
                <a:cs typeface="Times New Roman" panose="02020603050405020304" pitchFamily="18" charset="0"/>
              </a:rPr>
              <a:t>/drug/1256”, “</a:t>
            </a:r>
            <a:r>
              <a:rPr lang="en-US" sz="1800" dirty="0" err="1">
                <a:effectLst/>
                <a:latin typeface="Linux Libertine" panose="02000503000000000000" pitchFamily="2" charset="0"/>
                <a:ea typeface="Calibri" panose="020F0502020204030204" pitchFamily="34" charset="0"/>
                <a:cs typeface="Times New Roman" panose="02020603050405020304" pitchFamily="18" charset="0"/>
              </a:rPr>
              <a:t>isMentionedIn</a:t>
            </a:r>
            <a:r>
              <a:rPr lang="en-US" sz="1800" dirty="0">
                <a:effectLst/>
                <a:latin typeface="Linux Libertine" panose="02000503000000000000" pitchFamily="2" charset="0"/>
                <a:ea typeface="Calibri" panose="020F0502020204030204" pitchFamily="34" charset="0"/>
                <a:cs typeface="Times New Roman" panose="02020603050405020304" pitchFamily="18" charset="0"/>
              </a:rPr>
              <a:t>/mentions,” “article/</a:t>
            </a:r>
            <a:r>
              <a:rPr lang="en-US" sz="1800" dirty="0" err="1">
                <a:effectLst/>
                <a:latin typeface="Linux Libertine" panose="02000503000000000000" pitchFamily="2" charset="0"/>
                <a:ea typeface="Calibri" panose="020F0502020204030204" pitchFamily="34" charset="0"/>
                <a:cs typeface="Times New Roman" panose="02020603050405020304" pitchFamily="18" charset="0"/>
              </a:rPr>
              <a:t>pmid</a:t>
            </a:r>
            <a:r>
              <a:rPr lang="en-US" sz="1800" dirty="0">
                <a:effectLst/>
                <a:latin typeface="Linux Libertine" panose="02000503000000000000" pitchFamily="2" charset="0"/>
                <a:ea typeface="Calibri" panose="020F0502020204030204" pitchFamily="34" charset="0"/>
                <a:cs typeface="Times New Roman" panose="02020603050405020304" pitchFamily="18" charset="0"/>
              </a:rPr>
              <a:t>/78456”&gt;. In addition, if an NIH grant or project funded an article, that information will be represented as &lt;“ article/</a:t>
            </a:r>
            <a:r>
              <a:rPr lang="en-US" sz="1800" dirty="0" err="1">
                <a:effectLst/>
                <a:latin typeface="Linux Libertine" panose="02000503000000000000" pitchFamily="2" charset="0"/>
                <a:ea typeface="Calibri" panose="020F0502020204030204" pitchFamily="34" charset="0"/>
                <a:cs typeface="Times New Roman" panose="02020603050405020304" pitchFamily="18" charset="0"/>
              </a:rPr>
              <a:t>pmid</a:t>
            </a:r>
            <a:r>
              <a:rPr lang="en-US" sz="1800" dirty="0">
                <a:effectLst/>
                <a:latin typeface="Linux Libertine" panose="02000503000000000000" pitchFamily="2" charset="0"/>
                <a:ea typeface="Calibri" panose="020F0502020204030204" pitchFamily="34" charset="0"/>
                <a:cs typeface="Times New Roman" panose="02020603050405020304" pitchFamily="18" charset="0"/>
              </a:rPr>
              <a:t>/5678”, “</a:t>
            </a:r>
            <a:r>
              <a:rPr lang="en-US" sz="1800" dirty="0" err="1">
                <a:effectLst/>
                <a:latin typeface="Linux Libertine" panose="02000503000000000000" pitchFamily="2" charset="0"/>
                <a:ea typeface="Calibri" panose="020F0502020204030204" pitchFamily="34" charset="0"/>
                <a:cs typeface="Times New Roman" panose="02020603050405020304" pitchFamily="18" charset="0"/>
              </a:rPr>
              <a:t>isFundedBy</a:t>
            </a:r>
            <a:r>
              <a:rPr lang="en-US" sz="1800" dirty="0">
                <a:effectLst/>
                <a:latin typeface="Linux Libertine" panose="02000503000000000000" pitchFamily="2" charset="0"/>
                <a:ea typeface="Calibri" panose="020F0502020204030204" pitchFamily="34" charset="0"/>
                <a:cs typeface="Times New Roman" panose="02020603050405020304" pitchFamily="18" charset="0"/>
              </a:rPr>
              <a:t>/funds,” “</a:t>
            </a:r>
            <a:r>
              <a:rPr lang="en-US" sz="1800" dirty="0" err="1">
                <a:effectLst/>
                <a:latin typeface="Linux Libertine" panose="02000503000000000000" pitchFamily="2" charset="0"/>
                <a:ea typeface="Calibri" panose="020F0502020204030204" pitchFamily="34" charset="0"/>
                <a:cs typeface="Times New Roman" panose="02020603050405020304" pitchFamily="18" charset="0"/>
              </a:rPr>
              <a:t>nih_project</a:t>
            </a:r>
            <a:r>
              <a:rPr lang="en-US" sz="1800" dirty="0">
                <a:effectLst/>
                <a:latin typeface="Linux Libertine" panose="02000503000000000000" pitchFamily="2" charset="0"/>
                <a:ea typeface="Calibri" panose="020F0502020204030204" pitchFamily="34" charset="0"/>
                <a:cs typeface="Times New Roman" panose="02020603050405020304" pitchFamily="18" charset="0"/>
              </a:rPr>
              <a:t>/</a:t>
            </a:r>
            <a:r>
              <a:rPr lang="en-US" sz="1800" dirty="0" err="1">
                <a:effectLst/>
                <a:latin typeface="Linux Libertine" panose="02000503000000000000" pitchFamily="2" charset="0"/>
                <a:ea typeface="Calibri" panose="020F0502020204030204" pitchFamily="34" charset="0"/>
                <a:cs typeface="Times New Roman" panose="02020603050405020304" pitchFamily="18" charset="0"/>
              </a:rPr>
              <a:t>project_id</a:t>
            </a:r>
            <a:r>
              <a:rPr lang="en-US" sz="1800" dirty="0">
                <a:effectLst/>
                <a:latin typeface="Linux Libertine" panose="02000503000000000000" pitchFamily="2" charset="0"/>
                <a:ea typeface="Calibri" panose="020F0502020204030204" pitchFamily="34" charset="0"/>
                <a:cs typeface="Times New Roman" panose="02020603050405020304" pitchFamily="18" charset="0"/>
              </a:rPr>
              <a:t>/4123”&gt;.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1800" dirty="0"/>
          </a:p>
        </p:txBody>
      </p:sp>
      <p:sp>
        <p:nvSpPr>
          <p:cNvPr id="4" name="Slide Number Placeholder 3"/>
          <p:cNvSpPr>
            <a:spLocks noGrp="1"/>
          </p:cNvSpPr>
          <p:nvPr>
            <p:ph type="sldNum" sz="quarter" idx="5"/>
          </p:nvPr>
        </p:nvSpPr>
        <p:spPr/>
        <p:txBody>
          <a:bodyPr/>
          <a:lstStyle/>
          <a:p>
            <a:fld id="{9AB392EB-F905-4DEB-994A-84942BE6E492}" type="slidenum">
              <a:rPr lang="en-US" smtClean="0"/>
              <a:t>17</a:t>
            </a:fld>
            <a:endParaRPr lang="en-US"/>
          </a:p>
        </p:txBody>
      </p:sp>
    </p:spTree>
    <p:extLst>
      <p:ext uri="{BB962C8B-B14F-4D97-AF65-F5344CB8AC3E}">
        <p14:creationId xmlns:p14="http://schemas.microsoft.com/office/powerpoint/2010/main" val="31284053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Linux Libertine" panose="02000503000000000000" pitchFamily="2" charset="0"/>
                <a:ea typeface="Calibri" panose="020F0502020204030204" pitchFamily="34" charset="0"/>
              </a:rPr>
              <a:t>Accordingly, each article and associated metadata will be represented as a mini knowledge graph or a concept graph. Those mini knowledge graphs or concept graphs could be seen as subgraphs of a larger encompassing knowledge graph. In our case, we link all the subgraphs in two ways. First, we use the citation network provided in table C04_ReferenceList, representing extracted citation information from PubMed and Web of Science. The citation network provides the set of edges necessary to link most of the articles using the relationship “</a:t>
            </a:r>
            <a:r>
              <a:rPr lang="en-US" sz="1800" dirty="0" err="1">
                <a:effectLst/>
                <a:latin typeface="Linux Libertine" panose="02000503000000000000" pitchFamily="2" charset="0"/>
                <a:ea typeface="Calibri" panose="020F0502020204030204" pitchFamily="34" charset="0"/>
              </a:rPr>
              <a:t>isCitedBy</a:t>
            </a:r>
            <a:r>
              <a:rPr lang="en-US" sz="1800" dirty="0">
                <a:effectLst/>
                <a:latin typeface="Linux Libertine" panose="02000503000000000000" pitchFamily="2" charset="0"/>
                <a:ea typeface="Calibri" panose="020F0502020204030204" pitchFamily="34" charset="0"/>
              </a:rPr>
              <a:t>/cites.” For example, two articles will be linked and represented in the knowledge graph as a triple &lt;“article/</a:t>
            </a:r>
            <a:r>
              <a:rPr lang="en-US" sz="1800" dirty="0" err="1">
                <a:effectLst/>
                <a:latin typeface="Linux Libertine" panose="02000503000000000000" pitchFamily="2" charset="0"/>
                <a:ea typeface="Calibri" panose="020F0502020204030204" pitchFamily="34" charset="0"/>
              </a:rPr>
              <a:t>pmid</a:t>
            </a:r>
            <a:r>
              <a:rPr lang="en-US" sz="1800" dirty="0">
                <a:effectLst/>
                <a:latin typeface="Linux Libertine" panose="02000503000000000000" pitchFamily="2" charset="0"/>
                <a:ea typeface="Calibri" panose="020F0502020204030204" pitchFamily="34" charset="0"/>
              </a:rPr>
              <a:t>/652148”, “</a:t>
            </a:r>
            <a:r>
              <a:rPr lang="en-US" sz="1800" dirty="0" err="1">
                <a:effectLst/>
                <a:latin typeface="Linux Libertine" panose="02000503000000000000" pitchFamily="2" charset="0"/>
                <a:ea typeface="Calibri" panose="020F0502020204030204" pitchFamily="34" charset="0"/>
              </a:rPr>
              <a:t>isCitedBy</a:t>
            </a:r>
            <a:r>
              <a:rPr lang="en-US" sz="1800" dirty="0">
                <a:effectLst/>
                <a:latin typeface="Linux Libertine" panose="02000503000000000000" pitchFamily="2" charset="0"/>
                <a:ea typeface="Calibri" panose="020F0502020204030204" pitchFamily="34" charset="0"/>
              </a:rPr>
              <a:t>/cites,” “article/</a:t>
            </a:r>
            <a:r>
              <a:rPr lang="en-US" sz="1800" dirty="0" err="1">
                <a:effectLst/>
                <a:latin typeface="Linux Libertine" panose="02000503000000000000" pitchFamily="2" charset="0"/>
                <a:ea typeface="Calibri" panose="020F0502020204030204" pitchFamily="34" charset="0"/>
              </a:rPr>
              <a:t>pmid</a:t>
            </a:r>
            <a:r>
              <a:rPr lang="en-US" sz="1800" dirty="0">
                <a:effectLst/>
                <a:latin typeface="Linux Libertine" panose="02000503000000000000" pitchFamily="2" charset="0"/>
                <a:ea typeface="Calibri" panose="020F0502020204030204" pitchFamily="34" charset="0"/>
              </a:rPr>
              <a:t>/415923”&gt;. Second, since the authors and the names of drugs, diseases, genes, and proteins are disambiguated and unique, if an author appears with multiple names across several articles, all the names they appeared with will have the same author identifier number. Similarly, they will have the same unique identifier if they appear with different names such as Aspirin and NSAID for drugs, proteins, genes, and species. Second, since for each article, we create the mini knowledge graph using a unique identifier. The linked knowledge graph will also be semantically linked because an author will appear in multiple articles, a drug name in multiple articles, and the citation network links all articles together. The final knowledge graph will be a semantically linked network representing articles, authors, NIH grants, drugs, diseases, genes. Extracting a knowledge graph dataset as described above for the whole corpus of articles in PubMed is a daunting task, so to have a proof of concept, we extract only a small subset of articles with their citation information. Knowledge graph extraction can be formalized by seeing each subject and object in the extracted triples </a:t>
            </a:r>
            <a:endParaRPr lang="en-US" sz="1800" dirty="0"/>
          </a:p>
        </p:txBody>
      </p:sp>
      <p:sp>
        <p:nvSpPr>
          <p:cNvPr id="4" name="Slide Number Placeholder 3"/>
          <p:cNvSpPr>
            <a:spLocks noGrp="1"/>
          </p:cNvSpPr>
          <p:nvPr>
            <p:ph type="sldNum" sz="quarter" idx="5"/>
          </p:nvPr>
        </p:nvSpPr>
        <p:spPr/>
        <p:txBody>
          <a:bodyPr/>
          <a:lstStyle/>
          <a:p>
            <a:fld id="{9AB392EB-F905-4DEB-994A-84942BE6E492}" type="slidenum">
              <a:rPr lang="en-US" smtClean="0"/>
              <a:t>18</a:t>
            </a:fld>
            <a:endParaRPr lang="en-US"/>
          </a:p>
        </p:txBody>
      </p:sp>
    </p:spTree>
    <p:extLst>
      <p:ext uri="{BB962C8B-B14F-4D97-AF65-F5344CB8AC3E}">
        <p14:creationId xmlns:p14="http://schemas.microsoft.com/office/powerpoint/2010/main" val="764713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a:lnSpc>
                    <a:spcPct val="200000"/>
                  </a:lnSpc>
                  <a:spcBef>
                    <a:spcPts val="0"/>
                  </a:spcBef>
                  <a:spcAft>
                    <a:spcPts val="800"/>
                  </a:spcAft>
                </a:pPr>
                <a:r>
                  <a:rPr lang="en-US" sz="1800" dirty="0">
                    <a:effectLst/>
                    <a:latin typeface="Linux Libertine" panose="02000503000000000000" pitchFamily="2" charset="0"/>
                    <a:ea typeface="Calibri" panose="020F0502020204030204" pitchFamily="34" charset="0"/>
                    <a:cs typeface="Times New Roman" panose="02020603050405020304" pitchFamily="18" charset="0"/>
                  </a:rPr>
                  <a:t>As mentioned before Knowledge graph embedding aims to learn a set of feature vectors for each node or entity in the knowledge graph. The feature vector needs to encode the structure of the graph. </a:t>
                </a:r>
                <a:r>
                  <a:rPr lang="en-US" sz="1800" dirty="0">
                    <a:effectLst/>
                    <a:latin typeface="Linux Libertine" panose="02000503000000000000" pitchFamily="2" charset="0"/>
                    <a:ea typeface="Times New Roman" panose="02020603050405020304" pitchFamily="18" charset="0"/>
                  </a:rPr>
                  <a:t>Node2vec performs a modified version of the random walk strategy (</a:t>
                </a:r>
                <a:r>
                  <a:rPr lang="en-US" sz="1800" dirty="0" err="1">
                    <a:effectLst/>
                    <a:latin typeface="Linux Libertine" panose="02000503000000000000" pitchFamily="2" charset="0"/>
                    <a:ea typeface="Times New Roman" panose="02020603050405020304" pitchFamily="18" charset="0"/>
                  </a:rPr>
                  <a:t>Perozzi</a:t>
                </a:r>
                <a:r>
                  <a:rPr lang="en-US" sz="1800" dirty="0">
                    <a:effectLst/>
                    <a:latin typeface="Linux Libertine" panose="02000503000000000000" pitchFamily="2" charset="0"/>
                    <a:ea typeface="Times New Roman" panose="02020603050405020304" pitchFamily="18" charset="0"/>
                  </a:rPr>
                  <a:t> et al., 2014), including parameters p and q to control the sampling strategy. </a:t>
                </a:r>
              </a:p>
              <a:p>
                <a:pPr marL="0" marR="0">
                  <a:lnSpc>
                    <a:spcPct val="200000"/>
                  </a:lnSpc>
                  <a:spcBef>
                    <a:spcPts val="0"/>
                  </a:spcBef>
                  <a:spcAft>
                    <a:spcPts val="800"/>
                  </a:spcAft>
                </a:pPr>
                <a:endParaRPr lang="en-US" sz="1800" dirty="0">
                  <a:effectLst/>
                  <a:latin typeface="Linux Libertine" panose="02000503000000000000" pitchFamily="2" charset="0"/>
                  <a:ea typeface="Times New Roman" panose="02020603050405020304" pitchFamily="18" charset="0"/>
                </a:endParaRPr>
              </a:p>
              <a:p>
                <a:pPr marL="0" marR="0">
                  <a:lnSpc>
                    <a:spcPct val="200000"/>
                  </a:lnSpc>
                  <a:spcBef>
                    <a:spcPts val="0"/>
                  </a:spcBef>
                  <a:spcAft>
                    <a:spcPts val="800"/>
                  </a:spcAft>
                </a:pPr>
                <a:r>
                  <a:rPr lang="en-US" sz="1800" dirty="0">
                    <a:effectLst/>
                    <a:latin typeface="Linux Libertine" panose="02000503000000000000" pitchFamily="2" charset="0"/>
                    <a:ea typeface="Times New Roman" panose="02020603050405020304" pitchFamily="18" charset="0"/>
                  </a:rPr>
                  <a:t>The p parameter controls the likelihood of the walk revisiting a node. The q parameter controls whether the search is constrained locally or globally. Given q &gt; 1 and a random walk on an initial node, the random walk samples nodes closer to the initial node as in Breadth-First Search. Whereas q &lt; 1, random walk samples nodes further from the initial node like a Depth First Search. This customizability in search behavior allows the random walker to capture diverse structural and topological properties within the graph. The sampling strategy builds a corpus of walks starting from each node. </a:t>
                </a:r>
              </a:p>
              <a:p>
                <a:pPr marL="0" marR="0">
                  <a:lnSpc>
                    <a:spcPct val="200000"/>
                  </a:lnSpc>
                  <a:spcBef>
                    <a:spcPts val="0"/>
                  </a:spcBef>
                  <a:spcAft>
                    <a:spcPts val="800"/>
                  </a:spcAft>
                </a:pPr>
                <a:endParaRPr lang="en-US" sz="1800" dirty="0">
                  <a:effectLst/>
                  <a:latin typeface="Linux Libertine" panose="02000503000000000000" pitchFamily="2" charset="0"/>
                  <a:ea typeface="Times New Roman" panose="02020603050405020304" pitchFamily="18" charset="0"/>
                </a:endParaRPr>
              </a:p>
              <a:p>
                <a:pPr marL="0" marR="0">
                  <a:lnSpc>
                    <a:spcPct val="200000"/>
                  </a:lnSpc>
                  <a:spcBef>
                    <a:spcPts val="0"/>
                  </a:spcBef>
                  <a:spcAft>
                    <a:spcPts val="800"/>
                  </a:spcAft>
                </a:pPr>
                <a:r>
                  <a:rPr lang="en-US" sz="1800" dirty="0">
                    <a:effectLst/>
                    <a:latin typeface="Linux Libertine" panose="02000503000000000000" pitchFamily="2" charset="0"/>
                    <a:ea typeface="Times New Roman" panose="02020603050405020304" pitchFamily="18" charset="0"/>
                  </a:rPr>
                  <a:t>Then a Skip-gram model trains on this corpus to generate a unique embedding vector for each node in the knowledge graph. Once the model finishes training, we get an embedding vector of size d for each node regardless of its type, whether an article, author, drug, disease, gene, NIH project, or </a:t>
                </a:r>
                <a:r>
                  <a:rPr lang="en-US" sz="1800" dirty="0" err="1">
                    <a:effectLst/>
                    <a:latin typeface="Linux Libertine" panose="02000503000000000000" pitchFamily="2" charset="0"/>
                    <a:ea typeface="Times New Roman" panose="02020603050405020304" pitchFamily="18" charset="0"/>
                  </a:rPr>
                  <a:t>MeSH</a:t>
                </a:r>
                <a:r>
                  <a:rPr lang="en-US" sz="1800" dirty="0">
                    <a:effectLst/>
                    <a:latin typeface="Linux Libertine" panose="02000503000000000000" pitchFamily="2" charset="0"/>
                    <a:ea typeface="Times New Roman" panose="02020603050405020304" pitchFamily="18" charset="0"/>
                  </a:rPr>
                  <a:t> term.</a:t>
                </a:r>
                <a:endParaRPr lang="en-US" sz="1800" dirty="0"/>
              </a:p>
            </p:txBody>
          </p:sp>
        </mc:Choice>
        <mc:Fallback xmlns="">
          <p:sp>
            <p:nvSpPr>
              <p:cNvPr id="3" name="Notes Placeholder 2"/>
              <p:cNvSpPr>
                <a:spLocks noGrp="1"/>
              </p:cNvSpPr>
              <p:nvPr>
                <p:ph type="body" idx="1"/>
              </p:nvPr>
            </p:nvSpPr>
            <p:spPr/>
            <p:txBody>
              <a:bodyPr/>
              <a:lstStyle/>
              <a:p>
                <a:pPr marL="0" marR="0">
                  <a:lnSpc>
                    <a:spcPct val="200000"/>
                  </a:lnSpc>
                  <a:spcBef>
                    <a:spcPts val="0"/>
                  </a:spcBef>
                  <a:spcAft>
                    <a:spcPts val="800"/>
                  </a:spcAft>
                </a:pPr>
                <a:r>
                  <a:rPr lang="en-US" sz="1800" dirty="0">
                    <a:effectLst/>
                    <a:latin typeface="Linux Libertine" panose="02000503000000000000" pitchFamily="2" charset="0"/>
                    <a:ea typeface="Calibri" panose="020F0502020204030204" pitchFamily="34" charset="0"/>
                    <a:cs typeface="Times New Roman" panose="02020603050405020304" pitchFamily="18" charset="0"/>
                  </a:rPr>
                  <a:t>Knowledge graph embedding aims to learn a set of feature vectors for each node or entity in the knowledge graph. The feature vector needs to encode the structure of the graph. More formally, for the graph </a:t>
                </a:r>
                <a:r>
                  <a:rPr lang="en-US" sz="1800" i="0">
                    <a:effectLst/>
                    <a:latin typeface="Cambria Math" panose="02040503050406030204" pitchFamily="18" charset="0"/>
                    <a:ea typeface="Calibri" panose="020F0502020204030204" pitchFamily="34" charset="0"/>
                    <a:cs typeface="Cambria Math" panose="02040503050406030204" pitchFamily="18" charset="0"/>
                  </a:rPr>
                  <a:t>𝐺</a:t>
                </a:r>
                <a:r>
                  <a:rPr lang="en-US" sz="1800" i="0">
                    <a:effectLst/>
                    <a:latin typeface="Linux Libertine" panose="02000503000000000000" pitchFamily="2" charset="0"/>
                    <a:ea typeface="Calibri" panose="020F0502020204030204" pitchFamily="34" charset="0"/>
                    <a:cs typeface="Times New Roman" panose="02020603050405020304" pitchFamily="18" charset="0"/>
                  </a:rPr>
                  <a:t> = (</a:t>
                </a:r>
                <a:r>
                  <a:rPr lang="en-US" sz="1800" i="0">
                    <a:effectLst/>
                    <a:latin typeface="Cambria Math" panose="02040503050406030204" pitchFamily="18" charset="0"/>
                    <a:ea typeface="Calibri" panose="020F0502020204030204" pitchFamily="34" charset="0"/>
                    <a:cs typeface="Cambria Math" panose="02040503050406030204" pitchFamily="18" charset="0"/>
                  </a:rPr>
                  <a:t>𝑉</a:t>
                </a:r>
                <a:r>
                  <a:rPr lang="en-US" sz="1800" i="0">
                    <a:effectLst/>
                    <a:latin typeface="Linux Libertine" panose="02000503000000000000" pitchFamily="2" charset="0"/>
                    <a:ea typeface="Calibri" panose="020F0502020204030204" pitchFamily="34" charset="0"/>
                    <a:cs typeface="Times New Roman" panose="02020603050405020304" pitchFamily="18" charset="0"/>
                  </a:rPr>
                  <a:t>,</a:t>
                </a:r>
                <a:r>
                  <a:rPr lang="en-US" sz="1800" i="0">
                    <a:effectLst/>
                    <a:latin typeface="Cambria Math" panose="02040503050406030204" pitchFamily="18" charset="0"/>
                    <a:ea typeface="Calibri" panose="020F0502020204030204" pitchFamily="34" charset="0"/>
                    <a:cs typeface="Cambria Math" panose="02040503050406030204" pitchFamily="18" charset="0"/>
                  </a:rPr>
                  <a:t>𝐸</a:t>
                </a:r>
                <a:r>
                  <a:rPr lang="en-US" sz="1800" i="0">
                    <a:effectLst/>
                    <a:latin typeface="Linux Libertine" panose="02000503000000000000" pitchFamily="2" charset="0"/>
                    <a:ea typeface="Calibri" panose="020F0502020204030204" pitchFamily="34" charset="0"/>
                    <a:cs typeface="Times New Roman" panose="02020603050405020304" pitchFamily="18" charset="0"/>
                  </a:rPr>
                  <a:t>)</a:t>
                </a:r>
                <a:r>
                  <a:rPr lang="en-US" sz="1800" dirty="0">
                    <a:effectLst/>
                    <a:latin typeface="Linux Libertine" panose="02000503000000000000" pitchFamily="2" charset="0"/>
                    <a:ea typeface="Times New Roman" panose="02020603050405020304" pitchFamily="18" charset="0"/>
                    <a:cs typeface="Times New Roman" panose="02020603050405020304" pitchFamily="18" charset="0"/>
                  </a:rPr>
                  <a:t> a matrix </a:t>
                </a:r>
                <a:r>
                  <a:rPr lang="en-US" sz="1800" i="0">
                    <a:effectLst/>
                    <a:latin typeface="Cambria Math" panose="02040503050406030204" pitchFamily="18" charset="0"/>
                    <a:ea typeface="Calibri" panose="020F0502020204030204" pitchFamily="34" charset="0"/>
                    <a:cs typeface="Cambria Math" panose="02040503050406030204" pitchFamily="18" charset="0"/>
                  </a:rPr>
                  <a:t>𝑋</a:t>
                </a:r>
                <a:r>
                  <a:rPr lang="en-US" sz="1800" i="0">
                    <a:effectLst/>
                    <a:latin typeface="Linux Libertine" panose="02000503000000000000" pitchFamily="2" charset="0"/>
                    <a:ea typeface="Calibri" panose="020F0502020204030204" pitchFamily="34" charset="0"/>
                    <a:cs typeface="Times New Roman" panose="02020603050405020304" pitchFamily="18" charset="0"/>
                  </a:rPr>
                  <a:t> ∈ ℝ</a:t>
                </a:r>
                <a:r>
                  <a:rPr lang="en-US" sz="1800" i="0">
                    <a:effectLst/>
                    <a:latin typeface="Cambria Math" panose="02040503050406030204" pitchFamily="18" charset="0"/>
                    <a:ea typeface="Calibri" panose="020F0502020204030204" pitchFamily="34" charset="0"/>
                    <a:cs typeface="Linux Libertine" panose="02000503000000000000" pitchFamily="2" charset="0"/>
                  </a:rPr>
                  <a:t>^</a:t>
                </a:r>
                <a:r>
                  <a:rPr lang="en-US" sz="1800" i="0">
                    <a:effectLst/>
                    <a:latin typeface="Cambria Math" panose="02040503050406030204" pitchFamily="18" charset="0"/>
                    <a:ea typeface="Calibri" panose="020F0502020204030204" pitchFamily="34" charset="0"/>
                    <a:cs typeface="Cambria Math" panose="02040503050406030204" pitchFamily="18" charset="0"/>
                  </a:rPr>
                  <a:t>𝑑</a:t>
                </a:r>
                <a:r>
                  <a:rPr lang="en-US" sz="1800" dirty="0">
                    <a:effectLst/>
                    <a:latin typeface="Linux Libertine" panose="02000503000000000000" pitchFamily="2" charset="0"/>
                    <a:ea typeface="Times New Roman" panose="02020603050405020304" pitchFamily="18" charset="0"/>
                    <a:cs typeface="Times New Roman" panose="02020603050405020304" pitchFamily="18" charset="0"/>
                  </a:rPr>
                  <a:t> is learned via the function </a:t>
                </a:r>
                <a:r>
                  <a:rPr lang="en-US" sz="1800" i="0">
                    <a:effectLst/>
                    <a:latin typeface="Cambria Math" panose="02040503050406030204" pitchFamily="18" charset="0"/>
                    <a:ea typeface="Times New Roman" panose="02020603050405020304" pitchFamily="18" charset="0"/>
                    <a:cs typeface="Cambria Math" panose="02040503050406030204" pitchFamily="18" charset="0"/>
                  </a:rPr>
                  <a:t>𝑓</a:t>
                </a:r>
                <a:r>
                  <a:rPr lang="en-US" sz="1800" i="0">
                    <a:effectLst/>
                    <a:latin typeface="Linux Libertine" panose="02000503000000000000" pitchFamily="2" charset="0"/>
                    <a:ea typeface="Times New Roman" panose="02020603050405020304" pitchFamily="18" charset="0"/>
                    <a:cs typeface="Times New Roman" panose="02020603050405020304" pitchFamily="18" charset="0"/>
                  </a:rPr>
                  <a:t>: </a:t>
                </a:r>
                <a:r>
                  <a:rPr lang="en-US" sz="1800" i="0">
                    <a:effectLst/>
                    <a:latin typeface="Cambria Math" panose="02040503050406030204" pitchFamily="18" charset="0"/>
                    <a:ea typeface="Times New Roman" panose="02020603050405020304" pitchFamily="18" charset="0"/>
                    <a:cs typeface="Cambria Math" panose="02040503050406030204" pitchFamily="18" charset="0"/>
                  </a:rPr>
                  <a:t>𝑣</a:t>
                </a:r>
                <a:r>
                  <a:rPr lang="en-US" sz="1800" i="0">
                    <a:effectLst/>
                    <a:latin typeface="Linux Libertine" panose="02000503000000000000" pitchFamily="2" charset="0"/>
                    <a:ea typeface="Times New Roman" panose="02020603050405020304" pitchFamily="18" charset="0"/>
                    <a:cs typeface="Times New Roman" panose="02020603050405020304" pitchFamily="18" charset="0"/>
                  </a:rPr>
                  <a:t> </a:t>
                </a:r>
                <a:r>
                  <a:rPr lang="en-US" sz="1800" i="0">
                    <a:effectLst/>
                    <a:latin typeface="Cambria Math" panose="02040503050406030204" pitchFamily="18" charset="0"/>
                    <a:ea typeface="Times New Roman" panose="02020603050405020304" pitchFamily="18" charset="0"/>
                    <a:cs typeface="Cambria Math" panose="02040503050406030204" pitchFamily="18" charset="0"/>
                  </a:rPr>
                  <a:t>𝜖</a:t>
                </a:r>
                <a:r>
                  <a:rPr lang="en-US" sz="1800" i="0">
                    <a:effectLst/>
                    <a:latin typeface="Linux Libertine" panose="02000503000000000000" pitchFamily="2" charset="0"/>
                    <a:ea typeface="Times New Roman" panose="02020603050405020304" pitchFamily="18" charset="0"/>
                    <a:cs typeface="Times New Roman" panose="02020603050405020304" pitchFamily="18" charset="0"/>
                  </a:rPr>
                  <a:t> </a:t>
                </a:r>
                <a:r>
                  <a:rPr lang="en-US" sz="1800" i="0">
                    <a:effectLst/>
                    <a:latin typeface="Cambria Math" panose="02040503050406030204" pitchFamily="18" charset="0"/>
                    <a:ea typeface="Times New Roman" panose="02020603050405020304" pitchFamily="18" charset="0"/>
                    <a:cs typeface="Cambria Math" panose="02040503050406030204" pitchFamily="18" charset="0"/>
                  </a:rPr>
                  <a:t>𝑉</a:t>
                </a:r>
                <a:r>
                  <a:rPr lang="en-US" sz="1800" i="0">
                    <a:effectLst/>
                    <a:latin typeface="Linux Libertine" panose="02000503000000000000" pitchFamily="2" charset="0"/>
                    <a:ea typeface="Times New Roman" panose="02020603050405020304" pitchFamily="18" charset="0"/>
                    <a:cs typeface="Times New Roman" panose="02020603050405020304" pitchFamily="18" charset="0"/>
                  </a:rPr>
                  <a:t> → </a:t>
                </a:r>
                <a:r>
                  <a:rPr lang="en-US" sz="1800" i="0">
                    <a:effectLst/>
                    <a:latin typeface="Linux Libertine" panose="02000503000000000000" pitchFamily="2" charset="0"/>
                    <a:ea typeface="Calibri" panose="020F0502020204030204" pitchFamily="34" charset="0"/>
                    <a:cs typeface="Times New Roman" panose="02020603050405020304" pitchFamily="18" charset="0"/>
                  </a:rPr>
                  <a:t>ℝ</a:t>
                </a:r>
                <a:r>
                  <a:rPr lang="en-US" sz="1800" i="0">
                    <a:effectLst/>
                    <a:latin typeface="Cambria Math" panose="02040503050406030204" pitchFamily="18" charset="0"/>
                    <a:ea typeface="Calibri" panose="020F0502020204030204" pitchFamily="34" charset="0"/>
                    <a:cs typeface="Linux Libertine" panose="02000503000000000000" pitchFamily="2" charset="0"/>
                  </a:rPr>
                  <a:t>^</a:t>
                </a:r>
                <a:r>
                  <a:rPr lang="en-US" sz="1800" i="0">
                    <a:effectLst/>
                    <a:latin typeface="Cambria Math" panose="02040503050406030204" pitchFamily="18" charset="0"/>
                    <a:ea typeface="Calibri" panose="020F0502020204030204" pitchFamily="34" charset="0"/>
                    <a:cs typeface="Cambria Math" panose="02040503050406030204" pitchFamily="18" charset="0"/>
                  </a:rPr>
                  <a:t>𝑑</a:t>
                </a:r>
                <a:r>
                  <a:rPr lang="en-US" sz="1800" dirty="0">
                    <a:effectLst/>
                    <a:latin typeface="Linux Libertine" panose="02000503000000000000" pitchFamily="2" charset="0"/>
                    <a:ea typeface="Times New Roman" panose="02020603050405020304" pitchFamily="18" charset="0"/>
                    <a:cs typeface="Times New Roman" panose="02020603050405020304" pitchFamily="18" charset="0"/>
                  </a:rPr>
                  <a:t>. One of the constraints on the learned embedding matrix is that it can be decomposed to </a:t>
                </a:r>
                <a:r>
                  <a:rPr lang="en-US" sz="1800" i="0">
                    <a:effectLst/>
                    <a:latin typeface="Cambria Math" panose="02040503050406030204" pitchFamily="18" charset="0"/>
                    <a:ea typeface="Calibri" panose="020F0502020204030204" pitchFamily="34" charset="0"/>
                    <a:cs typeface="Cambria Math" panose="02040503050406030204" pitchFamily="18" charset="0"/>
                  </a:rPr>
                  <a:t>𝑋</a:t>
                </a:r>
                <a:r>
                  <a:rPr lang="en-US" sz="1800" i="0">
                    <a:effectLst/>
                    <a:latin typeface="Linux Libertine" panose="02000503000000000000" pitchFamily="2" charset="0"/>
                    <a:ea typeface="Calibri" panose="020F0502020204030204" pitchFamily="34" charset="0"/>
                    <a:cs typeface="Times New Roman" panose="02020603050405020304" pitchFamily="18" charset="0"/>
                  </a:rPr>
                  <a:t> = </a:t>
                </a:r>
                <a:r>
                  <a:rPr lang="en-US" sz="1800" i="0">
                    <a:effectLst/>
                    <a:latin typeface="Cambria Math" panose="02040503050406030204" pitchFamily="18" charset="0"/>
                    <a:ea typeface="Calibri" panose="020F0502020204030204" pitchFamily="34" charset="0"/>
                    <a:cs typeface="Cambria Math" panose="02040503050406030204" pitchFamily="18" charset="0"/>
                  </a:rPr>
                  <a:t>𝑍</a:t>
                </a:r>
                <a:r>
                  <a:rPr lang="en-US" sz="1800" i="0">
                    <a:effectLst/>
                    <a:latin typeface="Cambria Math" panose="02040503050406030204" pitchFamily="18" charset="0"/>
                    <a:ea typeface="Calibri" panose="020F0502020204030204" pitchFamily="34" charset="0"/>
                    <a:cs typeface="Linux Libertine" panose="02000503000000000000" pitchFamily="2" charset="0"/>
                  </a:rPr>
                  <a:t>_</a:t>
                </a:r>
                <a:r>
                  <a:rPr lang="en-US" sz="1800" i="0">
                    <a:effectLst/>
                    <a:latin typeface="Cambria Math" panose="02040503050406030204" pitchFamily="18" charset="0"/>
                    <a:ea typeface="Calibri" panose="020F0502020204030204" pitchFamily="34" charset="0"/>
                    <a:cs typeface="Cambria Math" panose="02040503050406030204" pitchFamily="18" charset="0"/>
                  </a:rPr>
                  <a:t>𝑣^𝑇</a:t>
                </a:r>
                <a:r>
                  <a:rPr lang="en-US" sz="1800" i="0">
                    <a:effectLst/>
                    <a:latin typeface="Cambria Math" panose="02040503050406030204" pitchFamily="18" charset="0"/>
                    <a:ea typeface="Calibri" panose="020F0502020204030204" pitchFamily="34" charset="0"/>
                    <a:cs typeface="Linux Libertine" panose="02000503000000000000" pitchFamily="2" charset="0"/>
                  </a:rPr>
                  <a:t> </a:t>
                </a:r>
                <a:r>
                  <a:rPr lang="en-US" sz="1800" i="0">
                    <a:effectLst/>
                    <a:latin typeface="Cambria Math" panose="02040503050406030204" pitchFamily="18" charset="0"/>
                    <a:ea typeface="Times New Roman" panose="02020603050405020304" pitchFamily="18" charset="0"/>
                    <a:cs typeface="Cambria Math" panose="02040503050406030204" pitchFamily="18" charset="0"/>
                  </a:rPr>
                  <a:t>𝑍</a:t>
                </a:r>
                <a:r>
                  <a:rPr lang="en-US" sz="1800" i="0">
                    <a:effectLst/>
                    <a:latin typeface="Cambria Math" panose="02040503050406030204" pitchFamily="18" charset="0"/>
                    <a:ea typeface="Times New Roman" panose="02020603050405020304" pitchFamily="18" charset="0"/>
                    <a:cs typeface="Linux Libertine" panose="02000503000000000000" pitchFamily="2" charset="0"/>
                  </a:rPr>
                  <a:t>_</a:t>
                </a:r>
                <a:r>
                  <a:rPr lang="en-US" sz="1800" i="0">
                    <a:effectLst/>
                    <a:latin typeface="Cambria Math" panose="02040503050406030204" pitchFamily="18" charset="0"/>
                    <a:ea typeface="Times New Roman" panose="02020603050405020304" pitchFamily="18" charset="0"/>
                    <a:cs typeface="Cambria Math" panose="02040503050406030204" pitchFamily="18" charset="0"/>
                  </a:rPr>
                  <a:t>𝑢</a:t>
                </a:r>
                <a:r>
                  <a:rPr lang="en-US" sz="1800" dirty="0">
                    <a:effectLst/>
                    <a:latin typeface="Linux Libertine" panose="02000503000000000000" pitchFamily="2" charset="0"/>
                    <a:ea typeface="Times New Roman" panose="02020603050405020304" pitchFamily="18" charset="0"/>
                    <a:cs typeface="Times New Roman" panose="02020603050405020304" pitchFamily="18" charset="0"/>
                  </a:rPr>
                  <a:t> so that </a:t>
                </a:r>
                <a:r>
                  <a:rPr lang="en-US" sz="1800" i="0">
                    <a:effectLst/>
                    <a:latin typeface="Cambria Math" panose="02040503050406030204" pitchFamily="18" charset="0"/>
                    <a:ea typeface="Calibri" panose="020F0502020204030204" pitchFamily="34" charset="0"/>
                    <a:cs typeface="Cambria Math" panose="02040503050406030204" pitchFamily="18" charset="0"/>
                  </a:rPr>
                  <a:t>𝑋</a:t>
                </a:r>
                <a:r>
                  <a:rPr lang="en-US" sz="1800" dirty="0">
                    <a:effectLst/>
                    <a:latin typeface="Linux Libertine" panose="02000503000000000000" pitchFamily="2" charset="0"/>
                    <a:ea typeface="Times New Roman" panose="02020603050405020304" pitchFamily="18" charset="0"/>
                    <a:cs typeface="Times New Roman" panose="02020603050405020304" pitchFamily="18" charset="0"/>
                  </a:rPr>
                  <a:t> preserves the similarity between its component matrices where </a:t>
                </a:r>
                <a:r>
                  <a:rPr lang="en-US" sz="1800" i="0">
                    <a:effectLst/>
                    <a:latin typeface="Cambria Math" panose="02040503050406030204" pitchFamily="18" charset="0"/>
                    <a:ea typeface="Calibri" panose="020F0502020204030204" pitchFamily="34" charset="0"/>
                    <a:cs typeface="Cambria Math" panose="02040503050406030204" pitchFamily="18" charset="0"/>
                  </a:rPr>
                  <a:t>𝑣</a:t>
                </a:r>
                <a:r>
                  <a:rPr lang="en-US" sz="1800" i="0">
                    <a:effectLst/>
                    <a:latin typeface="Linux Libertine" panose="02000503000000000000" pitchFamily="2" charset="0"/>
                    <a:ea typeface="Calibri" panose="020F0502020204030204" pitchFamily="34" charset="0"/>
                    <a:cs typeface="Times New Roman" panose="02020603050405020304" pitchFamily="18" charset="0"/>
                  </a:rPr>
                  <a:t>∈</a:t>
                </a:r>
                <a:r>
                  <a:rPr lang="en-US" sz="1800" i="0">
                    <a:effectLst/>
                    <a:latin typeface="Cambria Math" panose="02040503050406030204" pitchFamily="18" charset="0"/>
                    <a:ea typeface="Calibri" panose="020F0502020204030204" pitchFamily="34" charset="0"/>
                    <a:cs typeface="Cambria Math" panose="02040503050406030204" pitchFamily="18" charset="0"/>
                  </a:rPr>
                  <a:t>𝑉</a:t>
                </a:r>
                <a:r>
                  <a:rPr lang="en-US" sz="1800" dirty="0">
                    <a:effectLst/>
                    <a:latin typeface="Linux Libertine" panose="02000503000000000000" pitchFamily="2" charset="0"/>
                    <a:ea typeface="Times New Roman" panose="02020603050405020304" pitchFamily="18" charset="0"/>
                    <a:cs typeface="Times New Roman" panose="02020603050405020304" pitchFamily="18" charset="0"/>
                  </a:rPr>
                  <a:t> and </a:t>
                </a:r>
                <a:r>
                  <a:rPr lang="en-US" sz="1800" i="0">
                    <a:effectLst/>
                    <a:latin typeface="Cambria Math" panose="02040503050406030204" pitchFamily="18" charset="0"/>
                    <a:ea typeface="Calibri" panose="020F0502020204030204" pitchFamily="34" charset="0"/>
                    <a:cs typeface="Cambria Math" panose="02040503050406030204" pitchFamily="18" charset="0"/>
                  </a:rPr>
                  <a:t>𝑢</a:t>
                </a:r>
                <a:r>
                  <a:rPr lang="en-US" sz="1800" i="0">
                    <a:effectLst/>
                    <a:latin typeface="Linux Libertine" panose="02000503000000000000" pitchFamily="2" charset="0"/>
                    <a:ea typeface="Calibri" panose="020F0502020204030204" pitchFamily="34" charset="0"/>
                    <a:cs typeface="Times New Roman" panose="02020603050405020304" pitchFamily="18" charset="0"/>
                  </a:rPr>
                  <a:t>∈</a:t>
                </a:r>
                <a:r>
                  <a:rPr lang="en-US" sz="1800" i="0">
                    <a:effectLst/>
                    <a:latin typeface="Cambria Math" panose="02040503050406030204" pitchFamily="18" charset="0"/>
                    <a:ea typeface="Calibri" panose="020F0502020204030204" pitchFamily="34" charset="0"/>
                    <a:cs typeface="Cambria Math" panose="02040503050406030204" pitchFamily="18" charset="0"/>
                  </a:rPr>
                  <a:t>𝑉</a:t>
                </a:r>
                <a:r>
                  <a:rPr lang="en-US" sz="1800" dirty="0">
                    <a:effectLst/>
                    <a:latin typeface="Linux Libertine" panose="02000503000000000000" pitchFamily="2" charset="0"/>
                    <a:ea typeface="Times New Roman" panose="02020603050405020304" pitchFamily="18" charset="0"/>
                    <a:cs typeface="Times New Roman" panose="02020603050405020304" pitchFamily="18" charset="0"/>
                  </a:rPr>
                  <a:t> and </a:t>
                </a:r>
                <a:r>
                  <a:rPr lang="en-US" sz="1800" i="0">
                    <a:effectLst/>
                    <a:latin typeface="Cambria Math" panose="02040503050406030204" pitchFamily="18" charset="0"/>
                    <a:ea typeface="Times New Roman" panose="02020603050405020304" pitchFamily="18" charset="0"/>
                    <a:cs typeface="Cambria Math" panose="02040503050406030204" pitchFamily="18" charset="0"/>
                  </a:rPr>
                  <a:t>𝑍</a:t>
                </a:r>
                <a:r>
                  <a:rPr lang="en-US" sz="1800" i="0">
                    <a:effectLst/>
                    <a:latin typeface="Cambria Math" panose="02040503050406030204" pitchFamily="18" charset="0"/>
                    <a:ea typeface="Times New Roman" panose="02020603050405020304" pitchFamily="18" charset="0"/>
                    <a:cs typeface="Linux Libertine" panose="02000503000000000000" pitchFamily="2" charset="0"/>
                  </a:rPr>
                  <a:t>_</a:t>
                </a:r>
                <a:r>
                  <a:rPr lang="en-US" sz="1800" i="0">
                    <a:effectLst/>
                    <a:latin typeface="Cambria Math" panose="02040503050406030204" pitchFamily="18" charset="0"/>
                    <a:ea typeface="Times New Roman" panose="02020603050405020304" pitchFamily="18" charset="0"/>
                    <a:cs typeface="Cambria Math" panose="02040503050406030204" pitchFamily="18" charset="0"/>
                  </a:rPr>
                  <a:t>𝑣</a:t>
                </a:r>
                <a:r>
                  <a:rPr lang="en-US" sz="1800" i="0">
                    <a:effectLst/>
                    <a:latin typeface="Cambria Math" panose="02040503050406030204" pitchFamily="18" charset="0"/>
                    <a:ea typeface="Calibri" panose="020F0502020204030204" pitchFamily="34" charset="0"/>
                    <a:cs typeface="Linux Libertine" panose="02000503000000000000" pitchFamily="2" charset="0"/>
                  </a:rPr>
                  <a:t>≡</a:t>
                </a:r>
                <a:r>
                  <a:rPr lang="en-US" sz="1800" i="0">
                    <a:effectLst/>
                    <a:latin typeface="Cambria Math" panose="02040503050406030204" pitchFamily="18" charset="0"/>
                    <a:ea typeface="Calibri" panose="020F0502020204030204" pitchFamily="34" charset="0"/>
                    <a:cs typeface="Cambria Math" panose="02040503050406030204" pitchFamily="18" charset="0"/>
                  </a:rPr>
                  <a:t>𝑋</a:t>
                </a:r>
                <a:r>
                  <a:rPr lang="en-US" sz="1800" i="0">
                    <a:effectLst/>
                    <a:latin typeface="Cambria Math" panose="02040503050406030204" pitchFamily="18" charset="0"/>
                    <a:ea typeface="Calibri" panose="020F0502020204030204" pitchFamily="34" charset="0"/>
                    <a:cs typeface="Linux Libertine" panose="02000503000000000000" pitchFamily="2" charset="0"/>
                  </a:rPr>
                  <a:t>^</a:t>
                </a:r>
                <a:r>
                  <a:rPr lang="en-US" sz="1800" i="0">
                    <a:effectLst/>
                    <a:latin typeface="Cambria Math" panose="02040503050406030204" pitchFamily="18" charset="0"/>
                    <a:ea typeface="Calibri" panose="020F0502020204030204" pitchFamily="34" charset="0"/>
                    <a:cs typeface="Cambria Math" panose="02040503050406030204" pitchFamily="18" charset="0"/>
                  </a:rPr>
                  <a:t>𝑇</a:t>
                </a:r>
                <a:r>
                  <a:rPr lang="en-US" sz="1800" dirty="0">
                    <a:effectLst/>
                    <a:latin typeface="Linux Libertine" panose="02000503000000000000" pitchFamily="2" charset="0"/>
                    <a:ea typeface="Times New Roman" panose="02020603050405020304" pitchFamily="18" charset="0"/>
                    <a:cs typeface="Times New Roman" panose="02020603050405020304" pitchFamily="18" charset="0"/>
                  </a:rPr>
                  <a:t> and </a:t>
                </a:r>
                <a:r>
                  <a:rPr lang="en-US" sz="1800" i="0">
                    <a:effectLst/>
                    <a:latin typeface="Cambria Math" panose="02040503050406030204" pitchFamily="18" charset="0"/>
                    <a:ea typeface="Times New Roman" panose="02020603050405020304" pitchFamily="18" charset="0"/>
                    <a:cs typeface="Cambria Math" panose="02040503050406030204" pitchFamily="18" charset="0"/>
                  </a:rPr>
                  <a:t>𝑍</a:t>
                </a:r>
                <a:r>
                  <a:rPr lang="en-US" sz="1800" i="0">
                    <a:effectLst/>
                    <a:latin typeface="Cambria Math" panose="02040503050406030204" pitchFamily="18" charset="0"/>
                    <a:ea typeface="Times New Roman" panose="02020603050405020304" pitchFamily="18" charset="0"/>
                    <a:cs typeface="Linux Libertine" panose="02000503000000000000" pitchFamily="2" charset="0"/>
                  </a:rPr>
                  <a:t>_</a:t>
                </a:r>
                <a:r>
                  <a:rPr lang="en-US" sz="1800" i="0">
                    <a:effectLst/>
                    <a:latin typeface="Cambria Math" panose="02040503050406030204" pitchFamily="18" charset="0"/>
                    <a:ea typeface="Times New Roman" panose="02020603050405020304" pitchFamily="18" charset="0"/>
                    <a:cs typeface="Cambria Math" panose="02040503050406030204" pitchFamily="18" charset="0"/>
                  </a:rPr>
                  <a:t>𝑢</a:t>
                </a:r>
                <a:r>
                  <a:rPr lang="en-US" sz="1800" i="0">
                    <a:effectLst/>
                    <a:latin typeface="Cambria Math" panose="02040503050406030204" pitchFamily="18" charset="0"/>
                    <a:ea typeface="Calibri" panose="020F0502020204030204" pitchFamily="34" charset="0"/>
                    <a:cs typeface="Linux Libertine" panose="02000503000000000000" pitchFamily="2" charset="0"/>
                  </a:rPr>
                  <a:t>≡</a:t>
                </a:r>
                <a:r>
                  <a:rPr lang="en-US" sz="1800" i="0">
                    <a:effectLst/>
                    <a:latin typeface="Cambria Math" panose="02040503050406030204" pitchFamily="18" charset="0"/>
                    <a:ea typeface="Calibri" panose="020F0502020204030204" pitchFamily="34" charset="0"/>
                    <a:cs typeface="Cambria Math" panose="02040503050406030204" pitchFamily="18" charset="0"/>
                  </a:rPr>
                  <a:t>𝑋</a:t>
                </a:r>
                <a:r>
                  <a:rPr lang="en-US" sz="1800" dirty="0">
                    <a:effectLst/>
                    <a:latin typeface="Linux Libertine" panose="02000503000000000000" pitchFamily="2" charset="0"/>
                    <a:ea typeface="Times New Roman" panose="02020603050405020304" pitchFamily="18" charset="0"/>
                    <a:cs typeface="Times New Roman" panose="02020603050405020304" pitchFamily="18" charset="0"/>
                  </a:rPr>
                  <a:t>. Preserving the similarity is learned through predicting the probabilities of co-occurrence between 2 nodes in the same neighborhood within a specific context window C after sampling the graph using a random walk strategy to a size of a corpus sampled nodes, 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200000"/>
                  </a:lnSpc>
                  <a:spcBef>
                    <a:spcPts val="0"/>
                  </a:spcBef>
                  <a:spcAft>
                    <a:spcPts val="800"/>
                  </a:spcAft>
                </a:pPr>
                <a:r>
                  <a:rPr lang="en-US" sz="1800" i="0">
                    <a:effectLst/>
                    <a:latin typeface="Cambria Math" panose="02040503050406030204" pitchFamily="18" charset="0"/>
                    <a:ea typeface="Calibri" panose="020F0502020204030204" pitchFamily="34" charset="0"/>
                    <a:cs typeface="Cambria Math" panose="02040503050406030204" pitchFamily="18" charset="0"/>
                  </a:rPr>
                  <a:t>𝑃</a:t>
                </a:r>
                <a:r>
                  <a:rPr lang="en-US" sz="1800" i="0">
                    <a:effectLst/>
                    <a:latin typeface="Linux Libertine" panose="02000503000000000000" pitchFamily="2" charset="0"/>
                    <a:ea typeface="Calibri" panose="020F0502020204030204" pitchFamily="34" charset="0"/>
                    <a:cs typeface="Times New Roman" panose="02020603050405020304" pitchFamily="18" charset="0"/>
                  </a:rPr>
                  <a:t>(</a:t>
                </a:r>
                <a:r>
                  <a:rPr lang="en-US" sz="1800" i="0">
                    <a:effectLst/>
                    <a:latin typeface="Cambria Math" panose="02040503050406030204" pitchFamily="18" charset="0"/>
                    <a:ea typeface="Calibri" panose="020F0502020204030204" pitchFamily="34" charset="0"/>
                    <a:cs typeface="Cambria Math" panose="02040503050406030204" pitchFamily="18" charset="0"/>
                  </a:rPr>
                  <a:t>𝑣</a:t>
                </a:r>
                <a:r>
                  <a:rPr lang="en-US" sz="1800" i="0">
                    <a:effectLst/>
                    <a:latin typeface="Cambria Math" panose="02040503050406030204" pitchFamily="18" charset="0"/>
                    <a:ea typeface="Calibri" panose="020F0502020204030204" pitchFamily="34" charset="0"/>
                    <a:cs typeface="Linux Libertine" panose="02000503000000000000" pitchFamily="2" charset="0"/>
                  </a:rPr>
                  <a:t>_</a:t>
                </a:r>
                <a:r>
                  <a:rPr lang="en-US" sz="1800" i="0">
                    <a:effectLst/>
                    <a:latin typeface="Linux Libertine" panose="02000503000000000000" pitchFamily="2" charset="0"/>
                    <a:ea typeface="Calibri" panose="020F0502020204030204" pitchFamily="34" charset="0"/>
                    <a:cs typeface="Times New Roman" panose="02020603050405020304" pitchFamily="18" charset="0"/>
                  </a:rPr>
                  <a:t>1,</a:t>
                </a:r>
                <a:r>
                  <a:rPr lang="en-US" sz="1800" i="0">
                    <a:effectLst/>
                    <a:latin typeface="Cambria Math" panose="02040503050406030204" pitchFamily="18" charset="0"/>
                    <a:ea typeface="Calibri" panose="020F0502020204030204" pitchFamily="34" charset="0"/>
                    <a:cs typeface="Cambria Math" panose="02040503050406030204" pitchFamily="18" charset="0"/>
                  </a:rPr>
                  <a:t>𝑣</a:t>
                </a:r>
                <a:r>
                  <a:rPr lang="en-US" sz="1800" i="0">
                    <a:effectLst/>
                    <a:latin typeface="Cambria Math" panose="02040503050406030204" pitchFamily="18" charset="0"/>
                    <a:ea typeface="Calibri" panose="020F0502020204030204" pitchFamily="34" charset="0"/>
                    <a:cs typeface="Linux Libertine" panose="02000503000000000000" pitchFamily="2" charset="0"/>
                  </a:rPr>
                  <a:t>_</a:t>
                </a:r>
                <a:r>
                  <a:rPr lang="en-US" sz="1800" i="0">
                    <a:effectLst/>
                    <a:latin typeface="Linux Libertine" panose="02000503000000000000" pitchFamily="2" charset="0"/>
                    <a:ea typeface="Calibri" panose="020F0502020204030204" pitchFamily="34" charset="0"/>
                    <a:cs typeface="Times New Roman" panose="02020603050405020304" pitchFamily="18" charset="0"/>
                  </a:rPr>
                  <a:t>2,</a:t>
                </a:r>
                <a:r>
                  <a:rPr lang="en-US" sz="1800" i="0">
                    <a:effectLst/>
                    <a:latin typeface="Cambria Math" panose="02040503050406030204" pitchFamily="18" charset="0"/>
                    <a:ea typeface="Calibri" panose="020F0502020204030204" pitchFamily="34" charset="0"/>
                    <a:cs typeface="Cambria Math" panose="02040503050406030204" pitchFamily="18" charset="0"/>
                  </a:rPr>
                  <a:t>𝑣</a:t>
                </a:r>
                <a:r>
                  <a:rPr lang="en-US" sz="1800" i="0">
                    <a:effectLst/>
                    <a:latin typeface="Cambria Math" panose="02040503050406030204" pitchFamily="18" charset="0"/>
                    <a:ea typeface="Calibri" panose="020F0502020204030204" pitchFamily="34" charset="0"/>
                    <a:cs typeface="Linux Libertine" panose="02000503000000000000" pitchFamily="2" charset="0"/>
                  </a:rPr>
                  <a:t>_</a:t>
                </a:r>
                <a:r>
                  <a:rPr lang="en-US" sz="1800" i="0">
                    <a:effectLst/>
                    <a:latin typeface="Linux Libertine" panose="02000503000000000000" pitchFamily="2" charset="0"/>
                    <a:ea typeface="Calibri" panose="020F0502020204030204" pitchFamily="34" charset="0"/>
                    <a:cs typeface="Times New Roman" panose="02020603050405020304" pitchFamily="18" charset="0"/>
                  </a:rPr>
                  <a:t>3, ..., </a:t>
                </a:r>
                <a:r>
                  <a:rPr lang="en-US" sz="1800" i="0">
                    <a:effectLst/>
                    <a:latin typeface="Cambria Math" panose="02040503050406030204" pitchFamily="18" charset="0"/>
                    <a:ea typeface="Calibri" panose="020F0502020204030204" pitchFamily="34" charset="0"/>
                    <a:cs typeface="Cambria Math" panose="02040503050406030204" pitchFamily="18" charset="0"/>
                  </a:rPr>
                  <a:t>𝑣</a:t>
                </a:r>
                <a:r>
                  <a:rPr lang="en-US" sz="1800" i="0">
                    <a:effectLst/>
                    <a:latin typeface="Cambria Math" panose="02040503050406030204" pitchFamily="18" charset="0"/>
                    <a:ea typeface="Calibri" panose="020F0502020204030204" pitchFamily="34" charset="0"/>
                    <a:cs typeface="Linux Libertine" panose="02000503000000000000" pitchFamily="2" charset="0"/>
                  </a:rPr>
                  <a:t>_</a:t>
                </a:r>
                <a:r>
                  <a:rPr lang="en-US" sz="1800" i="0">
                    <a:effectLst/>
                    <a:latin typeface="Cambria Math" panose="02040503050406030204" pitchFamily="18" charset="0"/>
                    <a:ea typeface="Calibri" panose="020F0502020204030204" pitchFamily="34" charset="0"/>
                    <a:cs typeface="Cambria Math" panose="02040503050406030204" pitchFamily="18" charset="0"/>
                  </a:rPr>
                  <a:t>𝑡</a:t>
                </a:r>
                <a:r>
                  <a:rPr lang="en-US" sz="1800" i="0">
                    <a:effectLst/>
                    <a:latin typeface="Linux Libertine" panose="02000503000000000000" pitchFamily="2" charset="0"/>
                    <a:ea typeface="Calibri" panose="020F0502020204030204" pitchFamily="34" charset="0"/>
                    <a:cs typeface="Times New Roman" panose="02020603050405020304" pitchFamily="18" charset="0"/>
                  </a:rPr>
                  <a:t>)= </a:t>
                </a:r>
                <a:r>
                  <a:rPr lang="en-US" sz="1800" i="0">
                    <a:effectLst/>
                    <a:latin typeface="Linux Libertine" panose="02000503000000000000" pitchFamily="2" charset="0"/>
                    <a:cs typeface="Times New Roman" panose="02020603050405020304" pitchFamily="18" charset="0"/>
                  </a:rPr>
                  <a:t> </a:t>
                </a:r>
                <a:r>
                  <a:rPr lang="en-US" sz="1800" i="0">
                    <a:effectLst/>
                    <a:latin typeface="Linux Libertine" panose="02000503000000000000" pitchFamily="2" charset="0"/>
                    <a:ea typeface="Calibri" panose="020F0502020204030204" pitchFamily="34" charset="0"/>
                    <a:cs typeface="Times New Roman" panose="02020603050405020304" pitchFamily="18" charset="0"/>
                  </a:rPr>
                  <a:t>1</a:t>
                </a:r>
                <a:r>
                  <a:rPr lang="en-US" sz="1800" i="0">
                    <a:effectLst/>
                    <a:latin typeface="Cambria Math" panose="02040503050406030204" pitchFamily="18" charset="0"/>
                    <a:ea typeface="Calibri" panose="020F0502020204030204" pitchFamily="34" charset="0"/>
                    <a:cs typeface="Linux Libertine" panose="02000503000000000000" pitchFamily="2" charset="0"/>
                  </a:rPr>
                  <a:t>/</a:t>
                </a:r>
                <a:r>
                  <a:rPr lang="en-US" sz="1800" i="0">
                    <a:effectLst/>
                    <a:latin typeface="Cambria Math" panose="02040503050406030204" pitchFamily="18" charset="0"/>
                    <a:ea typeface="Calibri" panose="020F0502020204030204" pitchFamily="34" charset="0"/>
                    <a:cs typeface="Cambria Math" panose="02040503050406030204" pitchFamily="18" charset="0"/>
                  </a:rPr>
                  <a:t>𝑇</a:t>
                </a:r>
                <a:r>
                  <a:rPr lang="en-US" sz="1800" i="0">
                    <a:effectLst/>
                    <a:latin typeface="Linux Libertine" panose="02000503000000000000" pitchFamily="2" charset="0"/>
                    <a:ea typeface="Calibri" panose="020F0502020204030204" pitchFamily="34" charset="0"/>
                    <a:cs typeface="Cambria Math" panose="02040503050406030204" pitchFamily="18" charset="0"/>
                  </a:rPr>
                  <a:t> </a:t>
                </a:r>
                <a:r>
                  <a:rPr lang="en-US" sz="1800" i="0">
                    <a:effectLst/>
                    <a:latin typeface="Linux Libertine" panose="02000503000000000000" pitchFamily="2" charset="0"/>
                    <a:ea typeface="Times New Roman" panose="02020603050405020304" pitchFamily="18" charset="0"/>
                    <a:cs typeface="Times New Roman" panose="02020603050405020304" pitchFamily="18" charset="0"/>
                  </a:rPr>
                  <a:t> </a:t>
                </a:r>
                <a:r>
                  <a:rPr lang="en-US" sz="1800" i="0">
                    <a:effectLst/>
                    <a:latin typeface="Cambria Math" panose="02040503050406030204" pitchFamily="18" charset="0"/>
                    <a:cs typeface="Linux Libertine" panose="02000503000000000000" pitchFamily="2" charset="0"/>
                  </a:rPr>
                  <a:t>∑1_</a:t>
                </a:r>
                <a:r>
                  <a:rPr lang="en-US" sz="1800" i="0">
                    <a:effectLst/>
                    <a:latin typeface="Cambria Math" panose="02040503050406030204" pitchFamily="18" charset="0"/>
                    <a:ea typeface="Times New Roman" panose="02020603050405020304" pitchFamily="18" charset="0"/>
                    <a:cs typeface="Cambria Math" panose="02040503050406030204" pitchFamily="18" charset="0"/>
                  </a:rPr>
                  <a:t>𝑇^(𝑡</a:t>
                </a:r>
                <a:r>
                  <a:rPr lang="en-US" sz="1800" i="0">
                    <a:effectLst/>
                    <a:latin typeface="Linux Libertine" panose="02000503000000000000" pitchFamily="2" charset="0"/>
                    <a:ea typeface="Times New Roman" panose="02020603050405020304" pitchFamily="18" charset="0"/>
                    <a:cs typeface="Times New Roman" panose="02020603050405020304" pitchFamily="18" charset="0"/>
                  </a:rPr>
                  <a:t>=1</a:t>
                </a:r>
                <a:r>
                  <a:rPr lang="en-US" sz="1800" i="0">
                    <a:effectLst/>
                    <a:latin typeface="Cambria Math" panose="02040503050406030204" pitchFamily="18" charset="0"/>
                    <a:ea typeface="Times New Roman" panose="02020603050405020304" pitchFamily="18" charset="0"/>
                    <a:cs typeface="Times New Roman" panose="02020603050405020304" pitchFamily="18" charset="0"/>
                  </a:rPr>
                  <a:t>)▒</a:t>
                </a:r>
                <a:r>
                  <a:rPr lang="en-US" sz="1800" i="0">
                    <a:effectLst/>
                    <a:latin typeface="Cambria Math" panose="02040503050406030204" pitchFamily="18" charset="0"/>
                    <a:ea typeface="Times New Roman" panose="02020603050405020304" pitchFamily="18" charset="0"/>
                    <a:cs typeface="Linux Libertine" panose="02000503000000000000" pitchFamily="2" charset="0"/>
                  </a:rPr>
                  <a:t>∑1_(</a:t>
                </a:r>
                <a:r>
                  <a:rPr lang="en-US" sz="1800" i="0">
                    <a:effectLst/>
                    <a:latin typeface="Linux Libertine" panose="02000503000000000000" pitchFamily="2" charset="0"/>
                    <a:ea typeface="Times New Roman" panose="02020603050405020304" pitchFamily="18" charset="0"/>
                    <a:cs typeface="Times New Roman" panose="02020603050405020304" pitchFamily="18" charset="0"/>
                  </a:rPr>
                  <a:t>−</a:t>
                </a:r>
                <a:r>
                  <a:rPr lang="en-US" sz="1800" i="0">
                    <a:effectLst/>
                    <a:latin typeface="Cambria Math" panose="02040503050406030204" pitchFamily="18" charset="0"/>
                    <a:ea typeface="Times New Roman" panose="02020603050405020304" pitchFamily="18" charset="0"/>
                    <a:cs typeface="Cambria Math" panose="02040503050406030204" pitchFamily="18" charset="0"/>
                  </a:rPr>
                  <a:t>𝑐</a:t>
                </a:r>
                <a:r>
                  <a:rPr lang="en-US" sz="1800" i="0">
                    <a:effectLst/>
                    <a:latin typeface="Linux Libertine" panose="02000503000000000000" pitchFamily="2" charset="0"/>
                    <a:ea typeface="Times New Roman" panose="02020603050405020304" pitchFamily="18" charset="0"/>
                    <a:cs typeface="Times New Roman" panose="02020603050405020304" pitchFamily="18" charset="0"/>
                  </a:rPr>
                  <a:t> ≤ </a:t>
                </a:r>
                <a:r>
                  <a:rPr lang="en-US" sz="1800" i="0">
                    <a:effectLst/>
                    <a:latin typeface="Cambria Math" panose="02040503050406030204" pitchFamily="18" charset="0"/>
                    <a:ea typeface="Times New Roman" panose="02020603050405020304" pitchFamily="18" charset="0"/>
                    <a:cs typeface="Cambria Math" panose="02040503050406030204" pitchFamily="18" charset="0"/>
                  </a:rPr>
                  <a:t>𝑗</a:t>
                </a:r>
                <a:r>
                  <a:rPr lang="en-US" sz="1800" i="0">
                    <a:effectLst/>
                    <a:latin typeface="Linux Libertine" panose="02000503000000000000" pitchFamily="2" charset="0"/>
                    <a:ea typeface="Times New Roman" panose="02020603050405020304" pitchFamily="18" charset="0"/>
                    <a:cs typeface="Times New Roman" panose="02020603050405020304" pitchFamily="18" charset="0"/>
                  </a:rPr>
                  <a:t> ≤ </a:t>
                </a:r>
                <a:r>
                  <a:rPr lang="en-US" sz="1800" i="0">
                    <a:effectLst/>
                    <a:latin typeface="Cambria Math" panose="02040503050406030204" pitchFamily="18" charset="0"/>
                    <a:ea typeface="Times New Roman" panose="02020603050405020304" pitchFamily="18" charset="0"/>
                    <a:cs typeface="Cambria Math" panose="02040503050406030204" pitchFamily="18" charset="0"/>
                  </a:rPr>
                  <a:t>𝑐</a:t>
                </a:r>
                <a:r>
                  <a:rPr lang="en-US" sz="1800" i="0">
                    <a:effectLst/>
                    <a:latin typeface="Linux Libertine" panose="02000503000000000000" pitchFamily="2" charset="0"/>
                    <a:ea typeface="Times New Roman" panose="02020603050405020304" pitchFamily="18" charset="0"/>
                    <a:cs typeface="Times New Roman" panose="02020603050405020304" pitchFamily="18" charset="0"/>
                  </a:rPr>
                  <a:t>,  </a:t>
                </a:r>
                <a:r>
                  <a:rPr lang="en-US" sz="1800" i="0">
                    <a:effectLst/>
                    <a:latin typeface="Cambria Math" panose="02040503050406030204" pitchFamily="18" charset="0"/>
                    <a:ea typeface="Times New Roman" panose="02020603050405020304" pitchFamily="18" charset="0"/>
                    <a:cs typeface="Cambria Math" panose="02040503050406030204" pitchFamily="18" charset="0"/>
                  </a:rPr>
                  <a:t>𝑗</a:t>
                </a:r>
                <a:r>
                  <a:rPr lang="en-US" sz="1800" i="0">
                    <a:effectLst/>
                    <a:latin typeface="Linux Libertine" panose="02000503000000000000" pitchFamily="2" charset="0"/>
                    <a:ea typeface="Times New Roman" panose="02020603050405020304" pitchFamily="18" charset="0"/>
                    <a:cs typeface="Times New Roman" panose="02020603050405020304" pitchFamily="18" charset="0"/>
                  </a:rPr>
                  <a:t>=0</a:t>
                </a:r>
                <a:r>
                  <a:rPr lang="en-US" sz="1800" i="0">
                    <a:effectLst/>
                    <a:latin typeface="Cambria Math" panose="02040503050406030204" pitchFamily="18" charset="0"/>
                    <a:ea typeface="Times New Roman" panose="02020603050405020304" pitchFamily="18" charset="0"/>
                    <a:cs typeface="Linux Libertine" panose="02000503000000000000" pitchFamily="2" charset="0"/>
                  </a:rPr>
                  <a:t>)▒</a:t>
                </a:r>
                <a:r>
                  <a:rPr lang="en-US" sz="1800" i="0">
                    <a:effectLst/>
                    <a:latin typeface="Linux Libertine" panose="02000503000000000000" pitchFamily="2" charset="0"/>
                    <a:ea typeface="Calibri" panose="020F0502020204030204" pitchFamily="34" charset="0"/>
                    <a:cs typeface="Times New Roman" panose="02020603050405020304" pitchFamily="18" charset="0"/>
                  </a:rPr>
                  <a:t>log</a:t>
                </a:r>
                <a:r>
                  <a:rPr lang="en-US" sz="1800" i="0">
                    <a:effectLst/>
                    <a:latin typeface="Cambria Math" panose="02040503050406030204" pitchFamily="18" charset="0"/>
                    <a:ea typeface="Calibri" panose="020F0502020204030204" pitchFamily="34" charset="0"/>
                    <a:cs typeface="Linux Libertine" panose="02000503000000000000" pitchFamily="2" charset="0"/>
                  </a:rPr>
                  <a:t>⁡〖</a:t>
                </a:r>
                <a:r>
                  <a:rPr lang="en-US" sz="1800" i="0">
                    <a:effectLst/>
                    <a:latin typeface="Cambria Math" panose="02040503050406030204" pitchFamily="18" charset="0"/>
                    <a:ea typeface="Times New Roman" panose="02020603050405020304" pitchFamily="18" charset="0"/>
                    <a:cs typeface="Cambria Math" panose="02040503050406030204" pitchFamily="18" charset="0"/>
                  </a:rPr>
                  <a:t>𝑃</a:t>
                </a:r>
                <a:r>
                  <a:rPr lang="en-US" sz="1800" i="0">
                    <a:effectLst/>
                    <a:latin typeface="Linux Libertine" panose="02000503000000000000" pitchFamily="2" charset="0"/>
                    <a:ea typeface="Times New Roman" panose="02020603050405020304" pitchFamily="18" charset="0"/>
                    <a:cs typeface="Times New Roman" panose="02020603050405020304" pitchFamily="18" charset="0"/>
                  </a:rPr>
                  <a:t>(</a:t>
                </a:r>
                <a:r>
                  <a:rPr lang="en-US" sz="1800" i="0">
                    <a:effectLst/>
                    <a:latin typeface="Cambria Math" panose="02040503050406030204" pitchFamily="18" charset="0"/>
                    <a:ea typeface="Times New Roman" panose="02020603050405020304" pitchFamily="18" charset="0"/>
                    <a:cs typeface="Cambria Math" panose="02040503050406030204" pitchFamily="18" charset="0"/>
                  </a:rPr>
                  <a:t>𝑣</a:t>
                </a:r>
                <a:r>
                  <a:rPr lang="en-US" sz="1800" i="0">
                    <a:effectLst/>
                    <a:latin typeface="Cambria Math" panose="02040503050406030204" pitchFamily="18" charset="0"/>
                    <a:ea typeface="Times New Roman" panose="02020603050405020304" pitchFamily="18" charset="0"/>
                    <a:cs typeface="Linux Libertine" panose="02000503000000000000" pitchFamily="2" charset="0"/>
                  </a:rPr>
                  <a:t>_(</a:t>
                </a:r>
                <a:r>
                  <a:rPr lang="en-US" sz="1800" i="0">
                    <a:effectLst/>
                    <a:latin typeface="Cambria Math" panose="02040503050406030204" pitchFamily="18" charset="0"/>
                    <a:ea typeface="Times New Roman" panose="02020603050405020304" pitchFamily="18" charset="0"/>
                    <a:cs typeface="Cambria Math" panose="02040503050406030204" pitchFamily="18" charset="0"/>
                  </a:rPr>
                  <a:t>𝑡</a:t>
                </a:r>
                <a:r>
                  <a:rPr lang="en-US" sz="1800" i="0">
                    <a:effectLst/>
                    <a:latin typeface="Linux Libertine" panose="02000503000000000000" pitchFamily="2" charset="0"/>
                    <a:ea typeface="Times New Roman" panose="02020603050405020304" pitchFamily="18" charset="0"/>
                    <a:cs typeface="Times New Roman" panose="02020603050405020304" pitchFamily="18" charset="0"/>
                  </a:rPr>
                  <a:t>+</a:t>
                </a:r>
                <a:r>
                  <a:rPr lang="en-US" sz="1800" i="0">
                    <a:effectLst/>
                    <a:latin typeface="Cambria Math" panose="02040503050406030204" pitchFamily="18" charset="0"/>
                    <a:ea typeface="Times New Roman" panose="02020603050405020304" pitchFamily="18" charset="0"/>
                    <a:cs typeface="Cambria Math" panose="02040503050406030204" pitchFamily="18" charset="0"/>
                  </a:rPr>
                  <a:t>𝑗</a:t>
                </a:r>
                <a:r>
                  <a:rPr lang="en-US" sz="1800" i="0">
                    <a:effectLst/>
                    <a:latin typeface="Cambria Math" panose="02040503050406030204" pitchFamily="18" charset="0"/>
                    <a:ea typeface="Times New Roman" panose="02020603050405020304" pitchFamily="18" charset="0"/>
                    <a:cs typeface="Linux Libertine" panose="02000503000000000000" pitchFamily="2" charset="0"/>
                  </a:rPr>
                  <a:t>)</a:t>
                </a:r>
                <a:r>
                  <a:rPr lang="en-US" sz="1800" i="0">
                    <a:effectLst/>
                    <a:latin typeface="Linux Libertine" panose="02000503000000000000" pitchFamily="2" charset="0"/>
                    <a:ea typeface="Times New Roman" panose="02020603050405020304" pitchFamily="18" charset="0"/>
                    <a:cs typeface="Linux Libertine" panose="02000503000000000000" pitchFamily="2" charset="0"/>
                  </a:rPr>
                  <a:t> </a:t>
                </a:r>
                <a:r>
                  <a:rPr lang="en-US" sz="1800" i="0">
                    <a:effectLst/>
                    <a:latin typeface="Linux Libertine" panose="02000503000000000000" pitchFamily="2" charset="0"/>
                    <a:ea typeface="Times New Roman" panose="02020603050405020304" pitchFamily="18" charset="0"/>
                    <a:cs typeface="Times New Roman" panose="02020603050405020304" pitchFamily="18" charset="0"/>
                  </a:rPr>
                  <a:t>|</a:t>
                </a:r>
                <a:r>
                  <a:rPr lang="en-US" sz="1800" i="0">
                    <a:effectLst/>
                    <a:latin typeface="Cambria Math" panose="02040503050406030204" pitchFamily="18" charset="0"/>
                    <a:ea typeface="Times New Roman" panose="02020603050405020304" pitchFamily="18" charset="0"/>
                    <a:cs typeface="Cambria Math" panose="02040503050406030204" pitchFamily="18" charset="0"/>
                  </a:rPr>
                  <a:t>𝑣</a:t>
                </a:r>
                <a:r>
                  <a:rPr lang="en-US" sz="1800" i="0">
                    <a:effectLst/>
                    <a:latin typeface="Cambria Math" panose="02040503050406030204" pitchFamily="18" charset="0"/>
                    <a:ea typeface="Times New Roman" panose="02020603050405020304" pitchFamily="18" charset="0"/>
                    <a:cs typeface="Linux Libertine" panose="02000503000000000000" pitchFamily="2" charset="0"/>
                  </a:rPr>
                  <a:t>_</a:t>
                </a:r>
                <a:r>
                  <a:rPr lang="en-US" sz="1800" i="0">
                    <a:effectLst/>
                    <a:latin typeface="Cambria Math" panose="02040503050406030204" pitchFamily="18" charset="0"/>
                    <a:ea typeface="Times New Roman" panose="02020603050405020304" pitchFamily="18" charset="0"/>
                    <a:cs typeface="Cambria Math" panose="02040503050406030204" pitchFamily="18" charset="0"/>
                  </a:rPr>
                  <a:t>𝑡</a:t>
                </a:r>
                <a:r>
                  <a:rPr lang="en-US" sz="1800" i="0">
                    <a:effectLst/>
                    <a:latin typeface="Linux Libertine" panose="02000503000000000000" pitchFamily="2" charset="0"/>
                    <a:ea typeface="Times New Roman" panose="02020603050405020304" pitchFamily="18" charset="0"/>
                    <a:cs typeface="Times New Roman" panose="02020603050405020304" pitchFamily="18" charset="0"/>
                  </a:rPr>
                  <a:t>)</a:t>
                </a:r>
                <a:r>
                  <a:rPr lang="en-US" sz="1800" i="0">
                    <a:effectLst/>
                    <a:latin typeface="Cambria Math" panose="02040503050406030204" pitchFamily="18" charset="0"/>
                    <a:ea typeface="Times New Roman" panose="02020603050405020304" pitchFamily="18" charset="0"/>
                    <a:cs typeface="Linux Libertine" panose="02000503000000000000" pitchFamily="2"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457200">
                  <a:lnSpc>
                    <a:spcPct val="200000"/>
                  </a:lnSpc>
                  <a:spcBef>
                    <a:spcPts val="0"/>
                  </a:spcBef>
                  <a:spcAft>
                    <a:spcPts val="800"/>
                  </a:spcAft>
                </a:pPr>
                <a:r>
                  <a:rPr lang="en-US" sz="1800" dirty="0">
                    <a:effectLst/>
                    <a:latin typeface="Linux Libertine" panose="02000503000000000000" pitchFamily="2" charset="0"/>
                    <a:ea typeface="Times New Roman" panose="02020603050405020304" pitchFamily="18" charset="0"/>
                    <a:cs typeface="Times New Roman" panose="02020603050405020304" pitchFamily="18" charset="0"/>
                  </a:rPr>
                  <a:t>Where </a:t>
                </a:r>
                <a:r>
                  <a:rPr lang="en-US" sz="1800" i="0">
                    <a:effectLst/>
                    <a:latin typeface="Cambria Math" panose="02040503050406030204" pitchFamily="18" charset="0"/>
                    <a:ea typeface="Calibri" panose="020F0502020204030204" pitchFamily="34" charset="0"/>
                    <a:cs typeface="Cambria Math" panose="02040503050406030204" pitchFamily="18" charset="0"/>
                  </a:rPr>
                  <a:t>𝑐</a:t>
                </a:r>
                <a:r>
                  <a:rPr lang="en-US" sz="1800" i="0">
                    <a:effectLst/>
                    <a:latin typeface="Linux Libertine" panose="02000503000000000000" pitchFamily="2" charset="0"/>
                    <a:ea typeface="Calibri" panose="020F0502020204030204" pitchFamily="34" charset="0"/>
                    <a:cs typeface="Times New Roman" panose="02020603050405020304" pitchFamily="18" charset="0"/>
                  </a:rPr>
                  <a:t>∈</a:t>
                </a:r>
                <a:r>
                  <a:rPr lang="en-US" sz="1800" i="0">
                    <a:effectLst/>
                    <a:latin typeface="Cambria Math" panose="02040503050406030204" pitchFamily="18" charset="0"/>
                    <a:ea typeface="Calibri" panose="020F0502020204030204" pitchFamily="34" charset="0"/>
                    <a:cs typeface="Cambria Math" panose="02040503050406030204" pitchFamily="18" charset="0"/>
                  </a:rPr>
                  <a:t>𝐶</a:t>
                </a:r>
                <a:r>
                  <a:rPr lang="en-US" sz="1800" dirty="0">
                    <a:effectLst/>
                    <a:latin typeface="Linux Libertine" panose="02000503000000000000" pitchFamily="2" charset="0"/>
                    <a:ea typeface="Times New Roman" panose="02020603050405020304" pitchFamily="18" charset="0"/>
                    <a:cs typeface="Times New Roman" panose="02020603050405020304" pitchFamily="18" charset="0"/>
                  </a:rPr>
                  <a:t> and </a:t>
                </a:r>
                <a:r>
                  <a:rPr lang="en-US" sz="1800" i="0">
                    <a:effectLst/>
                    <a:latin typeface="Cambria Math" panose="02040503050406030204" pitchFamily="18" charset="0"/>
                    <a:ea typeface="Calibri" panose="020F0502020204030204" pitchFamily="34" charset="0"/>
                    <a:cs typeface="Cambria Math" panose="02040503050406030204" pitchFamily="18" charset="0"/>
                  </a:rPr>
                  <a:t>𝑡</a:t>
                </a:r>
                <a:r>
                  <a:rPr lang="en-US" sz="1800" i="0">
                    <a:effectLst/>
                    <a:latin typeface="Linux Libertine" panose="02000503000000000000" pitchFamily="2" charset="0"/>
                    <a:ea typeface="Calibri" panose="020F0502020204030204" pitchFamily="34" charset="0"/>
                    <a:cs typeface="Times New Roman" panose="02020603050405020304" pitchFamily="18" charset="0"/>
                  </a:rPr>
                  <a:t>∈</a:t>
                </a:r>
                <a:r>
                  <a:rPr lang="en-US" sz="1800" i="0">
                    <a:effectLst/>
                    <a:latin typeface="Cambria Math" panose="02040503050406030204" pitchFamily="18" charset="0"/>
                    <a:ea typeface="Calibri" panose="020F0502020204030204" pitchFamily="34" charset="0"/>
                    <a:cs typeface="Cambria Math" panose="02040503050406030204" pitchFamily="18" charset="0"/>
                  </a:rPr>
                  <a:t>𝑇</a:t>
                </a:r>
                <a:r>
                  <a:rPr lang="en-US" sz="1800" dirty="0">
                    <a:effectLst/>
                    <a:latin typeface="Linux Libertine" panose="02000503000000000000" pitchFamily="2" charset="0"/>
                    <a:ea typeface="Times New Roman" panose="02020603050405020304" pitchFamily="18" charset="0"/>
                    <a:cs typeface="Times New Roman" panose="02020603050405020304" pitchFamily="18" charset="0"/>
                  </a:rPr>
                  <a:t>. {</a:t>
                </a:r>
                <a:r>
                  <a:rPr lang="en-US" sz="1800" i="0">
                    <a:effectLst/>
                    <a:latin typeface="Cambria Math" panose="02040503050406030204" pitchFamily="18" charset="0"/>
                    <a:ea typeface="Calibri" panose="020F0502020204030204" pitchFamily="34" charset="0"/>
                    <a:cs typeface="Cambria Math" panose="02040503050406030204" pitchFamily="18" charset="0"/>
                  </a:rPr>
                  <a:t>𝑣</a:t>
                </a:r>
                <a:r>
                  <a:rPr lang="en-US" sz="1800" i="0">
                    <a:effectLst/>
                    <a:latin typeface="Cambria Math" panose="02040503050406030204" pitchFamily="18" charset="0"/>
                    <a:ea typeface="Calibri" panose="020F0502020204030204" pitchFamily="34" charset="0"/>
                    <a:cs typeface="Linux Libertine" panose="02000503000000000000" pitchFamily="2" charset="0"/>
                  </a:rPr>
                  <a:t>_</a:t>
                </a:r>
                <a:r>
                  <a:rPr lang="en-US" sz="1800" i="0">
                    <a:effectLst/>
                    <a:latin typeface="Linux Libertine" panose="02000503000000000000" pitchFamily="2" charset="0"/>
                    <a:ea typeface="Calibri" panose="020F0502020204030204" pitchFamily="34" charset="0"/>
                    <a:cs typeface="Times New Roman" panose="02020603050405020304" pitchFamily="18" charset="0"/>
                  </a:rPr>
                  <a:t>1,</a:t>
                </a:r>
                <a:r>
                  <a:rPr lang="en-US" sz="1800" i="0">
                    <a:effectLst/>
                    <a:latin typeface="Cambria Math" panose="02040503050406030204" pitchFamily="18" charset="0"/>
                    <a:ea typeface="Calibri" panose="020F0502020204030204" pitchFamily="34" charset="0"/>
                    <a:cs typeface="Cambria Math" panose="02040503050406030204" pitchFamily="18" charset="0"/>
                  </a:rPr>
                  <a:t>𝑣</a:t>
                </a:r>
                <a:r>
                  <a:rPr lang="en-US" sz="1800" i="0">
                    <a:effectLst/>
                    <a:latin typeface="Cambria Math" panose="02040503050406030204" pitchFamily="18" charset="0"/>
                    <a:ea typeface="Calibri" panose="020F0502020204030204" pitchFamily="34" charset="0"/>
                    <a:cs typeface="Linux Libertine" panose="02000503000000000000" pitchFamily="2" charset="0"/>
                  </a:rPr>
                  <a:t>_</a:t>
                </a:r>
                <a:r>
                  <a:rPr lang="en-US" sz="1800" i="0">
                    <a:effectLst/>
                    <a:latin typeface="Linux Libertine" panose="02000503000000000000" pitchFamily="2" charset="0"/>
                    <a:ea typeface="Calibri" panose="020F0502020204030204" pitchFamily="34" charset="0"/>
                    <a:cs typeface="Times New Roman" panose="02020603050405020304" pitchFamily="18" charset="0"/>
                  </a:rPr>
                  <a:t>2,</a:t>
                </a:r>
                <a:r>
                  <a:rPr lang="en-US" sz="1800" i="0">
                    <a:effectLst/>
                    <a:latin typeface="Cambria Math" panose="02040503050406030204" pitchFamily="18" charset="0"/>
                    <a:ea typeface="Calibri" panose="020F0502020204030204" pitchFamily="34" charset="0"/>
                    <a:cs typeface="Cambria Math" panose="02040503050406030204" pitchFamily="18" charset="0"/>
                  </a:rPr>
                  <a:t>𝑣</a:t>
                </a:r>
                <a:r>
                  <a:rPr lang="en-US" sz="1800" i="0">
                    <a:effectLst/>
                    <a:latin typeface="Cambria Math" panose="02040503050406030204" pitchFamily="18" charset="0"/>
                    <a:ea typeface="Calibri" panose="020F0502020204030204" pitchFamily="34" charset="0"/>
                    <a:cs typeface="Linux Libertine" panose="02000503000000000000" pitchFamily="2" charset="0"/>
                  </a:rPr>
                  <a:t>_</a:t>
                </a:r>
                <a:r>
                  <a:rPr lang="en-US" sz="1800" i="0">
                    <a:effectLst/>
                    <a:latin typeface="Linux Libertine" panose="02000503000000000000" pitchFamily="2" charset="0"/>
                    <a:ea typeface="Calibri" panose="020F0502020204030204" pitchFamily="34" charset="0"/>
                    <a:cs typeface="Times New Roman" panose="02020603050405020304" pitchFamily="18" charset="0"/>
                  </a:rPr>
                  <a:t>3, ..., </a:t>
                </a:r>
                <a:r>
                  <a:rPr lang="en-US" sz="1800" i="0">
                    <a:effectLst/>
                    <a:latin typeface="Cambria Math" panose="02040503050406030204" pitchFamily="18" charset="0"/>
                    <a:ea typeface="Calibri" panose="020F0502020204030204" pitchFamily="34" charset="0"/>
                    <a:cs typeface="Cambria Math" panose="02040503050406030204" pitchFamily="18" charset="0"/>
                  </a:rPr>
                  <a:t>𝑣</a:t>
                </a:r>
                <a:r>
                  <a:rPr lang="en-US" sz="1800" i="0">
                    <a:effectLst/>
                    <a:latin typeface="Cambria Math" panose="02040503050406030204" pitchFamily="18" charset="0"/>
                    <a:ea typeface="Calibri" panose="020F0502020204030204" pitchFamily="34" charset="0"/>
                    <a:cs typeface="Linux Libertine" panose="02000503000000000000" pitchFamily="2" charset="0"/>
                  </a:rPr>
                  <a:t>_</a:t>
                </a:r>
                <a:r>
                  <a:rPr lang="en-US" sz="1800" i="0">
                    <a:effectLst/>
                    <a:latin typeface="Cambria Math" panose="02040503050406030204" pitchFamily="18" charset="0"/>
                    <a:ea typeface="Calibri" panose="020F0502020204030204" pitchFamily="34" charset="0"/>
                    <a:cs typeface="Cambria Math" panose="02040503050406030204" pitchFamily="18" charset="0"/>
                  </a:rPr>
                  <a:t>𝑡</a:t>
                </a:r>
                <a:r>
                  <a:rPr lang="en-US" sz="1800" dirty="0">
                    <a:effectLst/>
                    <a:latin typeface="Linux Libertine" panose="02000503000000000000" pitchFamily="2" charset="0"/>
                    <a:ea typeface="Times New Roman" panose="02020603050405020304" pitchFamily="18" charset="0"/>
                    <a:cs typeface="Times New Roman" panose="02020603050405020304" pitchFamily="18" charset="0"/>
                  </a:rPr>
                  <a:t>} is sampled from the first order neighborhood N of a randomly chosen node </a:t>
                </a:r>
                <a:r>
                  <a:rPr lang="en-US" sz="1800" i="0">
                    <a:effectLst/>
                    <a:latin typeface="Cambria Math" panose="02040503050406030204" pitchFamily="18" charset="0"/>
                    <a:ea typeface="Calibri" panose="020F0502020204030204" pitchFamily="34" charset="0"/>
                    <a:cs typeface="Cambria Math" panose="02040503050406030204" pitchFamily="18" charset="0"/>
                  </a:rPr>
                  <a:t>𝑣</a:t>
                </a:r>
                <a:r>
                  <a:rPr lang="en-US" sz="1800" i="0">
                    <a:effectLst/>
                    <a:latin typeface="Cambria Math" panose="02040503050406030204" pitchFamily="18" charset="0"/>
                    <a:ea typeface="Calibri" panose="020F0502020204030204" pitchFamily="34" charset="0"/>
                    <a:cs typeface="Linux Libertine" panose="02000503000000000000" pitchFamily="2" charset="0"/>
                  </a:rPr>
                  <a:t>_</a:t>
                </a:r>
                <a:r>
                  <a:rPr lang="en-US" sz="1800" i="0">
                    <a:effectLst/>
                    <a:latin typeface="Cambria Math" panose="02040503050406030204" pitchFamily="18" charset="0"/>
                    <a:ea typeface="Calibri" panose="020F0502020204030204" pitchFamily="34" charset="0"/>
                    <a:cs typeface="Cambria Math" panose="02040503050406030204" pitchFamily="18" charset="0"/>
                  </a:rPr>
                  <a:t>𝑖</a:t>
                </a:r>
                <a:r>
                  <a:rPr lang="en-US" sz="1800" dirty="0">
                    <a:effectLst/>
                    <a:latin typeface="Linux Libertine" panose="02000503000000000000" pitchFamily="2" charset="0"/>
                    <a:ea typeface="Times New Roman" panose="02020603050405020304" pitchFamily="18" charset="0"/>
                    <a:cs typeface="Times New Roman" panose="02020603050405020304" pitchFamily="18" charset="0"/>
                  </a:rPr>
                  <a:t>. To train matrix X, we approximate the probability </a:t>
                </a:r>
                <a:r>
                  <a:rPr lang="en-US" sz="1800" i="0">
                    <a:effectLst/>
                    <a:latin typeface="Cambria Math" panose="02040503050406030204" pitchFamily="18" charset="0"/>
                    <a:ea typeface="Calibri" panose="020F0502020204030204" pitchFamily="34" charset="0"/>
                    <a:cs typeface="Cambria Math" panose="02040503050406030204" pitchFamily="18" charset="0"/>
                  </a:rPr>
                  <a:t>𝑃</a:t>
                </a:r>
                <a:r>
                  <a:rPr lang="en-US" sz="1800" i="0">
                    <a:effectLst/>
                    <a:latin typeface="Linux Libertine" panose="02000503000000000000" pitchFamily="2" charset="0"/>
                    <a:ea typeface="Calibri" panose="020F0502020204030204" pitchFamily="34" charset="0"/>
                    <a:cs typeface="Times New Roman" panose="02020603050405020304" pitchFamily="18" charset="0"/>
                  </a:rPr>
                  <a:t>(</a:t>
                </a:r>
                <a:r>
                  <a:rPr lang="en-US" sz="1800" i="0">
                    <a:effectLst/>
                    <a:latin typeface="Cambria Math" panose="02040503050406030204" pitchFamily="18" charset="0"/>
                    <a:ea typeface="Calibri" panose="020F0502020204030204" pitchFamily="34" charset="0"/>
                    <a:cs typeface="Cambria Math" panose="02040503050406030204" pitchFamily="18" charset="0"/>
                  </a:rPr>
                  <a:t>𝑣</a:t>
                </a:r>
                <a:r>
                  <a:rPr lang="en-US" sz="1800" i="0">
                    <a:effectLst/>
                    <a:latin typeface="Cambria Math" panose="02040503050406030204" pitchFamily="18" charset="0"/>
                    <a:ea typeface="Calibri" panose="020F0502020204030204" pitchFamily="34" charset="0"/>
                    <a:cs typeface="Linux Libertine" panose="02000503000000000000" pitchFamily="2" charset="0"/>
                  </a:rPr>
                  <a:t>_</a:t>
                </a:r>
                <a:r>
                  <a:rPr lang="en-US" sz="1800" i="0">
                    <a:effectLst/>
                    <a:latin typeface="Linux Libertine" panose="02000503000000000000" pitchFamily="2" charset="0"/>
                    <a:ea typeface="Calibri" panose="020F0502020204030204" pitchFamily="34" charset="0"/>
                    <a:cs typeface="Times New Roman" panose="02020603050405020304" pitchFamily="18" charset="0"/>
                  </a:rPr>
                  <a:t>1,</a:t>
                </a:r>
                <a:r>
                  <a:rPr lang="en-US" sz="1800" i="0">
                    <a:effectLst/>
                    <a:latin typeface="Cambria Math" panose="02040503050406030204" pitchFamily="18" charset="0"/>
                    <a:ea typeface="Calibri" panose="020F0502020204030204" pitchFamily="34" charset="0"/>
                    <a:cs typeface="Cambria Math" panose="02040503050406030204" pitchFamily="18" charset="0"/>
                  </a:rPr>
                  <a:t>𝑣</a:t>
                </a:r>
                <a:r>
                  <a:rPr lang="en-US" sz="1800" i="0">
                    <a:effectLst/>
                    <a:latin typeface="Cambria Math" panose="02040503050406030204" pitchFamily="18" charset="0"/>
                    <a:ea typeface="Calibri" panose="020F0502020204030204" pitchFamily="34" charset="0"/>
                    <a:cs typeface="Linux Libertine" panose="02000503000000000000" pitchFamily="2" charset="0"/>
                  </a:rPr>
                  <a:t>_</a:t>
                </a:r>
                <a:r>
                  <a:rPr lang="en-US" sz="1800" i="0">
                    <a:effectLst/>
                    <a:latin typeface="Linux Libertine" panose="02000503000000000000" pitchFamily="2" charset="0"/>
                    <a:ea typeface="Calibri" panose="020F0502020204030204" pitchFamily="34" charset="0"/>
                    <a:cs typeface="Times New Roman" panose="02020603050405020304" pitchFamily="18" charset="0"/>
                  </a:rPr>
                  <a:t>2,</a:t>
                </a:r>
                <a:r>
                  <a:rPr lang="en-US" sz="1800" i="0">
                    <a:effectLst/>
                    <a:latin typeface="Cambria Math" panose="02040503050406030204" pitchFamily="18" charset="0"/>
                    <a:ea typeface="Calibri" panose="020F0502020204030204" pitchFamily="34" charset="0"/>
                    <a:cs typeface="Cambria Math" panose="02040503050406030204" pitchFamily="18" charset="0"/>
                  </a:rPr>
                  <a:t>𝑣</a:t>
                </a:r>
                <a:r>
                  <a:rPr lang="en-US" sz="1800" i="0">
                    <a:effectLst/>
                    <a:latin typeface="Cambria Math" panose="02040503050406030204" pitchFamily="18" charset="0"/>
                    <a:ea typeface="Calibri" panose="020F0502020204030204" pitchFamily="34" charset="0"/>
                    <a:cs typeface="Linux Libertine" panose="02000503000000000000" pitchFamily="2" charset="0"/>
                  </a:rPr>
                  <a:t>_</a:t>
                </a:r>
                <a:r>
                  <a:rPr lang="en-US" sz="1800" i="0">
                    <a:effectLst/>
                    <a:latin typeface="Linux Libertine" panose="02000503000000000000" pitchFamily="2" charset="0"/>
                    <a:ea typeface="Calibri" panose="020F0502020204030204" pitchFamily="34" charset="0"/>
                    <a:cs typeface="Times New Roman" panose="02020603050405020304" pitchFamily="18" charset="0"/>
                  </a:rPr>
                  <a:t>3, ..., </a:t>
                </a:r>
                <a:r>
                  <a:rPr lang="en-US" sz="1800" i="0">
                    <a:effectLst/>
                    <a:latin typeface="Cambria Math" panose="02040503050406030204" pitchFamily="18" charset="0"/>
                    <a:ea typeface="Calibri" panose="020F0502020204030204" pitchFamily="34" charset="0"/>
                    <a:cs typeface="Cambria Math" panose="02040503050406030204" pitchFamily="18" charset="0"/>
                  </a:rPr>
                  <a:t>𝑣</a:t>
                </a:r>
                <a:r>
                  <a:rPr lang="en-US" sz="1800" i="0">
                    <a:effectLst/>
                    <a:latin typeface="Cambria Math" panose="02040503050406030204" pitchFamily="18" charset="0"/>
                    <a:ea typeface="Calibri" panose="020F0502020204030204" pitchFamily="34" charset="0"/>
                    <a:cs typeface="Linux Libertine" panose="02000503000000000000" pitchFamily="2" charset="0"/>
                  </a:rPr>
                  <a:t>_</a:t>
                </a:r>
                <a:r>
                  <a:rPr lang="en-US" sz="1800" i="0">
                    <a:effectLst/>
                    <a:latin typeface="Cambria Math" panose="02040503050406030204" pitchFamily="18" charset="0"/>
                    <a:ea typeface="Calibri" panose="020F0502020204030204" pitchFamily="34" charset="0"/>
                    <a:cs typeface="Cambria Math" panose="02040503050406030204" pitchFamily="18" charset="0"/>
                  </a:rPr>
                  <a:t>𝑡</a:t>
                </a:r>
                <a:r>
                  <a:rPr lang="en-US" sz="1800" i="0">
                    <a:effectLst/>
                    <a:latin typeface="Linux Libertine" panose="02000503000000000000" pitchFamily="2" charset="0"/>
                    <a:ea typeface="Calibri" panose="020F0502020204030204" pitchFamily="34" charset="0"/>
                    <a:cs typeface="Times New Roman" panose="02020603050405020304" pitchFamily="18" charset="0"/>
                  </a:rPr>
                  <a:t>)</a:t>
                </a:r>
                <a:r>
                  <a:rPr lang="en-US" sz="1800" dirty="0">
                    <a:effectLst/>
                    <a:latin typeface="Linux Libertine" panose="02000503000000000000" pitchFamily="2" charset="0"/>
                    <a:ea typeface="Times New Roman" panose="02020603050405020304" pitchFamily="18" charset="0"/>
                    <a:cs typeface="Times New Roman" panose="02020603050405020304" pitchFamily="18" charset="0"/>
                  </a:rPr>
                  <a:t> over positively and negatively sampled and labeled nodes using a sliding window on the sampled chains of nodes from the graph. Nodes within the context window are labeled one, while nodes outside the context window are labeled 0. A sigmoid function is then used to normalize the parameters of the matrix </a:t>
                </a:r>
                <a:r>
                  <a:rPr lang="en-US" sz="1800" i="0">
                    <a:effectLst/>
                    <a:latin typeface="Cambria Math" panose="02040503050406030204" pitchFamily="18" charset="0"/>
                    <a:ea typeface="Calibri" panose="020F0502020204030204" pitchFamily="34" charset="0"/>
                    <a:cs typeface="Cambria Math" panose="02040503050406030204" pitchFamily="18" charset="0"/>
                  </a:rPr>
                  <a:t>𝑋</a:t>
                </a:r>
                <a:r>
                  <a:rPr lang="en-US" sz="1800" dirty="0">
                    <a:effectLst/>
                    <a:latin typeface="Linux Libertine" panose="02000503000000000000" pitchFamily="2" charset="0"/>
                    <a:ea typeface="Times New Roman" panose="02020603050405020304" pitchFamily="18" charset="0"/>
                    <a:cs typeface="Times New Roman" panose="02020603050405020304" pitchFamily="18" charset="0"/>
                  </a:rPr>
                  <a:t>. A backpropagation phase then takes place to optimize the loss function: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200000"/>
                  </a:lnSpc>
                  <a:spcBef>
                    <a:spcPts val="0"/>
                  </a:spcBef>
                  <a:spcAft>
                    <a:spcPts val="800"/>
                  </a:spcAft>
                </a:pPr>
                <a:r>
                  <a:rPr lang="en-US" sz="1800" i="0">
                    <a:effectLst/>
                    <a:latin typeface="Cambria Math" panose="02040503050406030204" pitchFamily="18" charset="0"/>
                    <a:ea typeface="Calibri" panose="020F0502020204030204" pitchFamily="34" charset="0"/>
                    <a:cs typeface="Cambria Math" panose="02040503050406030204" pitchFamily="18" charset="0"/>
                  </a:rPr>
                  <a:t>𝐽</a:t>
                </a:r>
                <a:r>
                  <a:rPr lang="en-US" sz="1800" i="0">
                    <a:effectLst/>
                    <a:latin typeface="Cambria Math" panose="02040503050406030204" pitchFamily="18" charset="0"/>
                    <a:ea typeface="Calibri" panose="020F0502020204030204" pitchFamily="34" charset="0"/>
                    <a:cs typeface="Linux Libertine" panose="02000503000000000000" pitchFamily="2" charset="0"/>
                  </a:rPr>
                  <a:t>_</a:t>
                </a:r>
                <a:r>
                  <a:rPr lang="en-US" sz="1800" i="0">
                    <a:effectLst/>
                    <a:latin typeface="Cambria Math" panose="02040503050406030204" pitchFamily="18" charset="0"/>
                    <a:ea typeface="Calibri" panose="020F0502020204030204" pitchFamily="34" charset="0"/>
                    <a:cs typeface="Cambria Math" panose="02040503050406030204" pitchFamily="18" charset="0"/>
                  </a:rPr>
                  <a:t>𝑡</a:t>
                </a:r>
                <a:r>
                  <a:rPr lang="en-US" sz="1800" i="0">
                    <a:effectLst/>
                    <a:latin typeface="Linux Libertine" panose="02000503000000000000" pitchFamily="2" charset="0"/>
                    <a:ea typeface="Calibri" panose="020F0502020204030204" pitchFamily="34" charset="0"/>
                    <a:cs typeface="Cambria Math" panose="02040503050406030204" pitchFamily="18" charset="0"/>
                  </a:rPr>
                  <a:t> </a:t>
                </a:r>
                <a:r>
                  <a:rPr lang="en-US" sz="1800" i="0">
                    <a:effectLst/>
                    <a:latin typeface="Linux Libertine" panose="02000503000000000000" pitchFamily="2" charset="0"/>
                    <a:ea typeface="Calibri" panose="020F0502020204030204" pitchFamily="34" charset="0"/>
                    <a:cs typeface="Times New Roman" panose="02020603050405020304" pitchFamily="18" charset="0"/>
                  </a:rPr>
                  <a:t>(</a:t>
                </a:r>
                <a:r>
                  <a:rPr lang="en-US" sz="1800" i="0">
                    <a:effectLst/>
                    <a:latin typeface="Cambria Math" panose="02040503050406030204" pitchFamily="18" charset="0"/>
                    <a:ea typeface="Calibri" panose="020F0502020204030204" pitchFamily="34" charset="0"/>
                    <a:cs typeface="Cambria Math" panose="02040503050406030204" pitchFamily="18" charset="0"/>
                  </a:rPr>
                  <a:t>𝜃</a:t>
                </a:r>
                <a:r>
                  <a:rPr lang="en-US" sz="1800" i="0">
                    <a:effectLst/>
                    <a:latin typeface="Linux Libertine" panose="02000503000000000000" pitchFamily="2" charset="0"/>
                    <a:ea typeface="Calibri" panose="020F0502020204030204" pitchFamily="34" charset="0"/>
                    <a:cs typeface="Times New Roman" panose="02020603050405020304" pitchFamily="18" charset="0"/>
                  </a:rPr>
                  <a:t>) = </a:t>
                </a:r>
                <a:r>
                  <a:rPr lang="en-US" sz="1800" i="0">
                    <a:effectLst/>
                    <a:latin typeface="Linux Libertine" panose="02000503000000000000" pitchFamily="2" charset="0"/>
                    <a:cs typeface="Times New Roman" panose="02020603050405020304" pitchFamily="18" charset="0"/>
                  </a:rPr>
                  <a:t> </a:t>
                </a:r>
                <a:r>
                  <a:rPr lang="en-US" sz="1800" i="0">
                    <a:effectLst/>
                    <a:latin typeface="Linux Libertine" panose="02000503000000000000" pitchFamily="2" charset="0"/>
                    <a:ea typeface="Calibri" panose="020F0502020204030204" pitchFamily="34" charset="0"/>
                    <a:cs typeface="Times New Roman" panose="02020603050405020304" pitchFamily="18" charset="0"/>
                  </a:rPr>
                  <a:t>log</a:t>
                </a:r>
                <a:r>
                  <a:rPr lang="en-US" sz="1800" i="0">
                    <a:effectLst/>
                    <a:latin typeface="Cambria Math" panose="02040503050406030204" pitchFamily="18" charset="0"/>
                    <a:ea typeface="Calibri" panose="020F0502020204030204" pitchFamily="34" charset="0"/>
                    <a:cs typeface="Linux Libertine" panose="02000503000000000000" pitchFamily="2" charset="0"/>
                  </a:rPr>
                  <a:t>⁡〖</a:t>
                </a:r>
                <a:r>
                  <a:rPr lang="en-US" sz="1800" i="0">
                    <a:effectLst/>
                    <a:latin typeface="Cambria Math" panose="02040503050406030204" pitchFamily="18" charset="0"/>
                    <a:ea typeface="Calibri" panose="020F0502020204030204" pitchFamily="34" charset="0"/>
                    <a:cs typeface="Cambria Math" panose="02040503050406030204" pitchFamily="18" charset="0"/>
                  </a:rPr>
                  <a:t>𝜎</a:t>
                </a:r>
                <a:r>
                  <a:rPr lang="en-US" sz="1800" i="0">
                    <a:effectLst/>
                    <a:latin typeface="Linux Libertine" panose="02000503000000000000" pitchFamily="2" charset="0"/>
                    <a:ea typeface="Calibri" panose="020F0502020204030204" pitchFamily="34" charset="0"/>
                    <a:cs typeface="Times New Roman" panose="02020603050405020304" pitchFamily="18" charset="0"/>
                  </a:rPr>
                  <a:t>(</a:t>
                </a:r>
                <a:r>
                  <a:rPr lang="en-US" sz="1800" i="0">
                    <a:effectLst/>
                    <a:latin typeface="Cambria Math" panose="02040503050406030204" pitchFamily="18" charset="0"/>
                    <a:ea typeface="Calibri" panose="020F0502020204030204" pitchFamily="34" charset="0"/>
                    <a:cs typeface="Cambria Math" panose="02040503050406030204" pitchFamily="18" charset="0"/>
                  </a:rPr>
                  <a:t>𝑢</a:t>
                </a:r>
                <a:r>
                  <a:rPr lang="en-US" sz="1800" i="0">
                    <a:effectLst/>
                    <a:latin typeface="Cambria Math" panose="02040503050406030204" pitchFamily="18" charset="0"/>
                    <a:ea typeface="Calibri" panose="020F0502020204030204" pitchFamily="34" charset="0"/>
                    <a:cs typeface="Linux Libertine" panose="02000503000000000000" pitchFamily="2" charset="0"/>
                  </a:rPr>
                  <a:t>_</a:t>
                </a:r>
                <a:r>
                  <a:rPr lang="en-US" sz="1800" i="0">
                    <a:effectLst/>
                    <a:latin typeface="Linux Libertine" panose="02000503000000000000" pitchFamily="2" charset="0"/>
                    <a:ea typeface="Calibri" panose="020F0502020204030204" pitchFamily="34" charset="0"/>
                    <a:cs typeface="Times New Roman" panose="02020603050405020304" pitchFamily="18" charset="0"/>
                  </a:rPr>
                  <a:t>0</a:t>
                </a:r>
                <a:r>
                  <a:rPr lang="en-US" sz="1800" i="0">
                    <a:effectLst/>
                    <a:latin typeface="Cambria Math" panose="02040503050406030204" pitchFamily="18" charset="0"/>
                    <a:ea typeface="Calibri" panose="020F0502020204030204" pitchFamily="34" charset="0"/>
                    <a:cs typeface="Times New Roman" panose="02020603050405020304" pitchFamily="18" charset="0"/>
                  </a:rPr>
                  <a:t>^</a:t>
                </a:r>
                <a:r>
                  <a:rPr lang="en-US" sz="1800" i="0">
                    <a:effectLst/>
                    <a:latin typeface="Cambria Math" panose="02040503050406030204" pitchFamily="18" charset="0"/>
                    <a:ea typeface="Calibri" panose="020F0502020204030204" pitchFamily="34" charset="0"/>
                    <a:cs typeface="Cambria Math" panose="02040503050406030204" pitchFamily="18" charset="0"/>
                  </a:rPr>
                  <a:t>𝑇</a:t>
                </a:r>
                <a:r>
                  <a:rPr lang="en-US" sz="1800" i="0">
                    <a:effectLst/>
                    <a:latin typeface="Cambria Math" panose="02040503050406030204" pitchFamily="18" charset="0"/>
                    <a:ea typeface="Calibri" panose="020F0502020204030204" pitchFamily="34" charset="0"/>
                    <a:cs typeface="Linux Libertine" panose="02000503000000000000" pitchFamily="2" charset="0"/>
                  </a:rPr>
                  <a:t> </a:t>
                </a:r>
                <a:r>
                  <a:rPr lang="en-US" sz="1800" i="0">
                    <a:effectLst/>
                    <a:latin typeface="Cambria Math" panose="02040503050406030204" pitchFamily="18" charset="0"/>
                    <a:ea typeface="Calibri" panose="020F0502020204030204" pitchFamily="34" charset="0"/>
                    <a:cs typeface="Cambria Math" panose="02040503050406030204" pitchFamily="18" charset="0"/>
                  </a:rPr>
                  <a:t>𝑣</a:t>
                </a:r>
                <a:r>
                  <a:rPr lang="en-US" sz="1800" i="0">
                    <a:effectLst/>
                    <a:latin typeface="Cambria Math" panose="02040503050406030204" pitchFamily="18" charset="0"/>
                    <a:ea typeface="Calibri" panose="020F0502020204030204" pitchFamily="34" charset="0"/>
                    <a:cs typeface="Linux Libertine" panose="02000503000000000000" pitchFamily="2" charset="0"/>
                  </a:rPr>
                  <a:t>_</a:t>
                </a:r>
                <a:r>
                  <a:rPr lang="en-US" sz="1800" i="0">
                    <a:effectLst/>
                    <a:latin typeface="Cambria Math" panose="02040503050406030204" pitchFamily="18" charset="0"/>
                    <a:ea typeface="Calibri" panose="020F0502020204030204" pitchFamily="34" charset="0"/>
                    <a:cs typeface="Cambria Math" panose="02040503050406030204" pitchFamily="18" charset="0"/>
                  </a:rPr>
                  <a:t>𝑐</a:t>
                </a:r>
                <a:r>
                  <a:rPr lang="en-US" sz="1800" i="0">
                    <a:effectLst/>
                    <a:latin typeface="Linux Libertine" panose="02000503000000000000" pitchFamily="2" charset="0"/>
                    <a:ea typeface="Calibri" panose="020F0502020204030204" pitchFamily="34" charset="0"/>
                    <a:cs typeface="Times New Roman" panose="02020603050405020304" pitchFamily="18" charset="0"/>
                  </a:rPr>
                  <a:t>) + </a:t>
                </a:r>
                <a:r>
                  <a:rPr lang="en-US" sz="1800" i="0">
                    <a:effectLst/>
                    <a:latin typeface="Cambria Math" panose="02040503050406030204" pitchFamily="18" charset="0"/>
                    <a:ea typeface="Calibri" panose="020F0502020204030204" pitchFamily="34" charset="0"/>
                    <a:cs typeface="Linux Libertine" panose="02000503000000000000" pitchFamily="2" charset="0"/>
                  </a:rPr>
                  <a:t>∑1_(</a:t>
                </a:r>
                <a:r>
                  <a:rPr lang="en-US" sz="1800" i="0">
                    <a:effectLst/>
                    <a:latin typeface="Cambria Math" panose="02040503050406030204" pitchFamily="18" charset="0"/>
                    <a:ea typeface="Calibri" panose="020F0502020204030204" pitchFamily="34" charset="0"/>
                    <a:cs typeface="Cambria Math" panose="02040503050406030204" pitchFamily="18" charset="0"/>
                  </a:rPr>
                  <a:t>𝑗</a:t>
                </a:r>
                <a:r>
                  <a:rPr lang="en-US" sz="1800" i="0">
                    <a:effectLst/>
                    <a:latin typeface="Linux Libertine" panose="02000503000000000000" pitchFamily="2" charset="0"/>
                    <a:ea typeface="Calibri" panose="020F0502020204030204" pitchFamily="34" charset="0"/>
                    <a:cs typeface="Times New Roman" panose="02020603050405020304" pitchFamily="18" charset="0"/>
                  </a:rPr>
                  <a:t> = </a:t>
                </a:r>
                <a:r>
                  <a:rPr lang="en-US" sz="1800" i="0">
                    <a:effectLst/>
                    <a:latin typeface="Cambria Math" panose="02040503050406030204" pitchFamily="18" charset="0"/>
                    <a:ea typeface="Calibri" panose="020F0502020204030204" pitchFamily="34" charset="0"/>
                    <a:cs typeface="Cambria Math" panose="02040503050406030204" pitchFamily="18" charset="0"/>
                  </a:rPr>
                  <a:t>𝑃</a:t>
                </a:r>
                <a:r>
                  <a:rPr lang="en-US" sz="1800" i="0">
                    <a:effectLst/>
                    <a:latin typeface="Linux Libertine" panose="02000503000000000000" pitchFamily="2" charset="0"/>
                    <a:ea typeface="Calibri" panose="020F0502020204030204" pitchFamily="34" charset="0"/>
                    <a:cs typeface="Times New Roman" panose="02020603050405020304" pitchFamily="18" charset="0"/>
                  </a:rPr>
                  <a:t>(</a:t>
                </a:r>
                <a:r>
                  <a:rPr lang="en-US" sz="1800" i="0">
                    <a:effectLst/>
                    <a:latin typeface="Cambria Math" panose="02040503050406030204" pitchFamily="18" charset="0"/>
                    <a:ea typeface="Calibri" panose="020F0502020204030204" pitchFamily="34" charset="0"/>
                    <a:cs typeface="Cambria Math" panose="02040503050406030204" pitchFamily="18" charset="0"/>
                  </a:rPr>
                  <a:t>𝑉</a:t>
                </a:r>
                <a:r>
                  <a:rPr lang="en-US" sz="1800" i="0">
                    <a:effectLst/>
                    <a:latin typeface="Linux Libertine" panose="02000503000000000000" pitchFamily="2" charset="0"/>
                    <a:ea typeface="Calibri" panose="020F0502020204030204" pitchFamily="34" charset="0"/>
                    <a:cs typeface="Times New Roman" panose="02020603050405020304" pitchFamily="18" charset="0"/>
                  </a:rPr>
                  <a:t>)</a:t>
                </a:r>
                <a:r>
                  <a:rPr lang="en-US" sz="1800" i="0">
                    <a:effectLst/>
                    <a:latin typeface="Cambria Math" panose="02040503050406030204" pitchFamily="18" charset="0"/>
                    <a:ea typeface="Calibri" panose="020F0502020204030204" pitchFamily="34" charset="0"/>
                    <a:cs typeface="Linux Libertine" panose="02000503000000000000" pitchFamily="2" charset="0"/>
                  </a:rPr>
                  <a:t>)▒</a:t>
                </a:r>
                <a:r>
                  <a:rPr lang="en-US" sz="1800" i="0">
                    <a:effectLst/>
                    <a:latin typeface="Linux Libertine" panose="02000503000000000000" pitchFamily="2" charset="0"/>
                    <a:ea typeface="Calibri" panose="020F0502020204030204" pitchFamily="34" charset="0"/>
                    <a:cs typeface="Times New Roman" panose="02020603050405020304" pitchFamily="18" charset="0"/>
                  </a:rPr>
                  <a:t>log</a:t>
                </a:r>
                <a:r>
                  <a:rPr lang="en-US" sz="1800" i="0">
                    <a:effectLst/>
                    <a:latin typeface="Cambria Math" panose="02040503050406030204" pitchFamily="18" charset="0"/>
                    <a:ea typeface="Calibri" panose="020F0502020204030204" pitchFamily="34" charset="0"/>
                    <a:cs typeface="Linux Libertine" panose="02000503000000000000" pitchFamily="2" charset="0"/>
                  </a:rPr>
                  <a:t>⁡〖</a:t>
                </a:r>
                <a:r>
                  <a:rPr lang="en-US" sz="1800" i="0">
                    <a:effectLst/>
                    <a:latin typeface="Cambria Math" panose="02040503050406030204" pitchFamily="18" charset="0"/>
                    <a:ea typeface="Calibri" panose="020F0502020204030204" pitchFamily="34" charset="0"/>
                    <a:cs typeface="Cambria Math" panose="02040503050406030204" pitchFamily="18" charset="0"/>
                  </a:rPr>
                  <a:t>𝜎</a:t>
                </a:r>
                <a:r>
                  <a:rPr lang="en-US" sz="1800" i="0">
                    <a:effectLst/>
                    <a:latin typeface="Linux Libertine" panose="02000503000000000000" pitchFamily="2" charset="0"/>
                    <a:ea typeface="Calibri" panose="020F0502020204030204" pitchFamily="34" charset="0"/>
                    <a:cs typeface="Times New Roman" panose="02020603050405020304" pitchFamily="18" charset="0"/>
                  </a:rPr>
                  <a:t>(</a:t>
                </a:r>
                <a:r>
                  <a:rPr lang="en-US" sz="1800" i="0">
                    <a:effectLst/>
                    <a:latin typeface="Cambria Math" panose="02040503050406030204" pitchFamily="18" charset="0"/>
                    <a:ea typeface="Calibri" panose="020F0502020204030204" pitchFamily="34" charset="0"/>
                    <a:cs typeface="Linux Libertine" panose="02000503000000000000" pitchFamily="2" charset="0"/>
                  </a:rPr>
                  <a:t>〖</a:t>
                </a:r>
                <a:r>
                  <a:rPr lang="en-US" sz="1800" i="0">
                    <a:effectLst/>
                    <a:latin typeface="Linux Libertine" panose="02000503000000000000" pitchFamily="2" charset="0"/>
                    <a:ea typeface="Calibri" panose="020F0502020204030204" pitchFamily="34" charset="0"/>
                    <a:cs typeface="Times New Roman" panose="02020603050405020304" pitchFamily="18" charset="0"/>
                  </a:rPr>
                  <a:t>−</a:t>
                </a:r>
                <a:r>
                  <a:rPr lang="en-US" sz="1800" i="0">
                    <a:effectLst/>
                    <a:latin typeface="Cambria Math" panose="02040503050406030204" pitchFamily="18" charset="0"/>
                    <a:ea typeface="Calibri" panose="020F0502020204030204" pitchFamily="34" charset="0"/>
                    <a:cs typeface="Cambria Math" panose="02040503050406030204" pitchFamily="18" charset="0"/>
                  </a:rPr>
                  <a:t>𝑢</a:t>
                </a:r>
                <a:r>
                  <a:rPr lang="en-US" sz="1800" i="0">
                    <a:effectLst/>
                    <a:latin typeface="Cambria Math" panose="02040503050406030204" pitchFamily="18" charset="0"/>
                    <a:ea typeface="Calibri" panose="020F0502020204030204" pitchFamily="34" charset="0"/>
                    <a:cs typeface="Linux Libertine" panose="02000503000000000000" pitchFamily="2" charset="0"/>
                  </a:rPr>
                  <a:t>〗_</a:t>
                </a:r>
                <a:r>
                  <a:rPr lang="en-US" sz="1800" i="0">
                    <a:effectLst/>
                    <a:latin typeface="Cambria Math" panose="02040503050406030204" pitchFamily="18" charset="0"/>
                    <a:ea typeface="Calibri" panose="020F0502020204030204" pitchFamily="34" charset="0"/>
                    <a:cs typeface="Cambria Math" panose="02040503050406030204" pitchFamily="18" charset="0"/>
                  </a:rPr>
                  <a:t>𝑗^𝑇</a:t>
                </a:r>
                <a:r>
                  <a:rPr lang="en-US" sz="1800" i="0">
                    <a:effectLst/>
                    <a:latin typeface="Cambria Math" panose="02040503050406030204" pitchFamily="18" charset="0"/>
                    <a:ea typeface="Calibri" panose="020F0502020204030204" pitchFamily="34" charset="0"/>
                    <a:cs typeface="Linux Libertine" panose="02000503000000000000" pitchFamily="2" charset="0"/>
                  </a:rPr>
                  <a:t> </a:t>
                </a:r>
                <a:r>
                  <a:rPr lang="en-US" sz="1800" i="0">
                    <a:effectLst/>
                    <a:latin typeface="Cambria Math" panose="02040503050406030204" pitchFamily="18" charset="0"/>
                    <a:ea typeface="Calibri" panose="020F0502020204030204" pitchFamily="34" charset="0"/>
                    <a:cs typeface="Cambria Math" panose="02040503050406030204" pitchFamily="18" charset="0"/>
                  </a:rPr>
                  <a:t>𝑣</a:t>
                </a:r>
                <a:r>
                  <a:rPr lang="en-US" sz="1800" i="0">
                    <a:effectLst/>
                    <a:latin typeface="Cambria Math" panose="02040503050406030204" pitchFamily="18" charset="0"/>
                    <a:ea typeface="Calibri" panose="020F0502020204030204" pitchFamily="34" charset="0"/>
                    <a:cs typeface="Linux Libertine" panose="02000503000000000000" pitchFamily="2" charset="0"/>
                  </a:rPr>
                  <a:t>_</a:t>
                </a:r>
                <a:r>
                  <a:rPr lang="en-US" sz="1800" i="0">
                    <a:effectLst/>
                    <a:latin typeface="Cambria Math" panose="02040503050406030204" pitchFamily="18" charset="0"/>
                    <a:ea typeface="Calibri" panose="020F0502020204030204" pitchFamily="34" charset="0"/>
                    <a:cs typeface="Cambria Math" panose="02040503050406030204" pitchFamily="18" charset="0"/>
                  </a:rPr>
                  <a:t>𝑐</a:t>
                </a:r>
                <a:r>
                  <a:rPr lang="en-US" sz="1800" i="0">
                    <a:effectLst/>
                    <a:latin typeface="Linux Libertine" panose="02000503000000000000" pitchFamily="2" charset="0"/>
                    <a:ea typeface="Calibri" panose="020F0502020204030204" pitchFamily="34" charset="0"/>
                    <a:cs typeface="Times New Roman" panose="02020603050405020304" pitchFamily="18" charset="0"/>
                  </a:rPr>
                  <a:t>)</a:t>
                </a:r>
                <a:r>
                  <a:rPr lang="en-US" sz="1800" i="0">
                    <a:effectLst/>
                    <a:latin typeface="Cambria Math" panose="02040503050406030204" pitchFamily="18" charset="0"/>
                    <a:ea typeface="Calibri" panose="020F0502020204030204" pitchFamily="34" charset="0"/>
                    <a:cs typeface="Linux Libertine" panose="02000503000000000000" pitchFamily="2"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800" dirty="0">
                    <a:effectLst/>
                    <a:latin typeface="Linux Libertine" panose="02000503000000000000" pitchFamily="2" charset="0"/>
                    <a:ea typeface="Times New Roman" panose="02020603050405020304" pitchFamily="18" charset="0"/>
                  </a:rPr>
                  <a:t>Where </a:t>
                </a:r>
                <a:r>
                  <a:rPr lang="en-US" sz="1800" i="0">
                    <a:effectLst/>
                    <a:latin typeface="Cambria Math" panose="02040503050406030204" pitchFamily="18" charset="0"/>
                    <a:ea typeface="Calibri" panose="020F0502020204030204" pitchFamily="34" charset="0"/>
                    <a:cs typeface="Cambria Math" panose="02040503050406030204" pitchFamily="18" charset="0"/>
                  </a:rPr>
                  <a:t>𝑢</a:t>
                </a:r>
                <a:r>
                  <a:rPr lang="en-US" sz="1800" dirty="0">
                    <a:effectLst/>
                    <a:latin typeface="Linux Libertine" panose="02000503000000000000" pitchFamily="2" charset="0"/>
                    <a:ea typeface="Times New Roman" panose="02020603050405020304" pitchFamily="18" charset="0"/>
                  </a:rPr>
                  <a:t> and </a:t>
                </a:r>
                <a:r>
                  <a:rPr lang="en-US" sz="1800" i="0">
                    <a:effectLst/>
                    <a:latin typeface="Cambria Math" panose="02040503050406030204" pitchFamily="18" charset="0"/>
                    <a:ea typeface="Calibri" panose="020F0502020204030204" pitchFamily="34" charset="0"/>
                    <a:cs typeface="Cambria Math" panose="02040503050406030204" pitchFamily="18" charset="0"/>
                  </a:rPr>
                  <a:t>𝑣</a:t>
                </a:r>
                <a:r>
                  <a:rPr lang="en-US" sz="1800" dirty="0">
                    <a:effectLst/>
                    <a:latin typeface="Linux Libertine" panose="02000503000000000000" pitchFamily="2" charset="0"/>
                    <a:ea typeface="Times New Roman" panose="02020603050405020304" pitchFamily="18" charset="0"/>
                  </a:rPr>
                  <a:t> </a:t>
                </a:r>
                <a:r>
                  <a:rPr lang="en-US" sz="1800" i="0">
                    <a:effectLst/>
                    <a:latin typeface="Cambria Math" panose="02040503050406030204" pitchFamily="18" charset="0"/>
                    <a:ea typeface="Times New Roman" panose="02020603050405020304" pitchFamily="18" charset="0"/>
                    <a:cs typeface="Cambria Math" panose="02040503050406030204" pitchFamily="18" charset="0"/>
                  </a:rPr>
                  <a:t>𝜖</a:t>
                </a:r>
                <a:r>
                  <a:rPr lang="en-US" sz="1800" i="0">
                    <a:effectLst/>
                    <a:latin typeface="Linux Libertine" panose="02000503000000000000" pitchFamily="2" charset="0"/>
                    <a:ea typeface="Times New Roman" panose="02020603050405020304" pitchFamily="18" charset="0"/>
                  </a:rPr>
                  <a:t> </a:t>
                </a:r>
                <a:r>
                  <a:rPr lang="en-US" sz="1800" i="0">
                    <a:effectLst/>
                    <a:latin typeface="Cambria Math" panose="02040503050406030204" pitchFamily="18" charset="0"/>
                    <a:ea typeface="Times New Roman" panose="02020603050405020304" pitchFamily="18" charset="0"/>
                    <a:cs typeface="Cambria Math" panose="02040503050406030204" pitchFamily="18" charset="0"/>
                  </a:rPr>
                  <a:t>𝑉</a:t>
                </a:r>
                <a:r>
                  <a:rPr lang="en-US" sz="1800" dirty="0">
                    <a:effectLst/>
                    <a:latin typeface="Linux Libertine" panose="02000503000000000000" pitchFamily="2" charset="0"/>
                    <a:ea typeface="Times New Roman" panose="02020603050405020304" pitchFamily="18" charset="0"/>
                  </a:rPr>
                  <a:t> and </a:t>
                </a:r>
                <a:r>
                  <a:rPr lang="en-US" sz="1800" i="0">
                    <a:effectLst/>
                    <a:latin typeface="Cambria Math" panose="02040503050406030204" pitchFamily="18" charset="0"/>
                    <a:ea typeface="Calibri" panose="020F0502020204030204" pitchFamily="34" charset="0"/>
                    <a:cs typeface="Cambria Math" panose="02040503050406030204" pitchFamily="18" charset="0"/>
                  </a:rPr>
                  <a:t>𝑢</a:t>
                </a:r>
                <a:r>
                  <a:rPr lang="en-US" sz="1800" i="0">
                    <a:effectLst/>
                    <a:latin typeface="Cambria Math" panose="02040503050406030204" pitchFamily="18" charset="0"/>
                    <a:ea typeface="Calibri" panose="020F0502020204030204" pitchFamily="34" charset="0"/>
                    <a:cs typeface="Linux Libertine" panose="02000503000000000000" pitchFamily="2" charset="0"/>
                  </a:rPr>
                  <a:t>_</a:t>
                </a:r>
                <a:r>
                  <a:rPr lang="en-US" sz="1800" i="0">
                    <a:effectLst/>
                    <a:latin typeface="Cambria Math" panose="02040503050406030204" pitchFamily="18" charset="0"/>
                    <a:ea typeface="Calibri" panose="020F0502020204030204" pitchFamily="34" charset="0"/>
                    <a:cs typeface="Cambria Math" panose="02040503050406030204" pitchFamily="18" charset="0"/>
                  </a:rPr>
                  <a:t>𝑖</a:t>
                </a:r>
                <a:r>
                  <a:rPr lang="en-US" sz="1800" i="0">
                    <a:effectLst/>
                    <a:latin typeface="Linux Libertine" panose="02000503000000000000" pitchFamily="2" charset="0"/>
                    <a:ea typeface="Calibri" panose="020F0502020204030204" pitchFamily="34" charset="0"/>
                    <a:cs typeface="Cambria Math" panose="02040503050406030204" pitchFamily="18" charset="0"/>
                  </a:rPr>
                  <a:t> </a:t>
                </a:r>
                <a:r>
                  <a:rPr lang="en-US" sz="1800" i="0">
                    <a:effectLst/>
                    <a:latin typeface="Linux Libertine" panose="02000503000000000000" pitchFamily="2" charset="0"/>
                    <a:ea typeface="Calibri" panose="020F0502020204030204" pitchFamily="34" charset="0"/>
                  </a:rPr>
                  <a:t> </a:t>
                </a:r>
                <a:r>
                  <a:rPr lang="en-US" sz="1800" i="0">
                    <a:effectLst/>
                    <a:latin typeface="Cambria Math" panose="02040503050406030204" pitchFamily="18" charset="0"/>
                    <a:ea typeface="Calibri" panose="020F0502020204030204" pitchFamily="34" charset="0"/>
                    <a:cs typeface="Cambria Math" panose="02040503050406030204" pitchFamily="18" charset="0"/>
                  </a:rPr>
                  <a:t>𝑎𝑛𝑑</a:t>
                </a:r>
                <a:r>
                  <a:rPr lang="en-US" sz="1800" i="0">
                    <a:effectLst/>
                    <a:latin typeface="Linux Libertine" panose="02000503000000000000" pitchFamily="2" charset="0"/>
                    <a:ea typeface="Calibri" panose="020F0502020204030204" pitchFamily="34" charset="0"/>
                  </a:rPr>
                  <a:t> </a:t>
                </a:r>
                <a:r>
                  <a:rPr lang="en-US" sz="1800" i="0">
                    <a:effectLst/>
                    <a:latin typeface="Cambria Math" panose="02040503050406030204" pitchFamily="18" charset="0"/>
                    <a:ea typeface="Calibri" panose="020F0502020204030204" pitchFamily="34" charset="0"/>
                    <a:cs typeface="Cambria Math" panose="02040503050406030204" pitchFamily="18" charset="0"/>
                  </a:rPr>
                  <a:t>𝑣</a:t>
                </a:r>
                <a:r>
                  <a:rPr lang="en-US" sz="1800" i="0">
                    <a:effectLst/>
                    <a:latin typeface="Cambria Math" panose="02040503050406030204" pitchFamily="18" charset="0"/>
                    <a:ea typeface="Calibri" panose="020F0502020204030204" pitchFamily="34" charset="0"/>
                    <a:cs typeface="Linux Libertine" panose="02000503000000000000" pitchFamily="2" charset="0"/>
                  </a:rPr>
                  <a:t>_</a:t>
                </a:r>
                <a:r>
                  <a:rPr lang="en-US" sz="1800" i="0">
                    <a:effectLst/>
                    <a:latin typeface="Cambria Math" panose="02040503050406030204" pitchFamily="18" charset="0"/>
                    <a:ea typeface="Calibri" panose="020F0502020204030204" pitchFamily="34" charset="0"/>
                    <a:cs typeface="Cambria Math" panose="02040503050406030204" pitchFamily="18" charset="0"/>
                  </a:rPr>
                  <a:t>𝑖</a:t>
                </a:r>
                <a:r>
                  <a:rPr lang="en-US" sz="1800" i="0">
                    <a:effectLst/>
                    <a:latin typeface="Linux Libertine" panose="02000503000000000000" pitchFamily="2" charset="0"/>
                    <a:ea typeface="Calibri" panose="020F0502020204030204" pitchFamily="34" charset="0"/>
                    <a:cs typeface="Cambria Math" panose="02040503050406030204" pitchFamily="18" charset="0"/>
                  </a:rPr>
                  <a:t> </a:t>
                </a:r>
                <a:r>
                  <a:rPr lang="en-US" sz="1800" i="0">
                    <a:effectLst/>
                    <a:latin typeface="Linux Libertine" panose="02000503000000000000" pitchFamily="2" charset="0"/>
                    <a:ea typeface="Calibri" panose="020F0502020204030204" pitchFamily="34" charset="0"/>
                  </a:rPr>
                  <a:t> </a:t>
                </a:r>
                <a:r>
                  <a:rPr lang="en-US" sz="1800" i="0">
                    <a:effectLst/>
                    <a:latin typeface="Cambria Math" panose="02040503050406030204" pitchFamily="18" charset="0"/>
                    <a:ea typeface="Calibri" panose="020F0502020204030204" pitchFamily="34" charset="0"/>
                    <a:cs typeface="Cambria Math" panose="02040503050406030204" pitchFamily="18" charset="0"/>
                  </a:rPr>
                  <a:t>𝑎𝑟𝑒</a:t>
                </a:r>
                <a:r>
                  <a:rPr lang="en-US" sz="1800" i="0">
                    <a:effectLst/>
                    <a:latin typeface="Linux Libertine" panose="02000503000000000000" pitchFamily="2" charset="0"/>
                    <a:ea typeface="Calibri" panose="020F0502020204030204" pitchFamily="34" charset="0"/>
                  </a:rPr>
                  <a:t> </a:t>
                </a:r>
                <a:r>
                  <a:rPr lang="en-US" sz="1800" i="0">
                    <a:effectLst/>
                    <a:latin typeface="Cambria Math" panose="02040503050406030204" pitchFamily="18" charset="0"/>
                    <a:ea typeface="Calibri" panose="020F0502020204030204" pitchFamily="34" charset="0"/>
                    <a:cs typeface="Cambria Math" panose="02040503050406030204" pitchFamily="18" charset="0"/>
                  </a:rPr>
                  <a:t>𝑟𝑜𝑤</a:t>
                </a:r>
                <a:r>
                  <a:rPr lang="en-US" sz="1800" i="0">
                    <a:effectLst/>
                    <a:latin typeface="Linux Libertine" panose="02000503000000000000" pitchFamily="2" charset="0"/>
                    <a:ea typeface="Calibri" panose="020F0502020204030204" pitchFamily="34" charset="0"/>
                  </a:rPr>
                  <a:t> </a:t>
                </a:r>
                <a:r>
                  <a:rPr lang="en-US" sz="1800" i="0">
                    <a:effectLst/>
                    <a:latin typeface="Cambria Math" panose="02040503050406030204" pitchFamily="18" charset="0"/>
                    <a:ea typeface="Calibri" panose="020F0502020204030204" pitchFamily="34" charset="0"/>
                    <a:cs typeface="Cambria Math" panose="02040503050406030204" pitchFamily="18" charset="0"/>
                  </a:rPr>
                  <a:t>𝑣𝑒𝑐𝑡𝑜𝑟𝑠</a:t>
                </a:r>
                <a:r>
                  <a:rPr lang="en-US" sz="1800" i="0">
                    <a:effectLst/>
                    <a:latin typeface="Linux Libertine" panose="02000503000000000000" pitchFamily="2" charset="0"/>
                    <a:ea typeface="Calibri" panose="020F0502020204030204" pitchFamily="34" charset="0"/>
                  </a:rPr>
                  <a:t> </a:t>
                </a:r>
                <a:r>
                  <a:rPr lang="en-US" sz="1800" i="0">
                    <a:effectLst/>
                    <a:latin typeface="Cambria Math" panose="02040503050406030204" pitchFamily="18" charset="0"/>
                    <a:ea typeface="Times New Roman" panose="02020603050405020304" pitchFamily="18" charset="0"/>
                    <a:cs typeface="Cambria Math" panose="02040503050406030204" pitchFamily="18" charset="0"/>
                  </a:rPr>
                  <a:t>𝜖</a:t>
                </a:r>
                <a:r>
                  <a:rPr lang="en-US" sz="1800" i="0">
                    <a:effectLst/>
                    <a:latin typeface="Linux Libertine" panose="02000503000000000000" pitchFamily="2" charset="0"/>
                    <a:ea typeface="Times New Roman" panose="02020603050405020304" pitchFamily="18" charset="0"/>
                  </a:rPr>
                  <a:t> </a:t>
                </a:r>
                <a:r>
                  <a:rPr lang="en-US" sz="1800" i="0">
                    <a:effectLst/>
                    <a:latin typeface="Cambria Math" panose="02040503050406030204" pitchFamily="18" charset="0"/>
                    <a:ea typeface="Calibri" panose="020F0502020204030204" pitchFamily="34" charset="0"/>
                    <a:cs typeface="Cambria Math" panose="02040503050406030204" pitchFamily="18" charset="0"/>
                  </a:rPr>
                  <a:t>𝑋</a:t>
                </a:r>
                <a:r>
                  <a:rPr lang="en-US" sz="1800" dirty="0">
                    <a:effectLst/>
                    <a:latin typeface="Linux Libertine" panose="02000503000000000000" pitchFamily="2" charset="0"/>
                    <a:ea typeface="Times New Roman" panose="02020603050405020304" pitchFamily="18" charset="0"/>
                  </a:rPr>
                  <a:t>. The previously described algorithm is the Skip-gram model and was introduced in </a:t>
                </a:r>
                <a:r>
                  <a:rPr lang="en-US" sz="1800" dirty="0">
                    <a:effectLst/>
                    <a:latin typeface="Linux Libertine" panose="02000503000000000000" pitchFamily="2" charset="0"/>
                    <a:ea typeface="Calibri" panose="020F0502020204030204" pitchFamily="34" charset="0"/>
                  </a:rPr>
                  <a:t>(</a:t>
                </a:r>
                <a:r>
                  <a:rPr lang="en-US" sz="1800" dirty="0" err="1">
                    <a:effectLst/>
                    <a:latin typeface="Linux Libertine" panose="02000503000000000000" pitchFamily="2" charset="0"/>
                    <a:ea typeface="Calibri" panose="020F0502020204030204" pitchFamily="34" charset="0"/>
                  </a:rPr>
                  <a:t>Mikolov</a:t>
                </a:r>
                <a:r>
                  <a:rPr lang="en-US" sz="1800" dirty="0">
                    <a:effectLst/>
                    <a:latin typeface="Linux Libertine" panose="02000503000000000000" pitchFamily="2" charset="0"/>
                    <a:ea typeface="Calibri" panose="020F0502020204030204" pitchFamily="34" charset="0"/>
                  </a:rPr>
                  <a:t>, </a:t>
                </a:r>
                <a:r>
                  <a:rPr lang="en-US" sz="1800" dirty="0" err="1">
                    <a:effectLst/>
                    <a:latin typeface="Linux Libertine" panose="02000503000000000000" pitchFamily="2" charset="0"/>
                    <a:ea typeface="Calibri" panose="020F0502020204030204" pitchFamily="34" charset="0"/>
                  </a:rPr>
                  <a:t>Sutskever</a:t>
                </a:r>
                <a:r>
                  <a:rPr lang="en-US" sz="1800" dirty="0">
                    <a:effectLst/>
                    <a:latin typeface="Linux Libertine" panose="02000503000000000000" pitchFamily="2" charset="0"/>
                    <a:ea typeface="Calibri" panose="020F0502020204030204" pitchFamily="34" charset="0"/>
                  </a:rPr>
                  <a:t>, et al., 2013)</a:t>
                </a:r>
                <a:r>
                  <a:rPr lang="en-US" sz="1800" dirty="0">
                    <a:effectLst/>
                    <a:latin typeface="Linux Libertine" panose="02000503000000000000" pitchFamily="2" charset="0"/>
                    <a:ea typeface="Times New Roman" panose="02020603050405020304" pitchFamily="18" charset="0"/>
                  </a:rPr>
                  <a:t>. To extract knowledge graph embedding representations, we use Node2vec, the algorithm described in </a:t>
                </a:r>
                <a:r>
                  <a:rPr lang="en-US" sz="1800" dirty="0">
                    <a:effectLst/>
                    <a:latin typeface="Linux Libertine" panose="02000503000000000000" pitchFamily="2" charset="0"/>
                    <a:ea typeface="Calibri" panose="020F0502020204030204" pitchFamily="34" charset="0"/>
                  </a:rPr>
                  <a:t>(Grover &amp; </a:t>
                </a:r>
                <a:r>
                  <a:rPr lang="en-US" sz="1800" dirty="0" err="1">
                    <a:effectLst/>
                    <a:latin typeface="Linux Libertine" panose="02000503000000000000" pitchFamily="2" charset="0"/>
                    <a:ea typeface="Calibri" panose="020F0502020204030204" pitchFamily="34" charset="0"/>
                  </a:rPr>
                  <a:t>Leskovec</a:t>
                </a:r>
                <a:r>
                  <a:rPr lang="en-US" sz="1800" dirty="0">
                    <a:effectLst/>
                    <a:latin typeface="Linux Libertine" panose="02000503000000000000" pitchFamily="2" charset="0"/>
                    <a:ea typeface="Calibri" panose="020F0502020204030204" pitchFamily="34" charset="0"/>
                  </a:rPr>
                  <a:t>, 2016)</a:t>
                </a:r>
                <a:r>
                  <a:rPr lang="en-US" sz="1800" dirty="0">
                    <a:effectLst/>
                    <a:latin typeface="Linux Libertine" panose="02000503000000000000" pitchFamily="2" charset="0"/>
                    <a:ea typeface="Times New Roman" panose="02020603050405020304" pitchFamily="18" charset="0"/>
                  </a:rPr>
                  <a:t>. Node2vec performs a modified version of the random walk strategy (</a:t>
                </a:r>
                <a:r>
                  <a:rPr lang="en-US" sz="1800" dirty="0" err="1">
                    <a:effectLst/>
                    <a:latin typeface="Linux Libertine" panose="02000503000000000000" pitchFamily="2" charset="0"/>
                    <a:ea typeface="Times New Roman" panose="02020603050405020304" pitchFamily="18" charset="0"/>
                  </a:rPr>
                  <a:t>Perozzi</a:t>
                </a:r>
                <a:r>
                  <a:rPr lang="en-US" sz="1800" dirty="0">
                    <a:effectLst/>
                    <a:latin typeface="Linux Libertine" panose="02000503000000000000" pitchFamily="2" charset="0"/>
                    <a:ea typeface="Times New Roman" panose="02020603050405020304" pitchFamily="18" charset="0"/>
                  </a:rPr>
                  <a:t> et al., 2014), including parameters p and q to control the sampling strategy. The p parameter controls the likelihood of the walk revisiting a node. The q parameter controls whether the search is constrained locally or globally. Given q &gt; 1 and a random walk on an initial node, the random walk samples nodes closer to the initial node as in Breadth-First Search. Whereas q &lt; 1, random walk samples nodes further from the initial node like a Depth First Search. This customizability in search behavior allows the random walker to capture diverse structural and topological properties within the graph. The sampling strategy builds a corpus of walks starting from each node. A Skip-gram model trains on this corpus to generate a unique embedding vector for each node in the knowledge graph as described above. Once the model finishes training, we get an embedding vector of size d for each node regardless of its type, whether an article, author, drug, disease, gene, NIH project, or </a:t>
                </a:r>
                <a:r>
                  <a:rPr lang="en-US" sz="1800" dirty="0" err="1">
                    <a:effectLst/>
                    <a:latin typeface="Linux Libertine" panose="02000503000000000000" pitchFamily="2" charset="0"/>
                    <a:ea typeface="Times New Roman" panose="02020603050405020304" pitchFamily="18" charset="0"/>
                  </a:rPr>
                  <a:t>MeSH</a:t>
                </a:r>
                <a:r>
                  <a:rPr lang="en-US" sz="1800" dirty="0">
                    <a:effectLst/>
                    <a:latin typeface="Linux Libertine" panose="02000503000000000000" pitchFamily="2" charset="0"/>
                    <a:ea typeface="Times New Roman" panose="02020603050405020304" pitchFamily="18" charset="0"/>
                  </a:rPr>
                  <a:t> term.</a:t>
                </a:r>
                <a:endParaRPr lang="en-US" sz="1800" dirty="0"/>
              </a:p>
            </p:txBody>
          </p:sp>
        </mc:Fallback>
      </mc:AlternateContent>
      <p:sp>
        <p:nvSpPr>
          <p:cNvPr id="4" name="Slide Number Placeholder 3"/>
          <p:cNvSpPr>
            <a:spLocks noGrp="1"/>
          </p:cNvSpPr>
          <p:nvPr>
            <p:ph type="sldNum" sz="quarter" idx="5"/>
          </p:nvPr>
        </p:nvSpPr>
        <p:spPr/>
        <p:txBody>
          <a:bodyPr/>
          <a:lstStyle/>
          <a:p>
            <a:fld id="{9AB392EB-F905-4DEB-994A-84942BE6E492}" type="slidenum">
              <a:rPr lang="en-US" smtClean="0"/>
              <a:t>19</a:t>
            </a:fld>
            <a:endParaRPr lang="en-US"/>
          </a:p>
        </p:txBody>
      </p:sp>
    </p:spTree>
    <p:extLst>
      <p:ext uri="{BB962C8B-B14F-4D97-AF65-F5344CB8AC3E}">
        <p14:creationId xmlns:p14="http://schemas.microsoft.com/office/powerpoint/2010/main" val="25106431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AB392EB-F905-4DEB-994A-84942BE6E492}" type="slidenum">
              <a:rPr lang="en-US" smtClean="0"/>
              <a:t>22</a:t>
            </a:fld>
            <a:endParaRPr lang="en-US"/>
          </a:p>
        </p:txBody>
      </p:sp>
    </p:spTree>
    <p:extLst>
      <p:ext uri="{BB962C8B-B14F-4D97-AF65-F5344CB8AC3E}">
        <p14:creationId xmlns:p14="http://schemas.microsoft.com/office/powerpoint/2010/main" val="31196900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AB392EB-F905-4DEB-994A-84942BE6E492}" type="slidenum">
              <a:rPr lang="en-US" smtClean="0"/>
              <a:t>23</a:t>
            </a:fld>
            <a:endParaRPr lang="en-US"/>
          </a:p>
        </p:txBody>
      </p:sp>
    </p:spTree>
    <p:extLst>
      <p:ext uri="{BB962C8B-B14F-4D97-AF65-F5344CB8AC3E}">
        <p14:creationId xmlns:p14="http://schemas.microsoft.com/office/powerpoint/2010/main" val="20679933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200000"/>
              </a:lnSpc>
              <a:spcBef>
                <a:spcPts val="0"/>
              </a:spcBef>
              <a:spcAft>
                <a:spcPts val="800"/>
              </a:spcAft>
            </a:pPr>
            <a:r>
              <a:rPr lang="en-US" sz="1800" dirty="0">
                <a:effectLst/>
                <a:latin typeface="Linux Libertine" panose="02000503000000000000" pitchFamily="2" charset="0"/>
                <a:ea typeface="Calibri" panose="020F0502020204030204" pitchFamily="34" charset="0"/>
              </a:rPr>
              <a:t>As mentioned before, our goal is to build a backend knowledge graph-based embedding model used by a front-end search engine to rank articles relevant to specific user queries. </a:t>
            </a:r>
          </a:p>
          <a:p>
            <a:pPr marL="0" marR="0">
              <a:lnSpc>
                <a:spcPct val="200000"/>
              </a:lnSpc>
              <a:spcBef>
                <a:spcPts val="0"/>
              </a:spcBef>
              <a:spcAft>
                <a:spcPts val="800"/>
              </a:spcAft>
            </a:pPr>
            <a:endParaRPr lang="en-US" sz="1800" dirty="0">
              <a:effectLst/>
              <a:latin typeface="Linux Libertine" panose="02000503000000000000" pitchFamily="2" charset="0"/>
              <a:ea typeface="Calibri" panose="020F0502020204030204" pitchFamily="34" charset="0"/>
            </a:endParaRPr>
          </a:p>
          <a:p>
            <a:pPr marL="0" marR="0">
              <a:lnSpc>
                <a:spcPct val="200000"/>
              </a:lnSpc>
              <a:spcBef>
                <a:spcPts val="0"/>
              </a:spcBef>
              <a:spcAft>
                <a:spcPts val="800"/>
              </a:spcAft>
            </a:pPr>
            <a:r>
              <a:rPr lang="en-US" sz="1800" dirty="0">
                <a:effectLst/>
                <a:latin typeface="Linux Libertine" panose="02000503000000000000" pitchFamily="2" charset="0"/>
                <a:ea typeface="Calibri" panose="020F0502020204030204" pitchFamily="34" charset="0"/>
              </a:rPr>
              <a:t>Now that we have learned those node embeddings. Remember that each node in the graph can be an article, author, drug, gene, protein, </a:t>
            </a:r>
            <a:r>
              <a:rPr lang="en-US" sz="1800" dirty="0" err="1">
                <a:effectLst/>
                <a:latin typeface="Linux Libertine" panose="02000503000000000000" pitchFamily="2" charset="0"/>
                <a:ea typeface="Calibri" panose="020F0502020204030204" pitchFamily="34" charset="0"/>
              </a:rPr>
              <a:t>NIH_project</a:t>
            </a:r>
            <a:r>
              <a:rPr lang="en-US" sz="1800" dirty="0">
                <a:effectLst/>
                <a:latin typeface="Linux Libertine" panose="02000503000000000000" pitchFamily="2" charset="0"/>
                <a:ea typeface="Calibri" panose="020F0502020204030204" pitchFamily="34" charset="0"/>
              </a:rPr>
              <a:t> and so on. But what we want is one embedding vector per article. So this step uses a pooling operation averaging all the node embedding vectors of all types of nodes connected to each article node in its first-order neighborhood. We created the article embedding model in 2 stages. First, we performed the pooling operation of averaging all the nodes of the articles as described before mentioned in the citation network, which gives us 100456 articles. Next, we did a second pooling operation where we averaged the first-order neighbors of articles for the 2696 articles we intend to search.</a:t>
            </a:r>
            <a:endParaRPr lang="en-US" sz="1800" dirty="0"/>
          </a:p>
        </p:txBody>
      </p:sp>
      <p:sp>
        <p:nvSpPr>
          <p:cNvPr id="4" name="Slide Number Placeholder 3"/>
          <p:cNvSpPr>
            <a:spLocks noGrp="1"/>
          </p:cNvSpPr>
          <p:nvPr>
            <p:ph type="sldNum" sz="quarter" idx="5"/>
          </p:nvPr>
        </p:nvSpPr>
        <p:spPr/>
        <p:txBody>
          <a:bodyPr/>
          <a:lstStyle/>
          <a:p>
            <a:fld id="{9AB392EB-F905-4DEB-994A-84942BE6E492}" type="slidenum">
              <a:rPr lang="en-US" smtClean="0"/>
              <a:t>24</a:t>
            </a:fld>
            <a:endParaRPr lang="en-US"/>
          </a:p>
        </p:txBody>
      </p:sp>
    </p:spTree>
    <p:extLst>
      <p:ext uri="{BB962C8B-B14F-4D97-AF65-F5344CB8AC3E}">
        <p14:creationId xmlns:p14="http://schemas.microsoft.com/office/powerpoint/2010/main" val="40982128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200000"/>
              </a:lnSpc>
              <a:spcBef>
                <a:spcPts val="0"/>
              </a:spcBef>
              <a:spcAft>
                <a:spcPts val="800"/>
              </a:spcAft>
            </a:pPr>
            <a:r>
              <a:rPr lang="en-US" sz="1800" dirty="0">
                <a:effectLst/>
                <a:latin typeface="Linux Libertine" panose="02000503000000000000" pitchFamily="2" charset="0"/>
                <a:ea typeface="Calibri" panose="020F0502020204030204" pitchFamily="34" charset="0"/>
                <a:cs typeface="Times New Roman" panose="02020603050405020304" pitchFamily="18" charset="0"/>
              </a:rPr>
              <a:t>This module acts as an interface with the user. It takes user queries and parses them. The input queries are assumed to be in English and are tokenized by splitting over white spaces after removing punctuation, stop words and verbs. For example, a query like “show me articles on depression and type 2 diabetes” after tokenization it will be reduced to [“articles,” “depression,” “type,” “2”, “diabetes”]. The output keywords will be passed to the query expansion module. Note that the assumption here is that the query should include keywords in the index.</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9AB392EB-F905-4DEB-994A-84942BE6E492}" type="slidenum">
              <a:rPr lang="en-US" smtClean="0"/>
              <a:t>25</a:t>
            </a:fld>
            <a:endParaRPr lang="en-US"/>
          </a:p>
        </p:txBody>
      </p:sp>
    </p:spTree>
    <p:extLst>
      <p:ext uri="{BB962C8B-B14F-4D97-AF65-F5344CB8AC3E}">
        <p14:creationId xmlns:p14="http://schemas.microsoft.com/office/powerpoint/2010/main" val="66513352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200000"/>
              </a:lnSpc>
              <a:spcBef>
                <a:spcPts val="0"/>
              </a:spcBef>
              <a:spcAft>
                <a:spcPts val="800"/>
              </a:spcAft>
              <a:buClrTx/>
              <a:buSzTx/>
              <a:buFontTx/>
              <a:buNone/>
              <a:tabLst/>
              <a:defRPr/>
            </a:pPr>
            <a:r>
              <a:rPr lang="en-US" sz="1800" dirty="0">
                <a:effectLst/>
                <a:latin typeface="Linux Libertine" panose="02000503000000000000" pitchFamily="2" charset="0"/>
                <a:ea typeface="Calibri" panose="020F0502020204030204" pitchFamily="34" charset="0"/>
                <a:cs typeface="Times New Roman" panose="02020603050405020304" pitchFamily="18" charset="0"/>
              </a:rPr>
              <a:t>The list of extracted keywords is then expanded using a sliding window of sizes 2, 3, and 4. The sliding window’s function captures multiple tokens from the initial keyword list. It slides over the list of keywords and expands it. For example, our list of keywords [“articles,” “depression,” “type,” “2”, “diabetes”] will be expanded to [“articles,” “depression,” “type,” “2”, “diabetes,” “articles depression,” “depression type,” “type 2”, “2 diabetes”, “articles depression type,” “depression type 2”, “type 2 diabetes”]. The expanded list of keywords is then matched using a </a:t>
            </a:r>
            <a:r>
              <a:rPr lang="en-US" sz="1800" dirty="0" err="1">
                <a:effectLst/>
                <a:latin typeface="Linux Libertine" panose="02000503000000000000" pitchFamily="2" charset="0"/>
                <a:ea typeface="Calibri" panose="020F0502020204030204" pitchFamily="34" charset="0"/>
                <a:cs typeface="Times New Roman" panose="02020603050405020304" pitchFamily="18" charset="0"/>
              </a:rPr>
              <a:t>Levenshtein</a:t>
            </a:r>
            <a:r>
              <a:rPr lang="en-US" sz="1800" dirty="0">
                <a:effectLst/>
                <a:latin typeface="Linux Libertine" panose="02000503000000000000" pitchFamily="2" charset="0"/>
                <a:ea typeface="Calibri" panose="020F0502020204030204" pitchFamily="34" charset="0"/>
                <a:cs typeface="Times New Roman" panose="02020603050405020304" pitchFamily="18" charset="0"/>
              </a:rPr>
              <a:t> string distance comparator to the index. The index contains all the extracted biological entities from the articles and their unique identifiers and locations. For the matched mentions in each article in the index, each biological entity’s unique identifier will be extracted and passed to the next step. The system exits if the keywords are not found in the index.</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200000"/>
              </a:lnSpc>
              <a:spcBef>
                <a:spcPts val="0"/>
              </a:spcBef>
              <a:spcAft>
                <a:spcPts val="80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9AB392EB-F905-4DEB-994A-84942BE6E492}" type="slidenum">
              <a:rPr lang="en-US" smtClean="0"/>
              <a:t>26</a:t>
            </a:fld>
            <a:endParaRPr lang="en-US"/>
          </a:p>
        </p:txBody>
      </p:sp>
    </p:spTree>
    <p:extLst>
      <p:ext uri="{BB962C8B-B14F-4D97-AF65-F5344CB8AC3E}">
        <p14:creationId xmlns:p14="http://schemas.microsoft.com/office/powerpoint/2010/main" val="293119010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200000"/>
              </a:lnSpc>
              <a:spcBef>
                <a:spcPts val="0"/>
              </a:spcBef>
              <a:spcAft>
                <a:spcPts val="800"/>
              </a:spcAft>
              <a:tabLst>
                <a:tab pos="876300" algn="l"/>
              </a:tabLst>
            </a:pPr>
            <a:r>
              <a:rPr lang="en-US" sz="1800" dirty="0">
                <a:effectLst/>
                <a:latin typeface="Linux Libertine" panose="02000503000000000000" pitchFamily="2" charset="0"/>
                <a:ea typeface="Calibri" panose="020F0502020204030204" pitchFamily="34" charset="0"/>
                <a:cs typeface="Times New Roman" panose="02020603050405020304" pitchFamily="18" charset="0"/>
              </a:rPr>
              <a:t>This step aims to find all the nodes in the knowledge graph with the same identifiers as the identifiers returned by the query matcher. After identifying the nodes, their corresponding learned embedding vectors from the knowledge graph embedding step is extracted. All the vectors are averaged to a single vector in a pooling operation like described before. The single vector becomes our query embedding vector.</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9AB392EB-F905-4DEB-994A-84942BE6E492}" type="slidenum">
              <a:rPr lang="en-US" smtClean="0"/>
              <a:t>27</a:t>
            </a:fld>
            <a:endParaRPr lang="en-US"/>
          </a:p>
        </p:txBody>
      </p:sp>
    </p:spTree>
    <p:extLst>
      <p:ext uri="{BB962C8B-B14F-4D97-AF65-F5344CB8AC3E}">
        <p14:creationId xmlns:p14="http://schemas.microsoft.com/office/powerpoint/2010/main" val="225104128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200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In a Euclidean space, the cosine of angle theta between two vectors A and B is determined using the relationship:</a:t>
            </a:r>
          </a:p>
          <a:p>
            <a:pPr marL="0" marR="0">
              <a:lnSpc>
                <a:spcPct val="200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Since our knowledge graph has been embedded in Euclidean space, the similarity between two nodes is equivalent to the cosine of the angle between the two vectors representing the two nodes. So at this point, we have a query vector and a set of article vectors a simple operation between the query vector and the article vectors would yield the list of articles that are relevant to the query vector, and when sorted by the cosine score, the list of articles will be presented as ranked retrieved articles. </a:t>
            </a:r>
          </a:p>
          <a:p>
            <a:pPr marL="0" marR="0">
              <a:lnSpc>
                <a:spcPct val="200000"/>
              </a:lnSpc>
              <a:spcBef>
                <a:spcPts val="0"/>
              </a:spcBef>
              <a:spcAft>
                <a:spcPts val="80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9AB392EB-F905-4DEB-994A-84942BE6E492}" type="slidenum">
              <a:rPr lang="en-US" smtClean="0"/>
              <a:t>28</a:t>
            </a:fld>
            <a:endParaRPr lang="en-US"/>
          </a:p>
        </p:txBody>
      </p:sp>
    </p:spTree>
    <p:extLst>
      <p:ext uri="{BB962C8B-B14F-4D97-AF65-F5344CB8AC3E}">
        <p14:creationId xmlns:p14="http://schemas.microsoft.com/office/powerpoint/2010/main" val="105414193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200000"/>
              </a:lnSpc>
              <a:spcBef>
                <a:spcPts val="0"/>
              </a:spcBef>
              <a:spcAft>
                <a:spcPts val="800"/>
              </a:spcAft>
              <a:buClrTx/>
              <a:buSzTx/>
              <a:buFontTx/>
              <a:buNone/>
              <a:tabLst/>
              <a:defRPr/>
            </a:pPr>
            <a:r>
              <a:rPr lang="en-US" sz="1800" dirty="0">
                <a:effectLst/>
                <a:latin typeface="Linux Libertine" panose="02000503000000000000" pitchFamily="2" charset="0"/>
                <a:ea typeface="Calibri" panose="020F0502020204030204" pitchFamily="34" charset="0"/>
                <a:cs typeface="Times New Roman" panose="02020603050405020304" pitchFamily="18" charset="0"/>
              </a:rPr>
              <a:t>As mentioned before, we extracted a proof-of-concept dataset from the PubMed database described in (Xu et al., 2020). The database contains 3190000 articles indexed from the year 1781 to December 2020. I extracted our target dataset of 2696 articles submitted to journals between 02/01/2019 and 02/03/2019. I came about those dates by examining the number of articles that have been submitted to journals for each month in the past five years in PubMed. I then chose the month with the least number of articles submitted, February 2019. Still, the dataset at that point was too large. Note that we include extracted articles, but we also query the reference table to extract the first order citations of each article, so the number grows exponentially. Eventually, I kept reducing the number of days where articles were submitted to their journals until I got a reasonable size dataset. The query above is the final dataset I extracted from PubMed to evaluate the system.</a:t>
            </a:r>
            <a:endParaRPr lang="en-US" sz="1800" dirty="0"/>
          </a:p>
        </p:txBody>
      </p:sp>
      <p:sp>
        <p:nvSpPr>
          <p:cNvPr id="4" name="Slide Number Placeholder 3"/>
          <p:cNvSpPr>
            <a:spLocks noGrp="1"/>
          </p:cNvSpPr>
          <p:nvPr>
            <p:ph type="sldNum" sz="quarter" idx="5"/>
          </p:nvPr>
        </p:nvSpPr>
        <p:spPr/>
        <p:txBody>
          <a:bodyPr/>
          <a:lstStyle/>
          <a:p>
            <a:fld id="{9AB392EB-F905-4DEB-994A-84942BE6E492}" type="slidenum">
              <a:rPr lang="en-US" smtClean="0"/>
              <a:t>29</a:t>
            </a:fld>
            <a:endParaRPr lang="en-US"/>
          </a:p>
        </p:txBody>
      </p:sp>
    </p:spTree>
    <p:extLst>
      <p:ext uri="{BB962C8B-B14F-4D97-AF65-F5344CB8AC3E}">
        <p14:creationId xmlns:p14="http://schemas.microsoft.com/office/powerpoint/2010/main" val="395102034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200000"/>
              </a:lnSpc>
              <a:spcBef>
                <a:spcPts val="0"/>
              </a:spcBef>
              <a:spcAft>
                <a:spcPts val="800"/>
              </a:spcAft>
            </a:pPr>
            <a:r>
              <a:rPr lang="en-US" sz="1800" dirty="0">
                <a:effectLst/>
                <a:latin typeface="Linux Libertine" panose="02000503000000000000" pitchFamily="2" charset="0"/>
                <a:ea typeface="Calibri" panose="020F0502020204030204" pitchFamily="34" charset="0"/>
              </a:rPr>
              <a:t>I then extracted the PMIDs of those articles. The extracted PMIDs were used to query the downloaded PubMed database to extract all the necessary metadata for each article. We first extracted the citation network of the 2696 articles, which yielded 100456 articles, including the 2696 articles. For the 100450 articles, all the metadata has been extracted, including author information, </a:t>
            </a:r>
            <a:r>
              <a:rPr lang="en-US" sz="1800" dirty="0" err="1">
                <a:effectLst/>
                <a:latin typeface="Linux Libertine" panose="02000503000000000000" pitchFamily="2" charset="0"/>
                <a:ea typeface="Calibri" panose="020F0502020204030204" pitchFamily="34" charset="0"/>
              </a:rPr>
              <a:t>MeSH</a:t>
            </a:r>
            <a:r>
              <a:rPr lang="en-US" sz="1800" dirty="0">
                <a:effectLst/>
                <a:latin typeface="Linux Libertine" panose="02000503000000000000" pitchFamily="2" charset="0"/>
                <a:ea typeface="Calibri" panose="020F0502020204030204" pitchFamily="34" charset="0"/>
              </a:rPr>
              <a:t> terms, Substances, NIH project involvement, extracted drug, disease, and protein names, and citation network from the tables described in before. The extracted metadata was used to create the knowledge graph described before. The final knowledge graph is a multi-undirected graph as described above. The total nodes in the graph were 578453, representing nine types of entities; authors, articles, NIH projects, </a:t>
            </a:r>
            <a:r>
              <a:rPr lang="en-US" sz="1800" dirty="0" err="1">
                <a:effectLst/>
                <a:latin typeface="Linux Libertine" panose="02000503000000000000" pitchFamily="2" charset="0"/>
                <a:ea typeface="Calibri" panose="020F0502020204030204" pitchFamily="34" charset="0"/>
              </a:rPr>
              <a:t>MeSH</a:t>
            </a:r>
            <a:r>
              <a:rPr lang="en-US" sz="1800" dirty="0">
                <a:effectLst/>
                <a:latin typeface="Linux Libertine" panose="02000503000000000000" pitchFamily="2" charset="0"/>
                <a:ea typeface="Calibri" panose="020F0502020204030204" pitchFamily="34" charset="0"/>
              </a:rPr>
              <a:t> terms, registered chemical substances, diseases, drugs, genes, and species. Most of those nodes were author nodes, followed by article nodes, then several NIH projects, </a:t>
            </a:r>
            <a:r>
              <a:rPr lang="en-US" sz="1800" dirty="0" err="1">
                <a:effectLst/>
                <a:latin typeface="Linux Libertine" panose="02000503000000000000" pitchFamily="2" charset="0"/>
                <a:ea typeface="Calibri" panose="020F0502020204030204" pitchFamily="34" charset="0"/>
              </a:rPr>
              <a:t>MeSH</a:t>
            </a:r>
            <a:r>
              <a:rPr lang="en-US" sz="1800" dirty="0">
                <a:effectLst/>
                <a:latin typeface="Linux Libertine" panose="02000503000000000000" pitchFamily="2" charset="0"/>
                <a:ea typeface="Calibri" panose="020F0502020204030204" pitchFamily="34" charset="0"/>
              </a:rPr>
              <a:t> term nodes, and extracted biological entities. Note that what defines a node in a graph is its identifier. Each node in the knowledge graph is identified by its original identifier concatenated to its type with a slash. For authors, identifiers are Author IDs (AIDs) in the database, PMIDs identify articles, Project IDs identify NIH projects, Header IDs identify </a:t>
            </a:r>
            <a:r>
              <a:rPr lang="en-US" sz="1800" dirty="0" err="1">
                <a:effectLst/>
                <a:latin typeface="Linux Libertine" panose="02000503000000000000" pitchFamily="2" charset="0"/>
                <a:ea typeface="Calibri" panose="020F0502020204030204" pitchFamily="34" charset="0"/>
              </a:rPr>
              <a:t>MeSH</a:t>
            </a:r>
            <a:r>
              <a:rPr lang="en-US" sz="1800" dirty="0">
                <a:effectLst/>
                <a:latin typeface="Linux Libertine" panose="02000503000000000000" pitchFamily="2" charset="0"/>
                <a:ea typeface="Calibri" panose="020F0502020204030204" pitchFamily="34" charset="0"/>
              </a:rPr>
              <a:t> terms, and extracted biological entities are identified by their unique Entity ID assigned by </a:t>
            </a:r>
            <a:r>
              <a:rPr lang="en-US" sz="1800" dirty="0" err="1">
                <a:effectLst/>
                <a:latin typeface="Linux Libertine" panose="02000503000000000000" pitchFamily="2" charset="0"/>
                <a:ea typeface="Calibri" panose="020F0502020204030204" pitchFamily="34" charset="0"/>
              </a:rPr>
              <a:t>BioBERT</a:t>
            </a:r>
            <a:r>
              <a:rPr lang="en-US" sz="1800" dirty="0">
                <a:effectLst/>
                <a:latin typeface="Linux Libertine" panose="02000503000000000000" pitchFamily="2" charset="0"/>
                <a:ea typeface="Calibri" panose="020F0502020204030204" pitchFamily="34" charset="0"/>
              </a:rPr>
              <a:t> in the original paper (Xu et al., 2020).</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9AB392EB-F905-4DEB-994A-84942BE6E492}" type="slidenum">
              <a:rPr lang="en-US" smtClean="0"/>
              <a:t>30</a:t>
            </a:fld>
            <a:endParaRPr lang="en-US"/>
          </a:p>
        </p:txBody>
      </p:sp>
    </p:spTree>
    <p:extLst>
      <p:ext uri="{BB962C8B-B14F-4D97-AF65-F5344CB8AC3E}">
        <p14:creationId xmlns:p14="http://schemas.microsoft.com/office/powerpoint/2010/main" val="28108685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200000"/>
              </a:lnSpc>
              <a:spcBef>
                <a:spcPts val="0"/>
              </a:spcBef>
              <a:spcAft>
                <a:spcPts val="800"/>
              </a:spcAft>
            </a:pPr>
            <a:r>
              <a:rPr lang="en-US" sz="1800" dirty="0">
                <a:effectLst/>
                <a:latin typeface="Linux Libertine" panose="02000503000000000000" pitchFamily="2" charset="0"/>
                <a:ea typeface="Calibri" panose="020F0502020204030204" pitchFamily="34" charset="0"/>
                <a:cs typeface="Times New Roman" panose="02020603050405020304" pitchFamily="18" charset="0"/>
              </a:rPr>
              <a:t>I </a:t>
            </a:r>
            <a:r>
              <a:rPr lang="en-US" sz="1800" dirty="0">
                <a:effectLst/>
                <a:latin typeface="Linux Libertine" panose="02000503000000000000" pitchFamily="2" charset="0"/>
                <a:ea typeface="Calibri" panose="020F0502020204030204" pitchFamily="34" charset="0"/>
              </a:rPr>
              <a:t>evaluated </a:t>
            </a:r>
            <a:r>
              <a:rPr lang="en-US" sz="1800" dirty="0" err="1">
                <a:effectLst/>
                <a:latin typeface="Linux Libertine" panose="02000503000000000000" pitchFamily="2" charset="0"/>
                <a:ea typeface="Calibri" panose="020F0502020204030204" pitchFamily="34" charset="0"/>
              </a:rPr>
              <a:t>MedGraph</a:t>
            </a:r>
            <a:r>
              <a:rPr lang="en-US" sz="1800" dirty="0">
                <a:effectLst/>
                <a:latin typeface="Linux Libertine" panose="02000503000000000000" pitchFamily="2" charset="0"/>
                <a:ea typeface="Calibri" panose="020F0502020204030204" pitchFamily="34" charset="0"/>
              </a:rPr>
              <a:t> to assess the quality of our knowledge graph embedding based relevance ranking against PubMed’s </a:t>
            </a:r>
            <a:r>
              <a:rPr lang="en-US" sz="1800" dirty="0" err="1">
                <a:effectLst/>
                <a:latin typeface="Linux Libertine" panose="02000503000000000000" pitchFamily="2" charset="0"/>
                <a:ea typeface="Calibri" panose="020F0502020204030204" pitchFamily="34" charset="0"/>
              </a:rPr>
              <a:t>BestMatch</a:t>
            </a:r>
            <a:r>
              <a:rPr lang="en-US" sz="1800" dirty="0">
                <a:effectLst/>
                <a:latin typeface="Linux Libertine" panose="02000503000000000000" pitchFamily="2" charset="0"/>
                <a:ea typeface="Calibri" panose="020F0502020204030204" pitchFamily="34" charset="0"/>
              </a:rPr>
              <a:t> algorithm as ground truth. I extracted a set of 15 queries from PubMed, and I applied the search on the articles that have been completed between the dates of 2/1/2019 and 2/3/2019. The 15 queries were chosen randomly from the extracted index of biological entities as described before. They contained the names of diseases and drugs, as shown in here. For example, for the query “type 2 diabetes,” we use the following query to search PubMed then download the resultant PMIDs of the ranked articles.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9AB392EB-F905-4DEB-994A-84942BE6E492}" type="slidenum">
              <a:rPr lang="en-US" smtClean="0"/>
              <a:t>31</a:t>
            </a:fld>
            <a:endParaRPr lang="en-US"/>
          </a:p>
        </p:txBody>
      </p:sp>
    </p:spTree>
    <p:extLst>
      <p:ext uri="{BB962C8B-B14F-4D97-AF65-F5344CB8AC3E}">
        <p14:creationId xmlns:p14="http://schemas.microsoft.com/office/powerpoint/2010/main" val="300418956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200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Then for each query, I rank the articles based on the cosine distance metric by comparing the query vector to the article vectors as described before. Then I compute the number of relevant articles, the number of retrieved articles, and the number of relevant articles retrieved. I then compute precision, recall, and f1-score. Precision is the number of relevant articles retrieved over the total number of relevant articles. The recall is the number of relevant articles retrieved over the total number of retrieved articles. Moreover, F1-score is the harmonic mean of both precision and recall.</a:t>
            </a:r>
          </a:p>
          <a:p>
            <a:pPr marL="0" marR="0">
              <a:lnSpc>
                <a:spcPct val="200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I also compute the Mean Average Precision (MAP) across queries. MAP is a widely used metric in information retrieval to evaluate search engines. It focuses on precision since recall can be misleading in some cases. To compute MAP, I first compute the average precision for each query. That is done by finding each retrieved article in the ground truth and for top K. Then computing precision at each article in the retrieved articles. That is followed by averaging the precision values across all retrieved articles K. Then averaging across all the queries.</a:t>
            </a:r>
          </a:p>
          <a:p>
            <a:pPr marL="0" marR="0" lvl="0" indent="0" algn="l" defTabSz="914400" rtl="0" eaLnBrk="1" fontAlgn="auto" latinLnBrk="0" hangingPunct="1">
              <a:lnSpc>
                <a:spcPct val="200000"/>
              </a:lnSpc>
              <a:spcBef>
                <a:spcPts val="0"/>
              </a:spcBef>
              <a:spcAft>
                <a:spcPts val="800"/>
              </a:spcAft>
              <a:buClrTx/>
              <a:buSzTx/>
              <a:buFontTx/>
              <a:buNone/>
              <a:tabLst/>
              <a:defRPr/>
            </a:pPr>
            <a:r>
              <a:rPr lang="en-US" sz="1800" dirty="0">
                <a:effectLst/>
                <a:latin typeface="Linux Libertine" panose="02000503000000000000" pitchFamily="2" charset="0"/>
                <a:ea typeface="Calibri" panose="020F0502020204030204" pitchFamily="34" charset="0"/>
                <a:cs typeface="Times New Roman" panose="02020603050405020304" pitchFamily="18" charset="0"/>
              </a:rPr>
              <a:t>I also implemented and trained a TF-IDF model on our corpus of 100456 articles then extracted the TFIDF vectors for the 2696 target articles to compare against our method. I first extracted a dictionary of unique tokens in the corpus then trained a Bag of Words model. The Bag of Words model was then used to train the TF-IDF model, yielding a vectorized document matrix and unique vocabulary.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200000"/>
              </a:lnSpc>
              <a:spcBef>
                <a:spcPts val="0"/>
              </a:spcBef>
              <a:spcAft>
                <a:spcPts val="80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9AB392EB-F905-4DEB-994A-84942BE6E492}" type="slidenum">
              <a:rPr lang="en-US" smtClean="0"/>
              <a:t>32</a:t>
            </a:fld>
            <a:endParaRPr lang="en-US"/>
          </a:p>
        </p:txBody>
      </p:sp>
    </p:spTree>
    <p:extLst>
      <p:ext uri="{BB962C8B-B14F-4D97-AF65-F5344CB8AC3E}">
        <p14:creationId xmlns:p14="http://schemas.microsoft.com/office/powerpoint/2010/main" val="56960647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200000"/>
              </a:lnSpc>
              <a:spcBef>
                <a:spcPts val="0"/>
              </a:spcBef>
              <a:spcAft>
                <a:spcPts val="800"/>
              </a:spcAft>
            </a:pPr>
            <a:r>
              <a:rPr lang="en-US" sz="1800" dirty="0">
                <a:effectLst/>
                <a:latin typeface="Linux Libertine" panose="02000503000000000000" pitchFamily="2" charset="0"/>
                <a:ea typeface="Calibri" panose="020F0502020204030204" pitchFamily="34" charset="0"/>
              </a:rPr>
              <a:t>Here </a:t>
            </a:r>
            <a:r>
              <a:rPr lang="en-US" sz="1800" dirty="0" err="1">
                <a:effectLst/>
                <a:latin typeface="Linux Libertine" panose="02000503000000000000" pitchFamily="2" charset="0"/>
                <a:ea typeface="Calibri" panose="020F0502020204030204" pitchFamily="34" charset="0"/>
              </a:rPr>
              <a:t>th</a:t>
            </a:r>
            <a:r>
              <a:rPr lang="en-US" sz="1800" dirty="0">
                <a:effectLst/>
                <a:latin typeface="Linux Libertine" panose="02000503000000000000" pitchFamily="2" charset="0"/>
                <a:ea typeface="Calibri" panose="020F0502020204030204" pitchFamily="34" charset="0"/>
              </a:rPr>
              <a:t> table presents the results on the four metrics we described. I ran 12 levels of K for both this method </a:t>
            </a:r>
            <a:r>
              <a:rPr lang="en-US" sz="1800" dirty="0" err="1">
                <a:effectLst/>
                <a:latin typeface="Linux Libertine" panose="02000503000000000000" pitchFamily="2" charset="0"/>
                <a:ea typeface="Calibri" panose="020F0502020204030204" pitchFamily="34" charset="0"/>
              </a:rPr>
              <a:t>MedGraph</a:t>
            </a:r>
            <a:r>
              <a:rPr lang="en-US" sz="1800" dirty="0">
                <a:effectLst/>
                <a:latin typeface="Linux Libertine" panose="02000503000000000000" pitchFamily="2" charset="0"/>
                <a:ea typeface="Calibri" panose="020F0502020204030204" pitchFamily="34" charset="0"/>
              </a:rPr>
              <a:t> and the standard TF-IDF. The results here indicate that </a:t>
            </a:r>
            <a:r>
              <a:rPr lang="en-US" sz="1800" dirty="0" err="1">
                <a:effectLst/>
                <a:latin typeface="Linux Libertine" panose="02000503000000000000" pitchFamily="2" charset="0"/>
                <a:ea typeface="Calibri" panose="020F0502020204030204" pitchFamily="34" charset="0"/>
              </a:rPr>
              <a:t>MedGraph</a:t>
            </a:r>
            <a:r>
              <a:rPr lang="en-US" sz="1800" dirty="0">
                <a:effectLst/>
                <a:latin typeface="Linux Libertine" panose="02000503000000000000" pitchFamily="2" charset="0"/>
                <a:ea typeface="Calibri" panose="020F0502020204030204" pitchFamily="34" charset="0"/>
              </a:rPr>
              <a:t> has outperformed TF-IDF on the PubMed </a:t>
            </a:r>
            <a:r>
              <a:rPr lang="en-US" sz="1800" dirty="0" err="1">
                <a:effectLst/>
                <a:latin typeface="Linux Libertine" panose="02000503000000000000" pitchFamily="2" charset="0"/>
                <a:ea typeface="Calibri" panose="020F0502020204030204" pitchFamily="34" charset="0"/>
              </a:rPr>
              <a:t>BestMatch</a:t>
            </a:r>
            <a:r>
              <a:rPr lang="en-US" sz="1800" dirty="0">
                <a:effectLst/>
                <a:latin typeface="Linux Libertine" panose="02000503000000000000" pitchFamily="2" charset="0"/>
                <a:ea typeface="Calibri" panose="020F0502020204030204" pitchFamily="34" charset="0"/>
              </a:rPr>
              <a:t> dataset at various levels of K and across all queries and metrics. The only exception is that MAP at higher K levels was higher for TF-IDF. That might explain why TF-IDF returns more relevant documents but does not rank them higher, while </a:t>
            </a:r>
            <a:r>
              <a:rPr lang="en-US" sz="1800" dirty="0" err="1">
                <a:effectLst/>
                <a:latin typeface="Linux Libertine" panose="02000503000000000000" pitchFamily="2" charset="0"/>
                <a:ea typeface="Calibri" panose="020F0502020204030204" pitchFamily="34" charset="0"/>
              </a:rPr>
              <a:t>MedGraph</a:t>
            </a:r>
            <a:r>
              <a:rPr lang="en-US" sz="1800" dirty="0">
                <a:effectLst/>
                <a:latin typeface="Linux Libertine" panose="02000503000000000000" pitchFamily="2" charset="0"/>
                <a:ea typeface="Calibri" panose="020F0502020204030204" pitchFamily="34" charset="0"/>
              </a:rPr>
              <a:t> might retrieve less relevant documents more semantically related and ranked closely. In addition, both precision and recall for </a:t>
            </a:r>
            <a:r>
              <a:rPr lang="en-US" sz="1800" dirty="0" err="1">
                <a:effectLst/>
                <a:latin typeface="Linux Libertine" panose="02000503000000000000" pitchFamily="2" charset="0"/>
                <a:ea typeface="Calibri" panose="020F0502020204030204" pitchFamily="34" charset="0"/>
              </a:rPr>
              <a:t>MedGraph</a:t>
            </a:r>
            <a:r>
              <a:rPr lang="en-US" sz="1800" dirty="0">
                <a:effectLst/>
                <a:latin typeface="Linux Libertine" panose="02000503000000000000" pitchFamily="2" charset="0"/>
                <a:ea typeface="Calibri" panose="020F0502020204030204" pitchFamily="34" charset="0"/>
              </a:rPr>
              <a:t> were consistently higher with the recall increased exponentially with higher K, and precision decreased exponentially with higher K levels.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9AB392EB-F905-4DEB-994A-84942BE6E492}" type="slidenum">
              <a:rPr lang="en-US" smtClean="0"/>
              <a:t>33</a:t>
            </a:fld>
            <a:endParaRPr lang="en-US"/>
          </a:p>
        </p:txBody>
      </p:sp>
    </p:spTree>
    <p:extLst>
      <p:ext uri="{BB962C8B-B14F-4D97-AF65-F5344CB8AC3E}">
        <p14:creationId xmlns:p14="http://schemas.microsoft.com/office/powerpoint/2010/main" val="140018204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200000"/>
              </a:lnSpc>
              <a:spcBef>
                <a:spcPts val="0"/>
              </a:spcBef>
              <a:spcAft>
                <a:spcPts val="800"/>
              </a:spcAft>
            </a:pPr>
            <a:r>
              <a:rPr lang="en-US" sz="1800" dirty="0" err="1">
                <a:effectLst/>
                <a:latin typeface="Linux Libertine" panose="02000503000000000000" pitchFamily="2" charset="0"/>
                <a:ea typeface="Calibri" panose="020F0502020204030204" pitchFamily="34" charset="0"/>
                <a:cs typeface="Times New Roman" panose="02020603050405020304" pitchFamily="18" charset="0"/>
              </a:rPr>
              <a:t>MedGraph</a:t>
            </a:r>
            <a:r>
              <a:rPr lang="en-US" sz="1800" dirty="0">
                <a:effectLst/>
                <a:latin typeface="Linux Libertine" panose="02000503000000000000" pitchFamily="2" charset="0"/>
                <a:ea typeface="Calibri" panose="020F0502020204030204" pitchFamily="34" charset="0"/>
                <a:cs typeface="Times New Roman" panose="02020603050405020304" pitchFamily="18" charset="0"/>
              </a:rPr>
              <a:t> had higher F1 Scores across all K levels due to its higher recall and precision. The highest difference between </a:t>
            </a:r>
            <a:r>
              <a:rPr lang="en-US" sz="1800" dirty="0" err="1">
                <a:effectLst/>
                <a:latin typeface="Linux Libertine" panose="02000503000000000000" pitchFamily="2" charset="0"/>
                <a:ea typeface="Calibri" panose="020F0502020204030204" pitchFamily="34" charset="0"/>
                <a:cs typeface="Times New Roman" panose="02020603050405020304" pitchFamily="18" charset="0"/>
              </a:rPr>
              <a:t>MedGraph</a:t>
            </a:r>
            <a:r>
              <a:rPr lang="en-US" sz="1800" dirty="0">
                <a:effectLst/>
                <a:latin typeface="Linux Libertine" panose="02000503000000000000" pitchFamily="2" charset="0"/>
                <a:ea typeface="Calibri" panose="020F0502020204030204" pitchFamily="34" charset="0"/>
                <a:cs typeface="Times New Roman" panose="02020603050405020304" pitchFamily="18" charset="0"/>
              </a:rPr>
              <a:t> and TF-IDF was at K=1, indicating that the first document in the retrieved documents almost always existed in the ground truth dataset. However, recall was the lowest because most of the relevant documents did not exist in the first position in the retrieved documents. Of course, as we increase K, the recall increases, indicating that most of the relevant documents in the ground truth appeared in the retrieved documents. At K = 10, </a:t>
            </a:r>
            <a:r>
              <a:rPr lang="en-US" sz="1800" dirty="0" err="1">
                <a:effectLst/>
                <a:latin typeface="Linux Libertine" panose="02000503000000000000" pitchFamily="2" charset="0"/>
                <a:ea typeface="Calibri" panose="020F0502020204030204" pitchFamily="34" charset="0"/>
                <a:cs typeface="Times New Roman" panose="02020603050405020304" pitchFamily="18" charset="0"/>
              </a:rPr>
              <a:t>MedGraph</a:t>
            </a:r>
            <a:r>
              <a:rPr lang="en-US" sz="1800" dirty="0">
                <a:effectLst/>
                <a:latin typeface="Linux Libertine" panose="02000503000000000000" pitchFamily="2" charset="0"/>
                <a:ea typeface="Calibri" panose="020F0502020204030204" pitchFamily="34" charset="0"/>
                <a:cs typeface="Times New Roman" panose="02020603050405020304" pitchFamily="18" charset="0"/>
              </a:rPr>
              <a:t> started underperforming on MAP while TF-IDF stayed consistent at higher K levels. That is because </a:t>
            </a:r>
            <a:r>
              <a:rPr lang="en-US" sz="1800" dirty="0" err="1">
                <a:effectLst/>
                <a:latin typeface="Linux Libertine" panose="02000503000000000000" pitchFamily="2" charset="0"/>
                <a:ea typeface="Calibri" panose="020F0502020204030204" pitchFamily="34" charset="0"/>
                <a:cs typeface="Times New Roman" panose="02020603050405020304" pitchFamily="18" charset="0"/>
              </a:rPr>
              <a:t>MedGraph</a:t>
            </a:r>
            <a:r>
              <a:rPr lang="en-US" sz="1800" dirty="0">
                <a:effectLst/>
                <a:latin typeface="Linux Libertine" panose="02000503000000000000" pitchFamily="2" charset="0"/>
                <a:ea typeface="Calibri" panose="020F0502020204030204" pitchFamily="34" charset="0"/>
                <a:cs typeface="Times New Roman" panose="02020603050405020304" pitchFamily="18" charset="0"/>
              </a:rPr>
              <a:t> ranks a small number of the relevant documents highly, while a large number of the documents do not appear in </a:t>
            </a:r>
            <a:r>
              <a:rPr lang="en-US" sz="1800" dirty="0" err="1">
                <a:effectLst/>
                <a:latin typeface="Linux Libertine" panose="02000503000000000000" pitchFamily="2" charset="0"/>
                <a:ea typeface="Calibri" panose="020F0502020204030204" pitchFamily="34" charset="0"/>
                <a:cs typeface="Times New Roman" panose="02020603050405020304" pitchFamily="18" charset="0"/>
              </a:rPr>
              <a:t>MedGraph</a:t>
            </a:r>
            <a:r>
              <a:rPr lang="en-US" sz="1800" dirty="0">
                <a:effectLst/>
                <a:latin typeface="Linux Libertine" panose="02000503000000000000" pitchFamily="2" charset="0"/>
                <a:ea typeface="Calibri" panose="020F0502020204030204" pitchFamily="34" charset="0"/>
                <a:cs typeface="Times New Roman" panose="02020603050405020304" pitchFamily="18" charset="0"/>
              </a:rPr>
              <a:t>. The documents that appear in the retrieved documents are ranked closely and higher due to the semantic nature of the algorithm, while the documents that are not closely ranked and in the top are usually ranked lower and tend to be spread out.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800" dirty="0">
                <a:effectLst/>
                <a:latin typeface="Linux Libertine" panose="02000503000000000000" pitchFamily="2" charset="0"/>
                <a:ea typeface="Calibri" panose="020F0502020204030204" pitchFamily="34" charset="0"/>
              </a:rPr>
              <a:t>Alternatively, in other words, </a:t>
            </a:r>
            <a:r>
              <a:rPr lang="en-US" sz="1800" dirty="0" err="1">
                <a:effectLst/>
                <a:latin typeface="Linux Libertine" panose="02000503000000000000" pitchFamily="2" charset="0"/>
                <a:ea typeface="Calibri" panose="020F0502020204030204" pitchFamily="34" charset="0"/>
              </a:rPr>
              <a:t>MedGraph</a:t>
            </a:r>
            <a:r>
              <a:rPr lang="en-US" sz="1800" dirty="0">
                <a:effectLst/>
                <a:latin typeface="Linux Libertine" panose="02000503000000000000" pitchFamily="2" charset="0"/>
                <a:ea typeface="Calibri" panose="020F0502020204030204" pitchFamily="34" charset="0"/>
              </a:rPr>
              <a:t> produces relevant articles that are closely ranked together due to the semantic nature of the algorithm, while TF-IDF produces almost the same number of relevant articles but are not ranked closer together.</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9AB392EB-F905-4DEB-994A-84942BE6E492}" type="slidenum">
              <a:rPr lang="en-US" smtClean="0"/>
              <a:t>34</a:t>
            </a:fld>
            <a:endParaRPr lang="en-US"/>
          </a:p>
        </p:txBody>
      </p:sp>
    </p:spTree>
    <p:extLst>
      <p:ext uri="{BB962C8B-B14F-4D97-AF65-F5344CB8AC3E}">
        <p14:creationId xmlns:p14="http://schemas.microsoft.com/office/powerpoint/2010/main" val="37469798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200000"/>
              </a:lnSpc>
              <a:spcBef>
                <a:spcPts val="0"/>
              </a:spcBef>
              <a:spcAft>
                <a:spcPts val="800"/>
              </a:spcAft>
              <a:buClrTx/>
              <a:buSzTx/>
              <a:buFontTx/>
              <a:buNone/>
              <a:tabLst/>
              <a:defRPr/>
            </a:pPr>
            <a:r>
              <a:rPr lang="en-US" sz="1800" dirty="0">
                <a:effectLst/>
                <a:latin typeface="Linux Libertine" panose="02000503000000000000" pitchFamily="2" charset="0"/>
                <a:ea typeface="Calibri" panose="020F0502020204030204" pitchFamily="34" charset="0"/>
              </a:rPr>
              <a:t>I also computed the four metrics by pruning the top K ground truth results relevant documents from </a:t>
            </a:r>
            <a:r>
              <a:rPr lang="en-US" sz="1800" dirty="0" err="1">
                <a:effectLst/>
                <a:latin typeface="Linux Libertine" panose="02000503000000000000" pitchFamily="2" charset="0"/>
                <a:ea typeface="Calibri" panose="020F0502020204030204" pitchFamily="34" charset="0"/>
              </a:rPr>
              <a:t>BestMatch</a:t>
            </a:r>
            <a:r>
              <a:rPr lang="en-US" sz="1800" dirty="0">
                <a:effectLst/>
                <a:latin typeface="Linux Libertine" panose="02000503000000000000" pitchFamily="2" charset="0"/>
                <a:ea typeface="Calibri" panose="020F0502020204030204" pitchFamily="34" charset="0"/>
              </a:rPr>
              <a:t>. </a:t>
            </a:r>
            <a:r>
              <a:rPr lang="en-US" sz="1800" dirty="0">
                <a:effectLst/>
                <a:latin typeface="Linux Libertine" panose="02000503000000000000" pitchFamily="2" charset="0"/>
                <a:ea typeface="Calibri" panose="020F0502020204030204" pitchFamily="34" charset="0"/>
                <a:cs typeface="Times New Roman" panose="02020603050405020304" pitchFamily="18" charset="0"/>
              </a:rPr>
              <a:t>I used the same K levels provided to prune the retrieved and relevant results. This figure shows the difference between pruning the relevant ground truth articles and not pruning them. The values of recall and F1-Score do not differ between both approaches, yet precision and MAP are higher when the relevant documents are not pruned using K. Pruning perhaps provides a mechanism to control the ground truth dataset. We do not know how exactly </a:t>
            </a:r>
            <a:r>
              <a:rPr lang="en-US" sz="1800" dirty="0" err="1">
                <a:effectLst/>
                <a:latin typeface="Linux Libertine" panose="02000503000000000000" pitchFamily="2" charset="0"/>
                <a:ea typeface="Calibri" panose="020F0502020204030204" pitchFamily="34" charset="0"/>
                <a:cs typeface="Times New Roman" panose="02020603050405020304" pitchFamily="18" charset="0"/>
              </a:rPr>
              <a:t>BestMatch</a:t>
            </a:r>
            <a:r>
              <a:rPr lang="en-US" sz="1800" dirty="0">
                <a:effectLst/>
                <a:latin typeface="Linux Libertine" panose="02000503000000000000" pitchFamily="2" charset="0"/>
                <a:ea typeface="Calibri" panose="020F0502020204030204" pitchFamily="34" charset="0"/>
                <a:cs typeface="Times New Roman" panose="02020603050405020304" pitchFamily="18" charset="0"/>
              </a:rPr>
              <a:t> ranked it. The returned </a:t>
            </a:r>
            <a:r>
              <a:rPr lang="en-US" sz="1800" dirty="0" err="1">
                <a:effectLst/>
                <a:latin typeface="Linux Libertine" panose="02000503000000000000" pitchFamily="2" charset="0"/>
                <a:ea typeface="Calibri" panose="020F0502020204030204" pitchFamily="34" charset="0"/>
                <a:cs typeface="Times New Roman" panose="02020603050405020304" pitchFamily="18" charset="0"/>
              </a:rPr>
              <a:t>BestMatch</a:t>
            </a:r>
            <a:r>
              <a:rPr lang="en-US" sz="1800" dirty="0">
                <a:effectLst/>
                <a:latin typeface="Linux Libertine" panose="02000503000000000000" pitchFamily="2" charset="0"/>
                <a:ea typeface="Calibri" panose="020F0502020204030204" pitchFamily="34" charset="0"/>
                <a:cs typeface="Times New Roman" panose="02020603050405020304" pitchFamily="18" charset="0"/>
              </a:rPr>
              <a:t> articles from PubMed have different retrieved articles without explanation. Hence pruning might make sense in some cases depending on the evaluation dataset.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200000"/>
              </a:lnSpc>
              <a:spcBef>
                <a:spcPts val="0"/>
              </a:spcBef>
              <a:spcAft>
                <a:spcPts val="80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9AB392EB-F905-4DEB-994A-84942BE6E492}" type="slidenum">
              <a:rPr lang="en-US" smtClean="0"/>
              <a:t>35</a:t>
            </a:fld>
            <a:endParaRPr lang="en-US"/>
          </a:p>
        </p:txBody>
      </p:sp>
    </p:spTree>
    <p:extLst>
      <p:ext uri="{BB962C8B-B14F-4D97-AF65-F5344CB8AC3E}">
        <p14:creationId xmlns:p14="http://schemas.microsoft.com/office/powerpoint/2010/main" val="189407603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Calibri" panose="020F0502020204030204" pitchFamily="34" charset="0"/>
                <a:cs typeface="Times New Roman" panose="02020603050405020304" pitchFamily="18" charset="0"/>
              </a:rPr>
              <a:t>This diagram is a different way of observing the recall precision f1 scores and map values at different K levels for each query. At K=1 it seems like query 11 and 12 were perfect simply because both queries on PubMed returned only 1 document and the document was successfully retrieved by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MedGraph</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K=100 precision decreases across all queries which also makes sense yet it stays consistent on queries with a small of number of relevant documents, again an evidence of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MedGraphs</a:t>
            </a:r>
            <a:r>
              <a:rPr lang="en-US" sz="1800" dirty="0">
                <a:effectLst/>
                <a:latin typeface="Calibri" panose="020F0502020204030204" pitchFamily="34" charset="0"/>
                <a:ea typeface="Calibri" panose="020F0502020204030204" pitchFamily="34" charset="0"/>
                <a:cs typeface="Times New Roman" panose="02020603050405020304" pitchFamily="18" charset="0"/>
              </a:rPr>
              <a:t> success in retrieving articles that are semantically connected even though the model was trained on a small subset of articles compared on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BestMatch</a:t>
            </a:r>
            <a:r>
              <a:rPr lang="en-US" sz="1800" dirty="0">
                <a:effectLst/>
                <a:latin typeface="Calibri" panose="020F0502020204030204" pitchFamily="34" charset="0"/>
                <a:ea typeface="Calibri" panose="020F0502020204030204" pitchFamily="34" charset="0"/>
                <a:cs typeface="Times New Roman" panose="02020603050405020304" pitchFamily="18" charset="0"/>
              </a:rPr>
              <a:t> that was trained on the whole corpus of PubMed.</a:t>
            </a:r>
          </a:p>
        </p:txBody>
      </p:sp>
      <p:sp>
        <p:nvSpPr>
          <p:cNvPr id="4" name="Slide Number Placeholder 3"/>
          <p:cNvSpPr>
            <a:spLocks noGrp="1"/>
          </p:cNvSpPr>
          <p:nvPr>
            <p:ph type="sldNum" sz="quarter" idx="5"/>
          </p:nvPr>
        </p:nvSpPr>
        <p:spPr/>
        <p:txBody>
          <a:bodyPr/>
          <a:lstStyle/>
          <a:p>
            <a:fld id="{9AB392EB-F905-4DEB-994A-84942BE6E492}" type="slidenum">
              <a:rPr lang="en-US" smtClean="0"/>
              <a:t>36</a:t>
            </a:fld>
            <a:endParaRPr lang="en-US"/>
          </a:p>
        </p:txBody>
      </p:sp>
    </p:spTree>
    <p:extLst>
      <p:ext uri="{BB962C8B-B14F-4D97-AF65-F5344CB8AC3E}">
        <p14:creationId xmlns:p14="http://schemas.microsoft.com/office/powerpoint/2010/main" val="387845072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200000"/>
              </a:lnSpc>
              <a:spcBef>
                <a:spcPts val="0"/>
              </a:spcBef>
              <a:spcAft>
                <a:spcPts val="800"/>
              </a:spcAft>
            </a:pPr>
            <a:r>
              <a:rPr lang="en-US" sz="1800" dirty="0">
                <a:effectLst/>
                <a:latin typeface="Linux Libertine" panose="02000503000000000000" pitchFamily="2" charset="0"/>
                <a:ea typeface="Calibri" panose="020F0502020204030204" pitchFamily="34" charset="0"/>
                <a:cs typeface="Times New Roman" panose="02020603050405020304" pitchFamily="18" charset="0"/>
              </a:rPr>
              <a:t>So this work provided evidence of the utility and efficiency of knowledge graph-based methods in information retrieval, especially in the biomedical field. We highlighted the need for more techniques that rely on semantic understanding of queries and datasets to aid in automated knowledge discovery and information organization. Knowledge graphs have been around for a while, yet they have not been fully utilized in search engines. Approaches such as </a:t>
            </a:r>
            <a:r>
              <a:rPr lang="en-US" sz="1800" dirty="0" err="1">
                <a:effectLst/>
                <a:latin typeface="Linux Libertine" panose="02000503000000000000" pitchFamily="2" charset="0"/>
                <a:ea typeface="Calibri" panose="020F0502020204030204" pitchFamily="34" charset="0"/>
                <a:cs typeface="Times New Roman" panose="02020603050405020304" pitchFamily="18" charset="0"/>
              </a:rPr>
              <a:t>BestMatch</a:t>
            </a:r>
            <a:r>
              <a:rPr lang="en-US" sz="1800" dirty="0">
                <a:effectLst/>
                <a:latin typeface="Linux Libertine" panose="02000503000000000000" pitchFamily="2" charset="0"/>
                <a:ea typeface="Calibri" panose="020F0502020204030204" pitchFamily="34" charset="0"/>
                <a:cs typeface="Times New Roman" panose="02020603050405020304" pitchFamily="18" charset="0"/>
              </a:rPr>
              <a:t> for PubMed are very efficient but do not understand semantics and are trained on user query logs that might change over time, requiring retraining. Traditional TF-IDF approaches do not rely on semantics and are almost outperformed by newly developed methods like mine. The results also indicated that MAP alone is not enough as an evaluation metric. The ranking is usually evaluated using A/B testing approaches involving user studies and metrics that would include users ranking relevance by hand then computing metrics such as Normalized Discounted Cumulative Gain (</a:t>
            </a:r>
            <a:r>
              <a:rPr lang="en-US" sz="1800" dirty="0" err="1">
                <a:effectLst/>
                <a:latin typeface="Linux Libertine" panose="02000503000000000000" pitchFamily="2" charset="0"/>
                <a:ea typeface="Calibri" panose="020F0502020204030204" pitchFamily="34" charset="0"/>
                <a:cs typeface="Times New Roman" panose="02020603050405020304" pitchFamily="18" charset="0"/>
              </a:rPr>
              <a:t>Busa</a:t>
            </a:r>
            <a:r>
              <a:rPr lang="en-US" sz="1800" dirty="0">
                <a:effectLst/>
                <a:latin typeface="Linux Libertine" panose="02000503000000000000" pitchFamily="2" charset="0"/>
                <a:ea typeface="Calibri" panose="020F0502020204030204" pitchFamily="34" charset="0"/>
                <a:cs typeface="Times New Roman" panose="02020603050405020304" pitchFamily="18" charset="0"/>
              </a:rPr>
              <a:t>-Fekete et al., 2012). Precision as a metric is very informative as evaluating how many relevant articles were retrieved. Nevertheless, metrics such as recall can be misleading. For example, if the system only retrieved one document, but that document is in the relevant documents no matter the rank, then recall shall be 100%. Precision acts as a self-assessment on the retrieved articles by </a:t>
            </a:r>
            <a:r>
              <a:rPr lang="en-US" sz="1800" dirty="0" err="1">
                <a:effectLst/>
                <a:latin typeface="Linux Libertine" panose="02000503000000000000" pitchFamily="2" charset="0"/>
                <a:ea typeface="Calibri" panose="020F0502020204030204" pitchFamily="34" charset="0"/>
                <a:cs typeface="Times New Roman" panose="02020603050405020304" pitchFamily="18" charset="0"/>
              </a:rPr>
              <a:t>MedGraph</a:t>
            </a:r>
            <a:r>
              <a:rPr lang="en-US" sz="1800" dirty="0">
                <a:effectLst/>
                <a:latin typeface="Linux Libertine" panose="02000503000000000000" pitchFamily="2" charset="0"/>
                <a:ea typeface="Calibri" panose="020F0502020204030204" pitchFamily="34" charset="0"/>
                <a:cs typeface="Times New Roman" panose="02020603050405020304" pitchFamily="18" charset="0"/>
              </a:rPr>
              <a:t> because it compares the numbers of retrieved relevant articles to the number of retrieved articles regardless of the number of relevant articles.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800" dirty="0">
                <a:effectLst/>
                <a:latin typeface="Linux Libertine" panose="02000503000000000000" pitchFamily="2" charset="0"/>
                <a:ea typeface="Calibri" panose="020F0502020204030204" pitchFamily="34" charset="0"/>
              </a:rPr>
              <a:t>In future work, I plan to conduct a user study where each user, typically a biomedical researcher or a medical student, will be invited and asked to rank documents based on specific queries. We will create our ground-truth dataset instead of relying on </a:t>
            </a:r>
            <a:r>
              <a:rPr lang="en-US" sz="1800" dirty="0" err="1">
                <a:effectLst/>
                <a:latin typeface="Linux Libertine" panose="02000503000000000000" pitchFamily="2" charset="0"/>
                <a:ea typeface="Calibri" panose="020F0502020204030204" pitchFamily="34" charset="0"/>
              </a:rPr>
              <a:t>BestMatch</a:t>
            </a:r>
            <a:r>
              <a:rPr lang="en-US" sz="1800" dirty="0">
                <a:effectLst/>
                <a:latin typeface="Linux Libertine" panose="02000503000000000000" pitchFamily="2" charset="0"/>
                <a:ea typeface="Calibri" panose="020F0502020204030204" pitchFamily="34" charset="0"/>
              </a:rPr>
              <a:t> as our ground truth. We also plan to expand the scope to extract a knowledge graph from the entire dataset of 30 million articles described in (Xu et al., 2020) and compare our model with </a:t>
            </a:r>
            <a:r>
              <a:rPr lang="en-US" sz="1800" dirty="0" err="1">
                <a:effectLst/>
                <a:latin typeface="Linux Libertine" panose="02000503000000000000" pitchFamily="2" charset="0"/>
                <a:ea typeface="Calibri" panose="020F0502020204030204" pitchFamily="34" charset="0"/>
              </a:rPr>
              <a:t>BestMatch</a:t>
            </a:r>
            <a:r>
              <a:rPr lang="en-US" sz="1800" dirty="0">
                <a:effectLst/>
                <a:latin typeface="Linux Libertine" panose="02000503000000000000" pitchFamily="2" charset="0"/>
                <a:ea typeface="Calibri" panose="020F0502020204030204" pitchFamily="34" charset="0"/>
              </a:rPr>
              <a:t> and TFIDF using our ground truth. In addition, we plan to experiment with various other knowledge graph embedding models (Q. Wang et al., 2017). For example, Node2vec represents a basic model incapable of encoding heterogeneity in knowledge graphs. Heterogeneity refers to a knowledge graph having more than one type of node and more than one type of edge or relationship. Hence, we will experiment with models capable of capturing more semantics in the training of node embeddings, expanding our query matching capabilities to include more than four tokens, and handling out-of-context queries. In addition, we plan to have even more metadata nodes in our knowledge graph with the potential of enriching the knowledge graph with other semantic datasets such as Chem2Bio2RDF (Chen et al., 2010).</a:t>
            </a:r>
            <a:endParaRPr lang="en-US" dirty="0"/>
          </a:p>
        </p:txBody>
      </p:sp>
      <p:sp>
        <p:nvSpPr>
          <p:cNvPr id="4" name="Slide Number Placeholder 3"/>
          <p:cNvSpPr>
            <a:spLocks noGrp="1"/>
          </p:cNvSpPr>
          <p:nvPr>
            <p:ph type="sldNum" sz="quarter" idx="5"/>
          </p:nvPr>
        </p:nvSpPr>
        <p:spPr/>
        <p:txBody>
          <a:bodyPr/>
          <a:lstStyle/>
          <a:p>
            <a:fld id="{9AB392EB-F905-4DEB-994A-84942BE6E492}" type="slidenum">
              <a:rPr lang="en-US" smtClean="0"/>
              <a:t>37</a:t>
            </a:fld>
            <a:endParaRPr lang="en-US"/>
          </a:p>
        </p:txBody>
      </p:sp>
    </p:spTree>
    <p:extLst>
      <p:ext uri="{BB962C8B-B14F-4D97-AF65-F5344CB8AC3E}">
        <p14:creationId xmlns:p14="http://schemas.microsoft.com/office/powerpoint/2010/main" val="11782575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lastly the used bibliography. It is worth mentioning that it took me a while to collect the literature filter it and analyze due to the sparsity graph methods in entity resolution. I expanded the search and Dr. </a:t>
            </a:r>
            <a:r>
              <a:rPr lang="en-US" dirty="0" err="1"/>
              <a:t>Talburt</a:t>
            </a:r>
            <a:r>
              <a:rPr lang="en-US" dirty="0"/>
              <a:t> also was very helpful that he had some literature on the topic. All of that has been reflected in the proposal. </a:t>
            </a:r>
          </a:p>
        </p:txBody>
      </p:sp>
      <p:sp>
        <p:nvSpPr>
          <p:cNvPr id="4" name="Slide Number Placeholder 3"/>
          <p:cNvSpPr>
            <a:spLocks noGrp="1"/>
          </p:cNvSpPr>
          <p:nvPr>
            <p:ph type="sldNum" sz="quarter" idx="5"/>
          </p:nvPr>
        </p:nvSpPr>
        <p:spPr/>
        <p:txBody>
          <a:bodyPr/>
          <a:lstStyle/>
          <a:p>
            <a:fld id="{9AB392EB-F905-4DEB-994A-84942BE6E492}" type="slidenum">
              <a:rPr lang="en-US" smtClean="0"/>
              <a:t>38</a:t>
            </a:fld>
            <a:endParaRPr lang="en-US"/>
          </a:p>
        </p:txBody>
      </p:sp>
    </p:spTree>
    <p:extLst>
      <p:ext uri="{BB962C8B-B14F-4D97-AF65-F5344CB8AC3E}">
        <p14:creationId xmlns:p14="http://schemas.microsoft.com/office/powerpoint/2010/main" val="34336223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25D05-6807-43AA-BBD9-78AC498F9F16}"/>
              </a:ext>
            </a:extLst>
          </p:cNvPr>
          <p:cNvSpPr>
            <a:spLocks noGrp="1"/>
          </p:cNvSpPr>
          <p:nvPr>
            <p:ph type="ctrTitle"/>
          </p:nvPr>
        </p:nvSpPr>
        <p:spPr>
          <a:xfrm>
            <a:off x="1524000" y="1122363"/>
            <a:ext cx="9144000" cy="2387600"/>
          </a:xfrm>
        </p:spPr>
        <p:txBody>
          <a:bodyPr anchor="b"/>
          <a:lstStyle>
            <a:lvl1pPr algn="ctr">
              <a:defRPr sz="6000">
                <a:latin typeface="Linux Libertine" panose="02000503000000000000" pitchFamily="2" charset="0"/>
                <a:ea typeface="Linux Libertine" panose="02000503000000000000" pitchFamily="2" charset="0"/>
                <a:cs typeface="Linux Libertine" panose="02000503000000000000" pitchFamily="2" charset="0"/>
              </a:defRPr>
            </a:lvl1pPr>
          </a:lstStyle>
          <a:p>
            <a:r>
              <a:rPr lang="en-US" dirty="0"/>
              <a:t>Click to edit Master title style</a:t>
            </a:r>
          </a:p>
        </p:txBody>
      </p:sp>
      <p:sp>
        <p:nvSpPr>
          <p:cNvPr id="3" name="Subtitle 2">
            <a:extLst>
              <a:ext uri="{FF2B5EF4-FFF2-40B4-BE49-F238E27FC236}">
                <a16:creationId xmlns:a16="http://schemas.microsoft.com/office/drawing/2014/main" id="{78673863-5828-4148-AD9A-4AE69DC40A1E}"/>
              </a:ext>
            </a:extLst>
          </p:cNvPr>
          <p:cNvSpPr>
            <a:spLocks noGrp="1"/>
          </p:cNvSpPr>
          <p:nvPr>
            <p:ph type="subTitle" idx="1"/>
          </p:nvPr>
        </p:nvSpPr>
        <p:spPr>
          <a:xfrm>
            <a:off x="1524000" y="3602038"/>
            <a:ext cx="9144000" cy="1655762"/>
          </a:xfrm>
        </p:spPr>
        <p:txBody>
          <a:bodyPr/>
          <a:lstStyle>
            <a:lvl1pPr marL="0" indent="0" algn="ctr">
              <a:buNone/>
              <a:defRPr sz="2400">
                <a:latin typeface="Linux Libertine" panose="02000503000000000000" pitchFamily="2" charset="0"/>
                <a:ea typeface="Linux Libertine" panose="02000503000000000000" pitchFamily="2" charset="0"/>
                <a:cs typeface="Linux Libertine" panose="02000503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B13FB307-AA66-440B-84FC-721A2B66D74D}"/>
              </a:ext>
            </a:extLst>
          </p:cNvPr>
          <p:cNvSpPr>
            <a:spLocks noGrp="1"/>
          </p:cNvSpPr>
          <p:nvPr>
            <p:ph type="dt" sz="half" idx="10"/>
          </p:nvPr>
        </p:nvSpPr>
        <p:spPr/>
        <p:txBody>
          <a:bodyPr/>
          <a:lstStyle/>
          <a:p>
            <a:fld id="{71747C14-BF16-40CA-8006-C9D96FCE08CF}" type="datetime1">
              <a:rPr lang="en-US" smtClean="0"/>
              <a:t>12/7/2021</a:t>
            </a:fld>
            <a:endParaRPr lang="en-US"/>
          </a:p>
        </p:txBody>
      </p:sp>
      <p:sp>
        <p:nvSpPr>
          <p:cNvPr id="5" name="Footer Placeholder 4">
            <a:extLst>
              <a:ext uri="{FF2B5EF4-FFF2-40B4-BE49-F238E27FC236}">
                <a16:creationId xmlns:a16="http://schemas.microsoft.com/office/drawing/2014/main" id="{48D1D7E0-FD69-4CB4-BDD0-3E00D20B1889}"/>
              </a:ext>
            </a:extLst>
          </p:cNvPr>
          <p:cNvSpPr>
            <a:spLocks noGrp="1"/>
          </p:cNvSpPr>
          <p:nvPr>
            <p:ph type="ftr" sz="quarter" idx="11"/>
          </p:nvPr>
        </p:nvSpPr>
        <p:spPr/>
        <p:txBody>
          <a:bodyPr/>
          <a:lstStyle/>
          <a:p>
            <a:r>
              <a:rPr lang="en-US"/>
              <a:t>Dissertation proposal - Ebeid - Fall 2021</a:t>
            </a:r>
          </a:p>
        </p:txBody>
      </p:sp>
      <p:sp>
        <p:nvSpPr>
          <p:cNvPr id="6" name="Slide Number Placeholder 5">
            <a:extLst>
              <a:ext uri="{FF2B5EF4-FFF2-40B4-BE49-F238E27FC236}">
                <a16:creationId xmlns:a16="http://schemas.microsoft.com/office/drawing/2014/main" id="{CAC4CEBF-8C73-4F04-B3D9-3809884E55B4}"/>
              </a:ext>
            </a:extLst>
          </p:cNvPr>
          <p:cNvSpPr>
            <a:spLocks noGrp="1"/>
          </p:cNvSpPr>
          <p:nvPr>
            <p:ph type="sldNum" sz="quarter" idx="12"/>
          </p:nvPr>
        </p:nvSpPr>
        <p:spPr/>
        <p:txBody>
          <a:bodyPr/>
          <a:lstStyle/>
          <a:p>
            <a:fld id="{5A99AF73-65C2-407A-B44B-DB0F62C2405F}" type="slidenum">
              <a:rPr lang="en-US" smtClean="0"/>
              <a:t>‹#›</a:t>
            </a:fld>
            <a:endParaRPr lang="en-US"/>
          </a:p>
        </p:txBody>
      </p:sp>
    </p:spTree>
    <p:extLst>
      <p:ext uri="{BB962C8B-B14F-4D97-AF65-F5344CB8AC3E}">
        <p14:creationId xmlns:p14="http://schemas.microsoft.com/office/powerpoint/2010/main" val="33223862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45763D-76F4-4887-8B6E-51B004456475}"/>
              </a:ext>
            </a:extLst>
          </p:cNvPr>
          <p:cNvSpPr>
            <a:spLocks noGrp="1"/>
          </p:cNvSpPr>
          <p:nvPr>
            <p:ph type="title"/>
          </p:nvPr>
        </p:nvSpPr>
        <p:spPr/>
        <p:txBody>
          <a:bodyPr/>
          <a:lstStyle>
            <a:lvl1pPr>
              <a:defRPr>
                <a:latin typeface="Linux Libertine" panose="02000503000000000000" pitchFamily="2" charset="0"/>
                <a:ea typeface="Linux Libertine" panose="02000503000000000000" pitchFamily="2" charset="0"/>
                <a:cs typeface="Linux Libertine" panose="02000503000000000000" pitchFamily="2" charset="0"/>
              </a:defRPr>
            </a:lvl1pPr>
          </a:lstStyle>
          <a:p>
            <a:r>
              <a:rPr lang="en-US" dirty="0"/>
              <a:t>Click to edit Master title style</a:t>
            </a:r>
          </a:p>
        </p:txBody>
      </p:sp>
      <p:sp>
        <p:nvSpPr>
          <p:cNvPr id="3" name="Content Placeholder 2">
            <a:extLst>
              <a:ext uri="{FF2B5EF4-FFF2-40B4-BE49-F238E27FC236}">
                <a16:creationId xmlns:a16="http://schemas.microsoft.com/office/drawing/2014/main" id="{47836C44-81C9-49A2-B09C-0FD7404DF28A}"/>
              </a:ext>
            </a:extLst>
          </p:cNvPr>
          <p:cNvSpPr>
            <a:spLocks noGrp="1"/>
          </p:cNvSpPr>
          <p:nvPr>
            <p:ph idx="1"/>
          </p:nvPr>
        </p:nvSpPr>
        <p:spPr/>
        <p:txBody>
          <a:bodyPr/>
          <a:lstStyle>
            <a:lvl1pPr>
              <a:defRPr>
                <a:latin typeface="Linux Libertine" panose="02000503000000000000" pitchFamily="2" charset="0"/>
                <a:ea typeface="Linux Libertine" panose="02000503000000000000" pitchFamily="2" charset="0"/>
                <a:cs typeface="Linux Libertine" panose="02000503000000000000" pitchFamily="2" charset="0"/>
              </a:defRPr>
            </a:lvl1pPr>
            <a:lvl2pPr>
              <a:defRPr>
                <a:latin typeface="Linux Libertine" panose="02000503000000000000" pitchFamily="2" charset="0"/>
                <a:ea typeface="Linux Libertine" panose="02000503000000000000" pitchFamily="2" charset="0"/>
                <a:cs typeface="Linux Libertine" panose="02000503000000000000" pitchFamily="2" charset="0"/>
              </a:defRPr>
            </a:lvl2pPr>
            <a:lvl3pPr>
              <a:defRPr>
                <a:latin typeface="Linux Libertine" panose="02000503000000000000" pitchFamily="2" charset="0"/>
                <a:ea typeface="Linux Libertine" panose="02000503000000000000" pitchFamily="2" charset="0"/>
                <a:cs typeface="Linux Libertine" panose="02000503000000000000" pitchFamily="2" charset="0"/>
              </a:defRPr>
            </a:lvl3pPr>
            <a:lvl4pPr>
              <a:defRPr>
                <a:latin typeface="Linux Libertine" panose="02000503000000000000" pitchFamily="2" charset="0"/>
                <a:ea typeface="Linux Libertine" panose="02000503000000000000" pitchFamily="2" charset="0"/>
                <a:cs typeface="Linux Libertine" panose="02000503000000000000" pitchFamily="2" charset="0"/>
              </a:defRPr>
            </a:lvl4pPr>
            <a:lvl5pPr>
              <a:defRPr>
                <a:latin typeface="Linux Libertine" panose="02000503000000000000" pitchFamily="2" charset="0"/>
                <a:ea typeface="Linux Libertine" panose="02000503000000000000" pitchFamily="2" charset="0"/>
                <a:cs typeface="Linux Libertine" panose="02000503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B4FB776-C717-4B3D-8266-D1949468E2B7}"/>
              </a:ext>
            </a:extLst>
          </p:cNvPr>
          <p:cNvSpPr>
            <a:spLocks noGrp="1"/>
          </p:cNvSpPr>
          <p:nvPr>
            <p:ph type="dt" sz="half" idx="10"/>
          </p:nvPr>
        </p:nvSpPr>
        <p:spPr/>
        <p:txBody>
          <a:bodyPr/>
          <a:lstStyle/>
          <a:p>
            <a:fld id="{DB104BCC-29EA-4B34-B650-59BC6F28B508}" type="datetime1">
              <a:rPr lang="en-US" smtClean="0"/>
              <a:t>12/7/2021</a:t>
            </a:fld>
            <a:endParaRPr lang="en-US"/>
          </a:p>
        </p:txBody>
      </p:sp>
      <p:sp>
        <p:nvSpPr>
          <p:cNvPr id="5" name="Footer Placeholder 4">
            <a:extLst>
              <a:ext uri="{FF2B5EF4-FFF2-40B4-BE49-F238E27FC236}">
                <a16:creationId xmlns:a16="http://schemas.microsoft.com/office/drawing/2014/main" id="{5DAE5D2D-4F09-46B2-A6BF-B5AEB6BBE169}"/>
              </a:ext>
            </a:extLst>
          </p:cNvPr>
          <p:cNvSpPr>
            <a:spLocks noGrp="1"/>
          </p:cNvSpPr>
          <p:nvPr>
            <p:ph type="ftr" sz="quarter" idx="11"/>
          </p:nvPr>
        </p:nvSpPr>
        <p:spPr/>
        <p:txBody>
          <a:bodyPr/>
          <a:lstStyle/>
          <a:p>
            <a:r>
              <a:rPr lang="en-US"/>
              <a:t>Dissertation proposal - Ebeid - Fall 2021</a:t>
            </a:r>
          </a:p>
        </p:txBody>
      </p:sp>
      <p:sp>
        <p:nvSpPr>
          <p:cNvPr id="6" name="Slide Number Placeholder 5">
            <a:extLst>
              <a:ext uri="{FF2B5EF4-FFF2-40B4-BE49-F238E27FC236}">
                <a16:creationId xmlns:a16="http://schemas.microsoft.com/office/drawing/2014/main" id="{66B51FEF-D3B3-4F21-9C73-8044F3FBBC77}"/>
              </a:ext>
            </a:extLst>
          </p:cNvPr>
          <p:cNvSpPr>
            <a:spLocks noGrp="1"/>
          </p:cNvSpPr>
          <p:nvPr>
            <p:ph type="sldNum" sz="quarter" idx="12"/>
          </p:nvPr>
        </p:nvSpPr>
        <p:spPr/>
        <p:txBody>
          <a:bodyPr/>
          <a:lstStyle/>
          <a:p>
            <a:fld id="{5A99AF73-65C2-407A-B44B-DB0F62C2405F}" type="slidenum">
              <a:rPr lang="en-US" smtClean="0"/>
              <a:t>‹#›</a:t>
            </a:fld>
            <a:endParaRPr lang="en-US"/>
          </a:p>
        </p:txBody>
      </p:sp>
    </p:spTree>
    <p:extLst>
      <p:ext uri="{BB962C8B-B14F-4D97-AF65-F5344CB8AC3E}">
        <p14:creationId xmlns:p14="http://schemas.microsoft.com/office/powerpoint/2010/main" val="13483166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2B212-700A-4C28-BE71-EB3ABC7660BC}"/>
              </a:ext>
            </a:extLst>
          </p:cNvPr>
          <p:cNvSpPr>
            <a:spLocks noGrp="1"/>
          </p:cNvSpPr>
          <p:nvPr>
            <p:ph type="title"/>
          </p:nvPr>
        </p:nvSpPr>
        <p:spPr>
          <a:xfrm>
            <a:off x="831850" y="1709738"/>
            <a:ext cx="10515600" cy="2852737"/>
          </a:xfrm>
        </p:spPr>
        <p:txBody>
          <a:bodyPr anchor="b"/>
          <a:lstStyle>
            <a:lvl1pPr>
              <a:defRPr sz="6000">
                <a:latin typeface="Linux Libertine" panose="02000503000000000000" pitchFamily="2" charset="0"/>
                <a:ea typeface="Linux Libertine" panose="02000503000000000000" pitchFamily="2" charset="0"/>
                <a:cs typeface="Linux Libertine" panose="02000503000000000000" pitchFamily="2" charset="0"/>
              </a:defRPr>
            </a:lvl1pPr>
          </a:lstStyle>
          <a:p>
            <a:r>
              <a:rPr lang="en-US" dirty="0"/>
              <a:t>Click to edit Master title style</a:t>
            </a:r>
          </a:p>
        </p:txBody>
      </p:sp>
      <p:sp>
        <p:nvSpPr>
          <p:cNvPr id="3" name="Text Placeholder 2">
            <a:extLst>
              <a:ext uri="{FF2B5EF4-FFF2-40B4-BE49-F238E27FC236}">
                <a16:creationId xmlns:a16="http://schemas.microsoft.com/office/drawing/2014/main" id="{A224C57A-3251-4730-BEAE-63FD0F46F4D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latin typeface="Linux Libertine" panose="02000503000000000000" pitchFamily="2" charset="0"/>
                <a:ea typeface="Linux Libertine" panose="02000503000000000000" pitchFamily="2" charset="0"/>
                <a:cs typeface="Linux Libertine" panose="02000503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ED735857-670E-4BF5-9312-6DE2561DE48E}"/>
              </a:ext>
            </a:extLst>
          </p:cNvPr>
          <p:cNvSpPr>
            <a:spLocks noGrp="1"/>
          </p:cNvSpPr>
          <p:nvPr>
            <p:ph type="dt" sz="half" idx="10"/>
          </p:nvPr>
        </p:nvSpPr>
        <p:spPr/>
        <p:txBody>
          <a:bodyPr/>
          <a:lstStyle/>
          <a:p>
            <a:fld id="{758AB8E5-F43C-4BDA-B8FF-C32718F2C776}" type="datetime1">
              <a:rPr lang="en-US" smtClean="0"/>
              <a:t>12/7/2021</a:t>
            </a:fld>
            <a:endParaRPr lang="en-US"/>
          </a:p>
        </p:txBody>
      </p:sp>
      <p:sp>
        <p:nvSpPr>
          <p:cNvPr id="5" name="Footer Placeholder 4">
            <a:extLst>
              <a:ext uri="{FF2B5EF4-FFF2-40B4-BE49-F238E27FC236}">
                <a16:creationId xmlns:a16="http://schemas.microsoft.com/office/drawing/2014/main" id="{BF34DBD7-B13F-4F47-BE80-F013FDB31C3C}"/>
              </a:ext>
            </a:extLst>
          </p:cNvPr>
          <p:cNvSpPr>
            <a:spLocks noGrp="1"/>
          </p:cNvSpPr>
          <p:nvPr>
            <p:ph type="ftr" sz="quarter" idx="11"/>
          </p:nvPr>
        </p:nvSpPr>
        <p:spPr/>
        <p:txBody>
          <a:bodyPr/>
          <a:lstStyle/>
          <a:p>
            <a:r>
              <a:rPr lang="en-US"/>
              <a:t>Dissertation proposal - Ebeid - Fall 2021</a:t>
            </a:r>
          </a:p>
        </p:txBody>
      </p:sp>
      <p:sp>
        <p:nvSpPr>
          <p:cNvPr id="6" name="Slide Number Placeholder 5">
            <a:extLst>
              <a:ext uri="{FF2B5EF4-FFF2-40B4-BE49-F238E27FC236}">
                <a16:creationId xmlns:a16="http://schemas.microsoft.com/office/drawing/2014/main" id="{D0369606-B7FC-4320-B70A-FFDAE05B8C65}"/>
              </a:ext>
            </a:extLst>
          </p:cNvPr>
          <p:cNvSpPr>
            <a:spLocks noGrp="1"/>
          </p:cNvSpPr>
          <p:nvPr>
            <p:ph type="sldNum" sz="quarter" idx="12"/>
          </p:nvPr>
        </p:nvSpPr>
        <p:spPr/>
        <p:txBody>
          <a:bodyPr/>
          <a:lstStyle/>
          <a:p>
            <a:fld id="{5A99AF73-65C2-407A-B44B-DB0F62C2405F}" type="slidenum">
              <a:rPr lang="en-US" smtClean="0"/>
              <a:t>‹#›</a:t>
            </a:fld>
            <a:endParaRPr lang="en-US"/>
          </a:p>
        </p:txBody>
      </p:sp>
    </p:spTree>
    <p:extLst>
      <p:ext uri="{BB962C8B-B14F-4D97-AF65-F5344CB8AC3E}">
        <p14:creationId xmlns:p14="http://schemas.microsoft.com/office/powerpoint/2010/main" val="9698908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EF3F7-5A66-4A8E-9BE2-ACC971DC6DE0}"/>
              </a:ext>
            </a:extLst>
          </p:cNvPr>
          <p:cNvSpPr>
            <a:spLocks noGrp="1"/>
          </p:cNvSpPr>
          <p:nvPr>
            <p:ph type="title"/>
          </p:nvPr>
        </p:nvSpPr>
        <p:spPr/>
        <p:txBody>
          <a:bodyPr/>
          <a:lstStyle>
            <a:lvl1pPr>
              <a:defRPr>
                <a:latin typeface="Linux Libertine" panose="02000503000000000000" pitchFamily="2" charset="0"/>
                <a:ea typeface="Linux Libertine" panose="02000503000000000000" pitchFamily="2" charset="0"/>
                <a:cs typeface="Linux Libertine" panose="02000503000000000000" pitchFamily="2" charset="0"/>
              </a:defRPr>
            </a:lvl1pPr>
          </a:lstStyle>
          <a:p>
            <a:r>
              <a:rPr lang="en-US" dirty="0"/>
              <a:t>Click to edit Master title style</a:t>
            </a:r>
          </a:p>
        </p:txBody>
      </p:sp>
      <p:sp>
        <p:nvSpPr>
          <p:cNvPr id="3" name="Content Placeholder 2">
            <a:extLst>
              <a:ext uri="{FF2B5EF4-FFF2-40B4-BE49-F238E27FC236}">
                <a16:creationId xmlns:a16="http://schemas.microsoft.com/office/drawing/2014/main" id="{BADFF54A-185F-4734-BAC8-A52363F6EAF9}"/>
              </a:ext>
            </a:extLst>
          </p:cNvPr>
          <p:cNvSpPr>
            <a:spLocks noGrp="1"/>
          </p:cNvSpPr>
          <p:nvPr>
            <p:ph sz="half" idx="1"/>
          </p:nvPr>
        </p:nvSpPr>
        <p:spPr>
          <a:xfrm>
            <a:off x="838200" y="1825625"/>
            <a:ext cx="5181600" cy="4351338"/>
          </a:xfrm>
        </p:spPr>
        <p:txBody>
          <a:bodyPr/>
          <a:lstStyle>
            <a:lvl1pPr>
              <a:defRPr>
                <a:latin typeface="Linux Libertine" panose="02000503000000000000" pitchFamily="2" charset="0"/>
                <a:ea typeface="Linux Libertine" panose="02000503000000000000" pitchFamily="2" charset="0"/>
                <a:cs typeface="Linux Libertine" panose="02000503000000000000" pitchFamily="2" charset="0"/>
              </a:defRPr>
            </a:lvl1pPr>
            <a:lvl2pPr>
              <a:defRPr>
                <a:latin typeface="Linux Libertine" panose="02000503000000000000" pitchFamily="2" charset="0"/>
                <a:ea typeface="Linux Libertine" panose="02000503000000000000" pitchFamily="2" charset="0"/>
                <a:cs typeface="Linux Libertine" panose="02000503000000000000" pitchFamily="2" charset="0"/>
              </a:defRPr>
            </a:lvl2pPr>
            <a:lvl3pPr>
              <a:defRPr>
                <a:latin typeface="Linux Libertine" panose="02000503000000000000" pitchFamily="2" charset="0"/>
                <a:ea typeface="Linux Libertine" panose="02000503000000000000" pitchFamily="2" charset="0"/>
                <a:cs typeface="Linux Libertine" panose="02000503000000000000" pitchFamily="2" charset="0"/>
              </a:defRPr>
            </a:lvl3pPr>
            <a:lvl4pPr>
              <a:defRPr>
                <a:latin typeface="Linux Libertine" panose="02000503000000000000" pitchFamily="2" charset="0"/>
                <a:ea typeface="Linux Libertine" panose="02000503000000000000" pitchFamily="2" charset="0"/>
                <a:cs typeface="Linux Libertine" panose="02000503000000000000" pitchFamily="2" charset="0"/>
              </a:defRPr>
            </a:lvl4pPr>
            <a:lvl5pPr>
              <a:defRPr>
                <a:latin typeface="Linux Libertine" panose="02000503000000000000" pitchFamily="2" charset="0"/>
                <a:ea typeface="Linux Libertine" panose="02000503000000000000" pitchFamily="2" charset="0"/>
                <a:cs typeface="Linux Libertine" panose="02000503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2DC077D5-79BF-4076-8953-2A35BFB966DD}"/>
              </a:ext>
            </a:extLst>
          </p:cNvPr>
          <p:cNvSpPr>
            <a:spLocks noGrp="1"/>
          </p:cNvSpPr>
          <p:nvPr>
            <p:ph sz="half" idx="2"/>
          </p:nvPr>
        </p:nvSpPr>
        <p:spPr>
          <a:xfrm>
            <a:off x="6172200" y="1825625"/>
            <a:ext cx="5181600" cy="4351338"/>
          </a:xfrm>
        </p:spPr>
        <p:txBody>
          <a:bodyPr/>
          <a:lstStyle>
            <a:lvl1pPr>
              <a:defRPr>
                <a:latin typeface="Linux Libertine" panose="02000503000000000000" pitchFamily="2" charset="0"/>
                <a:ea typeface="Linux Libertine" panose="02000503000000000000" pitchFamily="2" charset="0"/>
                <a:cs typeface="Linux Libertine" panose="02000503000000000000" pitchFamily="2" charset="0"/>
              </a:defRPr>
            </a:lvl1pPr>
            <a:lvl2pPr>
              <a:defRPr>
                <a:latin typeface="Linux Libertine" panose="02000503000000000000" pitchFamily="2" charset="0"/>
                <a:ea typeface="Linux Libertine" panose="02000503000000000000" pitchFamily="2" charset="0"/>
                <a:cs typeface="Linux Libertine" panose="02000503000000000000" pitchFamily="2" charset="0"/>
              </a:defRPr>
            </a:lvl2pPr>
            <a:lvl3pPr>
              <a:defRPr>
                <a:latin typeface="Linux Libertine" panose="02000503000000000000" pitchFamily="2" charset="0"/>
                <a:ea typeface="Linux Libertine" panose="02000503000000000000" pitchFamily="2" charset="0"/>
                <a:cs typeface="Linux Libertine" panose="02000503000000000000" pitchFamily="2" charset="0"/>
              </a:defRPr>
            </a:lvl3pPr>
            <a:lvl4pPr>
              <a:defRPr>
                <a:latin typeface="Linux Libertine" panose="02000503000000000000" pitchFamily="2" charset="0"/>
                <a:ea typeface="Linux Libertine" panose="02000503000000000000" pitchFamily="2" charset="0"/>
                <a:cs typeface="Linux Libertine" panose="02000503000000000000" pitchFamily="2" charset="0"/>
              </a:defRPr>
            </a:lvl4pPr>
            <a:lvl5pPr>
              <a:defRPr>
                <a:latin typeface="Linux Libertine" panose="02000503000000000000" pitchFamily="2" charset="0"/>
                <a:ea typeface="Linux Libertine" panose="02000503000000000000" pitchFamily="2" charset="0"/>
                <a:cs typeface="Linux Libertine" panose="02000503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5AC97C07-B4A6-4440-BB78-BEF42C3C129D}"/>
              </a:ext>
            </a:extLst>
          </p:cNvPr>
          <p:cNvSpPr>
            <a:spLocks noGrp="1"/>
          </p:cNvSpPr>
          <p:nvPr>
            <p:ph type="dt" sz="half" idx="10"/>
          </p:nvPr>
        </p:nvSpPr>
        <p:spPr/>
        <p:txBody>
          <a:bodyPr/>
          <a:lstStyle/>
          <a:p>
            <a:fld id="{F73310CC-7BD2-4396-85D5-5A92EC208EA7}" type="datetime1">
              <a:rPr lang="en-US" smtClean="0"/>
              <a:t>12/7/2021</a:t>
            </a:fld>
            <a:endParaRPr lang="en-US"/>
          </a:p>
        </p:txBody>
      </p:sp>
      <p:sp>
        <p:nvSpPr>
          <p:cNvPr id="6" name="Footer Placeholder 5">
            <a:extLst>
              <a:ext uri="{FF2B5EF4-FFF2-40B4-BE49-F238E27FC236}">
                <a16:creationId xmlns:a16="http://schemas.microsoft.com/office/drawing/2014/main" id="{A47722E6-69D1-4905-972B-4DC4CA05030B}"/>
              </a:ext>
            </a:extLst>
          </p:cNvPr>
          <p:cNvSpPr>
            <a:spLocks noGrp="1"/>
          </p:cNvSpPr>
          <p:nvPr>
            <p:ph type="ftr" sz="quarter" idx="11"/>
          </p:nvPr>
        </p:nvSpPr>
        <p:spPr/>
        <p:txBody>
          <a:bodyPr/>
          <a:lstStyle/>
          <a:p>
            <a:r>
              <a:rPr lang="en-US"/>
              <a:t>Dissertation proposal - Ebeid - Fall 2021</a:t>
            </a:r>
          </a:p>
        </p:txBody>
      </p:sp>
      <p:sp>
        <p:nvSpPr>
          <p:cNvPr id="7" name="Slide Number Placeholder 6">
            <a:extLst>
              <a:ext uri="{FF2B5EF4-FFF2-40B4-BE49-F238E27FC236}">
                <a16:creationId xmlns:a16="http://schemas.microsoft.com/office/drawing/2014/main" id="{AECCCE20-62FD-42CA-91F3-D969D39821A8}"/>
              </a:ext>
            </a:extLst>
          </p:cNvPr>
          <p:cNvSpPr>
            <a:spLocks noGrp="1"/>
          </p:cNvSpPr>
          <p:nvPr>
            <p:ph type="sldNum" sz="quarter" idx="12"/>
          </p:nvPr>
        </p:nvSpPr>
        <p:spPr/>
        <p:txBody>
          <a:bodyPr/>
          <a:lstStyle/>
          <a:p>
            <a:fld id="{5A99AF73-65C2-407A-B44B-DB0F62C2405F}" type="slidenum">
              <a:rPr lang="en-US" smtClean="0"/>
              <a:t>‹#›</a:t>
            </a:fld>
            <a:endParaRPr lang="en-US"/>
          </a:p>
        </p:txBody>
      </p:sp>
    </p:spTree>
    <p:extLst>
      <p:ext uri="{BB962C8B-B14F-4D97-AF65-F5344CB8AC3E}">
        <p14:creationId xmlns:p14="http://schemas.microsoft.com/office/powerpoint/2010/main" val="14173684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FEE89-66BD-4BFB-8D16-220DA30A93DB}"/>
              </a:ext>
            </a:extLst>
          </p:cNvPr>
          <p:cNvSpPr>
            <a:spLocks noGrp="1"/>
          </p:cNvSpPr>
          <p:nvPr>
            <p:ph type="title"/>
          </p:nvPr>
        </p:nvSpPr>
        <p:spPr>
          <a:xfrm>
            <a:off x="839788" y="365125"/>
            <a:ext cx="10515600" cy="1325563"/>
          </a:xfrm>
        </p:spPr>
        <p:txBody>
          <a:bodyPr/>
          <a:lstStyle>
            <a:lvl1pPr>
              <a:defRPr>
                <a:latin typeface="Linux Libertine" panose="02000503000000000000" pitchFamily="2" charset="0"/>
                <a:ea typeface="Linux Libertine" panose="02000503000000000000" pitchFamily="2" charset="0"/>
                <a:cs typeface="Linux Libertine" panose="02000503000000000000" pitchFamily="2" charset="0"/>
              </a:defRPr>
            </a:lvl1pPr>
          </a:lstStyle>
          <a:p>
            <a:r>
              <a:rPr lang="en-US" dirty="0"/>
              <a:t>Click to edit Master title style</a:t>
            </a:r>
          </a:p>
        </p:txBody>
      </p:sp>
      <p:sp>
        <p:nvSpPr>
          <p:cNvPr id="3" name="Text Placeholder 2">
            <a:extLst>
              <a:ext uri="{FF2B5EF4-FFF2-40B4-BE49-F238E27FC236}">
                <a16:creationId xmlns:a16="http://schemas.microsoft.com/office/drawing/2014/main" id="{E0CEC43B-F6F8-4AD0-8CC5-9C3AD81B701A}"/>
              </a:ext>
            </a:extLst>
          </p:cNvPr>
          <p:cNvSpPr>
            <a:spLocks noGrp="1"/>
          </p:cNvSpPr>
          <p:nvPr>
            <p:ph type="body" idx="1"/>
          </p:nvPr>
        </p:nvSpPr>
        <p:spPr>
          <a:xfrm>
            <a:off x="839788" y="1681163"/>
            <a:ext cx="5157787" cy="823912"/>
          </a:xfrm>
        </p:spPr>
        <p:txBody>
          <a:bodyPr anchor="b"/>
          <a:lstStyle>
            <a:lvl1pPr marL="0" indent="0">
              <a:buNone/>
              <a:defRPr sz="2400" b="1">
                <a:latin typeface="Linux Libertine" panose="02000503000000000000" pitchFamily="2" charset="0"/>
                <a:ea typeface="Linux Libertine" panose="02000503000000000000" pitchFamily="2" charset="0"/>
                <a:cs typeface="Linux Libertine" panose="02000503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0AFB2E54-FFAE-4A19-93BD-540A789ED31E}"/>
              </a:ext>
            </a:extLst>
          </p:cNvPr>
          <p:cNvSpPr>
            <a:spLocks noGrp="1"/>
          </p:cNvSpPr>
          <p:nvPr>
            <p:ph sz="half" idx="2"/>
          </p:nvPr>
        </p:nvSpPr>
        <p:spPr>
          <a:xfrm>
            <a:off x="839788" y="2505075"/>
            <a:ext cx="5157787" cy="3684588"/>
          </a:xfrm>
        </p:spPr>
        <p:txBody>
          <a:bodyPr/>
          <a:lstStyle>
            <a:lvl1pPr>
              <a:defRPr>
                <a:latin typeface="Linux Libertine" panose="02000503000000000000" pitchFamily="2" charset="0"/>
                <a:ea typeface="Linux Libertine" panose="02000503000000000000" pitchFamily="2" charset="0"/>
                <a:cs typeface="Linux Libertine" panose="02000503000000000000" pitchFamily="2" charset="0"/>
              </a:defRPr>
            </a:lvl1pPr>
            <a:lvl2pPr>
              <a:defRPr>
                <a:latin typeface="Linux Libertine" panose="02000503000000000000" pitchFamily="2" charset="0"/>
                <a:ea typeface="Linux Libertine" panose="02000503000000000000" pitchFamily="2" charset="0"/>
                <a:cs typeface="Linux Libertine" panose="02000503000000000000" pitchFamily="2" charset="0"/>
              </a:defRPr>
            </a:lvl2pPr>
            <a:lvl3pPr>
              <a:defRPr>
                <a:latin typeface="Linux Libertine" panose="02000503000000000000" pitchFamily="2" charset="0"/>
                <a:ea typeface="Linux Libertine" panose="02000503000000000000" pitchFamily="2" charset="0"/>
                <a:cs typeface="Linux Libertine" panose="02000503000000000000" pitchFamily="2" charset="0"/>
              </a:defRPr>
            </a:lvl3pPr>
            <a:lvl4pPr>
              <a:defRPr>
                <a:latin typeface="Linux Libertine" panose="02000503000000000000" pitchFamily="2" charset="0"/>
                <a:ea typeface="Linux Libertine" panose="02000503000000000000" pitchFamily="2" charset="0"/>
                <a:cs typeface="Linux Libertine" panose="02000503000000000000" pitchFamily="2" charset="0"/>
              </a:defRPr>
            </a:lvl4pPr>
            <a:lvl5pPr>
              <a:defRPr>
                <a:latin typeface="Linux Libertine" panose="02000503000000000000" pitchFamily="2" charset="0"/>
                <a:ea typeface="Linux Libertine" panose="02000503000000000000" pitchFamily="2" charset="0"/>
                <a:cs typeface="Linux Libertine" panose="02000503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23F71BDD-206F-4ADF-B1F3-0B16649E6C7F}"/>
              </a:ext>
            </a:extLst>
          </p:cNvPr>
          <p:cNvSpPr>
            <a:spLocks noGrp="1"/>
          </p:cNvSpPr>
          <p:nvPr>
            <p:ph type="body" sz="quarter" idx="3"/>
          </p:nvPr>
        </p:nvSpPr>
        <p:spPr>
          <a:xfrm>
            <a:off x="6172200" y="1681163"/>
            <a:ext cx="5183188" cy="823912"/>
          </a:xfrm>
        </p:spPr>
        <p:txBody>
          <a:bodyPr anchor="b"/>
          <a:lstStyle>
            <a:lvl1pPr marL="0" indent="0">
              <a:buNone/>
              <a:defRPr sz="2400" b="1">
                <a:latin typeface="Linux Libertine" panose="02000503000000000000" pitchFamily="2" charset="0"/>
                <a:ea typeface="Linux Libertine" panose="02000503000000000000" pitchFamily="2" charset="0"/>
                <a:cs typeface="Linux Libertine" panose="02000503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E4A5E13D-500C-4F69-B2C0-ECB3640BD3AF}"/>
              </a:ext>
            </a:extLst>
          </p:cNvPr>
          <p:cNvSpPr>
            <a:spLocks noGrp="1"/>
          </p:cNvSpPr>
          <p:nvPr>
            <p:ph sz="quarter" idx="4"/>
          </p:nvPr>
        </p:nvSpPr>
        <p:spPr>
          <a:xfrm>
            <a:off x="6172200" y="2505075"/>
            <a:ext cx="5183188" cy="3684588"/>
          </a:xfrm>
        </p:spPr>
        <p:txBody>
          <a:bodyPr/>
          <a:lstStyle>
            <a:lvl1pPr>
              <a:defRPr>
                <a:latin typeface="Linux Libertine" panose="02000503000000000000" pitchFamily="2" charset="0"/>
                <a:ea typeface="Linux Libertine" panose="02000503000000000000" pitchFamily="2" charset="0"/>
                <a:cs typeface="Linux Libertine" panose="02000503000000000000" pitchFamily="2" charset="0"/>
              </a:defRPr>
            </a:lvl1pPr>
            <a:lvl2pPr>
              <a:defRPr>
                <a:latin typeface="Linux Libertine" panose="02000503000000000000" pitchFamily="2" charset="0"/>
                <a:ea typeface="Linux Libertine" panose="02000503000000000000" pitchFamily="2" charset="0"/>
                <a:cs typeface="Linux Libertine" panose="02000503000000000000" pitchFamily="2" charset="0"/>
              </a:defRPr>
            </a:lvl2pPr>
            <a:lvl3pPr>
              <a:defRPr>
                <a:latin typeface="Linux Libertine" panose="02000503000000000000" pitchFamily="2" charset="0"/>
                <a:ea typeface="Linux Libertine" panose="02000503000000000000" pitchFamily="2" charset="0"/>
                <a:cs typeface="Linux Libertine" panose="02000503000000000000" pitchFamily="2" charset="0"/>
              </a:defRPr>
            </a:lvl3pPr>
            <a:lvl4pPr>
              <a:defRPr>
                <a:latin typeface="Linux Libertine" panose="02000503000000000000" pitchFamily="2" charset="0"/>
                <a:ea typeface="Linux Libertine" panose="02000503000000000000" pitchFamily="2" charset="0"/>
                <a:cs typeface="Linux Libertine" panose="02000503000000000000" pitchFamily="2" charset="0"/>
              </a:defRPr>
            </a:lvl4pPr>
            <a:lvl5pPr>
              <a:defRPr>
                <a:latin typeface="Linux Libertine" panose="02000503000000000000" pitchFamily="2" charset="0"/>
                <a:ea typeface="Linux Libertine" panose="02000503000000000000" pitchFamily="2" charset="0"/>
                <a:cs typeface="Linux Libertine" panose="02000503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B8ABC37C-4E05-44EF-ADA5-97EA3B41C2B6}"/>
              </a:ext>
            </a:extLst>
          </p:cNvPr>
          <p:cNvSpPr>
            <a:spLocks noGrp="1"/>
          </p:cNvSpPr>
          <p:nvPr>
            <p:ph type="dt" sz="half" idx="10"/>
          </p:nvPr>
        </p:nvSpPr>
        <p:spPr/>
        <p:txBody>
          <a:bodyPr/>
          <a:lstStyle>
            <a:lvl1pPr>
              <a:defRPr>
                <a:latin typeface="Linux Libertine" panose="02000503000000000000" pitchFamily="2" charset="0"/>
                <a:ea typeface="Linux Libertine" panose="02000503000000000000" pitchFamily="2" charset="0"/>
                <a:cs typeface="Linux Libertine" panose="02000503000000000000" pitchFamily="2" charset="0"/>
              </a:defRPr>
            </a:lvl1pPr>
          </a:lstStyle>
          <a:p>
            <a:fld id="{8FAFB9BF-DDD9-431A-82DF-09F8C9DEE367}" type="datetime1">
              <a:rPr lang="en-US" smtClean="0"/>
              <a:t>12/7/2021</a:t>
            </a:fld>
            <a:endParaRPr lang="en-US" dirty="0"/>
          </a:p>
        </p:txBody>
      </p:sp>
      <p:sp>
        <p:nvSpPr>
          <p:cNvPr id="8" name="Footer Placeholder 7">
            <a:extLst>
              <a:ext uri="{FF2B5EF4-FFF2-40B4-BE49-F238E27FC236}">
                <a16:creationId xmlns:a16="http://schemas.microsoft.com/office/drawing/2014/main" id="{F7C809DD-F065-496C-BB42-F8E051D871B9}"/>
              </a:ext>
            </a:extLst>
          </p:cNvPr>
          <p:cNvSpPr>
            <a:spLocks noGrp="1"/>
          </p:cNvSpPr>
          <p:nvPr>
            <p:ph type="ftr" sz="quarter" idx="11"/>
          </p:nvPr>
        </p:nvSpPr>
        <p:spPr/>
        <p:txBody>
          <a:bodyPr/>
          <a:lstStyle>
            <a:lvl1pPr>
              <a:defRPr>
                <a:latin typeface="Linux Libertine" panose="02000503000000000000" pitchFamily="2" charset="0"/>
                <a:ea typeface="Linux Libertine" panose="02000503000000000000" pitchFamily="2" charset="0"/>
                <a:cs typeface="Linux Libertine" panose="02000503000000000000" pitchFamily="2" charset="0"/>
              </a:defRPr>
            </a:lvl1pPr>
          </a:lstStyle>
          <a:p>
            <a:r>
              <a:rPr lang="en-US"/>
              <a:t>Dissertation proposal - Ebeid - Fall 2021</a:t>
            </a:r>
            <a:endParaRPr lang="en-US" dirty="0"/>
          </a:p>
        </p:txBody>
      </p:sp>
      <p:sp>
        <p:nvSpPr>
          <p:cNvPr id="9" name="Slide Number Placeholder 8">
            <a:extLst>
              <a:ext uri="{FF2B5EF4-FFF2-40B4-BE49-F238E27FC236}">
                <a16:creationId xmlns:a16="http://schemas.microsoft.com/office/drawing/2014/main" id="{747BEA84-7281-4D31-9B5F-B6AC0DE22B88}"/>
              </a:ext>
            </a:extLst>
          </p:cNvPr>
          <p:cNvSpPr>
            <a:spLocks noGrp="1"/>
          </p:cNvSpPr>
          <p:nvPr>
            <p:ph type="sldNum" sz="quarter" idx="12"/>
          </p:nvPr>
        </p:nvSpPr>
        <p:spPr/>
        <p:txBody>
          <a:bodyPr/>
          <a:lstStyle>
            <a:lvl1pPr>
              <a:defRPr>
                <a:latin typeface="Linux Libertine" panose="02000503000000000000" pitchFamily="2" charset="0"/>
                <a:ea typeface="Linux Libertine" panose="02000503000000000000" pitchFamily="2" charset="0"/>
                <a:cs typeface="Linux Libertine" panose="02000503000000000000" pitchFamily="2" charset="0"/>
              </a:defRPr>
            </a:lvl1pPr>
          </a:lstStyle>
          <a:p>
            <a:fld id="{5A99AF73-65C2-407A-B44B-DB0F62C2405F}" type="slidenum">
              <a:rPr lang="en-US" smtClean="0"/>
              <a:pPr/>
              <a:t>‹#›</a:t>
            </a:fld>
            <a:endParaRPr lang="en-US" dirty="0"/>
          </a:p>
        </p:txBody>
      </p:sp>
    </p:spTree>
    <p:extLst>
      <p:ext uri="{BB962C8B-B14F-4D97-AF65-F5344CB8AC3E}">
        <p14:creationId xmlns:p14="http://schemas.microsoft.com/office/powerpoint/2010/main" val="7699821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E20C6-12F8-4335-85E2-5CB43ACCCD6A}"/>
              </a:ext>
            </a:extLst>
          </p:cNvPr>
          <p:cNvSpPr>
            <a:spLocks noGrp="1"/>
          </p:cNvSpPr>
          <p:nvPr>
            <p:ph type="title"/>
          </p:nvPr>
        </p:nvSpPr>
        <p:spPr/>
        <p:txBody>
          <a:bodyPr/>
          <a:lstStyle>
            <a:lvl1pPr>
              <a:defRPr>
                <a:latin typeface="Linux Libertine" panose="02000503000000000000" pitchFamily="2" charset="0"/>
                <a:ea typeface="Linux Libertine" panose="02000503000000000000" pitchFamily="2" charset="0"/>
                <a:cs typeface="Linux Libertine" panose="02000503000000000000" pitchFamily="2" charset="0"/>
              </a:defRPr>
            </a:lvl1pPr>
          </a:lstStyle>
          <a:p>
            <a:r>
              <a:rPr lang="en-US" dirty="0"/>
              <a:t>Click to edit Master title style</a:t>
            </a:r>
          </a:p>
        </p:txBody>
      </p:sp>
      <p:sp>
        <p:nvSpPr>
          <p:cNvPr id="3" name="Date Placeholder 2">
            <a:extLst>
              <a:ext uri="{FF2B5EF4-FFF2-40B4-BE49-F238E27FC236}">
                <a16:creationId xmlns:a16="http://schemas.microsoft.com/office/drawing/2014/main" id="{AE1F34A2-74FC-49CD-89AB-3825A4593C36}"/>
              </a:ext>
            </a:extLst>
          </p:cNvPr>
          <p:cNvSpPr>
            <a:spLocks noGrp="1"/>
          </p:cNvSpPr>
          <p:nvPr>
            <p:ph type="dt" sz="half" idx="10"/>
          </p:nvPr>
        </p:nvSpPr>
        <p:spPr/>
        <p:txBody>
          <a:bodyPr/>
          <a:lstStyle/>
          <a:p>
            <a:fld id="{25A67A55-3350-4BE6-A23A-3CC05914EB39}" type="datetime1">
              <a:rPr lang="en-US" smtClean="0"/>
              <a:t>12/7/2021</a:t>
            </a:fld>
            <a:endParaRPr lang="en-US"/>
          </a:p>
        </p:txBody>
      </p:sp>
      <p:sp>
        <p:nvSpPr>
          <p:cNvPr id="4" name="Footer Placeholder 3">
            <a:extLst>
              <a:ext uri="{FF2B5EF4-FFF2-40B4-BE49-F238E27FC236}">
                <a16:creationId xmlns:a16="http://schemas.microsoft.com/office/drawing/2014/main" id="{A4BD7F95-4757-459F-9806-EF6803C02C4B}"/>
              </a:ext>
            </a:extLst>
          </p:cNvPr>
          <p:cNvSpPr>
            <a:spLocks noGrp="1"/>
          </p:cNvSpPr>
          <p:nvPr>
            <p:ph type="ftr" sz="quarter" idx="11"/>
          </p:nvPr>
        </p:nvSpPr>
        <p:spPr/>
        <p:txBody>
          <a:bodyPr/>
          <a:lstStyle/>
          <a:p>
            <a:r>
              <a:rPr lang="en-US"/>
              <a:t>Dissertation proposal - Ebeid - Fall 2021</a:t>
            </a:r>
          </a:p>
        </p:txBody>
      </p:sp>
      <p:sp>
        <p:nvSpPr>
          <p:cNvPr id="5" name="Slide Number Placeholder 4">
            <a:extLst>
              <a:ext uri="{FF2B5EF4-FFF2-40B4-BE49-F238E27FC236}">
                <a16:creationId xmlns:a16="http://schemas.microsoft.com/office/drawing/2014/main" id="{BF000151-3266-4053-9276-FA6E6A376B89}"/>
              </a:ext>
            </a:extLst>
          </p:cNvPr>
          <p:cNvSpPr>
            <a:spLocks noGrp="1"/>
          </p:cNvSpPr>
          <p:nvPr>
            <p:ph type="sldNum" sz="quarter" idx="12"/>
          </p:nvPr>
        </p:nvSpPr>
        <p:spPr/>
        <p:txBody>
          <a:bodyPr/>
          <a:lstStyle/>
          <a:p>
            <a:fld id="{5A99AF73-65C2-407A-B44B-DB0F62C2405F}" type="slidenum">
              <a:rPr lang="en-US" smtClean="0"/>
              <a:t>‹#›</a:t>
            </a:fld>
            <a:endParaRPr lang="en-US"/>
          </a:p>
        </p:txBody>
      </p:sp>
    </p:spTree>
    <p:extLst>
      <p:ext uri="{BB962C8B-B14F-4D97-AF65-F5344CB8AC3E}">
        <p14:creationId xmlns:p14="http://schemas.microsoft.com/office/powerpoint/2010/main" val="39636852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6316603-9EA8-4118-8B0D-0DDD1349749A}"/>
              </a:ext>
            </a:extLst>
          </p:cNvPr>
          <p:cNvSpPr>
            <a:spLocks noGrp="1"/>
          </p:cNvSpPr>
          <p:nvPr>
            <p:ph type="dt" sz="half" idx="10"/>
          </p:nvPr>
        </p:nvSpPr>
        <p:spPr/>
        <p:txBody>
          <a:bodyPr/>
          <a:lstStyle/>
          <a:p>
            <a:fld id="{C1FFE036-1B22-46FC-8A87-65388E31D917}" type="datetime1">
              <a:rPr lang="en-US" smtClean="0"/>
              <a:t>12/7/2021</a:t>
            </a:fld>
            <a:endParaRPr lang="en-US"/>
          </a:p>
        </p:txBody>
      </p:sp>
      <p:sp>
        <p:nvSpPr>
          <p:cNvPr id="3" name="Footer Placeholder 2">
            <a:extLst>
              <a:ext uri="{FF2B5EF4-FFF2-40B4-BE49-F238E27FC236}">
                <a16:creationId xmlns:a16="http://schemas.microsoft.com/office/drawing/2014/main" id="{4E138C18-08F0-4427-87F5-C0DBC98E5735}"/>
              </a:ext>
            </a:extLst>
          </p:cNvPr>
          <p:cNvSpPr>
            <a:spLocks noGrp="1"/>
          </p:cNvSpPr>
          <p:nvPr>
            <p:ph type="ftr" sz="quarter" idx="11"/>
          </p:nvPr>
        </p:nvSpPr>
        <p:spPr/>
        <p:txBody>
          <a:bodyPr/>
          <a:lstStyle/>
          <a:p>
            <a:r>
              <a:rPr lang="en-US"/>
              <a:t>Dissertation proposal - Ebeid - Fall 2021</a:t>
            </a:r>
          </a:p>
        </p:txBody>
      </p:sp>
      <p:sp>
        <p:nvSpPr>
          <p:cNvPr id="4" name="Slide Number Placeholder 3">
            <a:extLst>
              <a:ext uri="{FF2B5EF4-FFF2-40B4-BE49-F238E27FC236}">
                <a16:creationId xmlns:a16="http://schemas.microsoft.com/office/drawing/2014/main" id="{479BC7DE-7E57-4414-BB39-67632FE38E42}"/>
              </a:ext>
            </a:extLst>
          </p:cNvPr>
          <p:cNvSpPr>
            <a:spLocks noGrp="1"/>
          </p:cNvSpPr>
          <p:nvPr>
            <p:ph type="sldNum" sz="quarter" idx="12"/>
          </p:nvPr>
        </p:nvSpPr>
        <p:spPr/>
        <p:txBody>
          <a:bodyPr/>
          <a:lstStyle/>
          <a:p>
            <a:fld id="{5A99AF73-65C2-407A-B44B-DB0F62C2405F}" type="slidenum">
              <a:rPr lang="en-US" smtClean="0"/>
              <a:t>‹#›</a:t>
            </a:fld>
            <a:endParaRPr lang="en-US"/>
          </a:p>
        </p:txBody>
      </p:sp>
    </p:spTree>
    <p:extLst>
      <p:ext uri="{BB962C8B-B14F-4D97-AF65-F5344CB8AC3E}">
        <p14:creationId xmlns:p14="http://schemas.microsoft.com/office/powerpoint/2010/main" val="36556573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CF385-524F-4C93-B092-38CB117B608C}"/>
              </a:ext>
            </a:extLst>
          </p:cNvPr>
          <p:cNvSpPr>
            <a:spLocks noGrp="1"/>
          </p:cNvSpPr>
          <p:nvPr>
            <p:ph type="title"/>
          </p:nvPr>
        </p:nvSpPr>
        <p:spPr>
          <a:xfrm>
            <a:off x="839788" y="457200"/>
            <a:ext cx="3932237" cy="1600200"/>
          </a:xfrm>
        </p:spPr>
        <p:txBody>
          <a:bodyPr anchor="b"/>
          <a:lstStyle>
            <a:lvl1pPr>
              <a:defRPr sz="3200">
                <a:latin typeface="Linux Libertine" panose="02000503000000000000" pitchFamily="2" charset="0"/>
                <a:ea typeface="Linux Libertine" panose="02000503000000000000" pitchFamily="2" charset="0"/>
                <a:cs typeface="Linux Libertine" panose="02000503000000000000" pitchFamily="2" charset="0"/>
              </a:defRPr>
            </a:lvl1pPr>
          </a:lstStyle>
          <a:p>
            <a:r>
              <a:rPr lang="en-US" dirty="0"/>
              <a:t>Click to edit Master title style</a:t>
            </a:r>
          </a:p>
        </p:txBody>
      </p:sp>
      <p:sp>
        <p:nvSpPr>
          <p:cNvPr id="3" name="Content Placeholder 2">
            <a:extLst>
              <a:ext uri="{FF2B5EF4-FFF2-40B4-BE49-F238E27FC236}">
                <a16:creationId xmlns:a16="http://schemas.microsoft.com/office/drawing/2014/main" id="{2483DDB9-484B-444A-8A79-142A660F19D1}"/>
              </a:ext>
            </a:extLst>
          </p:cNvPr>
          <p:cNvSpPr>
            <a:spLocks noGrp="1"/>
          </p:cNvSpPr>
          <p:nvPr>
            <p:ph idx="1"/>
          </p:nvPr>
        </p:nvSpPr>
        <p:spPr>
          <a:xfrm>
            <a:off x="5183188" y="987425"/>
            <a:ext cx="6172200" cy="4873625"/>
          </a:xfrm>
        </p:spPr>
        <p:txBody>
          <a:bodyPr/>
          <a:lstStyle>
            <a:lvl1pPr>
              <a:defRPr sz="3200">
                <a:latin typeface="Linux Libertine" panose="02000503000000000000" pitchFamily="2" charset="0"/>
                <a:ea typeface="Linux Libertine" panose="02000503000000000000" pitchFamily="2" charset="0"/>
                <a:cs typeface="Linux Libertine" panose="02000503000000000000" pitchFamily="2" charset="0"/>
              </a:defRPr>
            </a:lvl1pPr>
            <a:lvl2pPr>
              <a:defRPr sz="2800">
                <a:latin typeface="Linux Libertine" panose="02000503000000000000" pitchFamily="2" charset="0"/>
                <a:ea typeface="Linux Libertine" panose="02000503000000000000" pitchFamily="2" charset="0"/>
                <a:cs typeface="Linux Libertine" panose="02000503000000000000" pitchFamily="2" charset="0"/>
              </a:defRPr>
            </a:lvl2pPr>
            <a:lvl3pPr>
              <a:defRPr sz="2400">
                <a:latin typeface="Linux Libertine" panose="02000503000000000000" pitchFamily="2" charset="0"/>
                <a:ea typeface="Linux Libertine" panose="02000503000000000000" pitchFamily="2" charset="0"/>
                <a:cs typeface="Linux Libertine" panose="02000503000000000000" pitchFamily="2" charset="0"/>
              </a:defRPr>
            </a:lvl3pPr>
            <a:lvl4pPr>
              <a:defRPr sz="2000">
                <a:latin typeface="Linux Libertine" panose="02000503000000000000" pitchFamily="2" charset="0"/>
                <a:ea typeface="Linux Libertine" panose="02000503000000000000" pitchFamily="2" charset="0"/>
                <a:cs typeface="Linux Libertine" panose="02000503000000000000" pitchFamily="2" charset="0"/>
              </a:defRPr>
            </a:lvl4pPr>
            <a:lvl5pPr>
              <a:defRPr sz="2000">
                <a:latin typeface="Linux Libertine" panose="02000503000000000000" pitchFamily="2" charset="0"/>
                <a:ea typeface="Linux Libertine" panose="02000503000000000000" pitchFamily="2" charset="0"/>
                <a:cs typeface="Linux Libertine" panose="02000503000000000000" pitchFamily="2"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A2BEE8B4-B84A-40B6-B5AE-6622A27870B4}"/>
              </a:ext>
            </a:extLst>
          </p:cNvPr>
          <p:cNvSpPr>
            <a:spLocks noGrp="1"/>
          </p:cNvSpPr>
          <p:nvPr>
            <p:ph type="body" sz="half" idx="2"/>
          </p:nvPr>
        </p:nvSpPr>
        <p:spPr>
          <a:xfrm>
            <a:off x="839788" y="2057400"/>
            <a:ext cx="3932237" cy="3811588"/>
          </a:xfrm>
        </p:spPr>
        <p:txBody>
          <a:bodyPr/>
          <a:lstStyle>
            <a:lvl1pPr marL="0" indent="0">
              <a:buNone/>
              <a:defRPr sz="1600">
                <a:latin typeface="Linux Libertine" panose="02000503000000000000" pitchFamily="2" charset="0"/>
                <a:ea typeface="Linux Libertine" panose="02000503000000000000" pitchFamily="2" charset="0"/>
                <a:cs typeface="Linux Libertine" panose="02000503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5D5DE75-DBDA-45BF-99E9-49A1399BFE29}"/>
              </a:ext>
            </a:extLst>
          </p:cNvPr>
          <p:cNvSpPr>
            <a:spLocks noGrp="1"/>
          </p:cNvSpPr>
          <p:nvPr>
            <p:ph type="dt" sz="half" idx="10"/>
          </p:nvPr>
        </p:nvSpPr>
        <p:spPr/>
        <p:txBody>
          <a:bodyPr/>
          <a:lstStyle/>
          <a:p>
            <a:fld id="{70D795F7-7618-4BBB-9375-45E6C1F0B427}" type="datetime1">
              <a:rPr lang="en-US" smtClean="0"/>
              <a:t>12/7/2021</a:t>
            </a:fld>
            <a:endParaRPr lang="en-US"/>
          </a:p>
        </p:txBody>
      </p:sp>
      <p:sp>
        <p:nvSpPr>
          <p:cNvPr id="6" name="Footer Placeholder 5">
            <a:extLst>
              <a:ext uri="{FF2B5EF4-FFF2-40B4-BE49-F238E27FC236}">
                <a16:creationId xmlns:a16="http://schemas.microsoft.com/office/drawing/2014/main" id="{F0BCEA4B-7951-410C-B059-B0A5B159C29F}"/>
              </a:ext>
            </a:extLst>
          </p:cNvPr>
          <p:cNvSpPr>
            <a:spLocks noGrp="1"/>
          </p:cNvSpPr>
          <p:nvPr>
            <p:ph type="ftr" sz="quarter" idx="11"/>
          </p:nvPr>
        </p:nvSpPr>
        <p:spPr/>
        <p:txBody>
          <a:bodyPr/>
          <a:lstStyle/>
          <a:p>
            <a:r>
              <a:rPr lang="en-US"/>
              <a:t>Dissertation proposal - Ebeid - Fall 2021</a:t>
            </a:r>
          </a:p>
        </p:txBody>
      </p:sp>
      <p:sp>
        <p:nvSpPr>
          <p:cNvPr id="7" name="Slide Number Placeholder 6">
            <a:extLst>
              <a:ext uri="{FF2B5EF4-FFF2-40B4-BE49-F238E27FC236}">
                <a16:creationId xmlns:a16="http://schemas.microsoft.com/office/drawing/2014/main" id="{C3CAD1C9-3213-4FC5-B3E0-57C96F09B7D8}"/>
              </a:ext>
            </a:extLst>
          </p:cNvPr>
          <p:cNvSpPr>
            <a:spLocks noGrp="1"/>
          </p:cNvSpPr>
          <p:nvPr>
            <p:ph type="sldNum" sz="quarter" idx="12"/>
          </p:nvPr>
        </p:nvSpPr>
        <p:spPr/>
        <p:txBody>
          <a:bodyPr/>
          <a:lstStyle/>
          <a:p>
            <a:fld id="{5A99AF73-65C2-407A-B44B-DB0F62C2405F}" type="slidenum">
              <a:rPr lang="en-US" smtClean="0"/>
              <a:t>‹#›</a:t>
            </a:fld>
            <a:endParaRPr lang="en-US"/>
          </a:p>
        </p:txBody>
      </p:sp>
    </p:spTree>
    <p:extLst>
      <p:ext uri="{BB962C8B-B14F-4D97-AF65-F5344CB8AC3E}">
        <p14:creationId xmlns:p14="http://schemas.microsoft.com/office/powerpoint/2010/main" val="19383687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B467AF-FA31-421E-B7B8-6CC115148BD8}"/>
              </a:ext>
            </a:extLst>
          </p:cNvPr>
          <p:cNvSpPr>
            <a:spLocks noGrp="1"/>
          </p:cNvSpPr>
          <p:nvPr>
            <p:ph type="title"/>
          </p:nvPr>
        </p:nvSpPr>
        <p:spPr>
          <a:xfrm>
            <a:off x="839788" y="457200"/>
            <a:ext cx="3932237" cy="1600200"/>
          </a:xfrm>
        </p:spPr>
        <p:txBody>
          <a:bodyPr anchor="b"/>
          <a:lstStyle>
            <a:lvl1pPr>
              <a:defRPr sz="3200">
                <a:latin typeface="Linux Libertine" panose="02000503000000000000" pitchFamily="2" charset="0"/>
                <a:ea typeface="Linux Libertine" panose="02000503000000000000" pitchFamily="2" charset="0"/>
                <a:cs typeface="Linux Libertine" panose="02000503000000000000" pitchFamily="2" charset="0"/>
              </a:defRPr>
            </a:lvl1pPr>
          </a:lstStyle>
          <a:p>
            <a:r>
              <a:rPr lang="en-US" dirty="0"/>
              <a:t>Click to edit Master title style</a:t>
            </a:r>
          </a:p>
        </p:txBody>
      </p:sp>
      <p:sp>
        <p:nvSpPr>
          <p:cNvPr id="3" name="Picture Placeholder 2">
            <a:extLst>
              <a:ext uri="{FF2B5EF4-FFF2-40B4-BE49-F238E27FC236}">
                <a16:creationId xmlns:a16="http://schemas.microsoft.com/office/drawing/2014/main" id="{6C0A3033-DAAA-4A3C-BB30-32F8C713FDE1}"/>
              </a:ext>
            </a:extLst>
          </p:cNvPr>
          <p:cNvSpPr>
            <a:spLocks noGrp="1"/>
          </p:cNvSpPr>
          <p:nvPr>
            <p:ph type="pic" idx="1"/>
          </p:nvPr>
        </p:nvSpPr>
        <p:spPr>
          <a:xfrm>
            <a:off x="5183188" y="987425"/>
            <a:ext cx="6172200" cy="4873625"/>
          </a:xfrm>
        </p:spPr>
        <p:txBody>
          <a:bodyPr/>
          <a:lstStyle>
            <a:lvl1pPr marL="0" indent="0">
              <a:buNone/>
              <a:defRPr sz="3200">
                <a:latin typeface="Linux Libertine" panose="02000503000000000000" pitchFamily="2" charset="0"/>
                <a:ea typeface="Linux Libertine" panose="02000503000000000000" pitchFamily="2" charset="0"/>
                <a:cs typeface="Linux Libertine" panose="02000503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C443BDB1-BD92-4467-838B-5D0EE954577B}"/>
              </a:ext>
            </a:extLst>
          </p:cNvPr>
          <p:cNvSpPr>
            <a:spLocks noGrp="1"/>
          </p:cNvSpPr>
          <p:nvPr>
            <p:ph type="body" sz="half" idx="2"/>
          </p:nvPr>
        </p:nvSpPr>
        <p:spPr>
          <a:xfrm>
            <a:off x="839788" y="2057400"/>
            <a:ext cx="3932237" cy="3811588"/>
          </a:xfrm>
        </p:spPr>
        <p:txBody>
          <a:bodyPr/>
          <a:lstStyle>
            <a:lvl1pPr marL="0" indent="0">
              <a:buNone/>
              <a:defRPr sz="1600">
                <a:latin typeface="Linux Libertine" panose="02000503000000000000" pitchFamily="2" charset="0"/>
                <a:ea typeface="Linux Libertine" panose="02000503000000000000" pitchFamily="2" charset="0"/>
                <a:cs typeface="Linux Libertine" panose="02000503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5846F8A8-686F-4596-B3CB-05FD8035BDD4}"/>
              </a:ext>
            </a:extLst>
          </p:cNvPr>
          <p:cNvSpPr>
            <a:spLocks noGrp="1"/>
          </p:cNvSpPr>
          <p:nvPr>
            <p:ph type="dt" sz="half" idx="10"/>
          </p:nvPr>
        </p:nvSpPr>
        <p:spPr/>
        <p:txBody>
          <a:bodyPr/>
          <a:lstStyle/>
          <a:p>
            <a:fld id="{B1FEB2BE-F53B-4226-ABA4-FA3463266FD5}" type="datetime1">
              <a:rPr lang="en-US" smtClean="0"/>
              <a:t>12/7/2021</a:t>
            </a:fld>
            <a:endParaRPr lang="en-US"/>
          </a:p>
        </p:txBody>
      </p:sp>
      <p:sp>
        <p:nvSpPr>
          <p:cNvPr id="6" name="Footer Placeholder 5">
            <a:extLst>
              <a:ext uri="{FF2B5EF4-FFF2-40B4-BE49-F238E27FC236}">
                <a16:creationId xmlns:a16="http://schemas.microsoft.com/office/drawing/2014/main" id="{132022BF-0C32-476D-AB7B-B134A07B5482}"/>
              </a:ext>
            </a:extLst>
          </p:cNvPr>
          <p:cNvSpPr>
            <a:spLocks noGrp="1"/>
          </p:cNvSpPr>
          <p:nvPr>
            <p:ph type="ftr" sz="quarter" idx="11"/>
          </p:nvPr>
        </p:nvSpPr>
        <p:spPr/>
        <p:txBody>
          <a:bodyPr/>
          <a:lstStyle/>
          <a:p>
            <a:r>
              <a:rPr lang="en-US"/>
              <a:t>Dissertation proposal - Ebeid - Fall 2021</a:t>
            </a:r>
          </a:p>
        </p:txBody>
      </p:sp>
      <p:sp>
        <p:nvSpPr>
          <p:cNvPr id="7" name="Slide Number Placeholder 6">
            <a:extLst>
              <a:ext uri="{FF2B5EF4-FFF2-40B4-BE49-F238E27FC236}">
                <a16:creationId xmlns:a16="http://schemas.microsoft.com/office/drawing/2014/main" id="{6E64FB75-AC7A-4C8A-8042-78C5C0C235D2}"/>
              </a:ext>
            </a:extLst>
          </p:cNvPr>
          <p:cNvSpPr>
            <a:spLocks noGrp="1"/>
          </p:cNvSpPr>
          <p:nvPr>
            <p:ph type="sldNum" sz="quarter" idx="12"/>
          </p:nvPr>
        </p:nvSpPr>
        <p:spPr/>
        <p:txBody>
          <a:bodyPr/>
          <a:lstStyle/>
          <a:p>
            <a:fld id="{5A99AF73-65C2-407A-B44B-DB0F62C2405F}" type="slidenum">
              <a:rPr lang="en-US" smtClean="0"/>
              <a:t>‹#›</a:t>
            </a:fld>
            <a:endParaRPr lang="en-US"/>
          </a:p>
        </p:txBody>
      </p:sp>
    </p:spTree>
    <p:extLst>
      <p:ext uri="{BB962C8B-B14F-4D97-AF65-F5344CB8AC3E}">
        <p14:creationId xmlns:p14="http://schemas.microsoft.com/office/powerpoint/2010/main" val="4772737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06C5F-3DE9-4100-99C3-93616B11AA24}"/>
              </a:ext>
            </a:extLst>
          </p:cNvPr>
          <p:cNvSpPr>
            <a:spLocks noGrp="1"/>
          </p:cNvSpPr>
          <p:nvPr>
            <p:ph type="title"/>
          </p:nvPr>
        </p:nvSpPr>
        <p:spPr/>
        <p:txBody>
          <a:bodyPr/>
          <a:lstStyle>
            <a:lvl1pPr>
              <a:defRPr>
                <a:latin typeface="Linux Libertine" panose="02000503000000000000" pitchFamily="2" charset="0"/>
                <a:ea typeface="Linux Libertine" panose="02000503000000000000" pitchFamily="2" charset="0"/>
                <a:cs typeface="Linux Libertine" panose="02000503000000000000" pitchFamily="2" charset="0"/>
              </a:defRPr>
            </a:lvl1pPr>
          </a:lstStyle>
          <a:p>
            <a:r>
              <a:rPr lang="en-US" dirty="0"/>
              <a:t>Click to edit Master title style</a:t>
            </a:r>
          </a:p>
        </p:txBody>
      </p:sp>
      <p:sp>
        <p:nvSpPr>
          <p:cNvPr id="3" name="Vertical Text Placeholder 2">
            <a:extLst>
              <a:ext uri="{FF2B5EF4-FFF2-40B4-BE49-F238E27FC236}">
                <a16:creationId xmlns:a16="http://schemas.microsoft.com/office/drawing/2014/main" id="{A2B94997-BF4D-442C-A004-213BE8B137BB}"/>
              </a:ext>
            </a:extLst>
          </p:cNvPr>
          <p:cNvSpPr>
            <a:spLocks noGrp="1"/>
          </p:cNvSpPr>
          <p:nvPr>
            <p:ph type="body" orient="vert" idx="1"/>
          </p:nvPr>
        </p:nvSpPr>
        <p:spPr/>
        <p:txBody>
          <a:bodyPr vert="eaVert"/>
          <a:lstStyle>
            <a:lvl1pPr>
              <a:defRPr>
                <a:latin typeface="Linux Libertine" panose="02000503000000000000" pitchFamily="2" charset="0"/>
                <a:ea typeface="Linux Libertine" panose="02000503000000000000" pitchFamily="2" charset="0"/>
                <a:cs typeface="Linux Libertine" panose="02000503000000000000" pitchFamily="2" charset="0"/>
              </a:defRPr>
            </a:lvl1pPr>
            <a:lvl2pPr>
              <a:defRPr>
                <a:latin typeface="Linux Libertine" panose="02000503000000000000" pitchFamily="2" charset="0"/>
                <a:ea typeface="Linux Libertine" panose="02000503000000000000" pitchFamily="2" charset="0"/>
                <a:cs typeface="Linux Libertine" panose="02000503000000000000" pitchFamily="2" charset="0"/>
              </a:defRPr>
            </a:lvl2pPr>
            <a:lvl3pPr>
              <a:defRPr>
                <a:latin typeface="Linux Libertine" panose="02000503000000000000" pitchFamily="2" charset="0"/>
                <a:ea typeface="Linux Libertine" panose="02000503000000000000" pitchFamily="2" charset="0"/>
                <a:cs typeface="Linux Libertine" panose="02000503000000000000" pitchFamily="2" charset="0"/>
              </a:defRPr>
            </a:lvl3pPr>
            <a:lvl4pPr>
              <a:defRPr>
                <a:latin typeface="Linux Libertine" panose="02000503000000000000" pitchFamily="2" charset="0"/>
                <a:ea typeface="Linux Libertine" panose="02000503000000000000" pitchFamily="2" charset="0"/>
                <a:cs typeface="Linux Libertine" panose="02000503000000000000" pitchFamily="2" charset="0"/>
              </a:defRPr>
            </a:lvl4pPr>
            <a:lvl5pPr>
              <a:defRPr>
                <a:latin typeface="Linux Libertine" panose="02000503000000000000" pitchFamily="2" charset="0"/>
                <a:ea typeface="Linux Libertine" panose="02000503000000000000" pitchFamily="2" charset="0"/>
                <a:cs typeface="Linux Libertine" panose="02000503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E16AF4A-53F3-4E8A-876A-8C13C5CF5923}"/>
              </a:ext>
            </a:extLst>
          </p:cNvPr>
          <p:cNvSpPr>
            <a:spLocks noGrp="1"/>
          </p:cNvSpPr>
          <p:nvPr>
            <p:ph type="dt" sz="half" idx="10"/>
          </p:nvPr>
        </p:nvSpPr>
        <p:spPr/>
        <p:txBody>
          <a:bodyPr/>
          <a:lstStyle/>
          <a:p>
            <a:fld id="{B1F7F848-3B88-4900-90B3-54CBB5CF771C}" type="datetime1">
              <a:rPr lang="en-US" smtClean="0"/>
              <a:t>12/7/2021</a:t>
            </a:fld>
            <a:endParaRPr lang="en-US"/>
          </a:p>
        </p:txBody>
      </p:sp>
      <p:sp>
        <p:nvSpPr>
          <p:cNvPr id="5" name="Footer Placeholder 4">
            <a:extLst>
              <a:ext uri="{FF2B5EF4-FFF2-40B4-BE49-F238E27FC236}">
                <a16:creationId xmlns:a16="http://schemas.microsoft.com/office/drawing/2014/main" id="{3C9BAAF6-A651-484D-9059-455A11F2022D}"/>
              </a:ext>
            </a:extLst>
          </p:cNvPr>
          <p:cNvSpPr>
            <a:spLocks noGrp="1"/>
          </p:cNvSpPr>
          <p:nvPr>
            <p:ph type="ftr" sz="quarter" idx="11"/>
          </p:nvPr>
        </p:nvSpPr>
        <p:spPr/>
        <p:txBody>
          <a:bodyPr/>
          <a:lstStyle/>
          <a:p>
            <a:r>
              <a:rPr lang="en-US"/>
              <a:t>Dissertation proposal - Ebeid - Fall 2021</a:t>
            </a:r>
          </a:p>
        </p:txBody>
      </p:sp>
      <p:sp>
        <p:nvSpPr>
          <p:cNvPr id="6" name="Slide Number Placeholder 5">
            <a:extLst>
              <a:ext uri="{FF2B5EF4-FFF2-40B4-BE49-F238E27FC236}">
                <a16:creationId xmlns:a16="http://schemas.microsoft.com/office/drawing/2014/main" id="{08B1B291-30D2-48A7-AB51-49867FBD803E}"/>
              </a:ext>
            </a:extLst>
          </p:cNvPr>
          <p:cNvSpPr>
            <a:spLocks noGrp="1"/>
          </p:cNvSpPr>
          <p:nvPr>
            <p:ph type="sldNum" sz="quarter" idx="12"/>
          </p:nvPr>
        </p:nvSpPr>
        <p:spPr/>
        <p:txBody>
          <a:bodyPr/>
          <a:lstStyle/>
          <a:p>
            <a:fld id="{5A99AF73-65C2-407A-B44B-DB0F62C2405F}" type="slidenum">
              <a:rPr lang="en-US" smtClean="0"/>
              <a:t>‹#›</a:t>
            </a:fld>
            <a:endParaRPr lang="en-US"/>
          </a:p>
        </p:txBody>
      </p:sp>
    </p:spTree>
    <p:extLst>
      <p:ext uri="{BB962C8B-B14F-4D97-AF65-F5344CB8AC3E}">
        <p14:creationId xmlns:p14="http://schemas.microsoft.com/office/powerpoint/2010/main" val="19414108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711B5F2-32DD-4E1C-8FB2-48C3F56BBCEA}"/>
              </a:ext>
            </a:extLst>
          </p:cNvPr>
          <p:cNvSpPr>
            <a:spLocks noGrp="1"/>
          </p:cNvSpPr>
          <p:nvPr>
            <p:ph type="title" orient="vert"/>
          </p:nvPr>
        </p:nvSpPr>
        <p:spPr>
          <a:xfrm>
            <a:off x="8724900" y="365125"/>
            <a:ext cx="2628900" cy="5811838"/>
          </a:xfrm>
        </p:spPr>
        <p:txBody>
          <a:bodyPr vert="eaVert"/>
          <a:lstStyle>
            <a:lvl1pPr>
              <a:defRPr>
                <a:latin typeface="Linux Libertine" panose="02000503000000000000" pitchFamily="2" charset="0"/>
                <a:ea typeface="Linux Libertine" panose="02000503000000000000" pitchFamily="2" charset="0"/>
                <a:cs typeface="Linux Libertine" panose="02000503000000000000" pitchFamily="2" charset="0"/>
              </a:defRPr>
            </a:lvl1pPr>
          </a:lstStyle>
          <a:p>
            <a:r>
              <a:rPr lang="en-US" dirty="0"/>
              <a:t>Click to edit Master title style</a:t>
            </a:r>
          </a:p>
        </p:txBody>
      </p:sp>
      <p:sp>
        <p:nvSpPr>
          <p:cNvPr id="3" name="Vertical Text Placeholder 2">
            <a:extLst>
              <a:ext uri="{FF2B5EF4-FFF2-40B4-BE49-F238E27FC236}">
                <a16:creationId xmlns:a16="http://schemas.microsoft.com/office/drawing/2014/main" id="{A34DB5A1-B76B-42F1-8388-BF5AD13B0DB9}"/>
              </a:ext>
            </a:extLst>
          </p:cNvPr>
          <p:cNvSpPr>
            <a:spLocks noGrp="1"/>
          </p:cNvSpPr>
          <p:nvPr>
            <p:ph type="body" orient="vert" idx="1"/>
          </p:nvPr>
        </p:nvSpPr>
        <p:spPr>
          <a:xfrm>
            <a:off x="838200" y="365125"/>
            <a:ext cx="7734300" cy="5811838"/>
          </a:xfrm>
        </p:spPr>
        <p:txBody>
          <a:bodyPr vert="eaVert"/>
          <a:lstStyle>
            <a:lvl1pPr>
              <a:defRPr>
                <a:latin typeface="Linux Libertine" panose="02000503000000000000" pitchFamily="2" charset="0"/>
                <a:ea typeface="Linux Libertine" panose="02000503000000000000" pitchFamily="2" charset="0"/>
                <a:cs typeface="Linux Libertine" panose="02000503000000000000" pitchFamily="2" charset="0"/>
              </a:defRPr>
            </a:lvl1pPr>
            <a:lvl2pPr>
              <a:defRPr>
                <a:latin typeface="Linux Libertine" panose="02000503000000000000" pitchFamily="2" charset="0"/>
                <a:ea typeface="Linux Libertine" panose="02000503000000000000" pitchFamily="2" charset="0"/>
                <a:cs typeface="Linux Libertine" panose="02000503000000000000" pitchFamily="2" charset="0"/>
              </a:defRPr>
            </a:lvl2pPr>
            <a:lvl3pPr>
              <a:defRPr>
                <a:latin typeface="Linux Libertine" panose="02000503000000000000" pitchFamily="2" charset="0"/>
                <a:ea typeface="Linux Libertine" panose="02000503000000000000" pitchFamily="2" charset="0"/>
                <a:cs typeface="Linux Libertine" panose="02000503000000000000" pitchFamily="2" charset="0"/>
              </a:defRPr>
            </a:lvl3pPr>
            <a:lvl4pPr>
              <a:defRPr>
                <a:latin typeface="Linux Libertine" panose="02000503000000000000" pitchFamily="2" charset="0"/>
                <a:ea typeface="Linux Libertine" panose="02000503000000000000" pitchFamily="2" charset="0"/>
                <a:cs typeface="Linux Libertine" panose="02000503000000000000" pitchFamily="2" charset="0"/>
              </a:defRPr>
            </a:lvl4pPr>
            <a:lvl5pPr>
              <a:defRPr>
                <a:latin typeface="Linux Libertine" panose="02000503000000000000" pitchFamily="2" charset="0"/>
                <a:ea typeface="Linux Libertine" panose="02000503000000000000" pitchFamily="2" charset="0"/>
                <a:cs typeface="Linux Libertine" panose="02000503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ED0D49C-E30F-49CF-87C6-CAEBCCBFF98F}"/>
              </a:ext>
            </a:extLst>
          </p:cNvPr>
          <p:cNvSpPr>
            <a:spLocks noGrp="1"/>
          </p:cNvSpPr>
          <p:nvPr>
            <p:ph type="dt" sz="half" idx="10"/>
          </p:nvPr>
        </p:nvSpPr>
        <p:spPr/>
        <p:txBody>
          <a:bodyPr/>
          <a:lstStyle/>
          <a:p>
            <a:fld id="{9D412D8B-397F-417C-A6A1-CEA128EEC76B}" type="datetime1">
              <a:rPr lang="en-US" smtClean="0"/>
              <a:t>12/7/2021</a:t>
            </a:fld>
            <a:endParaRPr lang="en-US"/>
          </a:p>
        </p:txBody>
      </p:sp>
      <p:sp>
        <p:nvSpPr>
          <p:cNvPr id="5" name="Footer Placeholder 4">
            <a:extLst>
              <a:ext uri="{FF2B5EF4-FFF2-40B4-BE49-F238E27FC236}">
                <a16:creationId xmlns:a16="http://schemas.microsoft.com/office/drawing/2014/main" id="{124CB341-A535-467C-8D3B-D3E8D25B7D0D}"/>
              </a:ext>
            </a:extLst>
          </p:cNvPr>
          <p:cNvSpPr>
            <a:spLocks noGrp="1"/>
          </p:cNvSpPr>
          <p:nvPr>
            <p:ph type="ftr" sz="quarter" idx="11"/>
          </p:nvPr>
        </p:nvSpPr>
        <p:spPr/>
        <p:txBody>
          <a:bodyPr/>
          <a:lstStyle/>
          <a:p>
            <a:r>
              <a:rPr lang="en-US"/>
              <a:t>Dissertation proposal - Ebeid - Fall 2021</a:t>
            </a:r>
          </a:p>
        </p:txBody>
      </p:sp>
      <p:sp>
        <p:nvSpPr>
          <p:cNvPr id="6" name="Slide Number Placeholder 5">
            <a:extLst>
              <a:ext uri="{FF2B5EF4-FFF2-40B4-BE49-F238E27FC236}">
                <a16:creationId xmlns:a16="http://schemas.microsoft.com/office/drawing/2014/main" id="{965AF747-29FC-434D-B4D3-30EA31737398}"/>
              </a:ext>
            </a:extLst>
          </p:cNvPr>
          <p:cNvSpPr>
            <a:spLocks noGrp="1"/>
          </p:cNvSpPr>
          <p:nvPr>
            <p:ph type="sldNum" sz="quarter" idx="12"/>
          </p:nvPr>
        </p:nvSpPr>
        <p:spPr/>
        <p:txBody>
          <a:bodyPr/>
          <a:lstStyle/>
          <a:p>
            <a:fld id="{5A99AF73-65C2-407A-B44B-DB0F62C2405F}" type="slidenum">
              <a:rPr lang="en-US" smtClean="0"/>
              <a:t>‹#›</a:t>
            </a:fld>
            <a:endParaRPr lang="en-US"/>
          </a:p>
        </p:txBody>
      </p:sp>
    </p:spTree>
    <p:extLst>
      <p:ext uri="{BB962C8B-B14F-4D97-AF65-F5344CB8AC3E}">
        <p14:creationId xmlns:p14="http://schemas.microsoft.com/office/powerpoint/2010/main" val="12112810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DF55ACB-2921-4DCA-B682-91AEC048A1F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95773876-24A2-462B-A888-0E10EFF413C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4E9F223-2738-437B-A27E-BE37264409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Linux Libertine" panose="02000503000000000000" pitchFamily="2" charset="0"/>
                <a:ea typeface="Linux Libertine" panose="02000503000000000000" pitchFamily="2" charset="0"/>
                <a:cs typeface="Linux Libertine" panose="02000503000000000000" pitchFamily="2" charset="0"/>
              </a:defRPr>
            </a:lvl1pPr>
          </a:lstStyle>
          <a:p>
            <a:fld id="{5A54B309-4451-4840-B0BE-4E090BB235E1}" type="datetime1">
              <a:rPr lang="en-US" smtClean="0"/>
              <a:t>12/7/2021</a:t>
            </a:fld>
            <a:endParaRPr lang="en-US" dirty="0"/>
          </a:p>
        </p:txBody>
      </p:sp>
      <p:sp>
        <p:nvSpPr>
          <p:cNvPr id="5" name="Footer Placeholder 4">
            <a:extLst>
              <a:ext uri="{FF2B5EF4-FFF2-40B4-BE49-F238E27FC236}">
                <a16:creationId xmlns:a16="http://schemas.microsoft.com/office/drawing/2014/main" id="{F2A86EEC-ED97-4C49-A401-880D4C0AD39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Linux Libertine" panose="02000503000000000000" pitchFamily="2" charset="0"/>
                <a:ea typeface="Linux Libertine" panose="02000503000000000000" pitchFamily="2" charset="0"/>
                <a:cs typeface="Linux Libertine" panose="02000503000000000000" pitchFamily="2" charset="0"/>
              </a:defRPr>
            </a:lvl1pPr>
          </a:lstStyle>
          <a:p>
            <a:r>
              <a:rPr lang="en-US"/>
              <a:t>Dissertation proposal - Ebeid - Fall 2021</a:t>
            </a:r>
            <a:endParaRPr lang="en-US" dirty="0"/>
          </a:p>
        </p:txBody>
      </p:sp>
      <p:sp>
        <p:nvSpPr>
          <p:cNvPr id="6" name="Slide Number Placeholder 5">
            <a:extLst>
              <a:ext uri="{FF2B5EF4-FFF2-40B4-BE49-F238E27FC236}">
                <a16:creationId xmlns:a16="http://schemas.microsoft.com/office/drawing/2014/main" id="{C624074E-1F5B-4A06-B5AB-DB7130BF29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Linux Libertine" panose="02000503000000000000" pitchFamily="2" charset="0"/>
                <a:ea typeface="Linux Libertine" panose="02000503000000000000" pitchFamily="2" charset="0"/>
                <a:cs typeface="Linux Libertine" panose="02000503000000000000" pitchFamily="2" charset="0"/>
              </a:defRPr>
            </a:lvl1pPr>
          </a:lstStyle>
          <a:p>
            <a:fld id="{5A99AF73-65C2-407A-B44B-DB0F62C2405F}" type="slidenum">
              <a:rPr lang="en-US" smtClean="0"/>
              <a:pPr/>
              <a:t>‹#›</a:t>
            </a:fld>
            <a:endParaRPr lang="en-US" dirty="0"/>
          </a:p>
        </p:txBody>
      </p:sp>
      <p:sp>
        <p:nvSpPr>
          <p:cNvPr id="7" name="Rectangle 6">
            <a:extLst>
              <a:ext uri="{FF2B5EF4-FFF2-40B4-BE49-F238E27FC236}">
                <a16:creationId xmlns:a16="http://schemas.microsoft.com/office/drawing/2014/main" id="{D1B5E649-94B6-4AC5-B932-0E88552EC282}"/>
              </a:ext>
            </a:extLst>
          </p:cNvPr>
          <p:cNvSpPr/>
          <p:nvPr userDrawn="1"/>
        </p:nvSpPr>
        <p:spPr>
          <a:xfrm>
            <a:off x="0" y="0"/>
            <a:ext cx="12192000" cy="659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A picture containing icon&#10;&#10;Description automatically generated">
            <a:extLst>
              <a:ext uri="{FF2B5EF4-FFF2-40B4-BE49-F238E27FC236}">
                <a16:creationId xmlns:a16="http://schemas.microsoft.com/office/drawing/2014/main" id="{B9B15BD8-69F7-49F6-888B-8C627239E3FA}"/>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1489745" y="197707"/>
            <a:ext cx="566459" cy="631739"/>
          </a:xfrm>
          <a:prstGeom prst="rect">
            <a:avLst/>
          </a:prstGeom>
        </p:spPr>
      </p:pic>
      <p:sp>
        <p:nvSpPr>
          <p:cNvPr id="11" name="Rectangle 10">
            <a:extLst>
              <a:ext uri="{FF2B5EF4-FFF2-40B4-BE49-F238E27FC236}">
                <a16:creationId xmlns:a16="http://schemas.microsoft.com/office/drawing/2014/main" id="{4B7C3C99-8F0A-4FF7-AB32-BC3C72B42317}"/>
              </a:ext>
            </a:extLst>
          </p:cNvPr>
          <p:cNvSpPr/>
          <p:nvPr userDrawn="1"/>
        </p:nvSpPr>
        <p:spPr>
          <a:xfrm>
            <a:off x="0" y="6812281"/>
            <a:ext cx="12192000"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240341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Linux Libertine" panose="02000503000000000000" pitchFamily="2" charset="0"/>
          <a:ea typeface="Linux Libertine" panose="02000503000000000000" pitchFamily="2" charset="0"/>
          <a:cs typeface="Linux Libertine" panose="0200050300000000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Linux Libertine" panose="02000503000000000000" pitchFamily="2" charset="0"/>
          <a:ea typeface="Linux Libertine" panose="02000503000000000000" pitchFamily="2" charset="0"/>
          <a:cs typeface="Linux Libertine" panose="02000503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inux Libertine" panose="02000503000000000000" pitchFamily="2" charset="0"/>
          <a:ea typeface="Linux Libertine" panose="02000503000000000000" pitchFamily="2" charset="0"/>
          <a:cs typeface="Linux Libertine" panose="02000503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inux Libertine" panose="02000503000000000000" pitchFamily="2" charset="0"/>
          <a:ea typeface="Linux Libertine" panose="02000503000000000000" pitchFamily="2" charset="0"/>
          <a:cs typeface="Linux Libertine" panose="02000503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inux Libertine" panose="02000503000000000000" pitchFamily="2" charset="0"/>
          <a:ea typeface="Linux Libertine" panose="02000503000000000000" pitchFamily="2" charset="0"/>
          <a:cs typeface="Linux Libertine" panose="02000503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inux Libertine" panose="02000503000000000000" pitchFamily="2" charset="0"/>
          <a:ea typeface="Linux Libertine" panose="02000503000000000000" pitchFamily="2" charset="0"/>
          <a:cs typeface="Linux Libertine" panose="02000503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0.sv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12.svg"/></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14.svg"/></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16.svg"/></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18.svg"/></Relationships>
</file>

<file path=ppt/slides/_rels/slide20.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20.JP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24.JPG"/></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26.sv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26.svg"/></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6.xml"/><Relationship Id="rId1" Type="http://schemas.openxmlformats.org/officeDocument/2006/relationships/slideLayout" Target="../slideLayouts/slideLayout7.xml"/><Relationship Id="rId5" Type="http://schemas.openxmlformats.org/officeDocument/2006/relationships/image" Target="../media/image28.svg"/><Relationship Id="rId4" Type="http://schemas.openxmlformats.org/officeDocument/2006/relationships/image" Target="../media/image27.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2.xml"/><Relationship Id="rId1" Type="http://schemas.openxmlformats.org/officeDocument/2006/relationships/slideLayout" Target="../slideLayouts/slideLayout7.xml"/><Relationship Id="rId6" Type="http://schemas.openxmlformats.org/officeDocument/2006/relationships/image" Target="../media/image32.svg"/><Relationship Id="rId5" Type="http://schemas.openxmlformats.org/officeDocument/2006/relationships/image" Target="../media/image31.png"/><Relationship Id="rId4" Type="http://schemas.openxmlformats.org/officeDocument/2006/relationships/image" Target="../media/image30.svg"/></Relationships>
</file>

<file path=ppt/slides/_rels/slide3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3.xml"/><Relationship Id="rId1" Type="http://schemas.openxmlformats.org/officeDocument/2006/relationships/slideLayout" Target="../slideLayouts/slideLayout7.xml"/><Relationship Id="rId6" Type="http://schemas.openxmlformats.org/officeDocument/2006/relationships/image" Target="../media/image36.svg"/><Relationship Id="rId5" Type="http://schemas.openxmlformats.org/officeDocument/2006/relationships/image" Target="../media/image35.png"/><Relationship Id="rId4" Type="http://schemas.openxmlformats.org/officeDocument/2006/relationships/image" Target="../media/image34.svg"/></Relationships>
</file>

<file path=ppt/slides/_rels/slide3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4.xml"/><Relationship Id="rId1" Type="http://schemas.openxmlformats.org/officeDocument/2006/relationships/slideLayout" Target="../slideLayouts/slideLayout7.xml"/><Relationship Id="rId6" Type="http://schemas.openxmlformats.org/officeDocument/2006/relationships/image" Target="../media/image40.svg"/><Relationship Id="rId5" Type="http://schemas.openxmlformats.org/officeDocument/2006/relationships/image" Target="../media/image39.png"/><Relationship Id="rId4" Type="http://schemas.openxmlformats.org/officeDocument/2006/relationships/image" Target="../media/image38.sv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F80FC-CF9B-4526-8742-484E5A434EE2}"/>
              </a:ext>
            </a:extLst>
          </p:cNvPr>
          <p:cNvSpPr>
            <a:spLocks noGrp="1"/>
          </p:cNvSpPr>
          <p:nvPr>
            <p:ph type="ctrTitle"/>
          </p:nvPr>
        </p:nvSpPr>
        <p:spPr/>
        <p:txBody>
          <a:bodyPr>
            <a:normAutofit/>
          </a:bodyPr>
          <a:lstStyle/>
          <a:p>
            <a:r>
              <a:rPr lang="en-US" sz="3200" b="1" dirty="0" err="1"/>
              <a:t>MedGraph</a:t>
            </a:r>
            <a:r>
              <a:rPr lang="en-US" sz="3200" b="1" dirty="0"/>
              <a:t>: An experimental semantic information retrieval method using knowledge graph embedding for the biomedical citations indexed in PubMed</a:t>
            </a:r>
          </a:p>
        </p:txBody>
      </p:sp>
      <p:sp>
        <p:nvSpPr>
          <p:cNvPr id="3" name="Subtitle 2">
            <a:extLst>
              <a:ext uri="{FF2B5EF4-FFF2-40B4-BE49-F238E27FC236}">
                <a16:creationId xmlns:a16="http://schemas.microsoft.com/office/drawing/2014/main" id="{67BE0F8D-04FA-4550-86EC-964AED404D83}"/>
              </a:ext>
            </a:extLst>
          </p:cNvPr>
          <p:cNvSpPr>
            <a:spLocks noGrp="1"/>
          </p:cNvSpPr>
          <p:nvPr>
            <p:ph type="subTitle" idx="1"/>
          </p:nvPr>
        </p:nvSpPr>
        <p:spPr/>
        <p:txBody>
          <a:bodyPr>
            <a:normAutofit/>
          </a:bodyPr>
          <a:lstStyle/>
          <a:p>
            <a:r>
              <a:rPr lang="en-US" sz="2000" dirty="0"/>
              <a:t>Islam Akef Ebeid</a:t>
            </a:r>
          </a:p>
          <a:p>
            <a:r>
              <a:rPr lang="en-US" sz="1100" dirty="0"/>
              <a:t>Final project presentation in partial fulfillment of the degree of Master of Science in Information Science MSIS – Fall 2021</a:t>
            </a:r>
          </a:p>
          <a:p>
            <a:r>
              <a:rPr lang="en-US" sz="1500" dirty="0"/>
              <a:t>Elizabeth Pierce</a:t>
            </a:r>
          </a:p>
          <a:p>
            <a:r>
              <a:rPr lang="en-US" sz="1500" dirty="0" err="1"/>
              <a:t>Ningning</a:t>
            </a:r>
            <a:r>
              <a:rPr lang="en-US" sz="1500" dirty="0"/>
              <a:t> Wu</a:t>
            </a:r>
          </a:p>
          <a:p>
            <a:r>
              <a:rPr lang="en-US" sz="1500" dirty="0"/>
              <a:t>Mary Wang</a:t>
            </a:r>
          </a:p>
          <a:p>
            <a:endParaRPr lang="en-US" sz="1500" dirty="0"/>
          </a:p>
          <a:p>
            <a:endParaRPr lang="en-US" sz="1500" dirty="0"/>
          </a:p>
          <a:p>
            <a:endParaRPr lang="en-US" sz="1100" dirty="0"/>
          </a:p>
        </p:txBody>
      </p:sp>
    </p:spTree>
    <p:extLst>
      <p:ext uri="{BB962C8B-B14F-4D97-AF65-F5344CB8AC3E}">
        <p14:creationId xmlns:p14="http://schemas.microsoft.com/office/powerpoint/2010/main" val="35653447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D8E5A-68D3-4976-9ABF-65374CADB026}"/>
              </a:ext>
            </a:extLst>
          </p:cNvPr>
          <p:cNvSpPr>
            <a:spLocks noGrp="1"/>
          </p:cNvSpPr>
          <p:nvPr>
            <p:ph type="title"/>
          </p:nvPr>
        </p:nvSpPr>
        <p:spPr/>
        <p:txBody>
          <a:bodyPr/>
          <a:lstStyle/>
          <a:p>
            <a:r>
              <a:rPr lang="en-US" dirty="0"/>
              <a:t>Outline</a:t>
            </a:r>
          </a:p>
        </p:txBody>
      </p:sp>
      <p:sp>
        <p:nvSpPr>
          <p:cNvPr id="4" name="Content Placeholder 3">
            <a:extLst>
              <a:ext uri="{FF2B5EF4-FFF2-40B4-BE49-F238E27FC236}">
                <a16:creationId xmlns:a16="http://schemas.microsoft.com/office/drawing/2014/main" id="{5BEE8BE7-4FC3-405E-BF95-B50A20EF4153}"/>
              </a:ext>
            </a:extLst>
          </p:cNvPr>
          <p:cNvSpPr>
            <a:spLocks noGrp="1"/>
          </p:cNvSpPr>
          <p:nvPr>
            <p:ph sz="half" idx="2"/>
          </p:nvPr>
        </p:nvSpPr>
        <p:spPr>
          <a:xfrm>
            <a:off x="839788" y="1857375"/>
            <a:ext cx="5157787" cy="4332288"/>
          </a:xfrm>
        </p:spPr>
        <p:txBody>
          <a:bodyPr>
            <a:normAutofit/>
          </a:bodyPr>
          <a:lstStyle/>
          <a:p>
            <a:pPr marL="514350" indent="-514350">
              <a:buFont typeface="+mj-lt"/>
              <a:buAutoNum type="arabicPeriod"/>
            </a:pPr>
            <a:r>
              <a:rPr lang="en-US" b="1" dirty="0"/>
              <a:t>Introduction</a:t>
            </a:r>
          </a:p>
          <a:p>
            <a:pPr marL="514350" indent="-514350">
              <a:buFont typeface="+mj-lt"/>
              <a:buAutoNum type="arabicPeriod"/>
            </a:pPr>
            <a:r>
              <a:rPr lang="en-US" b="1" dirty="0"/>
              <a:t>Method</a:t>
            </a:r>
          </a:p>
          <a:p>
            <a:pPr marL="514350" indent="-514350">
              <a:buFont typeface="+mj-lt"/>
              <a:buAutoNum type="arabicPeriod"/>
            </a:pPr>
            <a:r>
              <a:rPr lang="en-US" b="1" dirty="0"/>
              <a:t>Background</a:t>
            </a:r>
          </a:p>
          <a:p>
            <a:pPr marL="514350" indent="-514350">
              <a:buFont typeface="+mj-lt"/>
              <a:buAutoNum type="arabicPeriod"/>
            </a:pPr>
            <a:r>
              <a:rPr lang="en-US" b="1" dirty="0"/>
              <a:t>Evaluation</a:t>
            </a:r>
          </a:p>
          <a:p>
            <a:pPr marL="514350" indent="-514350">
              <a:buFont typeface="+mj-lt"/>
              <a:buAutoNum type="arabicPeriod"/>
            </a:pPr>
            <a:r>
              <a:rPr lang="en-US" b="1" dirty="0"/>
              <a:t>Discussion</a:t>
            </a:r>
          </a:p>
          <a:p>
            <a:pPr marL="514350" indent="-514350">
              <a:buFont typeface="+mj-lt"/>
              <a:buAutoNum type="arabicPeriod"/>
            </a:pPr>
            <a:r>
              <a:rPr lang="en-US" b="1" dirty="0"/>
              <a:t>Conclusion</a:t>
            </a:r>
          </a:p>
          <a:p>
            <a:pPr marL="514350" indent="-514350">
              <a:buFont typeface="+mj-lt"/>
              <a:buAutoNum type="arabicPeriod"/>
            </a:pPr>
            <a:r>
              <a:rPr lang="en-US" b="1" dirty="0"/>
              <a:t>Bibliography</a:t>
            </a:r>
          </a:p>
        </p:txBody>
      </p:sp>
      <p:sp>
        <p:nvSpPr>
          <p:cNvPr id="7" name="Date Placeholder 6">
            <a:extLst>
              <a:ext uri="{FF2B5EF4-FFF2-40B4-BE49-F238E27FC236}">
                <a16:creationId xmlns:a16="http://schemas.microsoft.com/office/drawing/2014/main" id="{61ACCB91-F9C9-4E9B-B209-17A53B68F2FA}"/>
              </a:ext>
            </a:extLst>
          </p:cNvPr>
          <p:cNvSpPr>
            <a:spLocks noGrp="1"/>
          </p:cNvSpPr>
          <p:nvPr>
            <p:ph type="dt" sz="half" idx="10"/>
          </p:nvPr>
        </p:nvSpPr>
        <p:spPr/>
        <p:txBody>
          <a:bodyPr/>
          <a:lstStyle/>
          <a:p>
            <a:fld id="{652B6A62-B792-4DA0-A867-76C7A16D1A29}" type="datetime1">
              <a:rPr lang="en-US" smtClean="0"/>
              <a:t>12/7/2021</a:t>
            </a:fld>
            <a:endParaRPr lang="en-US" dirty="0"/>
          </a:p>
        </p:txBody>
      </p:sp>
      <p:sp>
        <p:nvSpPr>
          <p:cNvPr id="8" name="Footer Placeholder 7">
            <a:extLst>
              <a:ext uri="{FF2B5EF4-FFF2-40B4-BE49-F238E27FC236}">
                <a16:creationId xmlns:a16="http://schemas.microsoft.com/office/drawing/2014/main" id="{EAACE244-A8F0-4F5A-A1AF-62F3179A6A67}"/>
              </a:ext>
            </a:extLst>
          </p:cNvPr>
          <p:cNvSpPr>
            <a:spLocks noGrp="1"/>
          </p:cNvSpPr>
          <p:nvPr>
            <p:ph type="ftr" sz="quarter" idx="11"/>
          </p:nvPr>
        </p:nvSpPr>
        <p:spPr/>
        <p:txBody>
          <a:bodyPr/>
          <a:lstStyle/>
          <a:p>
            <a:r>
              <a:rPr lang="en-US" dirty="0"/>
              <a:t>Masters Project - Ebeid - Fall 2021</a:t>
            </a:r>
          </a:p>
        </p:txBody>
      </p:sp>
      <p:sp>
        <p:nvSpPr>
          <p:cNvPr id="9" name="Slide Number Placeholder 8">
            <a:extLst>
              <a:ext uri="{FF2B5EF4-FFF2-40B4-BE49-F238E27FC236}">
                <a16:creationId xmlns:a16="http://schemas.microsoft.com/office/drawing/2014/main" id="{8B5FA7DB-1C2C-4D4A-AAD3-7751D2825DB1}"/>
              </a:ext>
            </a:extLst>
          </p:cNvPr>
          <p:cNvSpPr>
            <a:spLocks noGrp="1"/>
          </p:cNvSpPr>
          <p:nvPr>
            <p:ph type="sldNum" sz="quarter" idx="12"/>
          </p:nvPr>
        </p:nvSpPr>
        <p:spPr/>
        <p:txBody>
          <a:bodyPr/>
          <a:lstStyle/>
          <a:p>
            <a:fld id="{5A99AF73-65C2-407A-B44B-DB0F62C2405F}" type="slidenum">
              <a:rPr lang="en-US" smtClean="0"/>
              <a:pPr/>
              <a:t>2</a:t>
            </a:fld>
            <a:endParaRPr lang="en-US" dirty="0"/>
          </a:p>
        </p:txBody>
      </p:sp>
    </p:spTree>
    <p:extLst>
      <p:ext uri="{BB962C8B-B14F-4D97-AF65-F5344CB8AC3E}">
        <p14:creationId xmlns:p14="http://schemas.microsoft.com/office/powerpoint/2010/main" val="30501181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802824-CC3E-450E-9C1C-9E9B638CD8F5}"/>
              </a:ext>
            </a:extLst>
          </p:cNvPr>
          <p:cNvSpPr>
            <a:spLocks noGrp="1"/>
          </p:cNvSpPr>
          <p:nvPr>
            <p:ph type="dt" sz="half" idx="10"/>
          </p:nvPr>
        </p:nvSpPr>
        <p:spPr/>
        <p:txBody>
          <a:bodyPr/>
          <a:lstStyle/>
          <a:p>
            <a:fld id="{C1FFE036-1B22-46FC-8A87-65388E31D917}" type="datetime1">
              <a:rPr lang="en-US" smtClean="0"/>
              <a:t>12/7/2021</a:t>
            </a:fld>
            <a:endParaRPr lang="en-US"/>
          </a:p>
        </p:txBody>
      </p:sp>
      <p:sp>
        <p:nvSpPr>
          <p:cNvPr id="3" name="Footer Placeholder 2">
            <a:extLst>
              <a:ext uri="{FF2B5EF4-FFF2-40B4-BE49-F238E27FC236}">
                <a16:creationId xmlns:a16="http://schemas.microsoft.com/office/drawing/2014/main" id="{AE45179B-718E-4E6F-9523-465C4FC623D0}"/>
              </a:ext>
            </a:extLst>
          </p:cNvPr>
          <p:cNvSpPr>
            <a:spLocks noGrp="1"/>
          </p:cNvSpPr>
          <p:nvPr>
            <p:ph type="ftr" sz="quarter" idx="11"/>
          </p:nvPr>
        </p:nvSpPr>
        <p:spPr/>
        <p:txBody>
          <a:bodyPr/>
          <a:lstStyle/>
          <a:p>
            <a:r>
              <a:rPr lang="en-US" dirty="0"/>
              <a:t>Masters Project - Ebeid - Fall 2021</a:t>
            </a:r>
          </a:p>
        </p:txBody>
      </p:sp>
      <p:sp>
        <p:nvSpPr>
          <p:cNvPr id="4" name="Slide Number Placeholder 3">
            <a:extLst>
              <a:ext uri="{FF2B5EF4-FFF2-40B4-BE49-F238E27FC236}">
                <a16:creationId xmlns:a16="http://schemas.microsoft.com/office/drawing/2014/main" id="{4422CF0D-32CB-412F-8891-21C04EE05B74}"/>
              </a:ext>
            </a:extLst>
          </p:cNvPr>
          <p:cNvSpPr>
            <a:spLocks noGrp="1"/>
          </p:cNvSpPr>
          <p:nvPr>
            <p:ph type="sldNum" sz="quarter" idx="12"/>
          </p:nvPr>
        </p:nvSpPr>
        <p:spPr/>
        <p:txBody>
          <a:bodyPr/>
          <a:lstStyle/>
          <a:p>
            <a:fld id="{5A99AF73-65C2-407A-B44B-DB0F62C2405F}" type="slidenum">
              <a:rPr lang="en-US" smtClean="0"/>
              <a:t>3</a:t>
            </a:fld>
            <a:endParaRPr lang="en-US"/>
          </a:p>
        </p:txBody>
      </p:sp>
      <p:sp>
        <p:nvSpPr>
          <p:cNvPr id="5" name="Title 1">
            <a:extLst>
              <a:ext uri="{FF2B5EF4-FFF2-40B4-BE49-F238E27FC236}">
                <a16:creationId xmlns:a16="http://schemas.microsoft.com/office/drawing/2014/main" id="{F52F9286-A737-492D-9E02-899E40B6DF64}"/>
              </a:ext>
            </a:extLst>
          </p:cNvPr>
          <p:cNvSpPr txBox="1">
            <a:spLocks/>
          </p:cNvSpPr>
          <p:nvPr/>
        </p:nvSpPr>
        <p:spPr>
          <a:xfrm>
            <a:off x="648928" y="338328"/>
            <a:ext cx="6725914" cy="160832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Linux Libertine" panose="02000503000000000000" pitchFamily="2" charset="0"/>
                <a:ea typeface="Linux Libertine" panose="02000503000000000000" pitchFamily="2" charset="0"/>
                <a:cs typeface="Linux Libertine" panose="02000503000000000000" pitchFamily="2" charset="0"/>
              </a:defRPr>
            </a:lvl1pPr>
          </a:lstStyle>
          <a:p>
            <a:r>
              <a:rPr lang="en-US" sz="3600" dirty="0">
                <a:latin typeface="+mj-lt"/>
                <a:ea typeface="+mj-ea"/>
                <a:cs typeface="+mj-cs"/>
              </a:rPr>
              <a:t>1. Introduction: What is PubMed?</a:t>
            </a:r>
          </a:p>
        </p:txBody>
      </p:sp>
      <p:sp>
        <p:nvSpPr>
          <p:cNvPr id="6" name="TextBox 5">
            <a:extLst>
              <a:ext uri="{FF2B5EF4-FFF2-40B4-BE49-F238E27FC236}">
                <a16:creationId xmlns:a16="http://schemas.microsoft.com/office/drawing/2014/main" id="{F6FDBCFA-F846-41E1-93E3-97F7220E0307}"/>
              </a:ext>
            </a:extLst>
          </p:cNvPr>
          <p:cNvSpPr txBox="1"/>
          <p:nvPr/>
        </p:nvSpPr>
        <p:spPr>
          <a:xfrm>
            <a:off x="7374842" y="664143"/>
            <a:ext cx="3978958" cy="956698"/>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2000" dirty="0">
                <a:effectLst/>
              </a:rPr>
              <a:t>https://pubmed.ncbi.nlm.nih.gov/</a:t>
            </a:r>
            <a:endParaRPr lang="en-US" sz="2000" dirty="0"/>
          </a:p>
        </p:txBody>
      </p:sp>
      <p:pic>
        <p:nvPicPr>
          <p:cNvPr id="8" name="Picture 7" descr="Graphical user interface, website&#10;&#10;Description automatically generated">
            <a:extLst>
              <a:ext uri="{FF2B5EF4-FFF2-40B4-BE49-F238E27FC236}">
                <a16:creationId xmlns:a16="http://schemas.microsoft.com/office/drawing/2014/main" id="{92EE3DE5-230F-476D-B5C5-15BAEEA886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66949" y="1657148"/>
            <a:ext cx="9258102" cy="4702447"/>
          </a:xfrm>
          <a:prstGeom prst="rect">
            <a:avLst/>
          </a:prstGeom>
        </p:spPr>
      </p:pic>
    </p:spTree>
    <p:extLst>
      <p:ext uri="{BB962C8B-B14F-4D97-AF65-F5344CB8AC3E}">
        <p14:creationId xmlns:p14="http://schemas.microsoft.com/office/powerpoint/2010/main" val="8625920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1D408826-C5D8-4C7A-8CEB-CE14C06C8C16}"/>
              </a:ext>
            </a:extLst>
          </p:cNvPr>
          <p:cNvSpPr txBox="1">
            <a:spLocks/>
          </p:cNvSpPr>
          <p:nvPr/>
        </p:nvSpPr>
        <p:spPr>
          <a:xfrm>
            <a:off x="838199" y="291090"/>
            <a:ext cx="10515599" cy="93268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Linux Libertine" panose="02000503000000000000" pitchFamily="2" charset="0"/>
                <a:ea typeface="Linux Libertine" panose="02000503000000000000" pitchFamily="2" charset="0"/>
                <a:cs typeface="Linux Libertine" panose="02000503000000000000" pitchFamily="2" charset="0"/>
              </a:defRPr>
            </a:lvl1pPr>
          </a:lstStyle>
          <a:p>
            <a:pPr>
              <a:spcAft>
                <a:spcPts val="600"/>
              </a:spcAft>
            </a:pPr>
            <a:r>
              <a:rPr lang="en-US" sz="4600" kern="1200" dirty="0">
                <a:solidFill>
                  <a:schemeClr val="tx1"/>
                </a:solidFill>
                <a:latin typeface="+mj-lt"/>
                <a:ea typeface="+mj-ea"/>
                <a:cs typeface="+mj-cs"/>
              </a:rPr>
              <a:t>1. Introduction: How to search PubMed?</a:t>
            </a:r>
          </a:p>
        </p:txBody>
      </p:sp>
      <p:pic>
        <p:nvPicPr>
          <p:cNvPr id="7" name="Picture 6" descr="Graphical user interface, text, application, email&#10;&#10;Description automatically generated">
            <a:extLst>
              <a:ext uri="{FF2B5EF4-FFF2-40B4-BE49-F238E27FC236}">
                <a16:creationId xmlns:a16="http://schemas.microsoft.com/office/drawing/2014/main" id="{04C7FB6C-A856-4C90-A2F1-0B75749AAF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6418" y="1349633"/>
            <a:ext cx="8379160" cy="4880861"/>
          </a:xfrm>
          <a:prstGeom prst="rect">
            <a:avLst/>
          </a:prstGeom>
        </p:spPr>
      </p:pic>
      <p:sp>
        <p:nvSpPr>
          <p:cNvPr id="2" name="Date Placeholder 1">
            <a:extLst>
              <a:ext uri="{FF2B5EF4-FFF2-40B4-BE49-F238E27FC236}">
                <a16:creationId xmlns:a16="http://schemas.microsoft.com/office/drawing/2014/main" id="{64E03961-65A3-44B4-962E-FA31226F37BE}"/>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a:spcAft>
                <a:spcPts val="600"/>
              </a:spcAft>
            </a:pPr>
            <a:fld id="{C1FFE036-1B22-46FC-8A87-65388E31D917}" type="datetime1">
              <a:rPr lang="en-US" smtClean="0">
                <a:latin typeface="+mn-lt"/>
                <a:ea typeface="+mn-ea"/>
                <a:cs typeface="+mn-cs"/>
              </a:rPr>
              <a:pPr>
                <a:spcAft>
                  <a:spcPts val="600"/>
                </a:spcAft>
              </a:pPr>
              <a:t>12/7/2021</a:t>
            </a:fld>
            <a:endParaRPr lang="en-US">
              <a:latin typeface="+mn-lt"/>
              <a:ea typeface="+mn-ea"/>
              <a:cs typeface="+mn-cs"/>
            </a:endParaRPr>
          </a:p>
        </p:txBody>
      </p:sp>
      <p:sp>
        <p:nvSpPr>
          <p:cNvPr id="3" name="Footer Placeholder 2">
            <a:extLst>
              <a:ext uri="{FF2B5EF4-FFF2-40B4-BE49-F238E27FC236}">
                <a16:creationId xmlns:a16="http://schemas.microsoft.com/office/drawing/2014/main" id="{FC0D8B1F-983F-4F23-8B9E-A11E11443C51}"/>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pPr>
            <a:r>
              <a:rPr lang="en-US" kern="1200" dirty="0" err="1">
                <a:solidFill>
                  <a:schemeClr val="tx1">
                    <a:tint val="75000"/>
                  </a:schemeClr>
                </a:solidFill>
                <a:latin typeface="+mn-lt"/>
                <a:ea typeface="+mn-ea"/>
                <a:cs typeface="+mn-cs"/>
              </a:rPr>
              <a:t>Fiorini</a:t>
            </a:r>
            <a:r>
              <a:rPr lang="en-US" kern="1200" dirty="0">
                <a:solidFill>
                  <a:schemeClr val="tx1">
                    <a:tint val="75000"/>
                  </a:schemeClr>
                </a:solidFill>
                <a:latin typeface="+mn-lt"/>
                <a:ea typeface="+mn-ea"/>
                <a:cs typeface="+mn-cs"/>
              </a:rPr>
              <a:t> et al., 2018</a:t>
            </a:r>
          </a:p>
        </p:txBody>
      </p:sp>
      <p:sp>
        <p:nvSpPr>
          <p:cNvPr id="4" name="Slide Number Placeholder 3">
            <a:extLst>
              <a:ext uri="{FF2B5EF4-FFF2-40B4-BE49-F238E27FC236}">
                <a16:creationId xmlns:a16="http://schemas.microsoft.com/office/drawing/2014/main" id="{87E78247-4974-4A7B-AD8A-14E6EC651F88}"/>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5A99AF73-65C2-407A-B44B-DB0F62C2405F}" type="slidenum">
              <a:rPr lang="en-US" smtClean="0">
                <a:latin typeface="+mn-lt"/>
                <a:ea typeface="+mn-ea"/>
                <a:cs typeface="+mn-cs"/>
              </a:rPr>
              <a:pPr>
                <a:spcAft>
                  <a:spcPts val="600"/>
                </a:spcAft>
              </a:pPr>
              <a:t>4</a:t>
            </a:fld>
            <a:endParaRPr lang="en-US">
              <a:latin typeface="+mn-lt"/>
              <a:ea typeface="+mn-ea"/>
              <a:cs typeface="+mn-cs"/>
            </a:endParaRPr>
          </a:p>
        </p:txBody>
      </p:sp>
      <p:sp>
        <p:nvSpPr>
          <p:cNvPr id="8" name="Rectangle 7">
            <a:extLst>
              <a:ext uri="{FF2B5EF4-FFF2-40B4-BE49-F238E27FC236}">
                <a16:creationId xmlns:a16="http://schemas.microsoft.com/office/drawing/2014/main" id="{6E011CC2-0C07-4CFC-928E-5E905D8BDCCE}"/>
              </a:ext>
            </a:extLst>
          </p:cNvPr>
          <p:cNvSpPr/>
          <p:nvPr/>
        </p:nvSpPr>
        <p:spPr>
          <a:xfrm>
            <a:off x="7118430" y="2476982"/>
            <a:ext cx="1620456" cy="266218"/>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621496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AF92916B-605A-45B3-BEB9-9AB950B3AA44}"/>
              </a:ext>
            </a:extLst>
          </p:cNvPr>
          <p:cNvSpPr txBox="1">
            <a:spLocks/>
          </p:cNvSpPr>
          <p:nvPr/>
        </p:nvSpPr>
        <p:spPr>
          <a:xfrm>
            <a:off x="838199" y="291090"/>
            <a:ext cx="10515599" cy="93268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Linux Libertine" panose="02000503000000000000" pitchFamily="2" charset="0"/>
                <a:ea typeface="Linux Libertine" panose="02000503000000000000" pitchFamily="2" charset="0"/>
                <a:cs typeface="Linux Libertine" panose="02000503000000000000" pitchFamily="2" charset="0"/>
              </a:defRPr>
            </a:lvl1pPr>
          </a:lstStyle>
          <a:p>
            <a:pPr>
              <a:spcAft>
                <a:spcPts val="600"/>
              </a:spcAft>
            </a:pPr>
            <a:r>
              <a:rPr lang="en-US" sz="4600" kern="1200" dirty="0">
                <a:solidFill>
                  <a:schemeClr val="tx1"/>
                </a:solidFill>
                <a:latin typeface="+mj-lt"/>
                <a:ea typeface="+mj-ea"/>
                <a:cs typeface="+mj-cs"/>
              </a:rPr>
              <a:t>1. Introduction: How to search PubMed?</a:t>
            </a:r>
          </a:p>
        </p:txBody>
      </p:sp>
      <p:pic>
        <p:nvPicPr>
          <p:cNvPr id="6" name="Picture 5" descr="Graphical user interface, text, application, email&#10;&#10;Description automatically generated">
            <a:extLst>
              <a:ext uri="{FF2B5EF4-FFF2-40B4-BE49-F238E27FC236}">
                <a16:creationId xmlns:a16="http://schemas.microsoft.com/office/drawing/2014/main" id="{A833C607-26BA-426C-B800-62F2EB59CD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0880" y="1863801"/>
            <a:ext cx="8750238" cy="4440746"/>
          </a:xfrm>
          <a:prstGeom prst="rect">
            <a:avLst/>
          </a:prstGeom>
        </p:spPr>
      </p:pic>
      <p:sp>
        <p:nvSpPr>
          <p:cNvPr id="2" name="Date Placeholder 1">
            <a:extLst>
              <a:ext uri="{FF2B5EF4-FFF2-40B4-BE49-F238E27FC236}">
                <a16:creationId xmlns:a16="http://schemas.microsoft.com/office/drawing/2014/main" id="{1546BA44-00DD-4C9A-A884-BBDE8E2E7AA0}"/>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a:spcAft>
                <a:spcPts val="600"/>
              </a:spcAft>
            </a:pPr>
            <a:fld id="{C1FFE036-1B22-46FC-8A87-65388E31D917}" type="datetime1">
              <a:rPr lang="en-US" smtClean="0">
                <a:latin typeface="+mn-lt"/>
                <a:ea typeface="+mn-ea"/>
                <a:cs typeface="+mn-cs"/>
              </a:rPr>
              <a:pPr>
                <a:spcAft>
                  <a:spcPts val="600"/>
                </a:spcAft>
              </a:pPr>
              <a:t>12/7/2021</a:t>
            </a:fld>
            <a:endParaRPr lang="en-US">
              <a:latin typeface="+mn-lt"/>
              <a:ea typeface="+mn-ea"/>
              <a:cs typeface="+mn-cs"/>
            </a:endParaRPr>
          </a:p>
        </p:txBody>
      </p:sp>
      <p:sp>
        <p:nvSpPr>
          <p:cNvPr id="3" name="Footer Placeholder 2">
            <a:extLst>
              <a:ext uri="{FF2B5EF4-FFF2-40B4-BE49-F238E27FC236}">
                <a16:creationId xmlns:a16="http://schemas.microsoft.com/office/drawing/2014/main" id="{9C4E62E2-4436-4695-A67D-7375B8FA0AAF}"/>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r>
              <a:rPr lang="en-US" dirty="0"/>
              <a:t>Masters Project - Ebeid - Fall 2021</a:t>
            </a:r>
          </a:p>
        </p:txBody>
      </p:sp>
      <p:sp>
        <p:nvSpPr>
          <p:cNvPr id="4" name="Slide Number Placeholder 3">
            <a:extLst>
              <a:ext uri="{FF2B5EF4-FFF2-40B4-BE49-F238E27FC236}">
                <a16:creationId xmlns:a16="http://schemas.microsoft.com/office/drawing/2014/main" id="{556595C9-CC62-4930-9B68-584C66FE9E6A}"/>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5A99AF73-65C2-407A-B44B-DB0F62C2405F}" type="slidenum">
              <a:rPr lang="en-US" smtClean="0">
                <a:latin typeface="+mn-lt"/>
                <a:ea typeface="+mn-ea"/>
                <a:cs typeface="+mn-cs"/>
              </a:rPr>
              <a:pPr>
                <a:spcAft>
                  <a:spcPts val="600"/>
                </a:spcAft>
              </a:pPr>
              <a:t>5</a:t>
            </a:fld>
            <a:endParaRPr lang="en-US">
              <a:latin typeface="+mn-lt"/>
              <a:ea typeface="+mn-ea"/>
              <a:cs typeface="+mn-cs"/>
            </a:endParaRPr>
          </a:p>
        </p:txBody>
      </p:sp>
    </p:spTree>
    <p:extLst>
      <p:ext uri="{BB962C8B-B14F-4D97-AF65-F5344CB8AC3E}">
        <p14:creationId xmlns:p14="http://schemas.microsoft.com/office/powerpoint/2010/main" val="25079958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A7D1730F-2F5A-425B-BC57-1BF69B18553F}"/>
              </a:ext>
            </a:extLst>
          </p:cNvPr>
          <p:cNvSpPr txBox="1">
            <a:spLocks/>
          </p:cNvSpPr>
          <p:nvPr/>
        </p:nvSpPr>
        <p:spPr>
          <a:xfrm>
            <a:off x="838199" y="291090"/>
            <a:ext cx="10515599" cy="93268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Linux Libertine" panose="02000503000000000000" pitchFamily="2" charset="0"/>
                <a:ea typeface="Linux Libertine" panose="02000503000000000000" pitchFamily="2" charset="0"/>
                <a:cs typeface="Linux Libertine" panose="02000503000000000000" pitchFamily="2" charset="0"/>
              </a:defRPr>
            </a:lvl1pPr>
          </a:lstStyle>
          <a:p>
            <a:pPr>
              <a:spcAft>
                <a:spcPts val="600"/>
              </a:spcAft>
            </a:pPr>
            <a:r>
              <a:rPr lang="en-US" sz="4600" kern="1200" dirty="0">
                <a:solidFill>
                  <a:schemeClr val="tx1"/>
                </a:solidFill>
                <a:latin typeface="+mj-lt"/>
                <a:ea typeface="+mj-ea"/>
                <a:cs typeface="+mj-cs"/>
              </a:rPr>
              <a:t>1. Introduction: How to search PubMed?</a:t>
            </a:r>
          </a:p>
        </p:txBody>
      </p:sp>
      <p:pic>
        <p:nvPicPr>
          <p:cNvPr id="6" name="Picture 5" descr="Graphical user interface, application, Teams&#10;&#10;Description automatically generated">
            <a:extLst>
              <a:ext uri="{FF2B5EF4-FFF2-40B4-BE49-F238E27FC236}">
                <a16:creationId xmlns:a16="http://schemas.microsoft.com/office/drawing/2014/main" id="{6BF56DEC-2C1D-4653-B2DE-5FEA87B66C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42725" y="1863801"/>
            <a:ext cx="9706548" cy="4440746"/>
          </a:xfrm>
          <a:prstGeom prst="rect">
            <a:avLst/>
          </a:prstGeom>
        </p:spPr>
      </p:pic>
      <p:sp>
        <p:nvSpPr>
          <p:cNvPr id="2" name="Date Placeholder 1">
            <a:extLst>
              <a:ext uri="{FF2B5EF4-FFF2-40B4-BE49-F238E27FC236}">
                <a16:creationId xmlns:a16="http://schemas.microsoft.com/office/drawing/2014/main" id="{3242C671-C4E9-4E9A-842F-7DDE1CC85114}"/>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a:spcAft>
                <a:spcPts val="600"/>
              </a:spcAft>
            </a:pPr>
            <a:fld id="{C1FFE036-1B22-46FC-8A87-65388E31D917}" type="datetime1">
              <a:rPr lang="en-US" smtClean="0">
                <a:latin typeface="+mn-lt"/>
                <a:ea typeface="+mn-ea"/>
                <a:cs typeface="+mn-cs"/>
              </a:rPr>
              <a:pPr>
                <a:spcAft>
                  <a:spcPts val="600"/>
                </a:spcAft>
              </a:pPr>
              <a:t>12/7/2021</a:t>
            </a:fld>
            <a:endParaRPr lang="en-US">
              <a:latin typeface="+mn-lt"/>
              <a:ea typeface="+mn-ea"/>
              <a:cs typeface="+mn-cs"/>
            </a:endParaRPr>
          </a:p>
        </p:txBody>
      </p:sp>
      <p:sp>
        <p:nvSpPr>
          <p:cNvPr id="3" name="Footer Placeholder 2">
            <a:extLst>
              <a:ext uri="{FF2B5EF4-FFF2-40B4-BE49-F238E27FC236}">
                <a16:creationId xmlns:a16="http://schemas.microsoft.com/office/drawing/2014/main" id="{B19008DF-25A3-4670-A7D5-C4AF6BB11AAE}"/>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pPr>
            <a:r>
              <a:rPr lang="en-US" sz="1200" dirty="0" err="1">
                <a:effectLst/>
                <a:latin typeface="Linux Libertine" panose="02000503000000000000" pitchFamily="2" charset="0"/>
                <a:ea typeface="Calibri" panose="020F0502020204030204" pitchFamily="34" charset="0"/>
              </a:rPr>
              <a:t>Adlassnig</a:t>
            </a:r>
            <a:r>
              <a:rPr lang="en-US" sz="1200" dirty="0">
                <a:effectLst/>
                <a:latin typeface="Linux Libertine" panose="02000503000000000000" pitchFamily="2" charset="0"/>
                <a:ea typeface="Calibri" panose="020F0502020204030204" pitchFamily="34" charset="0"/>
              </a:rPr>
              <a:t> &amp; others, 2009</a:t>
            </a:r>
            <a:endParaRPr lang="en-US" kern="1200" dirty="0">
              <a:solidFill>
                <a:schemeClr val="tx1">
                  <a:tint val="75000"/>
                </a:schemeClr>
              </a:solidFill>
              <a:latin typeface="+mn-lt"/>
              <a:ea typeface="+mn-ea"/>
              <a:cs typeface="+mn-cs"/>
            </a:endParaRPr>
          </a:p>
        </p:txBody>
      </p:sp>
      <p:sp>
        <p:nvSpPr>
          <p:cNvPr id="4" name="Slide Number Placeholder 3">
            <a:extLst>
              <a:ext uri="{FF2B5EF4-FFF2-40B4-BE49-F238E27FC236}">
                <a16:creationId xmlns:a16="http://schemas.microsoft.com/office/drawing/2014/main" id="{9EF29C73-414A-4B22-94A3-63DA3BE574AF}"/>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5A99AF73-65C2-407A-B44B-DB0F62C2405F}" type="slidenum">
              <a:rPr lang="en-US" smtClean="0">
                <a:latin typeface="+mn-lt"/>
                <a:ea typeface="+mn-ea"/>
                <a:cs typeface="+mn-cs"/>
              </a:rPr>
              <a:pPr>
                <a:spcAft>
                  <a:spcPts val="600"/>
                </a:spcAft>
              </a:pPr>
              <a:t>6</a:t>
            </a:fld>
            <a:endParaRPr lang="en-US">
              <a:latin typeface="+mn-lt"/>
              <a:ea typeface="+mn-ea"/>
              <a:cs typeface="+mn-cs"/>
            </a:endParaRPr>
          </a:p>
        </p:txBody>
      </p:sp>
    </p:spTree>
    <p:extLst>
      <p:ext uri="{BB962C8B-B14F-4D97-AF65-F5344CB8AC3E}">
        <p14:creationId xmlns:p14="http://schemas.microsoft.com/office/powerpoint/2010/main" val="22587904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2582FCE9-111E-4C83-B9E0-1692B21CF001}"/>
              </a:ext>
            </a:extLst>
          </p:cNvPr>
          <p:cNvSpPr txBox="1">
            <a:spLocks/>
          </p:cNvSpPr>
          <p:nvPr/>
        </p:nvSpPr>
        <p:spPr>
          <a:xfrm>
            <a:off x="838199" y="291090"/>
            <a:ext cx="10515599" cy="93268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Linux Libertine" panose="02000503000000000000" pitchFamily="2" charset="0"/>
                <a:ea typeface="Linux Libertine" panose="02000503000000000000" pitchFamily="2" charset="0"/>
                <a:cs typeface="Linux Libertine" panose="02000503000000000000" pitchFamily="2" charset="0"/>
              </a:defRPr>
            </a:lvl1pPr>
          </a:lstStyle>
          <a:p>
            <a:pPr>
              <a:spcAft>
                <a:spcPts val="600"/>
              </a:spcAft>
            </a:pPr>
            <a:r>
              <a:rPr lang="en-US" sz="4600" kern="1200" dirty="0">
                <a:solidFill>
                  <a:schemeClr val="tx1"/>
                </a:solidFill>
                <a:latin typeface="+mj-lt"/>
                <a:ea typeface="+mj-ea"/>
                <a:cs typeface="+mj-cs"/>
              </a:rPr>
              <a:t>1. Introduction: How to search PubMed?</a:t>
            </a:r>
          </a:p>
        </p:txBody>
      </p:sp>
      <p:pic>
        <p:nvPicPr>
          <p:cNvPr id="6" name="Picture 5" descr="Graphical user interface, text, application&#10;&#10;Description automatically generated">
            <a:extLst>
              <a:ext uri="{FF2B5EF4-FFF2-40B4-BE49-F238E27FC236}">
                <a16:creationId xmlns:a16="http://schemas.microsoft.com/office/drawing/2014/main" id="{E45F9958-8F32-4970-ACA2-8D94D77AE1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95495" y="1863801"/>
            <a:ext cx="6001008" cy="4440746"/>
          </a:xfrm>
          <a:prstGeom prst="rect">
            <a:avLst/>
          </a:prstGeom>
        </p:spPr>
      </p:pic>
      <p:sp>
        <p:nvSpPr>
          <p:cNvPr id="2" name="Date Placeholder 1">
            <a:extLst>
              <a:ext uri="{FF2B5EF4-FFF2-40B4-BE49-F238E27FC236}">
                <a16:creationId xmlns:a16="http://schemas.microsoft.com/office/drawing/2014/main" id="{348F69A4-CBCC-464C-882C-93FEA4D5CC9A}"/>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a:spcAft>
                <a:spcPts val="600"/>
              </a:spcAft>
            </a:pPr>
            <a:fld id="{C1FFE036-1B22-46FC-8A87-65388E31D917}" type="datetime1">
              <a:rPr lang="en-US" smtClean="0">
                <a:latin typeface="+mn-lt"/>
                <a:ea typeface="+mn-ea"/>
                <a:cs typeface="+mn-cs"/>
              </a:rPr>
              <a:pPr>
                <a:spcAft>
                  <a:spcPts val="600"/>
                </a:spcAft>
              </a:pPr>
              <a:t>12/7/2021</a:t>
            </a:fld>
            <a:endParaRPr lang="en-US">
              <a:latin typeface="+mn-lt"/>
              <a:ea typeface="+mn-ea"/>
              <a:cs typeface="+mn-cs"/>
            </a:endParaRPr>
          </a:p>
        </p:txBody>
      </p:sp>
      <p:sp>
        <p:nvSpPr>
          <p:cNvPr id="3" name="Footer Placeholder 2">
            <a:extLst>
              <a:ext uri="{FF2B5EF4-FFF2-40B4-BE49-F238E27FC236}">
                <a16:creationId xmlns:a16="http://schemas.microsoft.com/office/drawing/2014/main" id="{FDD3D8AD-D959-400C-9C58-ED7FB3E61887}"/>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r>
              <a:rPr lang="en-US" dirty="0"/>
              <a:t>Masters Project - Ebeid - Fall 2021</a:t>
            </a:r>
          </a:p>
        </p:txBody>
      </p:sp>
      <p:sp>
        <p:nvSpPr>
          <p:cNvPr id="4" name="Slide Number Placeholder 3">
            <a:extLst>
              <a:ext uri="{FF2B5EF4-FFF2-40B4-BE49-F238E27FC236}">
                <a16:creationId xmlns:a16="http://schemas.microsoft.com/office/drawing/2014/main" id="{DB38BCD4-D4B4-4DC0-96CF-9F4FF85B46F8}"/>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5A99AF73-65C2-407A-B44B-DB0F62C2405F}" type="slidenum">
              <a:rPr lang="en-US" smtClean="0">
                <a:latin typeface="+mn-lt"/>
                <a:ea typeface="+mn-ea"/>
                <a:cs typeface="+mn-cs"/>
              </a:rPr>
              <a:pPr>
                <a:spcAft>
                  <a:spcPts val="600"/>
                </a:spcAft>
              </a:pPr>
              <a:t>7</a:t>
            </a:fld>
            <a:endParaRPr lang="en-US">
              <a:latin typeface="+mn-lt"/>
              <a:ea typeface="+mn-ea"/>
              <a:cs typeface="+mn-cs"/>
            </a:endParaRPr>
          </a:p>
        </p:txBody>
      </p:sp>
    </p:spTree>
    <p:extLst>
      <p:ext uri="{BB962C8B-B14F-4D97-AF65-F5344CB8AC3E}">
        <p14:creationId xmlns:p14="http://schemas.microsoft.com/office/powerpoint/2010/main" val="766646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928028F2-424B-40E6-B2C9-1A85F3719EF7}"/>
              </a:ext>
            </a:extLst>
          </p:cNvPr>
          <p:cNvSpPr txBox="1">
            <a:spLocks/>
          </p:cNvSpPr>
          <p:nvPr/>
        </p:nvSpPr>
        <p:spPr>
          <a:xfrm>
            <a:off x="838199" y="291090"/>
            <a:ext cx="10515599" cy="93268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Linux Libertine" panose="02000503000000000000" pitchFamily="2" charset="0"/>
                <a:ea typeface="Linux Libertine" panose="02000503000000000000" pitchFamily="2" charset="0"/>
                <a:cs typeface="Linux Libertine" panose="02000503000000000000" pitchFamily="2" charset="0"/>
              </a:defRPr>
            </a:lvl1pPr>
          </a:lstStyle>
          <a:p>
            <a:pPr>
              <a:spcAft>
                <a:spcPts val="600"/>
              </a:spcAft>
            </a:pPr>
            <a:r>
              <a:rPr lang="en-US" sz="4600" kern="1200" dirty="0">
                <a:solidFill>
                  <a:schemeClr val="tx1"/>
                </a:solidFill>
                <a:latin typeface="+mj-lt"/>
                <a:ea typeface="+mj-ea"/>
                <a:cs typeface="+mj-cs"/>
              </a:rPr>
              <a:t>1. Introduction: How Best </a:t>
            </a:r>
            <a:r>
              <a:rPr lang="en-US" sz="4600" kern="1200">
                <a:solidFill>
                  <a:schemeClr val="tx1"/>
                </a:solidFill>
                <a:latin typeface="+mj-lt"/>
                <a:ea typeface="+mj-ea"/>
                <a:cs typeface="+mj-cs"/>
              </a:rPr>
              <a:t>Match works?</a:t>
            </a:r>
            <a:endParaRPr lang="en-US" sz="4600" kern="1200" dirty="0">
              <a:solidFill>
                <a:schemeClr val="tx1"/>
              </a:solidFill>
              <a:latin typeface="+mj-lt"/>
              <a:ea typeface="+mj-ea"/>
              <a:cs typeface="+mj-cs"/>
            </a:endParaRPr>
          </a:p>
        </p:txBody>
      </p:sp>
      <p:pic>
        <p:nvPicPr>
          <p:cNvPr id="6" name="Picture 5" descr="Diagram, schematic&#10;&#10;Description automatically generated">
            <a:extLst>
              <a:ext uri="{FF2B5EF4-FFF2-40B4-BE49-F238E27FC236}">
                <a16:creationId xmlns:a16="http://schemas.microsoft.com/office/drawing/2014/main" id="{173BA609-91FA-4BA2-ADC3-761C039924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79687" y="1863801"/>
            <a:ext cx="6232625" cy="4440746"/>
          </a:xfrm>
          <a:prstGeom prst="rect">
            <a:avLst/>
          </a:prstGeom>
        </p:spPr>
      </p:pic>
      <p:sp>
        <p:nvSpPr>
          <p:cNvPr id="2" name="Date Placeholder 1">
            <a:extLst>
              <a:ext uri="{FF2B5EF4-FFF2-40B4-BE49-F238E27FC236}">
                <a16:creationId xmlns:a16="http://schemas.microsoft.com/office/drawing/2014/main" id="{9D8435E3-BA88-4C14-8BAD-E5FBFF1D26D1}"/>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a:spcAft>
                <a:spcPts val="600"/>
              </a:spcAft>
            </a:pPr>
            <a:fld id="{C1FFE036-1B22-46FC-8A87-65388E31D917}" type="datetime1">
              <a:rPr lang="en-US" smtClean="0">
                <a:latin typeface="+mn-lt"/>
                <a:ea typeface="+mn-ea"/>
                <a:cs typeface="+mn-cs"/>
              </a:rPr>
              <a:pPr>
                <a:spcAft>
                  <a:spcPts val="600"/>
                </a:spcAft>
              </a:pPr>
              <a:t>12/7/2021</a:t>
            </a:fld>
            <a:endParaRPr lang="en-US">
              <a:latin typeface="+mn-lt"/>
              <a:ea typeface="+mn-ea"/>
              <a:cs typeface="+mn-cs"/>
            </a:endParaRPr>
          </a:p>
        </p:txBody>
      </p:sp>
      <p:sp>
        <p:nvSpPr>
          <p:cNvPr id="3" name="Footer Placeholder 2">
            <a:extLst>
              <a:ext uri="{FF2B5EF4-FFF2-40B4-BE49-F238E27FC236}">
                <a16:creationId xmlns:a16="http://schemas.microsoft.com/office/drawing/2014/main" id="{06265771-8CA6-4EA1-8D69-32D74EB9E1F2}"/>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r>
              <a:rPr lang="en-US" dirty="0"/>
              <a:t>Masters Project - Ebeid - Fall 2021</a:t>
            </a:r>
          </a:p>
        </p:txBody>
      </p:sp>
      <p:sp>
        <p:nvSpPr>
          <p:cNvPr id="4" name="Slide Number Placeholder 3">
            <a:extLst>
              <a:ext uri="{FF2B5EF4-FFF2-40B4-BE49-F238E27FC236}">
                <a16:creationId xmlns:a16="http://schemas.microsoft.com/office/drawing/2014/main" id="{B25AA44E-7F61-4204-8A8C-05A077A6D32E}"/>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5A99AF73-65C2-407A-B44B-DB0F62C2405F}" type="slidenum">
              <a:rPr lang="en-US" smtClean="0">
                <a:latin typeface="+mn-lt"/>
                <a:ea typeface="+mn-ea"/>
                <a:cs typeface="+mn-cs"/>
              </a:rPr>
              <a:pPr>
                <a:spcAft>
                  <a:spcPts val="600"/>
                </a:spcAft>
              </a:pPr>
              <a:t>8</a:t>
            </a:fld>
            <a:endParaRPr lang="en-US">
              <a:latin typeface="+mn-lt"/>
              <a:ea typeface="+mn-ea"/>
              <a:cs typeface="+mn-cs"/>
            </a:endParaRPr>
          </a:p>
        </p:txBody>
      </p:sp>
    </p:spTree>
    <p:extLst>
      <p:ext uri="{BB962C8B-B14F-4D97-AF65-F5344CB8AC3E}">
        <p14:creationId xmlns:p14="http://schemas.microsoft.com/office/powerpoint/2010/main" val="7952101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2582FCE9-111E-4C83-B9E0-1692B21CF001}"/>
              </a:ext>
            </a:extLst>
          </p:cNvPr>
          <p:cNvSpPr txBox="1">
            <a:spLocks/>
          </p:cNvSpPr>
          <p:nvPr/>
        </p:nvSpPr>
        <p:spPr>
          <a:xfrm>
            <a:off x="838199" y="291090"/>
            <a:ext cx="10515599" cy="932688"/>
          </a:xfrm>
          <a:prstGeom prst="rect">
            <a:avLst/>
          </a:prstGeom>
        </p:spPr>
        <p:txBody>
          <a:bodyPr vert="horz" lIns="91440" tIns="45720" rIns="91440" bIns="45720" rtlCol="0" anchor="b">
            <a:normAutofit fontScale="77500" lnSpcReduction="20000"/>
          </a:bodyPr>
          <a:lstStyle>
            <a:lvl1pPr algn="l" defTabSz="914400" rtl="0" eaLnBrk="1" latinLnBrk="0" hangingPunct="1">
              <a:lnSpc>
                <a:spcPct val="90000"/>
              </a:lnSpc>
              <a:spcBef>
                <a:spcPct val="0"/>
              </a:spcBef>
              <a:buNone/>
              <a:defRPr sz="4400" kern="1200">
                <a:solidFill>
                  <a:schemeClr val="tx1"/>
                </a:solidFill>
                <a:latin typeface="Linux Libertine" panose="02000503000000000000" pitchFamily="2" charset="0"/>
                <a:ea typeface="Linux Libertine" panose="02000503000000000000" pitchFamily="2" charset="0"/>
                <a:cs typeface="Linux Libertine" panose="02000503000000000000" pitchFamily="2" charset="0"/>
              </a:defRPr>
            </a:lvl1pPr>
          </a:lstStyle>
          <a:p>
            <a:pPr>
              <a:spcAft>
                <a:spcPts val="600"/>
              </a:spcAft>
            </a:pPr>
            <a:r>
              <a:rPr lang="en-US" sz="4600" kern="1200" dirty="0">
                <a:solidFill>
                  <a:schemeClr val="tx1"/>
                </a:solidFill>
                <a:latin typeface="+mj-lt"/>
                <a:ea typeface="+mj-ea"/>
                <a:cs typeface="+mj-cs"/>
              </a:rPr>
              <a:t>1. Introduction: So, what's the problem with all of that?</a:t>
            </a:r>
          </a:p>
        </p:txBody>
      </p:sp>
      <p:sp>
        <p:nvSpPr>
          <p:cNvPr id="2" name="Date Placeholder 1">
            <a:extLst>
              <a:ext uri="{FF2B5EF4-FFF2-40B4-BE49-F238E27FC236}">
                <a16:creationId xmlns:a16="http://schemas.microsoft.com/office/drawing/2014/main" id="{348F69A4-CBCC-464C-882C-93FEA4D5CC9A}"/>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a:spcAft>
                <a:spcPts val="600"/>
              </a:spcAft>
            </a:pPr>
            <a:fld id="{C1FFE036-1B22-46FC-8A87-65388E31D917}" type="datetime1">
              <a:rPr lang="en-US" smtClean="0">
                <a:latin typeface="+mn-lt"/>
                <a:ea typeface="+mn-ea"/>
                <a:cs typeface="+mn-cs"/>
              </a:rPr>
              <a:pPr>
                <a:spcAft>
                  <a:spcPts val="600"/>
                </a:spcAft>
              </a:pPr>
              <a:t>12/7/2021</a:t>
            </a:fld>
            <a:endParaRPr lang="en-US">
              <a:latin typeface="+mn-lt"/>
              <a:ea typeface="+mn-ea"/>
              <a:cs typeface="+mn-cs"/>
            </a:endParaRPr>
          </a:p>
        </p:txBody>
      </p:sp>
      <p:sp>
        <p:nvSpPr>
          <p:cNvPr id="3" name="Footer Placeholder 2">
            <a:extLst>
              <a:ext uri="{FF2B5EF4-FFF2-40B4-BE49-F238E27FC236}">
                <a16:creationId xmlns:a16="http://schemas.microsoft.com/office/drawing/2014/main" id="{FDD3D8AD-D959-400C-9C58-ED7FB3E61887}"/>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r>
              <a:rPr lang="en-US" dirty="0"/>
              <a:t>Masters Project - Ebeid - Fall 2021</a:t>
            </a:r>
          </a:p>
        </p:txBody>
      </p:sp>
      <p:sp>
        <p:nvSpPr>
          <p:cNvPr id="4" name="Slide Number Placeholder 3">
            <a:extLst>
              <a:ext uri="{FF2B5EF4-FFF2-40B4-BE49-F238E27FC236}">
                <a16:creationId xmlns:a16="http://schemas.microsoft.com/office/drawing/2014/main" id="{DB38BCD4-D4B4-4DC0-96CF-9F4FF85B46F8}"/>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5A99AF73-65C2-407A-B44B-DB0F62C2405F}" type="slidenum">
              <a:rPr lang="en-US" smtClean="0">
                <a:latin typeface="+mn-lt"/>
                <a:ea typeface="+mn-ea"/>
                <a:cs typeface="+mn-cs"/>
              </a:rPr>
              <a:pPr>
                <a:spcAft>
                  <a:spcPts val="600"/>
                </a:spcAft>
              </a:pPr>
              <a:t>9</a:t>
            </a:fld>
            <a:endParaRPr lang="en-US">
              <a:latin typeface="+mn-lt"/>
              <a:ea typeface="+mn-ea"/>
              <a:cs typeface="+mn-cs"/>
            </a:endParaRPr>
          </a:p>
        </p:txBody>
      </p:sp>
      <p:sp>
        <p:nvSpPr>
          <p:cNvPr id="5" name="TextBox 4">
            <a:extLst>
              <a:ext uri="{FF2B5EF4-FFF2-40B4-BE49-F238E27FC236}">
                <a16:creationId xmlns:a16="http://schemas.microsoft.com/office/drawing/2014/main" id="{2DF3E962-7D92-4832-AEAF-A1A215724FE8}"/>
              </a:ext>
            </a:extLst>
          </p:cNvPr>
          <p:cNvSpPr txBox="1"/>
          <p:nvPr/>
        </p:nvSpPr>
        <p:spPr>
          <a:xfrm>
            <a:off x="2901867" y="2268635"/>
            <a:ext cx="6388261" cy="923330"/>
          </a:xfrm>
          <a:prstGeom prst="rect">
            <a:avLst/>
          </a:prstGeom>
          <a:noFill/>
        </p:spPr>
        <p:txBody>
          <a:bodyPr wrap="square" rtlCol="0">
            <a:spAutoFit/>
          </a:bodyPr>
          <a:lstStyle/>
          <a:p>
            <a:pPr marL="285750" indent="-285750">
              <a:buFontTx/>
              <a:buChar char="-"/>
            </a:pPr>
            <a:r>
              <a:rPr lang="en-US" dirty="0"/>
              <a:t>Not semantic</a:t>
            </a:r>
          </a:p>
          <a:p>
            <a:pPr marL="285750" indent="-285750">
              <a:buFontTx/>
              <a:buChar char="-"/>
            </a:pPr>
            <a:r>
              <a:rPr lang="en-US" dirty="0"/>
              <a:t>Does not sort out ambiguous queries</a:t>
            </a:r>
          </a:p>
          <a:p>
            <a:pPr marL="285750" indent="-285750">
              <a:buFontTx/>
              <a:buChar char="-"/>
            </a:pPr>
            <a:r>
              <a:rPr lang="en-US" dirty="0"/>
              <a:t>Requires retraining and redeployment </a:t>
            </a:r>
          </a:p>
        </p:txBody>
      </p:sp>
      <p:sp>
        <p:nvSpPr>
          <p:cNvPr id="8" name="TextBox 7">
            <a:extLst>
              <a:ext uri="{FF2B5EF4-FFF2-40B4-BE49-F238E27FC236}">
                <a16:creationId xmlns:a16="http://schemas.microsoft.com/office/drawing/2014/main" id="{60F862F1-27DB-4F73-A7C1-70D150C39C9F}"/>
              </a:ext>
            </a:extLst>
          </p:cNvPr>
          <p:cNvSpPr txBox="1"/>
          <p:nvPr/>
        </p:nvSpPr>
        <p:spPr>
          <a:xfrm>
            <a:off x="2536781" y="4710896"/>
            <a:ext cx="7118432" cy="646331"/>
          </a:xfrm>
          <a:prstGeom prst="rect">
            <a:avLst/>
          </a:prstGeom>
          <a:noFill/>
        </p:spPr>
        <p:txBody>
          <a:bodyPr wrap="square" rtlCol="0">
            <a:spAutoFit/>
          </a:bodyPr>
          <a:lstStyle/>
          <a:p>
            <a:pPr marL="285750" indent="-285750">
              <a:buFontTx/>
              <a:buChar char="-"/>
            </a:pPr>
            <a:r>
              <a:rPr lang="en-US" dirty="0"/>
              <a:t>Takes context and semantics into account to provide better ranking</a:t>
            </a:r>
          </a:p>
          <a:p>
            <a:pPr marL="285750" indent="-285750">
              <a:buFontTx/>
              <a:buChar char="-"/>
            </a:pPr>
            <a:r>
              <a:rPr lang="en-US" dirty="0"/>
              <a:t>Does not need retraining </a:t>
            </a:r>
          </a:p>
        </p:txBody>
      </p:sp>
      <p:sp>
        <p:nvSpPr>
          <p:cNvPr id="6" name="Arrow: Down 5">
            <a:extLst>
              <a:ext uri="{FF2B5EF4-FFF2-40B4-BE49-F238E27FC236}">
                <a16:creationId xmlns:a16="http://schemas.microsoft.com/office/drawing/2014/main" id="{2B7F5966-43B8-467C-B5C9-F409FA7EC164}"/>
              </a:ext>
            </a:extLst>
          </p:cNvPr>
          <p:cNvSpPr/>
          <p:nvPr/>
        </p:nvSpPr>
        <p:spPr>
          <a:xfrm>
            <a:off x="5876078" y="3648670"/>
            <a:ext cx="439838" cy="60552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200498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2582FCE9-111E-4C83-B9E0-1692B21CF001}"/>
              </a:ext>
            </a:extLst>
          </p:cNvPr>
          <p:cNvSpPr txBox="1">
            <a:spLocks/>
          </p:cNvSpPr>
          <p:nvPr/>
        </p:nvSpPr>
        <p:spPr>
          <a:xfrm>
            <a:off x="838199" y="291090"/>
            <a:ext cx="10515599" cy="93268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Linux Libertine" panose="02000503000000000000" pitchFamily="2" charset="0"/>
                <a:ea typeface="Linux Libertine" panose="02000503000000000000" pitchFamily="2" charset="0"/>
                <a:cs typeface="Linux Libertine" panose="02000503000000000000" pitchFamily="2" charset="0"/>
              </a:defRPr>
            </a:lvl1pPr>
          </a:lstStyle>
          <a:p>
            <a:pPr>
              <a:spcAft>
                <a:spcPts val="600"/>
              </a:spcAft>
            </a:pPr>
            <a:r>
              <a:rPr lang="en-US" sz="4600" kern="1200" dirty="0">
                <a:solidFill>
                  <a:schemeClr val="tx1"/>
                </a:solidFill>
                <a:latin typeface="+mj-lt"/>
                <a:ea typeface="+mj-ea"/>
                <a:cs typeface="+mj-cs"/>
              </a:rPr>
              <a:t>2. Background: what is a graph?</a:t>
            </a:r>
          </a:p>
        </p:txBody>
      </p:sp>
      <p:sp>
        <p:nvSpPr>
          <p:cNvPr id="2" name="Date Placeholder 1">
            <a:extLst>
              <a:ext uri="{FF2B5EF4-FFF2-40B4-BE49-F238E27FC236}">
                <a16:creationId xmlns:a16="http://schemas.microsoft.com/office/drawing/2014/main" id="{348F69A4-CBCC-464C-882C-93FEA4D5CC9A}"/>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a:spcAft>
                <a:spcPts val="600"/>
              </a:spcAft>
            </a:pPr>
            <a:fld id="{C1FFE036-1B22-46FC-8A87-65388E31D917}" type="datetime1">
              <a:rPr lang="en-US" smtClean="0">
                <a:latin typeface="+mn-lt"/>
                <a:ea typeface="+mn-ea"/>
                <a:cs typeface="+mn-cs"/>
              </a:rPr>
              <a:pPr>
                <a:spcAft>
                  <a:spcPts val="600"/>
                </a:spcAft>
              </a:pPr>
              <a:t>12/7/2021</a:t>
            </a:fld>
            <a:endParaRPr lang="en-US">
              <a:latin typeface="+mn-lt"/>
              <a:ea typeface="+mn-ea"/>
              <a:cs typeface="+mn-cs"/>
            </a:endParaRPr>
          </a:p>
        </p:txBody>
      </p:sp>
      <p:sp>
        <p:nvSpPr>
          <p:cNvPr id="3" name="Footer Placeholder 2">
            <a:extLst>
              <a:ext uri="{FF2B5EF4-FFF2-40B4-BE49-F238E27FC236}">
                <a16:creationId xmlns:a16="http://schemas.microsoft.com/office/drawing/2014/main" id="{FDD3D8AD-D959-400C-9C58-ED7FB3E61887}"/>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r>
              <a:rPr lang="en-US" dirty="0"/>
              <a:t>Masters Project - Ebeid - Fall 2021</a:t>
            </a:r>
          </a:p>
        </p:txBody>
      </p:sp>
      <p:sp>
        <p:nvSpPr>
          <p:cNvPr id="4" name="Slide Number Placeholder 3">
            <a:extLst>
              <a:ext uri="{FF2B5EF4-FFF2-40B4-BE49-F238E27FC236}">
                <a16:creationId xmlns:a16="http://schemas.microsoft.com/office/drawing/2014/main" id="{DB38BCD4-D4B4-4DC0-96CF-9F4FF85B46F8}"/>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5A99AF73-65C2-407A-B44B-DB0F62C2405F}" type="slidenum">
              <a:rPr lang="en-US" smtClean="0">
                <a:latin typeface="+mn-lt"/>
                <a:ea typeface="+mn-ea"/>
                <a:cs typeface="+mn-cs"/>
              </a:rPr>
              <a:pPr>
                <a:spcAft>
                  <a:spcPts val="600"/>
                </a:spcAft>
              </a:pPr>
              <a:t>10</a:t>
            </a:fld>
            <a:endParaRPr lang="en-US">
              <a:latin typeface="+mn-lt"/>
              <a:ea typeface="+mn-ea"/>
              <a:cs typeface="+mn-cs"/>
            </a:endParaRPr>
          </a:p>
        </p:txBody>
      </p:sp>
      <p:sp>
        <p:nvSpPr>
          <p:cNvPr id="9" name="Oval 8">
            <a:extLst>
              <a:ext uri="{FF2B5EF4-FFF2-40B4-BE49-F238E27FC236}">
                <a16:creationId xmlns:a16="http://schemas.microsoft.com/office/drawing/2014/main" id="{EA528E56-FFCE-4BE6-A299-C2219354630A}"/>
              </a:ext>
            </a:extLst>
          </p:cNvPr>
          <p:cNvSpPr/>
          <p:nvPr/>
        </p:nvSpPr>
        <p:spPr>
          <a:xfrm>
            <a:off x="2466286" y="1370814"/>
            <a:ext cx="619665" cy="3911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10" name="Oval 9">
            <a:extLst>
              <a:ext uri="{FF2B5EF4-FFF2-40B4-BE49-F238E27FC236}">
                <a16:creationId xmlns:a16="http://schemas.microsoft.com/office/drawing/2014/main" id="{875402DC-424E-4EA8-BF8A-92E31FBB9820}"/>
              </a:ext>
            </a:extLst>
          </p:cNvPr>
          <p:cNvSpPr/>
          <p:nvPr/>
        </p:nvSpPr>
        <p:spPr>
          <a:xfrm>
            <a:off x="2881618" y="3935835"/>
            <a:ext cx="619665" cy="3911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11" name="Oval 10">
            <a:extLst>
              <a:ext uri="{FF2B5EF4-FFF2-40B4-BE49-F238E27FC236}">
                <a16:creationId xmlns:a16="http://schemas.microsoft.com/office/drawing/2014/main" id="{3A9F9C2D-7B08-4C83-ACED-8BD8DEB52C6D}"/>
              </a:ext>
            </a:extLst>
          </p:cNvPr>
          <p:cNvSpPr/>
          <p:nvPr/>
        </p:nvSpPr>
        <p:spPr>
          <a:xfrm>
            <a:off x="3038212" y="2488035"/>
            <a:ext cx="619665" cy="3911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12" name="Oval 11">
            <a:extLst>
              <a:ext uri="{FF2B5EF4-FFF2-40B4-BE49-F238E27FC236}">
                <a16:creationId xmlns:a16="http://schemas.microsoft.com/office/drawing/2014/main" id="{7353E548-4A4F-49B0-BEE0-06BDC48DABAE}"/>
              </a:ext>
            </a:extLst>
          </p:cNvPr>
          <p:cNvSpPr/>
          <p:nvPr/>
        </p:nvSpPr>
        <p:spPr>
          <a:xfrm>
            <a:off x="3978694" y="1953717"/>
            <a:ext cx="619665" cy="3911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13" name="Oval 12">
            <a:extLst>
              <a:ext uri="{FF2B5EF4-FFF2-40B4-BE49-F238E27FC236}">
                <a16:creationId xmlns:a16="http://schemas.microsoft.com/office/drawing/2014/main" id="{9EB9AC5B-DAF0-4D33-9678-3348F77D7282}"/>
              </a:ext>
            </a:extLst>
          </p:cNvPr>
          <p:cNvSpPr/>
          <p:nvPr/>
        </p:nvSpPr>
        <p:spPr>
          <a:xfrm>
            <a:off x="4507611" y="2912378"/>
            <a:ext cx="619665" cy="3911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14" name="Oval 13">
            <a:extLst>
              <a:ext uri="{FF2B5EF4-FFF2-40B4-BE49-F238E27FC236}">
                <a16:creationId xmlns:a16="http://schemas.microsoft.com/office/drawing/2014/main" id="{48B6D73D-685E-4C57-B4FE-5B232EAE75E3}"/>
              </a:ext>
            </a:extLst>
          </p:cNvPr>
          <p:cNvSpPr/>
          <p:nvPr/>
        </p:nvSpPr>
        <p:spPr>
          <a:xfrm>
            <a:off x="5504576" y="1317596"/>
            <a:ext cx="619665" cy="3911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cxnSp>
        <p:nvCxnSpPr>
          <p:cNvPr id="15" name="Straight Connector 14">
            <a:extLst>
              <a:ext uri="{FF2B5EF4-FFF2-40B4-BE49-F238E27FC236}">
                <a16:creationId xmlns:a16="http://schemas.microsoft.com/office/drawing/2014/main" id="{1D1E423F-34B5-4B8B-AF1D-29EC593BAE0C}"/>
              </a:ext>
            </a:extLst>
          </p:cNvPr>
          <p:cNvCxnSpPr>
            <a:stCxn id="9" idx="5"/>
            <a:endCxn id="11" idx="1"/>
          </p:cNvCxnSpPr>
          <p:nvPr/>
        </p:nvCxnSpPr>
        <p:spPr>
          <a:xfrm>
            <a:off x="2995203" y="1704669"/>
            <a:ext cx="133757" cy="840647"/>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5890EF3B-3516-4D1D-BCF9-4ACF351D588E}"/>
              </a:ext>
            </a:extLst>
          </p:cNvPr>
          <p:cNvCxnSpPr>
            <a:stCxn id="9" idx="6"/>
            <a:endCxn id="12" idx="2"/>
          </p:cNvCxnSpPr>
          <p:nvPr/>
        </p:nvCxnSpPr>
        <p:spPr>
          <a:xfrm>
            <a:off x="3085951" y="1566382"/>
            <a:ext cx="892743" cy="582903"/>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9389AE6-FB70-4EFC-AD97-DBFF53CB77D5}"/>
              </a:ext>
            </a:extLst>
          </p:cNvPr>
          <p:cNvCxnSpPr>
            <a:stCxn id="12" idx="6"/>
            <a:endCxn id="14" idx="2"/>
          </p:cNvCxnSpPr>
          <p:nvPr/>
        </p:nvCxnSpPr>
        <p:spPr>
          <a:xfrm flipV="1">
            <a:off x="4598359" y="1513164"/>
            <a:ext cx="906217" cy="636121"/>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31370A5-5776-4EF7-BA56-22B550AB73DA}"/>
              </a:ext>
            </a:extLst>
          </p:cNvPr>
          <p:cNvCxnSpPr>
            <a:stCxn id="14" idx="4"/>
            <a:endCxn id="13" idx="0"/>
          </p:cNvCxnSpPr>
          <p:nvPr/>
        </p:nvCxnSpPr>
        <p:spPr>
          <a:xfrm flipH="1">
            <a:off x="4817444" y="1708732"/>
            <a:ext cx="996965" cy="1203646"/>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60FF677-11E0-4ADC-9EC0-D3CE5782A0F4}"/>
              </a:ext>
            </a:extLst>
          </p:cNvPr>
          <p:cNvCxnSpPr>
            <a:stCxn id="11" idx="4"/>
            <a:endCxn id="10" idx="0"/>
          </p:cNvCxnSpPr>
          <p:nvPr/>
        </p:nvCxnSpPr>
        <p:spPr>
          <a:xfrm flipH="1">
            <a:off x="3191451" y="2879171"/>
            <a:ext cx="156594" cy="1056664"/>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C6C22F0E-BF33-4152-B14B-8D6BC643751C}"/>
              </a:ext>
            </a:extLst>
          </p:cNvPr>
          <p:cNvCxnSpPr>
            <a:stCxn id="12" idx="4"/>
            <a:endCxn id="11" idx="6"/>
          </p:cNvCxnSpPr>
          <p:nvPr/>
        </p:nvCxnSpPr>
        <p:spPr>
          <a:xfrm flipH="1">
            <a:off x="3657877" y="2344853"/>
            <a:ext cx="630650" cy="33875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D7C77C45-0815-4E98-BAC9-5B818ED8F1E1}"/>
              </a:ext>
            </a:extLst>
          </p:cNvPr>
          <p:cNvCxnSpPr>
            <a:stCxn id="12" idx="5"/>
            <a:endCxn id="10" idx="6"/>
          </p:cNvCxnSpPr>
          <p:nvPr/>
        </p:nvCxnSpPr>
        <p:spPr>
          <a:xfrm flipH="1">
            <a:off x="3501283" y="2287572"/>
            <a:ext cx="1006328" cy="1843831"/>
          </a:xfrm>
          <a:prstGeom prst="line">
            <a:avLst/>
          </a:prstGeom>
        </p:spPr>
        <p:style>
          <a:lnRef idx="1">
            <a:schemeClr val="accent1"/>
          </a:lnRef>
          <a:fillRef idx="0">
            <a:schemeClr val="accent1"/>
          </a:fillRef>
          <a:effectRef idx="0">
            <a:schemeClr val="accent1"/>
          </a:effectRef>
          <a:fontRef idx="minor">
            <a:schemeClr val="tx1"/>
          </a:fontRef>
        </p:style>
      </p:cxnSp>
      <p:sp>
        <p:nvSpPr>
          <p:cNvPr id="22" name="Arrow: Right 21">
            <a:extLst>
              <a:ext uri="{FF2B5EF4-FFF2-40B4-BE49-F238E27FC236}">
                <a16:creationId xmlns:a16="http://schemas.microsoft.com/office/drawing/2014/main" id="{7FA345CF-043D-4B74-A2CD-49784C1FBBA0}"/>
              </a:ext>
            </a:extLst>
          </p:cNvPr>
          <p:cNvSpPr/>
          <p:nvPr/>
        </p:nvSpPr>
        <p:spPr>
          <a:xfrm>
            <a:off x="5673612" y="2780057"/>
            <a:ext cx="281592" cy="139480"/>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23" name="Table 36">
            <a:extLst>
              <a:ext uri="{FF2B5EF4-FFF2-40B4-BE49-F238E27FC236}">
                <a16:creationId xmlns:a16="http://schemas.microsoft.com/office/drawing/2014/main" id="{10BCF3F9-74A8-46F9-ACA4-E8A0E6ACFB11}"/>
              </a:ext>
            </a:extLst>
          </p:cNvPr>
          <p:cNvGraphicFramePr>
            <a:graphicFrameLocks noGrp="1"/>
          </p:cNvGraphicFramePr>
          <p:nvPr/>
        </p:nvGraphicFramePr>
        <p:xfrm>
          <a:off x="6186826" y="2017844"/>
          <a:ext cx="1311183" cy="1579776"/>
        </p:xfrm>
        <a:graphic>
          <a:graphicData uri="http://schemas.openxmlformats.org/drawingml/2006/table">
            <a:tbl>
              <a:tblPr firstRow="1" bandRow="1">
                <a:tableStyleId>{5C22544A-7EE6-4342-B048-85BDC9FD1C3A}</a:tableStyleId>
              </a:tblPr>
              <a:tblGrid>
                <a:gridCol w="666002">
                  <a:extLst>
                    <a:ext uri="{9D8B030D-6E8A-4147-A177-3AD203B41FA5}">
                      <a16:colId xmlns:a16="http://schemas.microsoft.com/office/drawing/2014/main" val="2632887271"/>
                    </a:ext>
                  </a:extLst>
                </a:gridCol>
                <a:gridCol w="645181">
                  <a:extLst>
                    <a:ext uri="{9D8B030D-6E8A-4147-A177-3AD203B41FA5}">
                      <a16:colId xmlns:a16="http://schemas.microsoft.com/office/drawing/2014/main" val="1780468870"/>
                    </a:ext>
                  </a:extLst>
                </a:gridCol>
              </a:tblGrid>
              <a:tr h="184354">
                <a:tc>
                  <a:txBody>
                    <a:bodyPr/>
                    <a:lstStyle/>
                    <a:p>
                      <a:r>
                        <a:rPr lang="en-US" sz="800" dirty="0"/>
                        <a:t>Source Node</a:t>
                      </a:r>
                    </a:p>
                  </a:txBody>
                  <a:tcPr marL="45457" marR="45457" marT="22729" marB="22729"/>
                </a:tc>
                <a:tc>
                  <a:txBody>
                    <a:bodyPr/>
                    <a:lstStyle/>
                    <a:p>
                      <a:r>
                        <a:rPr lang="en-US" sz="800" dirty="0"/>
                        <a:t>Target Node</a:t>
                      </a:r>
                    </a:p>
                  </a:txBody>
                  <a:tcPr marL="45457" marR="45457" marT="22729" marB="22729"/>
                </a:tc>
                <a:extLst>
                  <a:ext uri="{0D108BD9-81ED-4DB2-BD59-A6C34878D82A}">
                    <a16:rowId xmlns:a16="http://schemas.microsoft.com/office/drawing/2014/main" val="2525331309"/>
                  </a:ext>
                </a:extLst>
              </a:tr>
              <a:tr h="184354">
                <a:tc>
                  <a:txBody>
                    <a:bodyPr/>
                    <a:lstStyle/>
                    <a:p>
                      <a:r>
                        <a:rPr lang="en-US" sz="800" dirty="0"/>
                        <a:t>A</a:t>
                      </a:r>
                    </a:p>
                  </a:txBody>
                  <a:tcPr marL="45457" marR="45457" marT="22729" marB="22729"/>
                </a:tc>
                <a:tc>
                  <a:txBody>
                    <a:bodyPr/>
                    <a:lstStyle/>
                    <a:p>
                      <a:r>
                        <a:rPr lang="en-US" sz="800" dirty="0"/>
                        <a:t>B</a:t>
                      </a:r>
                    </a:p>
                  </a:txBody>
                  <a:tcPr marL="45457" marR="45457" marT="22729" marB="22729"/>
                </a:tc>
                <a:extLst>
                  <a:ext uri="{0D108BD9-81ED-4DB2-BD59-A6C34878D82A}">
                    <a16:rowId xmlns:a16="http://schemas.microsoft.com/office/drawing/2014/main" val="3598655374"/>
                  </a:ext>
                </a:extLst>
              </a:tr>
              <a:tr h="184354">
                <a:tc>
                  <a:txBody>
                    <a:bodyPr/>
                    <a:lstStyle/>
                    <a:p>
                      <a:r>
                        <a:rPr lang="en-US" sz="800" dirty="0"/>
                        <a:t>A</a:t>
                      </a:r>
                    </a:p>
                  </a:txBody>
                  <a:tcPr marL="45457" marR="45457" marT="22729" marB="22729"/>
                </a:tc>
                <a:tc>
                  <a:txBody>
                    <a:bodyPr/>
                    <a:lstStyle/>
                    <a:p>
                      <a:r>
                        <a:rPr lang="en-US" sz="800" dirty="0"/>
                        <a:t>E</a:t>
                      </a:r>
                    </a:p>
                  </a:txBody>
                  <a:tcPr marL="45457" marR="45457" marT="22729" marB="22729"/>
                </a:tc>
                <a:extLst>
                  <a:ext uri="{0D108BD9-81ED-4DB2-BD59-A6C34878D82A}">
                    <a16:rowId xmlns:a16="http://schemas.microsoft.com/office/drawing/2014/main" val="2778863418"/>
                  </a:ext>
                </a:extLst>
              </a:tr>
              <a:tr h="184354">
                <a:tc>
                  <a:txBody>
                    <a:bodyPr/>
                    <a:lstStyle/>
                    <a:p>
                      <a:r>
                        <a:rPr lang="en-US" sz="800" dirty="0"/>
                        <a:t>B</a:t>
                      </a:r>
                    </a:p>
                  </a:txBody>
                  <a:tcPr marL="45457" marR="45457" marT="22729" marB="22729"/>
                </a:tc>
                <a:tc>
                  <a:txBody>
                    <a:bodyPr/>
                    <a:lstStyle/>
                    <a:p>
                      <a:r>
                        <a:rPr lang="en-US" sz="800" dirty="0"/>
                        <a:t>C</a:t>
                      </a:r>
                    </a:p>
                  </a:txBody>
                  <a:tcPr marL="45457" marR="45457" marT="22729" marB="22729"/>
                </a:tc>
                <a:extLst>
                  <a:ext uri="{0D108BD9-81ED-4DB2-BD59-A6C34878D82A}">
                    <a16:rowId xmlns:a16="http://schemas.microsoft.com/office/drawing/2014/main" val="2963631753"/>
                  </a:ext>
                </a:extLst>
              </a:tr>
              <a:tr h="184354">
                <a:tc>
                  <a:txBody>
                    <a:bodyPr/>
                    <a:lstStyle/>
                    <a:p>
                      <a:r>
                        <a:rPr lang="en-US" sz="800" dirty="0"/>
                        <a:t>B</a:t>
                      </a:r>
                    </a:p>
                  </a:txBody>
                  <a:tcPr marL="45457" marR="45457" marT="22729" marB="22729"/>
                </a:tc>
                <a:tc>
                  <a:txBody>
                    <a:bodyPr/>
                    <a:lstStyle/>
                    <a:p>
                      <a:r>
                        <a:rPr lang="en-US" sz="800" dirty="0"/>
                        <a:t>E</a:t>
                      </a:r>
                    </a:p>
                  </a:txBody>
                  <a:tcPr marL="45457" marR="45457" marT="22729" marB="22729"/>
                </a:tc>
                <a:extLst>
                  <a:ext uri="{0D108BD9-81ED-4DB2-BD59-A6C34878D82A}">
                    <a16:rowId xmlns:a16="http://schemas.microsoft.com/office/drawing/2014/main" val="2801960994"/>
                  </a:ext>
                </a:extLst>
              </a:tr>
              <a:tr h="184354">
                <a:tc>
                  <a:txBody>
                    <a:bodyPr/>
                    <a:lstStyle/>
                    <a:p>
                      <a:r>
                        <a:rPr lang="en-US" sz="800" dirty="0"/>
                        <a:t>C</a:t>
                      </a:r>
                    </a:p>
                  </a:txBody>
                  <a:tcPr marL="45457" marR="45457" marT="22729" marB="22729"/>
                </a:tc>
                <a:tc>
                  <a:txBody>
                    <a:bodyPr/>
                    <a:lstStyle/>
                    <a:p>
                      <a:r>
                        <a:rPr lang="en-US" sz="800" dirty="0"/>
                        <a:t>D</a:t>
                      </a:r>
                    </a:p>
                  </a:txBody>
                  <a:tcPr marL="45457" marR="45457" marT="22729" marB="22729"/>
                </a:tc>
                <a:extLst>
                  <a:ext uri="{0D108BD9-81ED-4DB2-BD59-A6C34878D82A}">
                    <a16:rowId xmlns:a16="http://schemas.microsoft.com/office/drawing/2014/main" val="3518638949"/>
                  </a:ext>
                </a:extLst>
              </a:tr>
              <a:tr h="184354">
                <a:tc>
                  <a:txBody>
                    <a:bodyPr/>
                    <a:lstStyle/>
                    <a:p>
                      <a:r>
                        <a:rPr lang="en-US" sz="800" dirty="0"/>
                        <a:t>E</a:t>
                      </a:r>
                    </a:p>
                  </a:txBody>
                  <a:tcPr marL="45457" marR="45457" marT="22729" marB="22729"/>
                </a:tc>
                <a:tc>
                  <a:txBody>
                    <a:bodyPr/>
                    <a:lstStyle/>
                    <a:p>
                      <a:r>
                        <a:rPr lang="en-US" sz="800" dirty="0"/>
                        <a:t>F</a:t>
                      </a:r>
                    </a:p>
                  </a:txBody>
                  <a:tcPr marL="45457" marR="45457" marT="22729" marB="22729"/>
                </a:tc>
                <a:extLst>
                  <a:ext uri="{0D108BD9-81ED-4DB2-BD59-A6C34878D82A}">
                    <a16:rowId xmlns:a16="http://schemas.microsoft.com/office/drawing/2014/main" val="507131164"/>
                  </a:ext>
                </a:extLst>
              </a:tr>
              <a:tr h="184354">
                <a:tc>
                  <a:txBody>
                    <a:bodyPr/>
                    <a:lstStyle/>
                    <a:p>
                      <a:r>
                        <a:rPr lang="en-US" sz="800" dirty="0"/>
                        <a:t>F</a:t>
                      </a:r>
                    </a:p>
                  </a:txBody>
                  <a:tcPr marL="45457" marR="45457" marT="22729" marB="22729"/>
                </a:tc>
                <a:tc>
                  <a:txBody>
                    <a:bodyPr/>
                    <a:lstStyle/>
                    <a:p>
                      <a:r>
                        <a:rPr lang="en-US" sz="800" dirty="0"/>
                        <a:t>B</a:t>
                      </a:r>
                    </a:p>
                  </a:txBody>
                  <a:tcPr marL="45457" marR="45457" marT="22729" marB="22729"/>
                </a:tc>
                <a:extLst>
                  <a:ext uri="{0D108BD9-81ED-4DB2-BD59-A6C34878D82A}">
                    <a16:rowId xmlns:a16="http://schemas.microsoft.com/office/drawing/2014/main" val="2677691673"/>
                  </a:ext>
                </a:extLst>
              </a:tr>
            </a:tbl>
          </a:graphicData>
        </a:graphic>
      </p:graphicFrame>
      <p:sp>
        <p:nvSpPr>
          <p:cNvPr id="24" name="Arrow: Right 23">
            <a:extLst>
              <a:ext uri="{FF2B5EF4-FFF2-40B4-BE49-F238E27FC236}">
                <a16:creationId xmlns:a16="http://schemas.microsoft.com/office/drawing/2014/main" id="{99431ACA-A91E-40D4-A358-00DD03D69F29}"/>
              </a:ext>
            </a:extLst>
          </p:cNvPr>
          <p:cNvSpPr/>
          <p:nvPr/>
        </p:nvSpPr>
        <p:spPr>
          <a:xfrm>
            <a:off x="7669528" y="2772898"/>
            <a:ext cx="281592" cy="139480"/>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5" name="Table 39">
            <a:extLst>
              <a:ext uri="{FF2B5EF4-FFF2-40B4-BE49-F238E27FC236}">
                <a16:creationId xmlns:a16="http://schemas.microsoft.com/office/drawing/2014/main" id="{7EC76695-9F0C-414B-9F38-BB5A6AC95F62}"/>
              </a:ext>
            </a:extLst>
          </p:cNvPr>
          <p:cNvGraphicFramePr>
            <a:graphicFrameLocks noGrp="1"/>
          </p:cNvGraphicFramePr>
          <p:nvPr/>
        </p:nvGraphicFramePr>
        <p:xfrm>
          <a:off x="8185143" y="1790263"/>
          <a:ext cx="2293207" cy="1837934"/>
        </p:xfrm>
        <a:graphic>
          <a:graphicData uri="http://schemas.openxmlformats.org/drawingml/2006/table">
            <a:tbl>
              <a:tblPr bandRow="1">
                <a:tableStyleId>{5C22544A-7EE6-4342-B048-85BDC9FD1C3A}</a:tableStyleId>
              </a:tblPr>
              <a:tblGrid>
                <a:gridCol w="327601">
                  <a:extLst>
                    <a:ext uri="{9D8B030D-6E8A-4147-A177-3AD203B41FA5}">
                      <a16:colId xmlns:a16="http://schemas.microsoft.com/office/drawing/2014/main" val="1447693451"/>
                    </a:ext>
                  </a:extLst>
                </a:gridCol>
                <a:gridCol w="327601">
                  <a:extLst>
                    <a:ext uri="{9D8B030D-6E8A-4147-A177-3AD203B41FA5}">
                      <a16:colId xmlns:a16="http://schemas.microsoft.com/office/drawing/2014/main" val="2313149447"/>
                    </a:ext>
                  </a:extLst>
                </a:gridCol>
                <a:gridCol w="327601">
                  <a:extLst>
                    <a:ext uri="{9D8B030D-6E8A-4147-A177-3AD203B41FA5}">
                      <a16:colId xmlns:a16="http://schemas.microsoft.com/office/drawing/2014/main" val="13266568"/>
                    </a:ext>
                  </a:extLst>
                </a:gridCol>
                <a:gridCol w="327601">
                  <a:extLst>
                    <a:ext uri="{9D8B030D-6E8A-4147-A177-3AD203B41FA5}">
                      <a16:colId xmlns:a16="http://schemas.microsoft.com/office/drawing/2014/main" val="3351877584"/>
                    </a:ext>
                  </a:extLst>
                </a:gridCol>
                <a:gridCol w="327601">
                  <a:extLst>
                    <a:ext uri="{9D8B030D-6E8A-4147-A177-3AD203B41FA5}">
                      <a16:colId xmlns:a16="http://schemas.microsoft.com/office/drawing/2014/main" val="801952516"/>
                    </a:ext>
                  </a:extLst>
                </a:gridCol>
                <a:gridCol w="327601">
                  <a:extLst>
                    <a:ext uri="{9D8B030D-6E8A-4147-A177-3AD203B41FA5}">
                      <a16:colId xmlns:a16="http://schemas.microsoft.com/office/drawing/2014/main" val="2862379347"/>
                    </a:ext>
                  </a:extLst>
                </a:gridCol>
                <a:gridCol w="327601">
                  <a:extLst>
                    <a:ext uri="{9D8B030D-6E8A-4147-A177-3AD203B41FA5}">
                      <a16:colId xmlns:a16="http://schemas.microsoft.com/office/drawing/2014/main" val="1221256431"/>
                    </a:ext>
                  </a:extLst>
                </a:gridCol>
              </a:tblGrid>
              <a:tr h="260910">
                <a:tc>
                  <a:txBody>
                    <a:bodyPr/>
                    <a:lstStyle/>
                    <a:p>
                      <a:endParaRPr lang="en-US" sz="1300" dirty="0"/>
                    </a:p>
                  </a:txBody>
                  <a:tcPr marL="64442" marR="64442" marT="32221" marB="32221"/>
                </a:tc>
                <a:tc>
                  <a:txBody>
                    <a:bodyPr/>
                    <a:lstStyle/>
                    <a:p>
                      <a:r>
                        <a:rPr lang="en-US" sz="1300" dirty="0">
                          <a:solidFill>
                            <a:srgbClr val="C00000"/>
                          </a:solidFill>
                        </a:rPr>
                        <a:t>A</a:t>
                      </a:r>
                    </a:p>
                  </a:txBody>
                  <a:tcPr marL="64442" marR="64442" marT="32221" marB="32221"/>
                </a:tc>
                <a:tc>
                  <a:txBody>
                    <a:bodyPr/>
                    <a:lstStyle/>
                    <a:p>
                      <a:r>
                        <a:rPr lang="en-US" sz="1300" dirty="0">
                          <a:solidFill>
                            <a:srgbClr val="C00000"/>
                          </a:solidFill>
                        </a:rPr>
                        <a:t>B</a:t>
                      </a:r>
                    </a:p>
                  </a:txBody>
                  <a:tcPr marL="64442" marR="64442" marT="32221" marB="32221"/>
                </a:tc>
                <a:tc>
                  <a:txBody>
                    <a:bodyPr/>
                    <a:lstStyle/>
                    <a:p>
                      <a:r>
                        <a:rPr lang="en-US" sz="1300" dirty="0">
                          <a:solidFill>
                            <a:srgbClr val="C00000"/>
                          </a:solidFill>
                        </a:rPr>
                        <a:t>C</a:t>
                      </a:r>
                    </a:p>
                  </a:txBody>
                  <a:tcPr marL="64442" marR="64442" marT="32221" marB="32221"/>
                </a:tc>
                <a:tc>
                  <a:txBody>
                    <a:bodyPr/>
                    <a:lstStyle/>
                    <a:p>
                      <a:r>
                        <a:rPr lang="en-US" sz="1300" dirty="0">
                          <a:solidFill>
                            <a:srgbClr val="C00000"/>
                          </a:solidFill>
                        </a:rPr>
                        <a:t>D</a:t>
                      </a:r>
                    </a:p>
                  </a:txBody>
                  <a:tcPr marL="64442" marR="64442" marT="32221" marB="32221"/>
                </a:tc>
                <a:tc>
                  <a:txBody>
                    <a:bodyPr/>
                    <a:lstStyle/>
                    <a:p>
                      <a:r>
                        <a:rPr lang="en-US" sz="1300" dirty="0">
                          <a:solidFill>
                            <a:srgbClr val="C00000"/>
                          </a:solidFill>
                        </a:rPr>
                        <a:t>E</a:t>
                      </a:r>
                    </a:p>
                  </a:txBody>
                  <a:tcPr marL="64442" marR="64442" marT="32221" marB="32221"/>
                </a:tc>
                <a:tc>
                  <a:txBody>
                    <a:bodyPr/>
                    <a:lstStyle/>
                    <a:p>
                      <a:r>
                        <a:rPr lang="en-US" sz="1300" dirty="0">
                          <a:solidFill>
                            <a:srgbClr val="C00000"/>
                          </a:solidFill>
                        </a:rPr>
                        <a:t>F</a:t>
                      </a:r>
                    </a:p>
                  </a:txBody>
                  <a:tcPr marL="64442" marR="64442" marT="32221" marB="32221"/>
                </a:tc>
                <a:extLst>
                  <a:ext uri="{0D108BD9-81ED-4DB2-BD59-A6C34878D82A}">
                    <a16:rowId xmlns:a16="http://schemas.microsoft.com/office/drawing/2014/main" val="3134004646"/>
                  </a:ext>
                </a:extLst>
              </a:tr>
              <a:tr h="260910">
                <a:tc>
                  <a:txBody>
                    <a:bodyPr/>
                    <a:lstStyle/>
                    <a:p>
                      <a:r>
                        <a:rPr lang="en-US" sz="1300" dirty="0">
                          <a:solidFill>
                            <a:srgbClr val="C00000"/>
                          </a:solidFill>
                        </a:rPr>
                        <a:t>A</a:t>
                      </a:r>
                    </a:p>
                  </a:txBody>
                  <a:tcPr marL="64442" marR="64442" marT="32221" marB="32221"/>
                </a:tc>
                <a:tc>
                  <a:txBody>
                    <a:bodyPr/>
                    <a:lstStyle/>
                    <a:p>
                      <a:r>
                        <a:rPr lang="en-US" sz="1300" dirty="0"/>
                        <a:t>0</a:t>
                      </a:r>
                    </a:p>
                  </a:txBody>
                  <a:tcPr marL="64442" marR="64442" marT="32221" marB="32221"/>
                </a:tc>
                <a:tc>
                  <a:txBody>
                    <a:bodyPr/>
                    <a:lstStyle/>
                    <a:p>
                      <a:r>
                        <a:rPr lang="en-US" sz="1300" dirty="0"/>
                        <a:t>1</a:t>
                      </a:r>
                    </a:p>
                  </a:txBody>
                  <a:tcPr marL="64442" marR="64442" marT="32221" marB="32221"/>
                </a:tc>
                <a:tc>
                  <a:txBody>
                    <a:bodyPr/>
                    <a:lstStyle/>
                    <a:p>
                      <a:r>
                        <a:rPr lang="en-US" sz="1300" dirty="0"/>
                        <a:t>0</a:t>
                      </a:r>
                    </a:p>
                  </a:txBody>
                  <a:tcPr marL="64442" marR="64442" marT="32221" marB="32221"/>
                </a:tc>
                <a:tc>
                  <a:txBody>
                    <a:bodyPr/>
                    <a:lstStyle/>
                    <a:p>
                      <a:r>
                        <a:rPr lang="en-US" sz="1300" dirty="0"/>
                        <a:t>0</a:t>
                      </a:r>
                    </a:p>
                  </a:txBody>
                  <a:tcPr marL="64442" marR="64442" marT="32221" marB="32221"/>
                </a:tc>
                <a:tc>
                  <a:txBody>
                    <a:bodyPr/>
                    <a:lstStyle/>
                    <a:p>
                      <a:r>
                        <a:rPr lang="en-US" sz="1300" dirty="0"/>
                        <a:t>1</a:t>
                      </a:r>
                    </a:p>
                  </a:txBody>
                  <a:tcPr marL="64442" marR="64442" marT="32221" marB="32221"/>
                </a:tc>
                <a:tc>
                  <a:txBody>
                    <a:bodyPr/>
                    <a:lstStyle/>
                    <a:p>
                      <a:r>
                        <a:rPr lang="en-US" sz="1300" dirty="0"/>
                        <a:t>0</a:t>
                      </a:r>
                    </a:p>
                  </a:txBody>
                  <a:tcPr marL="64442" marR="64442" marT="32221" marB="32221"/>
                </a:tc>
                <a:extLst>
                  <a:ext uri="{0D108BD9-81ED-4DB2-BD59-A6C34878D82A}">
                    <a16:rowId xmlns:a16="http://schemas.microsoft.com/office/drawing/2014/main" val="2909897404"/>
                  </a:ext>
                </a:extLst>
              </a:tr>
              <a:tr h="260910">
                <a:tc>
                  <a:txBody>
                    <a:bodyPr/>
                    <a:lstStyle/>
                    <a:p>
                      <a:r>
                        <a:rPr lang="en-US" sz="1300" dirty="0">
                          <a:solidFill>
                            <a:srgbClr val="C00000"/>
                          </a:solidFill>
                        </a:rPr>
                        <a:t>B</a:t>
                      </a:r>
                    </a:p>
                  </a:txBody>
                  <a:tcPr marL="64442" marR="64442" marT="32221" marB="32221"/>
                </a:tc>
                <a:tc>
                  <a:txBody>
                    <a:bodyPr/>
                    <a:lstStyle/>
                    <a:p>
                      <a:r>
                        <a:rPr lang="en-US" sz="1300" dirty="0"/>
                        <a:t>1</a:t>
                      </a:r>
                    </a:p>
                  </a:txBody>
                  <a:tcPr marL="64442" marR="64442" marT="32221" marB="32221"/>
                </a:tc>
                <a:tc>
                  <a:txBody>
                    <a:bodyPr/>
                    <a:lstStyle/>
                    <a:p>
                      <a:r>
                        <a:rPr lang="en-US" sz="1300" dirty="0"/>
                        <a:t>0</a:t>
                      </a:r>
                    </a:p>
                  </a:txBody>
                  <a:tcPr marL="64442" marR="64442" marT="32221" marB="32221"/>
                </a:tc>
                <a:tc>
                  <a:txBody>
                    <a:bodyPr/>
                    <a:lstStyle/>
                    <a:p>
                      <a:r>
                        <a:rPr lang="en-US" sz="1300" dirty="0"/>
                        <a:t>1</a:t>
                      </a:r>
                    </a:p>
                  </a:txBody>
                  <a:tcPr marL="64442" marR="64442" marT="32221" marB="32221"/>
                </a:tc>
                <a:tc>
                  <a:txBody>
                    <a:bodyPr/>
                    <a:lstStyle/>
                    <a:p>
                      <a:r>
                        <a:rPr lang="en-US" sz="1300" dirty="0"/>
                        <a:t>0</a:t>
                      </a:r>
                    </a:p>
                  </a:txBody>
                  <a:tcPr marL="64442" marR="64442" marT="32221" marB="32221"/>
                </a:tc>
                <a:tc>
                  <a:txBody>
                    <a:bodyPr/>
                    <a:lstStyle/>
                    <a:p>
                      <a:r>
                        <a:rPr lang="en-US" sz="1300" dirty="0"/>
                        <a:t>1</a:t>
                      </a:r>
                    </a:p>
                  </a:txBody>
                  <a:tcPr marL="64442" marR="64442" marT="32221" marB="32221"/>
                </a:tc>
                <a:tc>
                  <a:txBody>
                    <a:bodyPr/>
                    <a:lstStyle/>
                    <a:p>
                      <a:r>
                        <a:rPr lang="en-US" sz="1300" dirty="0"/>
                        <a:t>1</a:t>
                      </a:r>
                    </a:p>
                  </a:txBody>
                  <a:tcPr marL="64442" marR="64442" marT="32221" marB="32221"/>
                </a:tc>
                <a:extLst>
                  <a:ext uri="{0D108BD9-81ED-4DB2-BD59-A6C34878D82A}">
                    <a16:rowId xmlns:a16="http://schemas.microsoft.com/office/drawing/2014/main" val="971040843"/>
                  </a:ext>
                </a:extLst>
              </a:tr>
              <a:tr h="260910">
                <a:tc>
                  <a:txBody>
                    <a:bodyPr/>
                    <a:lstStyle/>
                    <a:p>
                      <a:r>
                        <a:rPr lang="en-US" sz="1300" dirty="0">
                          <a:solidFill>
                            <a:srgbClr val="C00000"/>
                          </a:solidFill>
                        </a:rPr>
                        <a:t>C</a:t>
                      </a:r>
                    </a:p>
                  </a:txBody>
                  <a:tcPr marL="64442" marR="64442" marT="32221" marB="32221"/>
                </a:tc>
                <a:tc>
                  <a:txBody>
                    <a:bodyPr/>
                    <a:lstStyle/>
                    <a:p>
                      <a:r>
                        <a:rPr lang="en-US" sz="1300" dirty="0"/>
                        <a:t>0</a:t>
                      </a:r>
                    </a:p>
                  </a:txBody>
                  <a:tcPr marL="64442" marR="64442" marT="32221" marB="32221"/>
                </a:tc>
                <a:tc>
                  <a:txBody>
                    <a:bodyPr/>
                    <a:lstStyle/>
                    <a:p>
                      <a:r>
                        <a:rPr lang="en-US" sz="1300" dirty="0"/>
                        <a:t>1</a:t>
                      </a:r>
                    </a:p>
                  </a:txBody>
                  <a:tcPr marL="64442" marR="64442" marT="32221" marB="32221"/>
                </a:tc>
                <a:tc>
                  <a:txBody>
                    <a:bodyPr/>
                    <a:lstStyle/>
                    <a:p>
                      <a:r>
                        <a:rPr lang="en-US" sz="1300" dirty="0"/>
                        <a:t>0</a:t>
                      </a:r>
                    </a:p>
                  </a:txBody>
                  <a:tcPr marL="64442" marR="64442" marT="32221" marB="32221"/>
                </a:tc>
                <a:tc>
                  <a:txBody>
                    <a:bodyPr/>
                    <a:lstStyle/>
                    <a:p>
                      <a:r>
                        <a:rPr lang="en-US" sz="1300" dirty="0"/>
                        <a:t>1</a:t>
                      </a:r>
                    </a:p>
                  </a:txBody>
                  <a:tcPr marL="64442" marR="64442" marT="32221" marB="32221"/>
                </a:tc>
                <a:tc>
                  <a:txBody>
                    <a:bodyPr/>
                    <a:lstStyle/>
                    <a:p>
                      <a:r>
                        <a:rPr lang="en-US" sz="1300" dirty="0"/>
                        <a:t>0</a:t>
                      </a:r>
                    </a:p>
                  </a:txBody>
                  <a:tcPr marL="64442" marR="64442" marT="32221" marB="32221"/>
                </a:tc>
                <a:tc>
                  <a:txBody>
                    <a:bodyPr/>
                    <a:lstStyle/>
                    <a:p>
                      <a:r>
                        <a:rPr lang="en-US" sz="1300" dirty="0"/>
                        <a:t>0</a:t>
                      </a:r>
                    </a:p>
                  </a:txBody>
                  <a:tcPr marL="64442" marR="64442" marT="32221" marB="32221"/>
                </a:tc>
                <a:extLst>
                  <a:ext uri="{0D108BD9-81ED-4DB2-BD59-A6C34878D82A}">
                    <a16:rowId xmlns:a16="http://schemas.microsoft.com/office/drawing/2014/main" val="2028364179"/>
                  </a:ext>
                </a:extLst>
              </a:tr>
              <a:tr h="260910">
                <a:tc>
                  <a:txBody>
                    <a:bodyPr/>
                    <a:lstStyle/>
                    <a:p>
                      <a:r>
                        <a:rPr lang="en-US" sz="1300" dirty="0">
                          <a:solidFill>
                            <a:srgbClr val="C00000"/>
                          </a:solidFill>
                        </a:rPr>
                        <a:t>D</a:t>
                      </a:r>
                    </a:p>
                  </a:txBody>
                  <a:tcPr marL="64442" marR="64442" marT="32221" marB="32221"/>
                </a:tc>
                <a:tc>
                  <a:txBody>
                    <a:bodyPr/>
                    <a:lstStyle/>
                    <a:p>
                      <a:r>
                        <a:rPr lang="en-US" sz="1300" dirty="0"/>
                        <a:t>0</a:t>
                      </a:r>
                    </a:p>
                  </a:txBody>
                  <a:tcPr marL="64442" marR="64442" marT="32221" marB="32221"/>
                </a:tc>
                <a:tc>
                  <a:txBody>
                    <a:bodyPr/>
                    <a:lstStyle/>
                    <a:p>
                      <a:r>
                        <a:rPr lang="en-US" sz="1300" dirty="0"/>
                        <a:t>0</a:t>
                      </a:r>
                    </a:p>
                  </a:txBody>
                  <a:tcPr marL="64442" marR="64442" marT="32221" marB="32221"/>
                </a:tc>
                <a:tc>
                  <a:txBody>
                    <a:bodyPr/>
                    <a:lstStyle/>
                    <a:p>
                      <a:r>
                        <a:rPr lang="en-US" sz="1300" dirty="0"/>
                        <a:t>1</a:t>
                      </a:r>
                    </a:p>
                  </a:txBody>
                  <a:tcPr marL="64442" marR="64442" marT="32221" marB="32221"/>
                </a:tc>
                <a:tc>
                  <a:txBody>
                    <a:bodyPr/>
                    <a:lstStyle/>
                    <a:p>
                      <a:r>
                        <a:rPr lang="en-US" sz="1300" dirty="0"/>
                        <a:t>0</a:t>
                      </a:r>
                    </a:p>
                  </a:txBody>
                  <a:tcPr marL="64442" marR="64442" marT="32221" marB="32221"/>
                </a:tc>
                <a:tc>
                  <a:txBody>
                    <a:bodyPr/>
                    <a:lstStyle/>
                    <a:p>
                      <a:r>
                        <a:rPr lang="en-US" sz="1300" dirty="0"/>
                        <a:t>0</a:t>
                      </a:r>
                    </a:p>
                  </a:txBody>
                  <a:tcPr marL="64442" marR="64442" marT="32221" marB="32221"/>
                </a:tc>
                <a:tc>
                  <a:txBody>
                    <a:bodyPr/>
                    <a:lstStyle/>
                    <a:p>
                      <a:r>
                        <a:rPr lang="en-US" sz="1300" dirty="0"/>
                        <a:t>0</a:t>
                      </a:r>
                    </a:p>
                  </a:txBody>
                  <a:tcPr marL="64442" marR="64442" marT="32221" marB="32221"/>
                </a:tc>
                <a:extLst>
                  <a:ext uri="{0D108BD9-81ED-4DB2-BD59-A6C34878D82A}">
                    <a16:rowId xmlns:a16="http://schemas.microsoft.com/office/drawing/2014/main" val="351171483"/>
                  </a:ext>
                </a:extLst>
              </a:tr>
              <a:tr h="260910">
                <a:tc>
                  <a:txBody>
                    <a:bodyPr/>
                    <a:lstStyle/>
                    <a:p>
                      <a:r>
                        <a:rPr lang="en-US" sz="1300" dirty="0">
                          <a:solidFill>
                            <a:srgbClr val="C00000"/>
                          </a:solidFill>
                        </a:rPr>
                        <a:t>E</a:t>
                      </a:r>
                    </a:p>
                  </a:txBody>
                  <a:tcPr marL="64442" marR="64442" marT="32221" marB="32221"/>
                </a:tc>
                <a:tc>
                  <a:txBody>
                    <a:bodyPr/>
                    <a:lstStyle/>
                    <a:p>
                      <a:r>
                        <a:rPr lang="en-US" sz="1300" dirty="0"/>
                        <a:t>1</a:t>
                      </a:r>
                    </a:p>
                  </a:txBody>
                  <a:tcPr marL="64442" marR="64442" marT="32221" marB="32221"/>
                </a:tc>
                <a:tc>
                  <a:txBody>
                    <a:bodyPr/>
                    <a:lstStyle/>
                    <a:p>
                      <a:r>
                        <a:rPr lang="en-US" sz="1300" dirty="0"/>
                        <a:t>1</a:t>
                      </a:r>
                    </a:p>
                  </a:txBody>
                  <a:tcPr marL="64442" marR="64442" marT="32221" marB="32221"/>
                </a:tc>
                <a:tc>
                  <a:txBody>
                    <a:bodyPr/>
                    <a:lstStyle/>
                    <a:p>
                      <a:r>
                        <a:rPr lang="en-US" sz="1300" dirty="0"/>
                        <a:t>0</a:t>
                      </a:r>
                    </a:p>
                  </a:txBody>
                  <a:tcPr marL="64442" marR="64442" marT="32221" marB="32221"/>
                </a:tc>
                <a:tc>
                  <a:txBody>
                    <a:bodyPr/>
                    <a:lstStyle/>
                    <a:p>
                      <a:r>
                        <a:rPr lang="en-US" sz="1300" dirty="0"/>
                        <a:t>0</a:t>
                      </a:r>
                    </a:p>
                  </a:txBody>
                  <a:tcPr marL="64442" marR="64442" marT="32221" marB="32221"/>
                </a:tc>
                <a:tc>
                  <a:txBody>
                    <a:bodyPr/>
                    <a:lstStyle/>
                    <a:p>
                      <a:r>
                        <a:rPr lang="en-US" sz="1300" dirty="0"/>
                        <a:t>0</a:t>
                      </a:r>
                    </a:p>
                  </a:txBody>
                  <a:tcPr marL="64442" marR="64442" marT="32221" marB="32221"/>
                </a:tc>
                <a:tc>
                  <a:txBody>
                    <a:bodyPr/>
                    <a:lstStyle/>
                    <a:p>
                      <a:r>
                        <a:rPr lang="en-US" sz="1300" dirty="0"/>
                        <a:t>1</a:t>
                      </a:r>
                    </a:p>
                  </a:txBody>
                  <a:tcPr marL="64442" marR="64442" marT="32221" marB="32221"/>
                </a:tc>
                <a:extLst>
                  <a:ext uri="{0D108BD9-81ED-4DB2-BD59-A6C34878D82A}">
                    <a16:rowId xmlns:a16="http://schemas.microsoft.com/office/drawing/2014/main" val="4070842056"/>
                  </a:ext>
                </a:extLst>
              </a:tr>
              <a:tr h="260910">
                <a:tc>
                  <a:txBody>
                    <a:bodyPr/>
                    <a:lstStyle/>
                    <a:p>
                      <a:r>
                        <a:rPr lang="en-US" sz="1300" dirty="0">
                          <a:solidFill>
                            <a:srgbClr val="C00000"/>
                          </a:solidFill>
                        </a:rPr>
                        <a:t>F</a:t>
                      </a:r>
                    </a:p>
                  </a:txBody>
                  <a:tcPr marL="64442" marR="64442" marT="32221" marB="32221"/>
                </a:tc>
                <a:tc>
                  <a:txBody>
                    <a:bodyPr/>
                    <a:lstStyle/>
                    <a:p>
                      <a:r>
                        <a:rPr lang="en-US" sz="1300" dirty="0"/>
                        <a:t>0</a:t>
                      </a:r>
                    </a:p>
                  </a:txBody>
                  <a:tcPr marL="64442" marR="64442" marT="32221" marB="32221"/>
                </a:tc>
                <a:tc>
                  <a:txBody>
                    <a:bodyPr/>
                    <a:lstStyle/>
                    <a:p>
                      <a:r>
                        <a:rPr lang="en-US" sz="1300" dirty="0"/>
                        <a:t>1</a:t>
                      </a:r>
                    </a:p>
                  </a:txBody>
                  <a:tcPr marL="64442" marR="64442" marT="32221" marB="32221"/>
                </a:tc>
                <a:tc>
                  <a:txBody>
                    <a:bodyPr/>
                    <a:lstStyle/>
                    <a:p>
                      <a:r>
                        <a:rPr lang="en-US" sz="1300" dirty="0"/>
                        <a:t>0</a:t>
                      </a:r>
                    </a:p>
                  </a:txBody>
                  <a:tcPr marL="64442" marR="64442" marT="32221" marB="32221"/>
                </a:tc>
                <a:tc>
                  <a:txBody>
                    <a:bodyPr/>
                    <a:lstStyle/>
                    <a:p>
                      <a:r>
                        <a:rPr lang="en-US" sz="1300" dirty="0"/>
                        <a:t>0</a:t>
                      </a:r>
                    </a:p>
                  </a:txBody>
                  <a:tcPr marL="64442" marR="64442" marT="32221" marB="32221"/>
                </a:tc>
                <a:tc>
                  <a:txBody>
                    <a:bodyPr/>
                    <a:lstStyle/>
                    <a:p>
                      <a:r>
                        <a:rPr lang="en-US" sz="1300" dirty="0"/>
                        <a:t>1</a:t>
                      </a:r>
                    </a:p>
                  </a:txBody>
                  <a:tcPr marL="64442" marR="64442" marT="32221" marB="32221"/>
                </a:tc>
                <a:tc>
                  <a:txBody>
                    <a:bodyPr/>
                    <a:lstStyle/>
                    <a:p>
                      <a:r>
                        <a:rPr lang="en-US" sz="1300" dirty="0"/>
                        <a:t>0</a:t>
                      </a:r>
                    </a:p>
                  </a:txBody>
                  <a:tcPr marL="64442" marR="64442" marT="32221" marB="32221"/>
                </a:tc>
                <a:extLst>
                  <a:ext uri="{0D108BD9-81ED-4DB2-BD59-A6C34878D82A}">
                    <a16:rowId xmlns:a16="http://schemas.microsoft.com/office/drawing/2014/main" val="744535944"/>
                  </a:ext>
                </a:extLst>
              </a:tr>
            </a:tbl>
          </a:graphicData>
        </a:graphic>
      </p:graphicFrame>
      <p:sp>
        <p:nvSpPr>
          <p:cNvPr id="26" name="Arrow: Right 25">
            <a:extLst>
              <a:ext uri="{FF2B5EF4-FFF2-40B4-BE49-F238E27FC236}">
                <a16:creationId xmlns:a16="http://schemas.microsoft.com/office/drawing/2014/main" id="{0F1ECA4C-DED3-400E-AC0C-0F827C2DC9A2}"/>
              </a:ext>
            </a:extLst>
          </p:cNvPr>
          <p:cNvSpPr/>
          <p:nvPr/>
        </p:nvSpPr>
        <p:spPr>
          <a:xfrm rot="5400000">
            <a:off x="6771361" y="3726697"/>
            <a:ext cx="281592" cy="139480"/>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7" name="Table 39">
            <a:extLst>
              <a:ext uri="{FF2B5EF4-FFF2-40B4-BE49-F238E27FC236}">
                <a16:creationId xmlns:a16="http://schemas.microsoft.com/office/drawing/2014/main" id="{D44103EE-EB37-45E9-BD09-D9CAA8D1D2FD}"/>
              </a:ext>
            </a:extLst>
          </p:cNvPr>
          <p:cNvGraphicFramePr>
            <a:graphicFrameLocks noGrp="1"/>
          </p:cNvGraphicFramePr>
          <p:nvPr/>
        </p:nvGraphicFramePr>
        <p:xfrm>
          <a:off x="5891936" y="4131403"/>
          <a:ext cx="2293207" cy="1837934"/>
        </p:xfrm>
        <a:graphic>
          <a:graphicData uri="http://schemas.openxmlformats.org/drawingml/2006/table">
            <a:tbl>
              <a:tblPr bandRow="1">
                <a:tableStyleId>{5C22544A-7EE6-4342-B048-85BDC9FD1C3A}</a:tableStyleId>
              </a:tblPr>
              <a:tblGrid>
                <a:gridCol w="327601">
                  <a:extLst>
                    <a:ext uri="{9D8B030D-6E8A-4147-A177-3AD203B41FA5}">
                      <a16:colId xmlns:a16="http://schemas.microsoft.com/office/drawing/2014/main" val="1447693451"/>
                    </a:ext>
                  </a:extLst>
                </a:gridCol>
                <a:gridCol w="327601">
                  <a:extLst>
                    <a:ext uri="{9D8B030D-6E8A-4147-A177-3AD203B41FA5}">
                      <a16:colId xmlns:a16="http://schemas.microsoft.com/office/drawing/2014/main" val="2313149447"/>
                    </a:ext>
                  </a:extLst>
                </a:gridCol>
                <a:gridCol w="327601">
                  <a:extLst>
                    <a:ext uri="{9D8B030D-6E8A-4147-A177-3AD203B41FA5}">
                      <a16:colId xmlns:a16="http://schemas.microsoft.com/office/drawing/2014/main" val="13266568"/>
                    </a:ext>
                  </a:extLst>
                </a:gridCol>
                <a:gridCol w="327601">
                  <a:extLst>
                    <a:ext uri="{9D8B030D-6E8A-4147-A177-3AD203B41FA5}">
                      <a16:colId xmlns:a16="http://schemas.microsoft.com/office/drawing/2014/main" val="3351877584"/>
                    </a:ext>
                  </a:extLst>
                </a:gridCol>
                <a:gridCol w="327601">
                  <a:extLst>
                    <a:ext uri="{9D8B030D-6E8A-4147-A177-3AD203B41FA5}">
                      <a16:colId xmlns:a16="http://schemas.microsoft.com/office/drawing/2014/main" val="801952516"/>
                    </a:ext>
                  </a:extLst>
                </a:gridCol>
                <a:gridCol w="327601">
                  <a:extLst>
                    <a:ext uri="{9D8B030D-6E8A-4147-A177-3AD203B41FA5}">
                      <a16:colId xmlns:a16="http://schemas.microsoft.com/office/drawing/2014/main" val="2862379347"/>
                    </a:ext>
                  </a:extLst>
                </a:gridCol>
                <a:gridCol w="327601">
                  <a:extLst>
                    <a:ext uri="{9D8B030D-6E8A-4147-A177-3AD203B41FA5}">
                      <a16:colId xmlns:a16="http://schemas.microsoft.com/office/drawing/2014/main" val="1221256431"/>
                    </a:ext>
                  </a:extLst>
                </a:gridCol>
              </a:tblGrid>
              <a:tr h="260910">
                <a:tc>
                  <a:txBody>
                    <a:bodyPr/>
                    <a:lstStyle/>
                    <a:p>
                      <a:endParaRPr lang="en-US" sz="1300" dirty="0"/>
                    </a:p>
                  </a:txBody>
                  <a:tcPr marL="64442" marR="64442" marT="32221" marB="32221"/>
                </a:tc>
                <a:tc>
                  <a:txBody>
                    <a:bodyPr/>
                    <a:lstStyle/>
                    <a:p>
                      <a:r>
                        <a:rPr lang="en-US" sz="1300" dirty="0">
                          <a:solidFill>
                            <a:srgbClr val="C00000"/>
                          </a:solidFill>
                        </a:rPr>
                        <a:t>A</a:t>
                      </a:r>
                    </a:p>
                  </a:txBody>
                  <a:tcPr marL="64442" marR="64442" marT="32221" marB="32221"/>
                </a:tc>
                <a:tc>
                  <a:txBody>
                    <a:bodyPr/>
                    <a:lstStyle/>
                    <a:p>
                      <a:r>
                        <a:rPr lang="en-US" sz="1300" dirty="0">
                          <a:solidFill>
                            <a:srgbClr val="C00000"/>
                          </a:solidFill>
                        </a:rPr>
                        <a:t>B</a:t>
                      </a:r>
                    </a:p>
                  </a:txBody>
                  <a:tcPr marL="64442" marR="64442" marT="32221" marB="32221"/>
                </a:tc>
                <a:tc>
                  <a:txBody>
                    <a:bodyPr/>
                    <a:lstStyle/>
                    <a:p>
                      <a:r>
                        <a:rPr lang="en-US" sz="1300" dirty="0">
                          <a:solidFill>
                            <a:srgbClr val="C00000"/>
                          </a:solidFill>
                        </a:rPr>
                        <a:t>C</a:t>
                      </a:r>
                    </a:p>
                  </a:txBody>
                  <a:tcPr marL="64442" marR="64442" marT="32221" marB="32221"/>
                </a:tc>
                <a:tc>
                  <a:txBody>
                    <a:bodyPr/>
                    <a:lstStyle/>
                    <a:p>
                      <a:r>
                        <a:rPr lang="en-US" sz="1300" dirty="0">
                          <a:solidFill>
                            <a:srgbClr val="C00000"/>
                          </a:solidFill>
                        </a:rPr>
                        <a:t>D</a:t>
                      </a:r>
                    </a:p>
                  </a:txBody>
                  <a:tcPr marL="64442" marR="64442" marT="32221" marB="32221"/>
                </a:tc>
                <a:tc>
                  <a:txBody>
                    <a:bodyPr/>
                    <a:lstStyle/>
                    <a:p>
                      <a:r>
                        <a:rPr lang="en-US" sz="1300" dirty="0">
                          <a:solidFill>
                            <a:srgbClr val="C00000"/>
                          </a:solidFill>
                        </a:rPr>
                        <a:t>E</a:t>
                      </a:r>
                    </a:p>
                  </a:txBody>
                  <a:tcPr marL="64442" marR="64442" marT="32221" marB="32221"/>
                </a:tc>
                <a:tc>
                  <a:txBody>
                    <a:bodyPr/>
                    <a:lstStyle/>
                    <a:p>
                      <a:r>
                        <a:rPr lang="en-US" sz="1300" dirty="0">
                          <a:solidFill>
                            <a:srgbClr val="C00000"/>
                          </a:solidFill>
                        </a:rPr>
                        <a:t>F</a:t>
                      </a:r>
                    </a:p>
                  </a:txBody>
                  <a:tcPr marL="64442" marR="64442" marT="32221" marB="32221"/>
                </a:tc>
                <a:extLst>
                  <a:ext uri="{0D108BD9-81ED-4DB2-BD59-A6C34878D82A}">
                    <a16:rowId xmlns:a16="http://schemas.microsoft.com/office/drawing/2014/main" val="3134004646"/>
                  </a:ext>
                </a:extLst>
              </a:tr>
              <a:tr h="260910">
                <a:tc>
                  <a:txBody>
                    <a:bodyPr/>
                    <a:lstStyle/>
                    <a:p>
                      <a:r>
                        <a:rPr lang="en-US" sz="1300" dirty="0">
                          <a:solidFill>
                            <a:srgbClr val="C00000"/>
                          </a:solidFill>
                        </a:rPr>
                        <a:t>A</a:t>
                      </a:r>
                    </a:p>
                  </a:txBody>
                  <a:tcPr marL="64442" marR="64442" marT="32221" marB="32221"/>
                </a:tc>
                <a:tc>
                  <a:txBody>
                    <a:bodyPr/>
                    <a:lstStyle/>
                    <a:p>
                      <a:r>
                        <a:rPr lang="en-US" sz="1300" dirty="0"/>
                        <a:t>2</a:t>
                      </a:r>
                    </a:p>
                  </a:txBody>
                  <a:tcPr marL="64442" marR="64442" marT="32221" marB="32221"/>
                </a:tc>
                <a:tc>
                  <a:txBody>
                    <a:bodyPr/>
                    <a:lstStyle/>
                    <a:p>
                      <a:r>
                        <a:rPr lang="en-US" sz="1300" dirty="0"/>
                        <a:t>0</a:t>
                      </a:r>
                    </a:p>
                  </a:txBody>
                  <a:tcPr marL="64442" marR="64442" marT="32221" marB="32221"/>
                </a:tc>
                <a:tc>
                  <a:txBody>
                    <a:bodyPr/>
                    <a:lstStyle/>
                    <a:p>
                      <a:r>
                        <a:rPr lang="en-US" sz="1300" dirty="0"/>
                        <a:t>0</a:t>
                      </a:r>
                    </a:p>
                  </a:txBody>
                  <a:tcPr marL="64442" marR="64442" marT="32221" marB="32221"/>
                </a:tc>
                <a:tc>
                  <a:txBody>
                    <a:bodyPr/>
                    <a:lstStyle/>
                    <a:p>
                      <a:r>
                        <a:rPr lang="en-US" sz="1300" dirty="0"/>
                        <a:t>0</a:t>
                      </a:r>
                    </a:p>
                  </a:txBody>
                  <a:tcPr marL="64442" marR="64442" marT="32221" marB="32221"/>
                </a:tc>
                <a:tc>
                  <a:txBody>
                    <a:bodyPr/>
                    <a:lstStyle/>
                    <a:p>
                      <a:r>
                        <a:rPr lang="en-US" sz="1300" dirty="0"/>
                        <a:t>0</a:t>
                      </a:r>
                    </a:p>
                  </a:txBody>
                  <a:tcPr marL="64442" marR="64442" marT="32221" marB="32221"/>
                </a:tc>
                <a:tc>
                  <a:txBody>
                    <a:bodyPr/>
                    <a:lstStyle/>
                    <a:p>
                      <a:r>
                        <a:rPr lang="en-US" sz="1300" dirty="0"/>
                        <a:t>0</a:t>
                      </a:r>
                    </a:p>
                  </a:txBody>
                  <a:tcPr marL="64442" marR="64442" marT="32221" marB="32221"/>
                </a:tc>
                <a:extLst>
                  <a:ext uri="{0D108BD9-81ED-4DB2-BD59-A6C34878D82A}">
                    <a16:rowId xmlns:a16="http://schemas.microsoft.com/office/drawing/2014/main" val="2909897404"/>
                  </a:ext>
                </a:extLst>
              </a:tr>
              <a:tr h="260910">
                <a:tc>
                  <a:txBody>
                    <a:bodyPr/>
                    <a:lstStyle/>
                    <a:p>
                      <a:r>
                        <a:rPr lang="en-US" sz="1300" dirty="0">
                          <a:solidFill>
                            <a:srgbClr val="C00000"/>
                          </a:solidFill>
                        </a:rPr>
                        <a:t>B</a:t>
                      </a:r>
                    </a:p>
                  </a:txBody>
                  <a:tcPr marL="64442" marR="64442" marT="32221" marB="32221"/>
                </a:tc>
                <a:tc>
                  <a:txBody>
                    <a:bodyPr/>
                    <a:lstStyle/>
                    <a:p>
                      <a:r>
                        <a:rPr lang="en-US" sz="1300" dirty="0"/>
                        <a:t>0</a:t>
                      </a:r>
                    </a:p>
                  </a:txBody>
                  <a:tcPr marL="64442" marR="64442" marT="32221" marB="32221"/>
                </a:tc>
                <a:tc>
                  <a:txBody>
                    <a:bodyPr/>
                    <a:lstStyle/>
                    <a:p>
                      <a:r>
                        <a:rPr lang="en-US" sz="1300" dirty="0"/>
                        <a:t>4</a:t>
                      </a:r>
                    </a:p>
                  </a:txBody>
                  <a:tcPr marL="64442" marR="64442" marT="32221" marB="32221"/>
                </a:tc>
                <a:tc>
                  <a:txBody>
                    <a:bodyPr/>
                    <a:lstStyle/>
                    <a:p>
                      <a:r>
                        <a:rPr lang="en-US" sz="1300" dirty="0"/>
                        <a:t>0</a:t>
                      </a:r>
                    </a:p>
                  </a:txBody>
                  <a:tcPr marL="64442" marR="64442" marT="32221" marB="32221"/>
                </a:tc>
                <a:tc>
                  <a:txBody>
                    <a:bodyPr/>
                    <a:lstStyle/>
                    <a:p>
                      <a:r>
                        <a:rPr lang="en-US" sz="1300" dirty="0"/>
                        <a:t>0</a:t>
                      </a:r>
                    </a:p>
                  </a:txBody>
                  <a:tcPr marL="64442" marR="64442" marT="32221" marB="32221"/>
                </a:tc>
                <a:tc>
                  <a:txBody>
                    <a:bodyPr/>
                    <a:lstStyle/>
                    <a:p>
                      <a:r>
                        <a:rPr lang="en-US" sz="1300" dirty="0"/>
                        <a:t>0</a:t>
                      </a:r>
                    </a:p>
                  </a:txBody>
                  <a:tcPr marL="64442" marR="64442" marT="32221" marB="32221"/>
                </a:tc>
                <a:tc>
                  <a:txBody>
                    <a:bodyPr/>
                    <a:lstStyle/>
                    <a:p>
                      <a:r>
                        <a:rPr lang="en-US" sz="1300" dirty="0"/>
                        <a:t>0</a:t>
                      </a:r>
                    </a:p>
                  </a:txBody>
                  <a:tcPr marL="64442" marR="64442" marT="32221" marB="32221"/>
                </a:tc>
                <a:extLst>
                  <a:ext uri="{0D108BD9-81ED-4DB2-BD59-A6C34878D82A}">
                    <a16:rowId xmlns:a16="http://schemas.microsoft.com/office/drawing/2014/main" val="971040843"/>
                  </a:ext>
                </a:extLst>
              </a:tr>
              <a:tr h="260910">
                <a:tc>
                  <a:txBody>
                    <a:bodyPr/>
                    <a:lstStyle/>
                    <a:p>
                      <a:r>
                        <a:rPr lang="en-US" sz="1300" dirty="0">
                          <a:solidFill>
                            <a:srgbClr val="C00000"/>
                          </a:solidFill>
                        </a:rPr>
                        <a:t>C</a:t>
                      </a:r>
                    </a:p>
                  </a:txBody>
                  <a:tcPr marL="64442" marR="64442" marT="32221" marB="32221"/>
                </a:tc>
                <a:tc>
                  <a:txBody>
                    <a:bodyPr/>
                    <a:lstStyle/>
                    <a:p>
                      <a:r>
                        <a:rPr lang="en-US" sz="1300" dirty="0"/>
                        <a:t>0</a:t>
                      </a:r>
                    </a:p>
                  </a:txBody>
                  <a:tcPr marL="64442" marR="64442" marT="32221" marB="32221"/>
                </a:tc>
                <a:tc>
                  <a:txBody>
                    <a:bodyPr/>
                    <a:lstStyle/>
                    <a:p>
                      <a:r>
                        <a:rPr lang="en-US" sz="1300" dirty="0"/>
                        <a:t>0</a:t>
                      </a:r>
                    </a:p>
                  </a:txBody>
                  <a:tcPr marL="64442" marR="64442" marT="32221" marB="32221"/>
                </a:tc>
                <a:tc>
                  <a:txBody>
                    <a:bodyPr/>
                    <a:lstStyle/>
                    <a:p>
                      <a:r>
                        <a:rPr lang="en-US" sz="1300" dirty="0"/>
                        <a:t>2</a:t>
                      </a:r>
                    </a:p>
                  </a:txBody>
                  <a:tcPr marL="64442" marR="64442" marT="32221" marB="32221"/>
                </a:tc>
                <a:tc>
                  <a:txBody>
                    <a:bodyPr/>
                    <a:lstStyle/>
                    <a:p>
                      <a:r>
                        <a:rPr lang="en-US" sz="1300" dirty="0"/>
                        <a:t>0</a:t>
                      </a:r>
                    </a:p>
                  </a:txBody>
                  <a:tcPr marL="64442" marR="64442" marT="32221" marB="32221"/>
                </a:tc>
                <a:tc>
                  <a:txBody>
                    <a:bodyPr/>
                    <a:lstStyle/>
                    <a:p>
                      <a:r>
                        <a:rPr lang="en-US" sz="1300" dirty="0"/>
                        <a:t>0</a:t>
                      </a:r>
                    </a:p>
                  </a:txBody>
                  <a:tcPr marL="64442" marR="64442" marT="32221" marB="32221"/>
                </a:tc>
                <a:tc>
                  <a:txBody>
                    <a:bodyPr/>
                    <a:lstStyle/>
                    <a:p>
                      <a:r>
                        <a:rPr lang="en-US" sz="1300" dirty="0"/>
                        <a:t>0</a:t>
                      </a:r>
                    </a:p>
                  </a:txBody>
                  <a:tcPr marL="64442" marR="64442" marT="32221" marB="32221"/>
                </a:tc>
                <a:extLst>
                  <a:ext uri="{0D108BD9-81ED-4DB2-BD59-A6C34878D82A}">
                    <a16:rowId xmlns:a16="http://schemas.microsoft.com/office/drawing/2014/main" val="2028364179"/>
                  </a:ext>
                </a:extLst>
              </a:tr>
              <a:tr h="260910">
                <a:tc>
                  <a:txBody>
                    <a:bodyPr/>
                    <a:lstStyle/>
                    <a:p>
                      <a:r>
                        <a:rPr lang="en-US" sz="1300" dirty="0">
                          <a:solidFill>
                            <a:srgbClr val="C00000"/>
                          </a:solidFill>
                        </a:rPr>
                        <a:t>D</a:t>
                      </a:r>
                    </a:p>
                  </a:txBody>
                  <a:tcPr marL="64442" marR="64442" marT="32221" marB="32221"/>
                </a:tc>
                <a:tc>
                  <a:txBody>
                    <a:bodyPr/>
                    <a:lstStyle/>
                    <a:p>
                      <a:r>
                        <a:rPr lang="en-US" sz="1300" dirty="0"/>
                        <a:t>0</a:t>
                      </a:r>
                    </a:p>
                  </a:txBody>
                  <a:tcPr marL="64442" marR="64442" marT="32221" marB="32221"/>
                </a:tc>
                <a:tc>
                  <a:txBody>
                    <a:bodyPr/>
                    <a:lstStyle/>
                    <a:p>
                      <a:r>
                        <a:rPr lang="en-US" sz="1300" dirty="0"/>
                        <a:t>0</a:t>
                      </a:r>
                    </a:p>
                  </a:txBody>
                  <a:tcPr marL="64442" marR="64442" marT="32221" marB="32221"/>
                </a:tc>
                <a:tc>
                  <a:txBody>
                    <a:bodyPr/>
                    <a:lstStyle/>
                    <a:p>
                      <a:r>
                        <a:rPr lang="en-US" sz="1300" dirty="0"/>
                        <a:t>0</a:t>
                      </a:r>
                    </a:p>
                  </a:txBody>
                  <a:tcPr marL="64442" marR="64442" marT="32221" marB="32221"/>
                </a:tc>
                <a:tc>
                  <a:txBody>
                    <a:bodyPr/>
                    <a:lstStyle/>
                    <a:p>
                      <a:r>
                        <a:rPr lang="en-US" sz="1300" dirty="0"/>
                        <a:t>1</a:t>
                      </a:r>
                    </a:p>
                  </a:txBody>
                  <a:tcPr marL="64442" marR="64442" marT="32221" marB="32221"/>
                </a:tc>
                <a:tc>
                  <a:txBody>
                    <a:bodyPr/>
                    <a:lstStyle/>
                    <a:p>
                      <a:r>
                        <a:rPr lang="en-US" sz="1300" dirty="0"/>
                        <a:t>0</a:t>
                      </a:r>
                    </a:p>
                  </a:txBody>
                  <a:tcPr marL="64442" marR="64442" marT="32221" marB="32221"/>
                </a:tc>
                <a:tc>
                  <a:txBody>
                    <a:bodyPr/>
                    <a:lstStyle/>
                    <a:p>
                      <a:r>
                        <a:rPr lang="en-US" sz="1300" dirty="0"/>
                        <a:t>0</a:t>
                      </a:r>
                    </a:p>
                  </a:txBody>
                  <a:tcPr marL="64442" marR="64442" marT="32221" marB="32221"/>
                </a:tc>
                <a:extLst>
                  <a:ext uri="{0D108BD9-81ED-4DB2-BD59-A6C34878D82A}">
                    <a16:rowId xmlns:a16="http://schemas.microsoft.com/office/drawing/2014/main" val="351171483"/>
                  </a:ext>
                </a:extLst>
              </a:tr>
              <a:tr h="260910">
                <a:tc>
                  <a:txBody>
                    <a:bodyPr/>
                    <a:lstStyle/>
                    <a:p>
                      <a:r>
                        <a:rPr lang="en-US" sz="1300" dirty="0">
                          <a:solidFill>
                            <a:srgbClr val="C00000"/>
                          </a:solidFill>
                        </a:rPr>
                        <a:t>E</a:t>
                      </a:r>
                    </a:p>
                  </a:txBody>
                  <a:tcPr marL="64442" marR="64442" marT="32221" marB="32221"/>
                </a:tc>
                <a:tc>
                  <a:txBody>
                    <a:bodyPr/>
                    <a:lstStyle/>
                    <a:p>
                      <a:r>
                        <a:rPr lang="en-US" sz="1300" dirty="0"/>
                        <a:t>0</a:t>
                      </a:r>
                    </a:p>
                  </a:txBody>
                  <a:tcPr marL="64442" marR="64442" marT="32221" marB="32221"/>
                </a:tc>
                <a:tc>
                  <a:txBody>
                    <a:bodyPr/>
                    <a:lstStyle/>
                    <a:p>
                      <a:r>
                        <a:rPr lang="en-US" sz="1300" dirty="0"/>
                        <a:t>0</a:t>
                      </a:r>
                    </a:p>
                  </a:txBody>
                  <a:tcPr marL="64442" marR="64442" marT="32221" marB="32221"/>
                </a:tc>
                <a:tc>
                  <a:txBody>
                    <a:bodyPr/>
                    <a:lstStyle/>
                    <a:p>
                      <a:r>
                        <a:rPr lang="en-US" sz="1300" dirty="0"/>
                        <a:t>0</a:t>
                      </a:r>
                    </a:p>
                  </a:txBody>
                  <a:tcPr marL="64442" marR="64442" marT="32221" marB="32221"/>
                </a:tc>
                <a:tc>
                  <a:txBody>
                    <a:bodyPr/>
                    <a:lstStyle/>
                    <a:p>
                      <a:r>
                        <a:rPr lang="en-US" sz="1300" dirty="0"/>
                        <a:t>0</a:t>
                      </a:r>
                    </a:p>
                  </a:txBody>
                  <a:tcPr marL="64442" marR="64442" marT="32221" marB="32221"/>
                </a:tc>
                <a:tc>
                  <a:txBody>
                    <a:bodyPr/>
                    <a:lstStyle/>
                    <a:p>
                      <a:r>
                        <a:rPr lang="en-US" sz="1300" dirty="0"/>
                        <a:t>3</a:t>
                      </a:r>
                    </a:p>
                  </a:txBody>
                  <a:tcPr marL="64442" marR="64442" marT="32221" marB="32221"/>
                </a:tc>
                <a:tc>
                  <a:txBody>
                    <a:bodyPr/>
                    <a:lstStyle/>
                    <a:p>
                      <a:r>
                        <a:rPr lang="en-US" sz="1300" dirty="0"/>
                        <a:t>0</a:t>
                      </a:r>
                    </a:p>
                  </a:txBody>
                  <a:tcPr marL="64442" marR="64442" marT="32221" marB="32221"/>
                </a:tc>
                <a:extLst>
                  <a:ext uri="{0D108BD9-81ED-4DB2-BD59-A6C34878D82A}">
                    <a16:rowId xmlns:a16="http://schemas.microsoft.com/office/drawing/2014/main" val="4070842056"/>
                  </a:ext>
                </a:extLst>
              </a:tr>
              <a:tr h="260910">
                <a:tc>
                  <a:txBody>
                    <a:bodyPr/>
                    <a:lstStyle/>
                    <a:p>
                      <a:r>
                        <a:rPr lang="en-US" sz="1300" dirty="0">
                          <a:solidFill>
                            <a:srgbClr val="C00000"/>
                          </a:solidFill>
                        </a:rPr>
                        <a:t>F</a:t>
                      </a:r>
                    </a:p>
                  </a:txBody>
                  <a:tcPr marL="64442" marR="64442" marT="32221" marB="32221"/>
                </a:tc>
                <a:tc>
                  <a:txBody>
                    <a:bodyPr/>
                    <a:lstStyle/>
                    <a:p>
                      <a:r>
                        <a:rPr lang="en-US" sz="1300" dirty="0"/>
                        <a:t>0</a:t>
                      </a:r>
                    </a:p>
                  </a:txBody>
                  <a:tcPr marL="64442" marR="64442" marT="32221" marB="32221"/>
                </a:tc>
                <a:tc>
                  <a:txBody>
                    <a:bodyPr/>
                    <a:lstStyle/>
                    <a:p>
                      <a:r>
                        <a:rPr lang="en-US" sz="1300" dirty="0"/>
                        <a:t>0</a:t>
                      </a:r>
                    </a:p>
                  </a:txBody>
                  <a:tcPr marL="64442" marR="64442" marT="32221" marB="32221"/>
                </a:tc>
                <a:tc>
                  <a:txBody>
                    <a:bodyPr/>
                    <a:lstStyle/>
                    <a:p>
                      <a:r>
                        <a:rPr lang="en-US" sz="1300" dirty="0"/>
                        <a:t>0</a:t>
                      </a:r>
                    </a:p>
                  </a:txBody>
                  <a:tcPr marL="64442" marR="64442" marT="32221" marB="32221"/>
                </a:tc>
                <a:tc>
                  <a:txBody>
                    <a:bodyPr/>
                    <a:lstStyle/>
                    <a:p>
                      <a:r>
                        <a:rPr lang="en-US" sz="1300" dirty="0"/>
                        <a:t>0</a:t>
                      </a:r>
                    </a:p>
                  </a:txBody>
                  <a:tcPr marL="64442" marR="64442" marT="32221" marB="32221"/>
                </a:tc>
                <a:tc>
                  <a:txBody>
                    <a:bodyPr/>
                    <a:lstStyle/>
                    <a:p>
                      <a:r>
                        <a:rPr lang="en-US" sz="1300" dirty="0"/>
                        <a:t>0</a:t>
                      </a:r>
                    </a:p>
                  </a:txBody>
                  <a:tcPr marL="64442" marR="64442" marT="32221" marB="32221"/>
                </a:tc>
                <a:tc>
                  <a:txBody>
                    <a:bodyPr/>
                    <a:lstStyle/>
                    <a:p>
                      <a:r>
                        <a:rPr lang="en-US" sz="1300" dirty="0"/>
                        <a:t>2</a:t>
                      </a:r>
                    </a:p>
                  </a:txBody>
                  <a:tcPr marL="64442" marR="64442" marT="32221" marB="32221"/>
                </a:tc>
                <a:extLst>
                  <a:ext uri="{0D108BD9-81ED-4DB2-BD59-A6C34878D82A}">
                    <a16:rowId xmlns:a16="http://schemas.microsoft.com/office/drawing/2014/main" val="744535944"/>
                  </a:ext>
                </a:extLst>
              </a:tr>
            </a:tbl>
          </a:graphicData>
        </a:graphic>
      </p:graphicFrame>
    </p:spTree>
    <p:extLst>
      <p:ext uri="{BB962C8B-B14F-4D97-AF65-F5344CB8AC3E}">
        <p14:creationId xmlns:p14="http://schemas.microsoft.com/office/powerpoint/2010/main" val="414072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2582FCE9-111E-4C83-B9E0-1692B21CF001}"/>
              </a:ext>
            </a:extLst>
          </p:cNvPr>
          <p:cNvSpPr txBox="1">
            <a:spLocks/>
          </p:cNvSpPr>
          <p:nvPr/>
        </p:nvSpPr>
        <p:spPr>
          <a:xfrm>
            <a:off x="838199" y="291090"/>
            <a:ext cx="10515599" cy="93268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Linux Libertine" panose="02000503000000000000" pitchFamily="2" charset="0"/>
                <a:ea typeface="Linux Libertine" panose="02000503000000000000" pitchFamily="2" charset="0"/>
                <a:cs typeface="Linux Libertine" panose="02000503000000000000" pitchFamily="2" charset="0"/>
              </a:defRPr>
            </a:lvl1pPr>
          </a:lstStyle>
          <a:p>
            <a:pPr>
              <a:spcAft>
                <a:spcPts val="600"/>
              </a:spcAft>
            </a:pPr>
            <a:r>
              <a:rPr lang="en-US" sz="4200" dirty="0">
                <a:latin typeface="+mj-lt"/>
                <a:ea typeface="+mj-ea"/>
                <a:cs typeface="+mj-cs"/>
              </a:rPr>
              <a:t>2</a:t>
            </a:r>
            <a:r>
              <a:rPr lang="en-US" sz="4200" kern="1200" dirty="0">
                <a:solidFill>
                  <a:schemeClr val="tx1"/>
                </a:solidFill>
                <a:latin typeface="+mj-lt"/>
                <a:ea typeface="+mj-ea"/>
                <a:cs typeface="+mj-cs"/>
              </a:rPr>
              <a:t>. Background: What is a knowledge graph?</a:t>
            </a:r>
          </a:p>
        </p:txBody>
      </p:sp>
      <p:pic>
        <p:nvPicPr>
          <p:cNvPr id="9" name="Picture 8" descr="Graphical user interface, chart, bubble chart&#10;&#10;Description automatically generated">
            <a:extLst>
              <a:ext uri="{FF2B5EF4-FFF2-40B4-BE49-F238E27FC236}">
                <a16:creationId xmlns:a16="http://schemas.microsoft.com/office/drawing/2014/main" id="{7C6C08F2-09D3-4F7C-A86C-8020A0B80A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45337" y="1863801"/>
            <a:ext cx="5901324" cy="4440746"/>
          </a:xfrm>
          <a:prstGeom prst="rect">
            <a:avLst/>
          </a:prstGeom>
        </p:spPr>
      </p:pic>
      <p:sp>
        <p:nvSpPr>
          <p:cNvPr id="2" name="Date Placeholder 1">
            <a:extLst>
              <a:ext uri="{FF2B5EF4-FFF2-40B4-BE49-F238E27FC236}">
                <a16:creationId xmlns:a16="http://schemas.microsoft.com/office/drawing/2014/main" id="{348F69A4-CBCC-464C-882C-93FEA4D5CC9A}"/>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a:spcAft>
                <a:spcPts val="600"/>
              </a:spcAft>
            </a:pPr>
            <a:fld id="{C1FFE036-1B22-46FC-8A87-65388E31D917}" type="datetime1">
              <a:rPr lang="en-US" smtClean="0">
                <a:latin typeface="+mn-lt"/>
                <a:ea typeface="+mn-ea"/>
                <a:cs typeface="+mn-cs"/>
              </a:rPr>
              <a:pPr>
                <a:spcAft>
                  <a:spcPts val="600"/>
                </a:spcAft>
              </a:pPr>
              <a:t>12/7/2021</a:t>
            </a:fld>
            <a:endParaRPr lang="en-US" dirty="0">
              <a:latin typeface="+mn-lt"/>
              <a:ea typeface="+mn-ea"/>
              <a:cs typeface="+mn-cs"/>
            </a:endParaRPr>
          </a:p>
        </p:txBody>
      </p:sp>
      <p:sp>
        <p:nvSpPr>
          <p:cNvPr id="3" name="Footer Placeholder 2">
            <a:extLst>
              <a:ext uri="{FF2B5EF4-FFF2-40B4-BE49-F238E27FC236}">
                <a16:creationId xmlns:a16="http://schemas.microsoft.com/office/drawing/2014/main" id="{FDD3D8AD-D959-400C-9C58-ED7FB3E61887}"/>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r>
              <a:rPr lang="en-US" dirty="0"/>
              <a:t>Masters Project - Ebeid - Fall 2021</a:t>
            </a:r>
          </a:p>
        </p:txBody>
      </p:sp>
      <p:sp>
        <p:nvSpPr>
          <p:cNvPr id="4" name="Slide Number Placeholder 3">
            <a:extLst>
              <a:ext uri="{FF2B5EF4-FFF2-40B4-BE49-F238E27FC236}">
                <a16:creationId xmlns:a16="http://schemas.microsoft.com/office/drawing/2014/main" id="{DB38BCD4-D4B4-4DC0-96CF-9F4FF85B46F8}"/>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5A99AF73-65C2-407A-B44B-DB0F62C2405F}" type="slidenum">
              <a:rPr lang="en-US" smtClean="0">
                <a:latin typeface="+mn-lt"/>
                <a:ea typeface="+mn-ea"/>
                <a:cs typeface="+mn-cs"/>
              </a:rPr>
              <a:pPr>
                <a:spcAft>
                  <a:spcPts val="600"/>
                </a:spcAft>
              </a:pPr>
              <a:t>11</a:t>
            </a:fld>
            <a:endParaRPr lang="en-US">
              <a:latin typeface="+mn-lt"/>
              <a:ea typeface="+mn-ea"/>
              <a:cs typeface="+mn-cs"/>
            </a:endParaRPr>
          </a:p>
        </p:txBody>
      </p:sp>
      <p:sp>
        <p:nvSpPr>
          <p:cNvPr id="10" name="TextBox 9">
            <a:extLst>
              <a:ext uri="{FF2B5EF4-FFF2-40B4-BE49-F238E27FC236}">
                <a16:creationId xmlns:a16="http://schemas.microsoft.com/office/drawing/2014/main" id="{FC8E814F-E36B-4582-A14E-4ABF6876A693}"/>
              </a:ext>
            </a:extLst>
          </p:cNvPr>
          <p:cNvSpPr txBox="1"/>
          <p:nvPr/>
        </p:nvSpPr>
        <p:spPr>
          <a:xfrm>
            <a:off x="428262" y="1863801"/>
            <a:ext cx="3761773" cy="2031325"/>
          </a:xfrm>
          <a:prstGeom prst="rect">
            <a:avLst/>
          </a:prstGeom>
          <a:noFill/>
        </p:spPr>
        <p:txBody>
          <a:bodyPr wrap="square" rtlCol="0">
            <a:spAutoFit/>
          </a:bodyPr>
          <a:lstStyle/>
          <a:p>
            <a:r>
              <a:rPr lang="en-US" sz="1800" dirty="0">
                <a:effectLst/>
                <a:latin typeface="Linux Libertine" panose="02000503000000000000" pitchFamily="2" charset="0"/>
                <a:ea typeface="Calibri" panose="020F0502020204030204" pitchFamily="34" charset="0"/>
                <a:cs typeface="Times New Roman" panose="02020603050405020304" pitchFamily="18" charset="0"/>
              </a:rPr>
              <a:t>&lt;“Animals”, “is”, “Living Thing”&gt;</a:t>
            </a:r>
          </a:p>
          <a:p>
            <a:r>
              <a:rPr lang="en-US" sz="1800" dirty="0">
                <a:effectLst/>
                <a:latin typeface="Linux Libertine" panose="02000503000000000000" pitchFamily="2" charset="0"/>
                <a:ea typeface="Calibri" panose="020F0502020204030204" pitchFamily="34" charset="0"/>
                <a:cs typeface="Times New Roman" panose="02020603050405020304" pitchFamily="18" charset="0"/>
              </a:rPr>
              <a:t>&lt;“Plants”, “is”, “Living Thing”&gt;</a:t>
            </a:r>
            <a:endParaRPr lang="en-US" dirty="0">
              <a:latin typeface="Linux Libertine" panose="02000503000000000000" pitchFamily="2" charset="0"/>
              <a:ea typeface="Calibri" panose="020F0502020204030204" pitchFamily="34" charset="0"/>
              <a:cs typeface="Times New Roman" panose="02020603050405020304" pitchFamily="18" charset="0"/>
            </a:endParaRPr>
          </a:p>
          <a:p>
            <a:r>
              <a:rPr lang="en-US" sz="1800" dirty="0">
                <a:effectLst/>
                <a:latin typeface="Linux Libertine" panose="02000503000000000000" pitchFamily="2" charset="0"/>
                <a:ea typeface="Calibri" panose="020F0502020204030204" pitchFamily="34" charset="0"/>
                <a:cs typeface="Times New Roman" panose="02020603050405020304" pitchFamily="18" charset="0"/>
              </a:rPr>
              <a:t>&lt;“Dogs”, “is”, “Animals”&gt;</a:t>
            </a:r>
          </a:p>
          <a:p>
            <a:r>
              <a:rPr lang="en-US" sz="1800" dirty="0">
                <a:effectLst/>
                <a:latin typeface="Linux Libertine" panose="02000503000000000000" pitchFamily="2" charset="0"/>
                <a:ea typeface="Calibri" panose="020F0502020204030204" pitchFamily="34" charset="0"/>
                <a:cs typeface="Times New Roman" panose="02020603050405020304" pitchFamily="18" charset="0"/>
              </a:rPr>
              <a:t>&lt;“Cows”, “is”, “Animals”&gt;</a:t>
            </a:r>
            <a:endParaRPr lang="en-US" dirty="0">
              <a:latin typeface="Linux Libertine" panose="02000503000000000000" pitchFamily="2" charset="0"/>
              <a:ea typeface="Calibri" panose="020F0502020204030204" pitchFamily="34" charset="0"/>
              <a:cs typeface="Times New Roman" panose="02020603050405020304" pitchFamily="18" charset="0"/>
            </a:endParaRPr>
          </a:p>
          <a:p>
            <a:r>
              <a:rPr lang="en-US" sz="1800" dirty="0">
                <a:effectLst/>
                <a:latin typeface="Linux Libertine" panose="02000503000000000000" pitchFamily="2" charset="0"/>
                <a:ea typeface="Calibri" panose="020F0502020204030204" pitchFamily="34" charset="0"/>
                <a:cs typeface="Times New Roman" panose="02020603050405020304" pitchFamily="18" charset="0"/>
              </a:rPr>
              <a:t>&lt;“Cows”, “eat”, “Herbs”&gt;</a:t>
            </a:r>
          </a:p>
          <a:p>
            <a:r>
              <a:rPr lang="en-US" sz="1800" dirty="0">
                <a:effectLst/>
                <a:latin typeface="Linux Libertine" panose="02000503000000000000" pitchFamily="2" charset="0"/>
                <a:ea typeface="Calibri" panose="020F0502020204030204" pitchFamily="34" charset="0"/>
                <a:cs typeface="Times New Roman" panose="02020603050405020304" pitchFamily="18" charset="0"/>
              </a:rPr>
              <a:t>&lt;“Herbs”, “is”, “Plants”&gt;</a:t>
            </a:r>
            <a:endParaRPr lang="en-US" dirty="0"/>
          </a:p>
          <a:p>
            <a:r>
              <a:rPr lang="en-US" sz="1800" dirty="0">
                <a:effectLst/>
                <a:latin typeface="Linux Libertine" panose="02000503000000000000" pitchFamily="2" charset="0"/>
                <a:ea typeface="Calibri" panose="020F0502020204030204" pitchFamily="34" charset="0"/>
                <a:cs typeface="Times New Roman" panose="02020603050405020304" pitchFamily="18" charset="0"/>
              </a:rPr>
              <a:t>&lt;“Plants”, “is”, “Living Thing”&gt;</a:t>
            </a:r>
            <a:endParaRPr lang="en-US" dirty="0"/>
          </a:p>
        </p:txBody>
      </p:sp>
    </p:spTree>
    <p:extLst>
      <p:ext uri="{BB962C8B-B14F-4D97-AF65-F5344CB8AC3E}">
        <p14:creationId xmlns:p14="http://schemas.microsoft.com/office/powerpoint/2010/main" val="30919548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D621648-49D4-4B82-A87B-5E8FC86A7A86}"/>
              </a:ext>
            </a:extLst>
          </p:cNvPr>
          <p:cNvSpPr>
            <a:spLocks noGrp="1"/>
          </p:cNvSpPr>
          <p:nvPr>
            <p:ph type="dt" sz="half" idx="10"/>
          </p:nvPr>
        </p:nvSpPr>
        <p:spPr/>
        <p:txBody>
          <a:bodyPr/>
          <a:lstStyle/>
          <a:p>
            <a:fld id="{C1FFE036-1B22-46FC-8A87-65388E31D917}" type="datetime1">
              <a:rPr lang="en-US" smtClean="0"/>
              <a:t>12/7/2021</a:t>
            </a:fld>
            <a:endParaRPr lang="en-US"/>
          </a:p>
        </p:txBody>
      </p:sp>
      <p:sp>
        <p:nvSpPr>
          <p:cNvPr id="3" name="Footer Placeholder 2">
            <a:extLst>
              <a:ext uri="{FF2B5EF4-FFF2-40B4-BE49-F238E27FC236}">
                <a16:creationId xmlns:a16="http://schemas.microsoft.com/office/drawing/2014/main" id="{050F6762-4746-4867-97A7-0225277D7B42}"/>
              </a:ext>
            </a:extLst>
          </p:cNvPr>
          <p:cNvSpPr>
            <a:spLocks noGrp="1"/>
          </p:cNvSpPr>
          <p:nvPr>
            <p:ph type="ftr" sz="quarter" idx="11"/>
          </p:nvPr>
        </p:nvSpPr>
        <p:spPr/>
        <p:txBody>
          <a:bodyPr/>
          <a:lstStyle/>
          <a:p>
            <a:r>
              <a:rPr lang="en-US" dirty="0"/>
              <a:t>Masters Project - Ebeid - Fall 2021</a:t>
            </a:r>
          </a:p>
        </p:txBody>
      </p:sp>
      <p:sp>
        <p:nvSpPr>
          <p:cNvPr id="4" name="Slide Number Placeholder 3">
            <a:extLst>
              <a:ext uri="{FF2B5EF4-FFF2-40B4-BE49-F238E27FC236}">
                <a16:creationId xmlns:a16="http://schemas.microsoft.com/office/drawing/2014/main" id="{A8417179-92AF-4E38-AFFA-67698006F017}"/>
              </a:ext>
            </a:extLst>
          </p:cNvPr>
          <p:cNvSpPr>
            <a:spLocks noGrp="1"/>
          </p:cNvSpPr>
          <p:nvPr>
            <p:ph type="sldNum" sz="quarter" idx="12"/>
          </p:nvPr>
        </p:nvSpPr>
        <p:spPr/>
        <p:txBody>
          <a:bodyPr/>
          <a:lstStyle/>
          <a:p>
            <a:fld id="{5A99AF73-65C2-407A-B44B-DB0F62C2405F}" type="slidenum">
              <a:rPr lang="en-US" smtClean="0"/>
              <a:t>12</a:t>
            </a:fld>
            <a:endParaRPr lang="en-US"/>
          </a:p>
        </p:txBody>
      </p:sp>
      <p:sp>
        <p:nvSpPr>
          <p:cNvPr id="5" name="Title 1">
            <a:extLst>
              <a:ext uri="{FF2B5EF4-FFF2-40B4-BE49-F238E27FC236}">
                <a16:creationId xmlns:a16="http://schemas.microsoft.com/office/drawing/2014/main" id="{061EB070-E5EB-475F-9682-4C08AE7B8CD5}"/>
              </a:ext>
            </a:extLst>
          </p:cNvPr>
          <p:cNvSpPr txBox="1">
            <a:spLocks/>
          </p:cNvSpPr>
          <p:nvPr/>
        </p:nvSpPr>
        <p:spPr>
          <a:xfrm>
            <a:off x="838199" y="291090"/>
            <a:ext cx="10515599" cy="932688"/>
          </a:xfrm>
          <a:prstGeom prst="rect">
            <a:avLst/>
          </a:prstGeom>
        </p:spPr>
        <p:txBody>
          <a:bodyPr vert="horz" lIns="91440" tIns="45720" rIns="91440" bIns="45720" rtlCol="0" anchor="b">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Linux Libertine" panose="02000503000000000000" pitchFamily="2" charset="0"/>
                <a:ea typeface="Linux Libertine" panose="02000503000000000000" pitchFamily="2" charset="0"/>
                <a:cs typeface="Linux Libertine" panose="02000503000000000000" pitchFamily="2" charset="0"/>
              </a:defRPr>
            </a:lvl1pPr>
          </a:lstStyle>
          <a:p>
            <a:pPr>
              <a:spcAft>
                <a:spcPts val="600"/>
              </a:spcAft>
            </a:pPr>
            <a:r>
              <a:rPr lang="en-US" sz="4200" dirty="0">
                <a:latin typeface="+mj-lt"/>
                <a:ea typeface="+mj-ea"/>
                <a:cs typeface="+mj-cs"/>
              </a:rPr>
              <a:t>2</a:t>
            </a:r>
            <a:r>
              <a:rPr lang="en-US" sz="4200" kern="1200" dirty="0">
                <a:solidFill>
                  <a:schemeClr val="tx1"/>
                </a:solidFill>
                <a:latin typeface="+mj-lt"/>
                <a:ea typeface="+mj-ea"/>
                <a:cs typeface="+mj-cs"/>
              </a:rPr>
              <a:t>. Background: Knowledge graph embedding and similarity</a:t>
            </a:r>
          </a:p>
        </p:txBody>
      </p:sp>
      <p:sp>
        <p:nvSpPr>
          <p:cNvPr id="26" name="Oval 25">
            <a:extLst>
              <a:ext uri="{FF2B5EF4-FFF2-40B4-BE49-F238E27FC236}">
                <a16:creationId xmlns:a16="http://schemas.microsoft.com/office/drawing/2014/main" id="{A8DF8A0D-9FF3-4926-9C84-F2493BFA6663}"/>
              </a:ext>
            </a:extLst>
          </p:cNvPr>
          <p:cNvSpPr/>
          <p:nvPr/>
        </p:nvSpPr>
        <p:spPr>
          <a:xfrm>
            <a:off x="2466286" y="1370814"/>
            <a:ext cx="619665" cy="3911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27" name="Oval 26">
            <a:extLst>
              <a:ext uri="{FF2B5EF4-FFF2-40B4-BE49-F238E27FC236}">
                <a16:creationId xmlns:a16="http://schemas.microsoft.com/office/drawing/2014/main" id="{8596C382-38E8-4C53-824F-9D0AB78E41FA}"/>
              </a:ext>
            </a:extLst>
          </p:cNvPr>
          <p:cNvSpPr/>
          <p:nvPr/>
        </p:nvSpPr>
        <p:spPr>
          <a:xfrm>
            <a:off x="2881618" y="3935835"/>
            <a:ext cx="619665" cy="3911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28" name="Oval 27">
            <a:extLst>
              <a:ext uri="{FF2B5EF4-FFF2-40B4-BE49-F238E27FC236}">
                <a16:creationId xmlns:a16="http://schemas.microsoft.com/office/drawing/2014/main" id="{1890451F-AF8A-499C-8EE2-7D86A60C4C89}"/>
              </a:ext>
            </a:extLst>
          </p:cNvPr>
          <p:cNvSpPr/>
          <p:nvPr/>
        </p:nvSpPr>
        <p:spPr>
          <a:xfrm>
            <a:off x="3038212" y="2488035"/>
            <a:ext cx="619665" cy="3911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29" name="Oval 28">
            <a:extLst>
              <a:ext uri="{FF2B5EF4-FFF2-40B4-BE49-F238E27FC236}">
                <a16:creationId xmlns:a16="http://schemas.microsoft.com/office/drawing/2014/main" id="{E8BC0D86-3274-40B3-8AD4-3AD41B2B44DB}"/>
              </a:ext>
            </a:extLst>
          </p:cNvPr>
          <p:cNvSpPr/>
          <p:nvPr/>
        </p:nvSpPr>
        <p:spPr>
          <a:xfrm>
            <a:off x="3978694" y="1953717"/>
            <a:ext cx="619665" cy="3911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0" name="Oval 29">
            <a:extLst>
              <a:ext uri="{FF2B5EF4-FFF2-40B4-BE49-F238E27FC236}">
                <a16:creationId xmlns:a16="http://schemas.microsoft.com/office/drawing/2014/main" id="{0B881C16-EAB6-47BF-98F6-FCB619BCD026}"/>
              </a:ext>
            </a:extLst>
          </p:cNvPr>
          <p:cNvSpPr/>
          <p:nvPr/>
        </p:nvSpPr>
        <p:spPr>
          <a:xfrm>
            <a:off x="4507611" y="2912378"/>
            <a:ext cx="619665" cy="3911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31" name="Oval 30">
            <a:extLst>
              <a:ext uri="{FF2B5EF4-FFF2-40B4-BE49-F238E27FC236}">
                <a16:creationId xmlns:a16="http://schemas.microsoft.com/office/drawing/2014/main" id="{B5E0F70A-3638-4989-B405-49A534D823E8}"/>
              </a:ext>
            </a:extLst>
          </p:cNvPr>
          <p:cNvSpPr/>
          <p:nvPr/>
        </p:nvSpPr>
        <p:spPr>
          <a:xfrm>
            <a:off x="5504576" y="1317596"/>
            <a:ext cx="619665" cy="3911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cxnSp>
        <p:nvCxnSpPr>
          <p:cNvPr id="32" name="Straight Connector 31">
            <a:extLst>
              <a:ext uri="{FF2B5EF4-FFF2-40B4-BE49-F238E27FC236}">
                <a16:creationId xmlns:a16="http://schemas.microsoft.com/office/drawing/2014/main" id="{4CA36083-F418-4CC2-8B8D-ADF56194B970}"/>
              </a:ext>
            </a:extLst>
          </p:cNvPr>
          <p:cNvCxnSpPr>
            <a:stCxn id="26" idx="5"/>
            <a:endCxn id="28" idx="1"/>
          </p:cNvCxnSpPr>
          <p:nvPr/>
        </p:nvCxnSpPr>
        <p:spPr>
          <a:xfrm>
            <a:off x="2995203" y="1704669"/>
            <a:ext cx="133757" cy="840647"/>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790EEE9-CEBE-4F50-AACF-F35D4C34C62F}"/>
              </a:ext>
            </a:extLst>
          </p:cNvPr>
          <p:cNvCxnSpPr>
            <a:stCxn id="26" idx="6"/>
            <a:endCxn id="29" idx="2"/>
          </p:cNvCxnSpPr>
          <p:nvPr/>
        </p:nvCxnSpPr>
        <p:spPr>
          <a:xfrm>
            <a:off x="3085951" y="1566382"/>
            <a:ext cx="892743" cy="582903"/>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F0E1F449-4D57-4588-BBCD-D0D58F4E6634}"/>
              </a:ext>
            </a:extLst>
          </p:cNvPr>
          <p:cNvCxnSpPr>
            <a:stCxn id="29" idx="6"/>
            <a:endCxn id="31" idx="2"/>
          </p:cNvCxnSpPr>
          <p:nvPr/>
        </p:nvCxnSpPr>
        <p:spPr>
          <a:xfrm flipV="1">
            <a:off x="4598359" y="1513164"/>
            <a:ext cx="906217" cy="636121"/>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ACC653F5-762D-4C40-90DE-73CD52C24365}"/>
              </a:ext>
            </a:extLst>
          </p:cNvPr>
          <p:cNvCxnSpPr>
            <a:stCxn id="31" idx="4"/>
            <a:endCxn id="30" idx="0"/>
          </p:cNvCxnSpPr>
          <p:nvPr/>
        </p:nvCxnSpPr>
        <p:spPr>
          <a:xfrm flipH="1">
            <a:off x="4817444" y="1708732"/>
            <a:ext cx="996965" cy="1203646"/>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CA5A2A68-0E87-4779-B9FC-930C76351D2D}"/>
              </a:ext>
            </a:extLst>
          </p:cNvPr>
          <p:cNvCxnSpPr>
            <a:stCxn id="28" idx="4"/>
            <a:endCxn id="27" idx="0"/>
          </p:cNvCxnSpPr>
          <p:nvPr/>
        </p:nvCxnSpPr>
        <p:spPr>
          <a:xfrm flipH="1">
            <a:off x="3191451" y="2879171"/>
            <a:ext cx="156594" cy="1056664"/>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3456DE90-986E-4DA6-A44B-A0019ACCB323}"/>
              </a:ext>
            </a:extLst>
          </p:cNvPr>
          <p:cNvCxnSpPr>
            <a:stCxn id="29" idx="4"/>
            <a:endCxn id="28" idx="6"/>
          </p:cNvCxnSpPr>
          <p:nvPr/>
        </p:nvCxnSpPr>
        <p:spPr>
          <a:xfrm flipH="1">
            <a:off x="3657877" y="2344853"/>
            <a:ext cx="630650" cy="338750"/>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846B3779-71D1-461C-B0B6-53D4F406D821}"/>
              </a:ext>
            </a:extLst>
          </p:cNvPr>
          <p:cNvCxnSpPr>
            <a:stCxn id="29" idx="5"/>
            <a:endCxn id="27" idx="6"/>
          </p:cNvCxnSpPr>
          <p:nvPr/>
        </p:nvCxnSpPr>
        <p:spPr>
          <a:xfrm flipH="1">
            <a:off x="3501283" y="2287572"/>
            <a:ext cx="1006328" cy="1843831"/>
          </a:xfrm>
          <a:prstGeom prst="line">
            <a:avLst/>
          </a:prstGeom>
        </p:spPr>
        <p:style>
          <a:lnRef idx="1">
            <a:schemeClr val="accent1"/>
          </a:lnRef>
          <a:fillRef idx="0">
            <a:schemeClr val="accent1"/>
          </a:fillRef>
          <a:effectRef idx="0">
            <a:schemeClr val="accent1"/>
          </a:effectRef>
          <a:fontRef idx="minor">
            <a:schemeClr val="tx1"/>
          </a:fontRef>
        </p:style>
      </p:cxnSp>
      <p:sp>
        <p:nvSpPr>
          <p:cNvPr id="39" name="Arrow: Right 38">
            <a:extLst>
              <a:ext uri="{FF2B5EF4-FFF2-40B4-BE49-F238E27FC236}">
                <a16:creationId xmlns:a16="http://schemas.microsoft.com/office/drawing/2014/main" id="{E73850BB-4155-470C-BF4D-1570C3CA7075}"/>
              </a:ext>
            </a:extLst>
          </p:cNvPr>
          <p:cNvSpPr/>
          <p:nvPr/>
        </p:nvSpPr>
        <p:spPr>
          <a:xfrm>
            <a:off x="5673612" y="2780057"/>
            <a:ext cx="281592" cy="139480"/>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40" name="Table 39">
            <a:extLst>
              <a:ext uri="{FF2B5EF4-FFF2-40B4-BE49-F238E27FC236}">
                <a16:creationId xmlns:a16="http://schemas.microsoft.com/office/drawing/2014/main" id="{689201C0-B3C0-4985-8ADE-08067609F5AF}"/>
              </a:ext>
            </a:extLst>
          </p:cNvPr>
          <p:cNvGraphicFramePr>
            <a:graphicFrameLocks noGrp="1"/>
          </p:cNvGraphicFramePr>
          <p:nvPr>
            <p:extLst>
              <p:ext uri="{D42A27DB-BD31-4B8C-83A1-F6EECF244321}">
                <p14:modId xmlns:p14="http://schemas.microsoft.com/office/powerpoint/2010/main" val="1089278083"/>
              </p:ext>
            </p:extLst>
          </p:nvPr>
        </p:nvGraphicFramePr>
        <p:xfrm>
          <a:off x="6298154" y="1930830"/>
          <a:ext cx="4283952" cy="1575372"/>
        </p:xfrm>
        <a:graphic>
          <a:graphicData uri="http://schemas.openxmlformats.org/drawingml/2006/table">
            <a:tbl>
              <a:tblPr bandRow="1">
                <a:tableStyleId>{5C22544A-7EE6-4342-B048-85BDC9FD1C3A}</a:tableStyleId>
              </a:tblPr>
              <a:tblGrid>
                <a:gridCol w="356996">
                  <a:extLst>
                    <a:ext uri="{9D8B030D-6E8A-4147-A177-3AD203B41FA5}">
                      <a16:colId xmlns:a16="http://schemas.microsoft.com/office/drawing/2014/main" val="1447693451"/>
                    </a:ext>
                  </a:extLst>
                </a:gridCol>
                <a:gridCol w="356996">
                  <a:extLst>
                    <a:ext uri="{9D8B030D-6E8A-4147-A177-3AD203B41FA5}">
                      <a16:colId xmlns:a16="http://schemas.microsoft.com/office/drawing/2014/main" val="2313149447"/>
                    </a:ext>
                  </a:extLst>
                </a:gridCol>
                <a:gridCol w="356996">
                  <a:extLst>
                    <a:ext uri="{9D8B030D-6E8A-4147-A177-3AD203B41FA5}">
                      <a16:colId xmlns:a16="http://schemas.microsoft.com/office/drawing/2014/main" val="13266568"/>
                    </a:ext>
                  </a:extLst>
                </a:gridCol>
                <a:gridCol w="356996">
                  <a:extLst>
                    <a:ext uri="{9D8B030D-6E8A-4147-A177-3AD203B41FA5}">
                      <a16:colId xmlns:a16="http://schemas.microsoft.com/office/drawing/2014/main" val="3351877584"/>
                    </a:ext>
                  </a:extLst>
                </a:gridCol>
                <a:gridCol w="356996">
                  <a:extLst>
                    <a:ext uri="{9D8B030D-6E8A-4147-A177-3AD203B41FA5}">
                      <a16:colId xmlns:a16="http://schemas.microsoft.com/office/drawing/2014/main" val="801952516"/>
                    </a:ext>
                  </a:extLst>
                </a:gridCol>
                <a:gridCol w="356996">
                  <a:extLst>
                    <a:ext uri="{9D8B030D-6E8A-4147-A177-3AD203B41FA5}">
                      <a16:colId xmlns:a16="http://schemas.microsoft.com/office/drawing/2014/main" val="2862379347"/>
                    </a:ext>
                  </a:extLst>
                </a:gridCol>
                <a:gridCol w="356996">
                  <a:extLst>
                    <a:ext uri="{9D8B030D-6E8A-4147-A177-3AD203B41FA5}">
                      <a16:colId xmlns:a16="http://schemas.microsoft.com/office/drawing/2014/main" val="1221256431"/>
                    </a:ext>
                  </a:extLst>
                </a:gridCol>
                <a:gridCol w="356996">
                  <a:extLst>
                    <a:ext uri="{9D8B030D-6E8A-4147-A177-3AD203B41FA5}">
                      <a16:colId xmlns:a16="http://schemas.microsoft.com/office/drawing/2014/main" val="4190230957"/>
                    </a:ext>
                  </a:extLst>
                </a:gridCol>
                <a:gridCol w="356996">
                  <a:extLst>
                    <a:ext uri="{9D8B030D-6E8A-4147-A177-3AD203B41FA5}">
                      <a16:colId xmlns:a16="http://schemas.microsoft.com/office/drawing/2014/main" val="2977606891"/>
                    </a:ext>
                  </a:extLst>
                </a:gridCol>
                <a:gridCol w="356996">
                  <a:extLst>
                    <a:ext uri="{9D8B030D-6E8A-4147-A177-3AD203B41FA5}">
                      <a16:colId xmlns:a16="http://schemas.microsoft.com/office/drawing/2014/main" val="2574361639"/>
                    </a:ext>
                  </a:extLst>
                </a:gridCol>
                <a:gridCol w="356996">
                  <a:extLst>
                    <a:ext uri="{9D8B030D-6E8A-4147-A177-3AD203B41FA5}">
                      <a16:colId xmlns:a16="http://schemas.microsoft.com/office/drawing/2014/main" val="2842962742"/>
                    </a:ext>
                  </a:extLst>
                </a:gridCol>
                <a:gridCol w="356996">
                  <a:extLst>
                    <a:ext uri="{9D8B030D-6E8A-4147-A177-3AD203B41FA5}">
                      <a16:colId xmlns:a16="http://schemas.microsoft.com/office/drawing/2014/main" val="712931968"/>
                    </a:ext>
                  </a:extLst>
                </a:gridCol>
              </a:tblGrid>
              <a:tr h="260910">
                <a:tc>
                  <a:txBody>
                    <a:bodyPr/>
                    <a:lstStyle/>
                    <a:p>
                      <a:r>
                        <a:rPr lang="en-US" sz="1300" dirty="0">
                          <a:solidFill>
                            <a:srgbClr val="C00000"/>
                          </a:solidFill>
                        </a:rPr>
                        <a:t>A</a:t>
                      </a:r>
                    </a:p>
                  </a:txBody>
                  <a:tcPr marL="64442" marR="64442" marT="32221" marB="32221"/>
                </a:tc>
                <a:tc>
                  <a:txBody>
                    <a:bodyPr/>
                    <a:lstStyle/>
                    <a:p>
                      <a:r>
                        <a:rPr lang="en-US" sz="1300" dirty="0"/>
                        <a:t>0.1</a:t>
                      </a:r>
                    </a:p>
                  </a:txBody>
                  <a:tcPr marL="64442" marR="64442" marT="32221" marB="32221"/>
                </a:tc>
                <a:tc>
                  <a:txBody>
                    <a:bodyPr/>
                    <a:lstStyle/>
                    <a:p>
                      <a:r>
                        <a:rPr lang="en-US" sz="1300" dirty="0"/>
                        <a:t>0.3</a:t>
                      </a:r>
                    </a:p>
                  </a:txBody>
                  <a:tcPr marL="64442" marR="64442" marT="32221" marB="32221"/>
                </a:tc>
                <a:tc>
                  <a:txBody>
                    <a:bodyPr/>
                    <a:lstStyle/>
                    <a:p>
                      <a:r>
                        <a:rPr lang="en-US" sz="1300" dirty="0"/>
                        <a:t>0.4</a:t>
                      </a:r>
                    </a:p>
                  </a:txBody>
                  <a:tcPr marL="64442" marR="64442" marT="32221" marB="32221"/>
                </a:tc>
                <a:tc>
                  <a:txBody>
                    <a:bodyPr/>
                    <a:lstStyle/>
                    <a:p>
                      <a:r>
                        <a:rPr lang="en-US" sz="1300" dirty="0"/>
                        <a:t>0.5</a:t>
                      </a:r>
                    </a:p>
                  </a:txBody>
                  <a:tcPr marL="64442" marR="64442" marT="32221" marB="32221"/>
                </a:tc>
                <a:tc>
                  <a:txBody>
                    <a:bodyPr/>
                    <a:lstStyle/>
                    <a:p>
                      <a:r>
                        <a:rPr lang="en-US" sz="1300" dirty="0"/>
                        <a:t>0.6</a:t>
                      </a:r>
                    </a:p>
                  </a:txBody>
                  <a:tcPr marL="64442" marR="64442" marT="32221" marB="32221"/>
                </a:tc>
                <a:tc>
                  <a:txBody>
                    <a:bodyPr/>
                    <a:lstStyle/>
                    <a:p>
                      <a:r>
                        <a:rPr lang="en-US" sz="1300" dirty="0"/>
                        <a:t>0.2</a:t>
                      </a:r>
                    </a:p>
                  </a:txBody>
                  <a:tcPr marL="64442" marR="64442" marT="32221" marB="32221"/>
                </a:tc>
                <a:tc>
                  <a:txBody>
                    <a:bodyPr/>
                    <a:lstStyle/>
                    <a:p>
                      <a:r>
                        <a:rPr lang="en-US" sz="1300" dirty="0"/>
                        <a:t>0.8</a:t>
                      </a:r>
                    </a:p>
                  </a:txBody>
                  <a:tcPr marL="64442" marR="64442" marT="32221" marB="32221"/>
                </a:tc>
                <a:tc>
                  <a:txBody>
                    <a:bodyPr/>
                    <a:lstStyle/>
                    <a:p>
                      <a:r>
                        <a:rPr lang="en-US" sz="1300" dirty="0"/>
                        <a:t>0.4</a:t>
                      </a:r>
                    </a:p>
                  </a:txBody>
                  <a:tcPr marL="64442" marR="64442" marT="32221" marB="32221"/>
                </a:tc>
                <a:tc>
                  <a:txBody>
                    <a:bodyPr/>
                    <a:lstStyle/>
                    <a:p>
                      <a:r>
                        <a:rPr lang="en-US" sz="1300" dirty="0"/>
                        <a:t>0.5</a:t>
                      </a:r>
                    </a:p>
                  </a:txBody>
                  <a:tcPr marL="64442" marR="64442" marT="32221" marB="32221"/>
                </a:tc>
                <a:tc>
                  <a:txBody>
                    <a:bodyPr/>
                    <a:lstStyle/>
                    <a:p>
                      <a:r>
                        <a:rPr lang="en-US" sz="1300" dirty="0"/>
                        <a:t>0.6</a:t>
                      </a:r>
                    </a:p>
                  </a:txBody>
                  <a:tcPr marL="64442" marR="64442" marT="32221" marB="32221"/>
                </a:tc>
                <a:tc>
                  <a:txBody>
                    <a:bodyPr/>
                    <a:lstStyle/>
                    <a:p>
                      <a:r>
                        <a:rPr lang="en-US" sz="1300" dirty="0"/>
                        <a:t>0.8</a:t>
                      </a:r>
                    </a:p>
                  </a:txBody>
                  <a:tcPr marL="64442" marR="64442" marT="32221" marB="32221"/>
                </a:tc>
                <a:extLst>
                  <a:ext uri="{0D108BD9-81ED-4DB2-BD59-A6C34878D82A}">
                    <a16:rowId xmlns:a16="http://schemas.microsoft.com/office/drawing/2014/main" val="2909897404"/>
                  </a:ext>
                </a:extLst>
              </a:tr>
              <a:tr h="260910">
                <a:tc>
                  <a:txBody>
                    <a:bodyPr/>
                    <a:lstStyle/>
                    <a:p>
                      <a:r>
                        <a:rPr lang="en-US" sz="1300" dirty="0">
                          <a:solidFill>
                            <a:srgbClr val="C00000"/>
                          </a:solidFill>
                        </a:rPr>
                        <a:t>B</a:t>
                      </a:r>
                    </a:p>
                  </a:txBody>
                  <a:tcPr marL="64442" marR="64442" marT="32221" marB="32221"/>
                </a:tc>
                <a:tc>
                  <a:txBody>
                    <a:bodyPr/>
                    <a:lstStyle/>
                    <a:p>
                      <a:r>
                        <a:rPr lang="en-US" sz="1300" dirty="0"/>
                        <a:t>0.5</a:t>
                      </a:r>
                    </a:p>
                  </a:txBody>
                  <a:tcPr marL="64442" marR="64442" marT="32221" marB="32221"/>
                </a:tc>
                <a:tc>
                  <a:txBody>
                    <a:bodyPr/>
                    <a:lstStyle/>
                    <a:p>
                      <a:r>
                        <a:rPr lang="en-US" sz="1300" dirty="0"/>
                        <a:t>0.6</a:t>
                      </a:r>
                    </a:p>
                  </a:txBody>
                  <a:tcPr marL="64442" marR="64442" marT="32221" marB="32221"/>
                </a:tc>
                <a:tc>
                  <a:txBody>
                    <a:bodyPr/>
                    <a:lstStyle/>
                    <a:p>
                      <a:r>
                        <a:rPr lang="en-US" sz="1300" dirty="0"/>
                        <a:t>0.7</a:t>
                      </a:r>
                    </a:p>
                  </a:txBody>
                  <a:tcPr marL="64442" marR="64442" marT="32221" marB="32221"/>
                </a:tc>
                <a:tc>
                  <a:txBody>
                    <a:bodyPr/>
                    <a:lstStyle/>
                    <a:p>
                      <a:r>
                        <a:rPr lang="en-US" sz="1300" dirty="0"/>
                        <a:t>0.9</a:t>
                      </a:r>
                    </a:p>
                  </a:txBody>
                  <a:tcPr marL="64442" marR="64442" marT="32221" marB="32221"/>
                </a:tc>
                <a:tc>
                  <a:txBody>
                    <a:bodyPr/>
                    <a:lstStyle/>
                    <a:p>
                      <a:r>
                        <a:rPr lang="en-US" sz="1300" dirty="0"/>
                        <a:t>1.0</a:t>
                      </a:r>
                    </a:p>
                  </a:txBody>
                  <a:tcPr marL="64442" marR="64442" marT="32221" marB="32221"/>
                </a:tc>
                <a:tc>
                  <a:txBody>
                    <a:bodyPr/>
                    <a:lstStyle/>
                    <a:p>
                      <a:r>
                        <a:rPr lang="en-US" sz="1300" dirty="0"/>
                        <a:t>0.7</a:t>
                      </a:r>
                    </a:p>
                  </a:txBody>
                  <a:tcPr marL="64442" marR="64442" marT="32221" marB="32221"/>
                </a:tc>
                <a:tc>
                  <a:txBody>
                    <a:bodyPr/>
                    <a:lstStyle/>
                    <a:p>
                      <a:r>
                        <a:rPr lang="en-US" sz="1300" dirty="0"/>
                        <a:t>0.8</a:t>
                      </a:r>
                    </a:p>
                  </a:txBody>
                  <a:tcPr marL="64442" marR="64442" marT="32221" marB="32221"/>
                </a:tc>
                <a:tc>
                  <a:txBody>
                    <a:bodyPr/>
                    <a:lstStyle/>
                    <a:p>
                      <a:r>
                        <a:rPr lang="en-US" sz="1300" dirty="0"/>
                        <a:t>0.9</a:t>
                      </a:r>
                    </a:p>
                  </a:txBody>
                  <a:tcPr marL="64442" marR="64442" marT="32221" marB="32221"/>
                </a:tc>
                <a:tc>
                  <a:txBody>
                    <a:bodyPr/>
                    <a:lstStyle/>
                    <a:p>
                      <a:r>
                        <a:rPr lang="en-US" sz="1300" dirty="0"/>
                        <a:t>0.5</a:t>
                      </a:r>
                    </a:p>
                  </a:txBody>
                  <a:tcPr marL="64442" marR="64442" marT="32221" marB="32221"/>
                </a:tc>
                <a:tc>
                  <a:txBody>
                    <a:bodyPr/>
                    <a:lstStyle/>
                    <a:p>
                      <a:r>
                        <a:rPr lang="en-US" sz="1300" dirty="0"/>
                        <a:t>0.3</a:t>
                      </a:r>
                    </a:p>
                  </a:txBody>
                  <a:tcPr marL="64442" marR="64442" marT="32221" marB="32221"/>
                </a:tc>
                <a:tc>
                  <a:txBody>
                    <a:bodyPr/>
                    <a:lstStyle/>
                    <a:p>
                      <a:r>
                        <a:rPr lang="en-US" sz="1300" dirty="0"/>
                        <a:t>0.9</a:t>
                      </a:r>
                    </a:p>
                  </a:txBody>
                  <a:tcPr marL="64442" marR="64442" marT="32221" marB="32221"/>
                </a:tc>
                <a:extLst>
                  <a:ext uri="{0D108BD9-81ED-4DB2-BD59-A6C34878D82A}">
                    <a16:rowId xmlns:a16="http://schemas.microsoft.com/office/drawing/2014/main" val="971040843"/>
                  </a:ext>
                </a:extLst>
              </a:tr>
              <a:tr h="260910">
                <a:tc>
                  <a:txBody>
                    <a:bodyPr/>
                    <a:lstStyle/>
                    <a:p>
                      <a:r>
                        <a:rPr lang="en-US" sz="1300" dirty="0">
                          <a:solidFill>
                            <a:srgbClr val="C00000"/>
                          </a:solidFill>
                        </a:rPr>
                        <a:t>C</a:t>
                      </a:r>
                    </a:p>
                  </a:txBody>
                  <a:tcPr marL="64442" marR="64442" marT="32221" marB="32221"/>
                </a:tc>
                <a:tc>
                  <a:txBody>
                    <a:bodyPr/>
                    <a:lstStyle/>
                    <a:p>
                      <a:r>
                        <a:rPr lang="en-US" sz="1300" dirty="0"/>
                        <a:t>0.8</a:t>
                      </a:r>
                    </a:p>
                  </a:txBody>
                  <a:tcPr marL="64442" marR="64442" marT="32221" marB="32221"/>
                </a:tc>
                <a:tc>
                  <a:txBody>
                    <a:bodyPr/>
                    <a:lstStyle/>
                    <a:p>
                      <a:r>
                        <a:rPr lang="en-US" sz="1300" dirty="0"/>
                        <a:t>0.6</a:t>
                      </a:r>
                    </a:p>
                  </a:txBody>
                  <a:tcPr marL="64442" marR="64442" marT="32221" marB="32221"/>
                </a:tc>
                <a:tc>
                  <a:txBody>
                    <a:bodyPr/>
                    <a:lstStyle/>
                    <a:p>
                      <a:r>
                        <a:rPr lang="en-US" sz="1300" dirty="0"/>
                        <a:t>0.5</a:t>
                      </a:r>
                    </a:p>
                  </a:txBody>
                  <a:tcPr marL="64442" marR="64442" marT="32221" marB="32221"/>
                </a:tc>
                <a:tc>
                  <a:txBody>
                    <a:bodyPr/>
                    <a:lstStyle/>
                    <a:p>
                      <a:r>
                        <a:rPr lang="en-US" sz="1300" dirty="0"/>
                        <a:t>0.7</a:t>
                      </a:r>
                    </a:p>
                  </a:txBody>
                  <a:tcPr marL="64442" marR="64442" marT="32221" marB="32221"/>
                </a:tc>
                <a:tc>
                  <a:txBody>
                    <a:bodyPr/>
                    <a:lstStyle/>
                    <a:p>
                      <a:r>
                        <a:rPr lang="en-US" sz="1300" dirty="0"/>
                        <a:t>0.5</a:t>
                      </a:r>
                    </a:p>
                  </a:txBody>
                  <a:tcPr marL="64442" marR="64442" marT="32221" marB="32221"/>
                </a:tc>
                <a:tc>
                  <a:txBody>
                    <a:bodyPr/>
                    <a:lstStyle/>
                    <a:p>
                      <a:r>
                        <a:rPr lang="en-US" sz="1300" dirty="0"/>
                        <a:t>0.4</a:t>
                      </a:r>
                    </a:p>
                  </a:txBody>
                  <a:tcPr marL="64442" marR="64442" marT="32221" marB="32221"/>
                </a:tc>
                <a:tc>
                  <a:txBody>
                    <a:bodyPr/>
                    <a:lstStyle/>
                    <a:p>
                      <a:r>
                        <a:rPr lang="en-US" sz="1300" dirty="0"/>
                        <a:t>0.4</a:t>
                      </a:r>
                    </a:p>
                  </a:txBody>
                  <a:tcPr marL="64442" marR="64442" marT="32221" marB="32221"/>
                </a:tc>
                <a:tc>
                  <a:txBody>
                    <a:bodyPr/>
                    <a:lstStyle/>
                    <a:p>
                      <a:r>
                        <a:rPr lang="en-US" sz="1300" dirty="0"/>
                        <a:t>0.3</a:t>
                      </a:r>
                    </a:p>
                  </a:txBody>
                  <a:tcPr marL="64442" marR="64442" marT="32221" marB="32221"/>
                </a:tc>
                <a:tc>
                  <a:txBody>
                    <a:bodyPr/>
                    <a:lstStyle/>
                    <a:p>
                      <a:r>
                        <a:rPr lang="en-US" sz="1300" dirty="0"/>
                        <a:t>0.7</a:t>
                      </a:r>
                    </a:p>
                  </a:txBody>
                  <a:tcPr marL="64442" marR="64442" marT="32221" marB="32221"/>
                </a:tc>
                <a:tc>
                  <a:txBody>
                    <a:bodyPr/>
                    <a:lstStyle/>
                    <a:p>
                      <a:r>
                        <a:rPr lang="en-US" sz="1300" dirty="0"/>
                        <a:t>0.8</a:t>
                      </a:r>
                    </a:p>
                  </a:txBody>
                  <a:tcPr marL="64442" marR="64442" marT="32221" marB="32221"/>
                </a:tc>
                <a:tc>
                  <a:txBody>
                    <a:bodyPr/>
                    <a:lstStyle/>
                    <a:p>
                      <a:r>
                        <a:rPr lang="en-US" sz="1300" dirty="0"/>
                        <a:t>0.5</a:t>
                      </a:r>
                    </a:p>
                  </a:txBody>
                  <a:tcPr marL="64442" marR="64442" marT="32221" marB="32221"/>
                </a:tc>
                <a:extLst>
                  <a:ext uri="{0D108BD9-81ED-4DB2-BD59-A6C34878D82A}">
                    <a16:rowId xmlns:a16="http://schemas.microsoft.com/office/drawing/2014/main" val="2028364179"/>
                  </a:ext>
                </a:extLst>
              </a:tr>
              <a:tr h="260910">
                <a:tc>
                  <a:txBody>
                    <a:bodyPr/>
                    <a:lstStyle/>
                    <a:p>
                      <a:r>
                        <a:rPr lang="en-US" sz="1300" dirty="0">
                          <a:solidFill>
                            <a:srgbClr val="C00000"/>
                          </a:solidFill>
                        </a:rPr>
                        <a:t>D</a:t>
                      </a:r>
                    </a:p>
                  </a:txBody>
                  <a:tcPr marL="64442" marR="64442" marT="32221" marB="32221"/>
                </a:tc>
                <a:tc>
                  <a:txBody>
                    <a:bodyPr/>
                    <a:lstStyle/>
                    <a:p>
                      <a:r>
                        <a:rPr lang="en-US" sz="1300" dirty="0"/>
                        <a:t>0.2</a:t>
                      </a:r>
                    </a:p>
                  </a:txBody>
                  <a:tcPr marL="64442" marR="64442" marT="32221" marB="32221"/>
                </a:tc>
                <a:tc>
                  <a:txBody>
                    <a:bodyPr/>
                    <a:lstStyle/>
                    <a:p>
                      <a:r>
                        <a:rPr lang="en-US" sz="1300" dirty="0"/>
                        <a:t>0.3</a:t>
                      </a:r>
                    </a:p>
                  </a:txBody>
                  <a:tcPr marL="64442" marR="64442" marT="32221" marB="32221"/>
                </a:tc>
                <a:tc>
                  <a:txBody>
                    <a:bodyPr/>
                    <a:lstStyle/>
                    <a:p>
                      <a:r>
                        <a:rPr lang="en-US" sz="1300" dirty="0"/>
                        <a:t>0.5</a:t>
                      </a:r>
                    </a:p>
                  </a:txBody>
                  <a:tcPr marL="64442" marR="64442" marT="32221" marB="32221"/>
                </a:tc>
                <a:tc>
                  <a:txBody>
                    <a:bodyPr/>
                    <a:lstStyle/>
                    <a:p>
                      <a:r>
                        <a:rPr lang="en-US" sz="1300" dirty="0"/>
                        <a:t>0.8</a:t>
                      </a:r>
                    </a:p>
                  </a:txBody>
                  <a:tcPr marL="64442" marR="64442" marT="32221" marB="32221"/>
                </a:tc>
                <a:tc>
                  <a:txBody>
                    <a:bodyPr/>
                    <a:lstStyle/>
                    <a:p>
                      <a:r>
                        <a:rPr lang="en-US" sz="1300" dirty="0"/>
                        <a:t>0.6</a:t>
                      </a:r>
                    </a:p>
                  </a:txBody>
                  <a:tcPr marL="64442" marR="64442" marT="32221" marB="32221"/>
                </a:tc>
                <a:tc>
                  <a:txBody>
                    <a:bodyPr/>
                    <a:lstStyle/>
                    <a:p>
                      <a:r>
                        <a:rPr lang="en-US" sz="1300" dirty="0"/>
                        <a:t>1.0</a:t>
                      </a:r>
                    </a:p>
                  </a:txBody>
                  <a:tcPr marL="64442" marR="64442" marT="32221" marB="32221"/>
                </a:tc>
                <a:tc>
                  <a:txBody>
                    <a:bodyPr/>
                    <a:lstStyle/>
                    <a:p>
                      <a:r>
                        <a:rPr lang="en-US" sz="1300" dirty="0"/>
                        <a:t>0.4</a:t>
                      </a:r>
                    </a:p>
                  </a:txBody>
                  <a:tcPr marL="64442" marR="64442" marT="32221" marB="32221"/>
                </a:tc>
                <a:tc>
                  <a:txBody>
                    <a:bodyPr/>
                    <a:lstStyle/>
                    <a:p>
                      <a:r>
                        <a:rPr lang="en-US" sz="1300" dirty="0"/>
                        <a:t>0.5</a:t>
                      </a:r>
                    </a:p>
                  </a:txBody>
                  <a:tcPr marL="64442" marR="64442" marT="32221" marB="32221"/>
                </a:tc>
                <a:tc>
                  <a:txBody>
                    <a:bodyPr/>
                    <a:lstStyle/>
                    <a:p>
                      <a:r>
                        <a:rPr lang="en-US" sz="1300" dirty="0"/>
                        <a:t>0.6</a:t>
                      </a:r>
                    </a:p>
                  </a:txBody>
                  <a:tcPr marL="64442" marR="64442" marT="32221" marB="32221"/>
                </a:tc>
                <a:tc>
                  <a:txBody>
                    <a:bodyPr/>
                    <a:lstStyle/>
                    <a:p>
                      <a:r>
                        <a:rPr lang="en-US" sz="1300" dirty="0"/>
                        <a:t>0.7</a:t>
                      </a:r>
                    </a:p>
                  </a:txBody>
                  <a:tcPr marL="64442" marR="64442" marT="32221" marB="32221"/>
                </a:tc>
                <a:tc>
                  <a:txBody>
                    <a:bodyPr/>
                    <a:lstStyle/>
                    <a:p>
                      <a:r>
                        <a:rPr lang="en-US" sz="1300" dirty="0"/>
                        <a:t>0.7</a:t>
                      </a:r>
                    </a:p>
                  </a:txBody>
                  <a:tcPr marL="64442" marR="64442" marT="32221" marB="32221"/>
                </a:tc>
                <a:extLst>
                  <a:ext uri="{0D108BD9-81ED-4DB2-BD59-A6C34878D82A}">
                    <a16:rowId xmlns:a16="http://schemas.microsoft.com/office/drawing/2014/main" val="351171483"/>
                  </a:ext>
                </a:extLst>
              </a:tr>
              <a:tr h="260910">
                <a:tc>
                  <a:txBody>
                    <a:bodyPr/>
                    <a:lstStyle/>
                    <a:p>
                      <a:r>
                        <a:rPr lang="en-US" sz="1300" dirty="0">
                          <a:solidFill>
                            <a:srgbClr val="C00000"/>
                          </a:solidFill>
                        </a:rPr>
                        <a:t>E</a:t>
                      </a:r>
                    </a:p>
                  </a:txBody>
                  <a:tcPr marL="64442" marR="64442" marT="32221" marB="32221"/>
                </a:tc>
                <a:tc>
                  <a:txBody>
                    <a:bodyPr/>
                    <a:lstStyle/>
                    <a:p>
                      <a:r>
                        <a:rPr lang="en-US" sz="1300" dirty="0"/>
                        <a:t>0.8</a:t>
                      </a:r>
                    </a:p>
                  </a:txBody>
                  <a:tcPr marL="64442" marR="64442" marT="32221" marB="32221"/>
                </a:tc>
                <a:tc>
                  <a:txBody>
                    <a:bodyPr/>
                    <a:lstStyle/>
                    <a:p>
                      <a:r>
                        <a:rPr lang="en-US" sz="1300" dirty="0"/>
                        <a:t>0.9</a:t>
                      </a:r>
                    </a:p>
                  </a:txBody>
                  <a:tcPr marL="64442" marR="64442" marT="32221" marB="32221"/>
                </a:tc>
                <a:tc>
                  <a:txBody>
                    <a:bodyPr/>
                    <a:lstStyle/>
                    <a:p>
                      <a:r>
                        <a:rPr lang="en-US" sz="1300" dirty="0"/>
                        <a:t>0.5</a:t>
                      </a:r>
                    </a:p>
                  </a:txBody>
                  <a:tcPr marL="64442" marR="64442" marT="32221" marB="32221"/>
                </a:tc>
                <a:tc>
                  <a:txBody>
                    <a:bodyPr/>
                    <a:lstStyle/>
                    <a:p>
                      <a:r>
                        <a:rPr lang="en-US" sz="1300" dirty="0"/>
                        <a:t>0.4</a:t>
                      </a:r>
                    </a:p>
                  </a:txBody>
                  <a:tcPr marL="64442" marR="64442" marT="32221" marB="32221"/>
                </a:tc>
                <a:tc>
                  <a:txBody>
                    <a:bodyPr/>
                    <a:lstStyle/>
                    <a:p>
                      <a:r>
                        <a:rPr lang="en-US" sz="1300" dirty="0"/>
                        <a:t>0.8</a:t>
                      </a:r>
                    </a:p>
                  </a:txBody>
                  <a:tcPr marL="64442" marR="64442" marT="32221" marB="32221"/>
                </a:tc>
                <a:tc>
                  <a:txBody>
                    <a:bodyPr/>
                    <a:lstStyle/>
                    <a:p>
                      <a:r>
                        <a:rPr lang="en-US" sz="1300" dirty="0"/>
                        <a:t>0.4</a:t>
                      </a:r>
                    </a:p>
                  </a:txBody>
                  <a:tcPr marL="64442" marR="64442" marT="32221" marB="32221"/>
                </a:tc>
                <a:tc>
                  <a:txBody>
                    <a:bodyPr/>
                    <a:lstStyle/>
                    <a:p>
                      <a:r>
                        <a:rPr lang="en-US" sz="1300" dirty="0"/>
                        <a:t>0.6</a:t>
                      </a:r>
                    </a:p>
                  </a:txBody>
                  <a:tcPr marL="64442" marR="64442" marT="32221" marB="32221"/>
                </a:tc>
                <a:tc>
                  <a:txBody>
                    <a:bodyPr/>
                    <a:lstStyle/>
                    <a:p>
                      <a:r>
                        <a:rPr lang="en-US" sz="1300" dirty="0"/>
                        <a:t>0.6</a:t>
                      </a:r>
                    </a:p>
                  </a:txBody>
                  <a:tcPr marL="64442" marR="64442" marT="32221" marB="32221"/>
                </a:tc>
                <a:tc>
                  <a:txBody>
                    <a:bodyPr/>
                    <a:lstStyle/>
                    <a:p>
                      <a:r>
                        <a:rPr lang="en-US" sz="1300" dirty="0"/>
                        <a:t>0.5</a:t>
                      </a:r>
                    </a:p>
                  </a:txBody>
                  <a:tcPr marL="64442" marR="64442" marT="32221" marB="32221"/>
                </a:tc>
                <a:tc>
                  <a:txBody>
                    <a:bodyPr/>
                    <a:lstStyle/>
                    <a:p>
                      <a:r>
                        <a:rPr lang="en-US" sz="1300" dirty="0"/>
                        <a:t>0.3</a:t>
                      </a:r>
                    </a:p>
                  </a:txBody>
                  <a:tcPr marL="64442" marR="64442" marT="32221" marB="32221"/>
                </a:tc>
                <a:tc>
                  <a:txBody>
                    <a:bodyPr/>
                    <a:lstStyle/>
                    <a:p>
                      <a:r>
                        <a:rPr lang="en-US" sz="1300" dirty="0"/>
                        <a:t>0.4</a:t>
                      </a:r>
                    </a:p>
                  </a:txBody>
                  <a:tcPr marL="64442" marR="64442" marT="32221" marB="32221"/>
                </a:tc>
                <a:extLst>
                  <a:ext uri="{0D108BD9-81ED-4DB2-BD59-A6C34878D82A}">
                    <a16:rowId xmlns:a16="http://schemas.microsoft.com/office/drawing/2014/main" val="4070842056"/>
                  </a:ext>
                </a:extLst>
              </a:tr>
              <a:tr h="260910">
                <a:tc>
                  <a:txBody>
                    <a:bodyPr/>
                    <a:lstStyle/>
                    <a:p>
                      <a:r>
                        <a:rPr lang="en-US" sz="1300" dirty="0">
                          <a:solidFill>
                            <a:srgbClr val="C00000"/>
                          </a:solidFill>
                        </a:rPr>
                        <a:t>F</a:t>
                      </a:r>
                    </a:p>
                  </a:txBody>
                  <a:tcPr marL="64442" marR="64442" marT="32221" marB="32221"/>
                </a:tc>
                <a:tc>
                  <a:txBody>
                    <a:bodyPr/>
                    <a:lstStyle/>
                    <a:p>
                      <a:r>
                        <a:rPr lang="en-US" sz="1300" dirty="0"/>
                        <a:t>0.8</a:t>
                      </a:r>
                    </a:p>
                  </a:txBody>
                  <a:tcPr marL="64442" marR="64442" marT="32221" marB="32221"/>
                </a:tc>
                <a:tc>
                  <a:txBody>
                    <a:bodyPr/>
                    <a:lstStyle/>
                    <a:p>
                      <a:r>
                        <a:rPr lang="en-US" sz="1300" dirty="0"/>
                        <a:t>0.4</a:t>
                      </a:r>
                    </a:p>
                  </a:txBody>
                  <a:tcPr marL="64442" marR="64442" marT="32221" marB="32221"/>
                </a:tc>
                <a:tc>
                  <a:txBody>
                    <a:bodyPr/>
                    <a:lstStyle/>
                    <a:p>
                      <a:r>
                        <a:rPr lang="en-US" sz="1300" dirty="0"/>
                        <a:t>0.5</a:t>
                      </a:r>
                    </a:p>
                  </a:txBody>
                  <a:tcPr marL="64442" marR="64442" marT="32221" marB="32221"/>
                </a:tc>
                <a:tc>
                  <a:txBody>
                    <a:bodyPr/>
                    <a:lstStyle/>
                    <a:p>
                      <a:r>
                        <a:rPr lang="en-US" sz="1300" dirty="0"/>
                        <a:t>0.6</a:t>
                      </a:r>
                    </a:p>
                  </a:txBody>
                  <a:tcPr marL="64442" marR="64442" marT="32221" marB="32221"/>
                </a:tc>
                <a:tc>
                  <a:txBody>
                    <a:bodyPr/>
                    <a:lstStyle/>
                    <a:p>
                      <a:r>
                        <a:rPr lang="en-US" sz="1300" dirty="0"/>
                        <a:t>0.4</a:t>
                      </a:r>
                    </a:p>
                  </a:txBody>
                  <a:tcPr marL="64442" marR="64442" marT="32221" marB="32221"/>
                </a:tc>
                <a:tc>
                  <a:txBody>
                    <a:bodyPr/>
                    <a:lstStyle/>
                    <a:p>
                      <a:r>
                        <a:rPr lang="en-US" sz="1300" dirty="0"/>
                        <a:t>0.2</a:t>
                      </a:r>
                    </a:p>
                  </a:txBody>
                  <a:tcPr marL="64442" marR="64442" marT="32221" marB="32221"/>
                </a:tc>
                <a:tc>
                  <a:txBody>
                    <a:bodyPr/>
                    <a:lstStyle/>
                    <a:p>
                      <a:r>
                        <a:rPr lang="en-US" sz="1300" dirty="0"/>
                        <a:t>0.7</a:t>
                      </a:r>
                    </a:p>
                  </a:txBody>
                  <a:tcPr marL="64442" marR="64442" marT="32221" marB="32221"/>
                </a:tc>
                <a:tc>
                  <a:txBody>
                    <a:bodyPr/>
                    <a:lstStyle/>
                    <a:p>
                      <a:r>
                        <a:rPr lang="en-US" sz="1300" dirty="0"/>
                        <a:t>0.8</a:t>
                      </a:r>
                    </a:p>
                  </a:txBody>
                  <a:tcPr marL="64442" marR="64442" marT="32221" marB="32221"/>
                </a:tc>
                <a:tc>
                  <a:txBody>
                    <a:bodyPr/>
                    <a:lstStyle/>
                    <a:p>
                      <a:r>
                        <a:rPr lang="en-US" sz="1300" dirty="0"/>
                        <a:t>0.8</a:t>
                      </a:r>
                    </a:p>
                  </a:txBody>
                  <a:tcPr marL="64442" marR="64442" marT="32221" marB="32221"/>
                </a:tc>
                <a:tc>
                  <a:txBody>
                    <a:bodyPr/>
                    <a:lstStyle/>
                    <a:p>
                      <a:r>
                        <a:rPr lang="en-US" sz="1300" dirty="0"/>
                        <a:t>0.9</a:t>
                      </a:r>
                    </a:p>
                  </a:txBody>
                  <a:tcPr marL="64442" marR="64442" marT="32221" marB="32221"/>
                </a:tc>
                <a:tc>
                  <a:txBody>
                    <a:bodyPr/>
                    <a:lstStyle/>
                    <a:p>
                      <a:r>
                        <a:rPr lang="en-US" sz="1300" dirty="0"/>
                        <a:t>0.7</a:t>
                      </a:r>
                    </a:p>
                  </a:txBody>
                  <a:tcPr marL="64442" marR="64442" marT="32221" marB="32221"/>
                </a:tc>
                <a:extLst>
                  <a:ext uri="{0D108BD9-81ED-4DB2-BD59-A6C34878D82A}">
                    <a16:rowId xmlns:a16="http://schemas.microsoft.com/office/drawing/2014/main" val="744535944"/>
                  </a:ext>
                </a:extLst>
              </a:tr>
            </a:tbl>
          </a:graphicData>
        </a:graphic>
      </p:graphicFrame>
      <p:sp>
        <p:nvSpPr>
          <p:cNvPr id="41" name="Arrow: Right 40">
            <a:extLst>
              <a:ext uri="{FF2B5EF4-FFF2-40B4-BE49-F238E27FC236}">
                <a16:creationId xmlns:a16="http://schemas.microsoft.com/office/drawing/2014/main" id="{00B8ABE2-EFC5-4531-AE0F-3652CA214A4F}"/>
              </a:ext>
            </a:extLst>
          </p:cNvPr>
          <p:cNvSpPr/>
          <p:nvPr/>
        </p:nvSpPr>
        <p:spPr>
          <a:xfrm rot="5400000">
            <a:off x="8299334" y="3796355"/>
            <a:ext cx="281592" cy="139480"/>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42" name="Chart 41">
            <a:extLst>
              <a:ext uri="{FF2B5EF4-FFF2-40B4-BE49-F238E27FC236}">
                <a16:creationId xmlns:a16="http://schemas.microsoft.com/office/drawing/2014/main" id="{EC59F188-0D2B-4D5B-AF60-9D173F9B5776}"/>
              </a:ext>
            </a:extLst>
          </p:cNvPr>
          <p:cNvGraphicFramePr/>
          <p:nvPr>
            <p:extLst>
              <p:ext uri="{D42A27DB-BD31-4B8C-83A1-F6EECF244321}">
                <p14:modId xmlns:p14="http://schemas.microsoft.com/office/powerpoint/2010/main" val="1733200577"/>
              </p:ext>
            </p:extLst>
          </p:nvPr>
        </p:nvGraphicFramePr>
        <p:xfrm>
          <a:off x="6718516" y="4006891"/>
          <a:ext cx="3303747" cy="2593414"/>
        </p:xfrm>
        <a:graphic>
          <a:graphicData uri="http://schemas.openxmlformats.org/drawingml/2006/chart">
            <c:chart xmlns:c="http://schemas.openxmlformats.org/drawingml/2006/chart" xmlns:r="http://schemas.openxmlformats.org/officeDocument/2006/relationships" r:id="rId3"/>
          </a:graphicData>
        </a:graphic>
      </p:graphicFrame>
      <p:cxnSp>
        <p:nvCxnSpPr>
          <p:cNvPr id="43" name="Straight Connector 42">
            <a:extLst>
              <a:ext uri="{FF2B5EF4-FFF2-40B4-BE49-F238E27FC236}">
                <a16:creationId xmlns:a16="http://schemas.microsoft.com/office/drawing/2014/main" id="{AAF6F67C-54BC-4CA8-BE5E-FAFED7A263A0}"/>
              </a:ext>
            </a:extLst>
          </p:cNvPr>
          <p:cNvCxnSpPr>
            <a:cxnSpLocks/>
          </p:cNvCxnSpPr>
          <p:nvPr/>
        </p:nvCxnSpPr>
        <p:spPr>
          <a:xfrm>
            <a:off x="7439891" y="4326971"/>
            <a:ext cx="232756" cy="569225"/>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33593234-9D1E-450C-9238-F7B43173CEA2}"/>
              </a:ext>
            </a:extLst>
          </p:cNvPr>
          <p:cNvCxnSpPr/>
          <p:nvPr/>
        </p:nvCxnSpPr>
        <p:spPr>
          <a:xfrm flipV="1">
            <a:off x="8221287" y="4264429"/>
            <a:ext cx="1014153" cy="415636"/>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F4E9181A-5FE7-4623-B973-7DDA720C397D}"/>
              </a:ext>
            </a:extLst>
          </p:cNvPr>
          <p:cNvCxnSpPr/>
          <p:nvPr/>
        </p:nvCxnSpPr>
        <p:spPr>
          <a:xfrm flipH="1">
            <a:off x="8728364" y="4326971"/>
            <a:ext cx="507076" cy="82692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43068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2CD8544-EF06-42D4-AA94-F847E051E83E}"/>
              </a:ext>
            </a:extLst>
          </p:cNvPr>
          <p:cNvSpPr>
            <a:spLocks noGrp="1"/>
          </p:cNvSpPr>
          <p:nvPr>
            <p:ph type="dt" sz="half" idx="10"/>
          </p:nvPr>
        </p:nvSpPr>
        <p:spPr/>
        <p:txBody>
          <a:bodyPr/>
          <a:lstStyle/>
          <a:p>
            <a:fld id="{C1FFE036-1B22-46FC-8A87-65388E31D917}" type="datetime1">
              <a:rPr lang="en-US" smtClean="0"/>
              <a:t>12/7/2021</a:t>
            </a:fld>
            <a:endParaRPr lang="en-US"/>
          </a:p>
        </p:txBody>
      </p:sp>
      <p:sp>
        <p:nvSpPr>
          <p:cNvPr id="3" name="Footer Placeholder 2">
            <a:extLst>
              <a:ext uri="{FF2B5EF4-FFF2-40B4-BE49-F238E27FC236}">
                <a16:creationId xmlns:a16="http://schemas.microsoft.com/office/drawing/2014/main" id="{EB7640BE-79BF-4545-8E29-985E38F68C43}"/>
              </a:ext>
            </a:extLst>
          </p:cNvPr>
          <p:cNvSpPr>
            <a:spLocks noGrp="1"/>
          </p:cNvSpPr>
          <p:nvPr>
            <p:ph type="ftr" sz="quarter" idx="11"/>
          </p:nvPr>
        </p:nvSpPr>
        <p:spPr/>
        <p:txBody>
          <a:bodyPr/>
          <a:lstStyle/>
          <a:p>
            <a:r>
              <a:rPr lang="en-US" dirty="0"/>
              <a:t>Masters Project - Ebeid - Fall 2021</a:t>
            </a:r>
          </a:p>
        </p:txBody>
      </p:sp>
      <p:sp>
        <p:nvSpPr>
          <p:cNvPr id="4" name="Slide Number Placeholder 3">
            <a:extLst>
              <a:ext uri="{FF2B5EF4-FFF2-40B4-BE49-F238E27FC236}">
                <a16:creationId xmlns:a16="http://schemas.microsoft.com/office/drawing/2014/main" id="{1624D4C7-DAA1-454A-8864-1658648C8AE8}"/>
              </a:ext>
            </a:extLst>
          </p:cNvPr>
          <p:cNvSpPr>
            <a:spLocks noGrp="1"/>
          </p:cNvSpPr>
          <p:nvPr>
            <p:ph type="sldNum" sz="quarter" idx="12"/>
          </p:nvPr>
        </p:nvSpPr>
        <p:spPr/>
        <p:txBody>
          <a:bodyPr/>
          <a:lstStyle/>
          <a:p>
            <a:fld id="{5A99AF73-65C2-407A-B44B-DB0F62C2405F}" type="slidenum">
              <a:rPr lang="en-US" smtClean="0"/>
              <a:t>13</a:t>
            </a:fld>
            <a:endParaRPr lang="en-US"/>
          </a:p>
        </p:txBody>
      </p:sp>
      <p:sp>
        <p:nvSpPr>
          <p:cNvPr id="5" name="Title 1">
            <a:extLst>
              <a:ext uri="{FF2B5EF4-FFF2-40B4-BE49-F238E27FC236}">
                <a16:creationId xmlns:a16="http://schemas.microsoft.com/office/drawing/2014/main" id="{E562B56F-DB5C-471D-993A-A79A2E3C6E2C}"/>
              </a:ext>
            </a:extLst>
          </p:cNvPr>
          <p:cNvSpPr txBox="1">
            <a:spLocks/>
          </p:cNvSpPr>
          <p:nvPr/>
        </p:nvSpPr>
        <p:spPr>
          <a:xfrm>
            <a:off x="838199" y="291090"/>
            <a:ext cx="10515599" cy="932688"/>
          </a:xfrm>
          <a:prstGeom prst="rect">
            <a:avLst/>
          </a:prstGeom>
        </p:spPr>
        <p:txBody>
          <a:bodyPr vert="horz" lIns="91440" tIns="45720" rIns="91440" bIns="45720" rtlCol="0" anchor="b">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Linux Libertine" panose="02000503000000000000" pitchFamily="2" charset="0"/>
                <a:ea typeface="Linux Libertine" panose="02000503000000000000" pitchFamily="2" charset="0"/>
                <a:cs typeface="Linux Libertine" panose="02000503000000000000" pitchFamily="2" charset="0"/>
              </a:defRPr>
            </a:lvl1pPr>
          </a:lstStyle>
          <a:p>
            <a:pPr>
              <a:spcAft>
                <a:spcPts val="600"/>
              </a:spcAft>
            </a:pPr>
            <a:r>
              <a:rPr lang="en-US" sz="4200" dirty="0">
                <a:latin typeface="+mj-lt"/>
                <a:ea typeface="+mj-ea"/>
                <a:cs typeface="+mj-cs"/>
              </a:rPr>
              <a:t>2</a:t>
            </a:r>
            <a:r>
              <a:rPr lang="en-US" sz="4200" kern="1200" dirty="0">
                <a:solidFill>
                  <a:schemeClr val="tx1"/>
                </a:solidFill>
                <a:latin typeface="+mj-lt"/>
                <a:ea typeface="+mj-ea"/>
                <a:cs typeface="+mj-cs"/>
              </a:rPr>
              <a:t>. Background: Knowledge graphs in search engines, recommender systems, and biomedical digital libraries</a:t>
            </a:r>
          </a:p>
        </p:txBody>
      </p:sp>
      <p:sp>
        <p:nvSpPr>
          <p:cNvPr id="8" name="TextBox 7">
            <a:extLst>
              <a:ext uri="{FF2B5EF4-FFF2-40B4-BE49-F238E27FC236}">
                <a16:creationId xmlns:a16="http://schemas.microsoft.com/office/drawing/2014/main" id="{AC1E721A-A0FA-4130-B7A1-D156EAF79726}"/>
              </a:ext>
            </a:extLst>
          </p:cNvPr>
          <p:cNvSpPr txBox="1"/>
          <p:nvPr/>
        </p:nvSpPr>
        <p:spPr>
          <a:xfrm>
            <a:off x="3051629" y="3255219"/>
            <a:ext cx="6103256" cy="1200329"/>
          </a:xfrm>
          <a:prstGeom prst="rect">
            <a:avLst/>
          </a:prstGeom>
          <a:noFill/>
        </p:spPr>
        <p:txBody>
          <a:bodyPr wrap="square">
            <a:spAutoFit/>
          </a:bodyPr>
          <a:lstStyle/>
          <a:p>
            <a:pPr marL="285750" indent="-285750">
              <a:buFont typeface="Arial" panose="020B0604020202020204" pitchFamily="34" charset="0"/>
              <a:buChar char="•"/>
            </a:pPr>
            <a:r>
              <a:rPr lang="en-US" sz="1800" dirty="0" err="1">
                <a:effectLst/>
                <a:latin typeface="Linux Libertine" panose="02000503000000000000" pitchFamily="2" charset="0"/>
                <a:ea typeface="Calibri" panose="020F0502020204030204" pitchFamily="34" charset="0"/>
                <a:cs typeface="Times New Roman" panose="02020603050405020304" pitchFamily="18" charset="0"/>
              </a:rPr>
              <a:t>Xiong</a:t>
            </a:r>
            <a:r>
              <a:rPr lang="en-US" sz="1800" dirty="0">
                <a:effectLst/>
                <a:latin typeface="Linux Libertine" panose="02000503000000000000" pitchFamily="2" charset="0"/>
                <a:ea typeface="Calibri" panose="020F0502020204030204" pitchFamily="34" charset="0"/>
                <a:cs typeface="Times New Roman" panose="02020603050405020304" pitchFamily="18" charset="0"/>
              </a:rPr>
              <a:t> et al., 2017</a:t>
            </a:r>
          </a:p>
          <a:p>
            <a:pPr marL="285750" indent="-285750">
              <a:buFont typeface="Arial" panose="020B0604020202020204" pitchFamily="34" charset="0"/>
              <a:buChar char="•"/>
            </a:pPr>
            <a:r>
              <a:rPr lang="en-US" sz="1800" dirty="0">
                <a:effectLst/>
                <a:latin typeface="Linux Libertine" panose="02000503000000000000" pitchFamily="2" charset="0"/>
                <a:ea typeface="Calibri" panose="020F0502020204030204" pitchFamily="34" charset="0"/>
                <a:cs typeface="Times New Roman" panose="02020603050405020304" pitchFamily="18" charset="0"/>
              </a:rPr>
              <a:t>Q. Wang et al., 2017</a:t>
            </a:r>
          </a:p>
          <a:p>
            <a:pPr marL="285750" indent="-285750">
              <a:buFont typeface="Arial" panose="020B0604020202020204" pitchFamily="34" charset="0"/>
              <a:buChar char="•"/>
            </a:pPr>
            <a:r>
              <a:rPr lang="en-US" sz="1800" dirty="0">
                <a:effectLst/>
                <a:latin typeface="Linux Libertine" panose="02000503000000000000" pitchFamily="2" charset="0"/>
                <a:ea typeface="Calibri" panose="020F0502020204030204" pitchFamily="34" charset="0"/>
              </a:rPr>
              <a:t>J. Z. Wang et al., 2014</a:t>
            </a:r>
          </a:p>
          <a:p>
            <a:pPr marL="285750" indent="-285750">
              <a:buFont typeface="Arial" panose="020B0604020202020204" pitchFamily="34" charset="0"/>
              <a:buChar char="•"/>
            </a:pPr>
            <a:r>
              <a:rPr lang="en-US"/>
              <a:t>Xu </a:t>
            </a:r>
            <a:r>
              <a:rPr lang="en-US" dirty="0"/>
              <a:t>et al., 2020</a:t>
            </a:r>
          </a:p>
        </p:txBody>
      </p:sp>
    </p:spTree>
    <p:extLst>
      <p:ext uri="{BB962C8B-B14F-4D97-AF65-F5344CB8AC3E}">
        <p14:creationId xmlns:p14="http://schemas.microsoft.com/office/powerpoint/2010/main" val="13773412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2582FCE9-111E-4C83-B9E0-1692B21CF001}"/>
              </a:ext>
            </a:extLst>
          </p:cNvPr>
          <p:cNvSpPr txBox="1">
            <a:spLocks/>
          </p:cNvSpPr>
          <p:nvPr/>
        </p:nvSpPr>
        <p:spPr>
          <a:xfrm>
            <a:off x="838199" y="291090"/>
            <a:ext cx="10515599" cy="93268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Linux Libertine" panose="02000503000000000000" pitchFamily="2" charset="0"/>
                <a:ea typeface="Linux Libertine" panose="02000503000000000000" pitchFamily="2" charset="0"/>
                <a:cs typeface="Linux Libertine" panose="02000503000000000000" pitchFamily="2" charset="0"/>
              </a:defRPr>
            </a:lvl1pPr>
          </a:lstStyle>
          <a:p>
            <a:pPr>
              <a:spcAft>
                <a:spcPts val="600"/>
              </a:spcAft>
            </a:pPr>
            <a:r>
              <a:rPr lang="en-US" sz="3400" dirty="0">
                <a:latin typeface="+mj-lt"/>
                <a:ea typeface="+mj-ea"/>
                <a:cs typeface="+mj-cs"/>
              </a:rPr>
              <a:t>3</a:t>
            </a:r>
            <a:r>
              <a:rPr lang="en-US" sz="3400" kern="1200" dirty="0">
                <a:solidFill>
                  <a:schemeClr val="tx1"/>
                </a:solidFill>
                <a:latin typeface="+mj-lt"/>
                <a:ea typeface="+mj-ea"/>
                <a:cs typeface="+mj-cs"/>
              </a:rPr>
              <a:t>. Method: knowledge graphs, graph embedding</a:t>
            </a:r>
          </a:p>
        </p:txBody>
      </p:sp>
      <p:pic>
        <p:nvPicPr>
          <p:cNvPr id="9" name="Graphic 2">
            <a:extLst>
              <a:ext uri="{FF2B5EF4-FFF2-40B4-BE49-F238E27FC236}">
                <a16:creationId xmlns:a16="http://schemas.microsoft.com/office/drawing/2014/main" id="{FC50340A-32FB-4128-B671-FB1AECAD7D1E}"/>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15129" y="1863801"/>
            <a:ext cx="10361740" cy="4440746"/>
          </a:xfrm>
          <a:prstGeom prst="rect">
            <a:avLst/>
          </a:prstGeom>
        </p:spPr>
      </p:pic>
      <p:sp>
        <p:nvSpPr>
          <p:cNvPr id="2" name="Date Placeholder 1">
            <a:extLst>
              <a:ext uri="{FF2B5EF4-FFF2-40B4-BE49-F238E27FC236}">
                <a16:creationId xmlns:a16="http://schemas.microsoft.com/office/drawing/2014/main" id="{348F69A4-CBCC-464C-882C-93FEA4D5CC9A}"/>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a:spcAft>
                <a:spcPts val="600"/>
              </a:spcAft>
            </a:pPr>
            <a:fld id="{C1FFE036-1B22-46FC-8A87-65388E31D917}" type="datetime1">
              <a:rPr lang="en-US" smtClean="0">
                <a:latin typeface="+mn-lt"/>
                <a:ea typeface="+mn-ea"/>
                <a:cs typeface="+mn-cs"/>
              </a:rPr>
              <a:pPr>
                <a:spcAft>
                  <a:spcPts val="600"/>
                </a:spcAft>
              </a:pPr>
              <a:t>12/7/2021</a:t>
            </a:fld>
            <a:endParaRPr lang="en-US">
              <a:latin typeface="+mn-lt"/>
              <a:ea typeface="+mn-ea"/>
              <a:cs typeface="+mn-cs"/>
            </a:endParaRPr>
          </a:p>
        </p:txBody>
      </p:sp>
      <p:sp>
        <p:nvSpPr>
          <p:cNvPr id="3" name="Footer Placeholder 2">
            <a:extLst>
              <a:ext uri="{FF2B5EF4-FFF2-40B4-BE49-F238E27FC236}">
                <a16:creationId xmlns:a16="http://schemas.microsoft.com/office/drawing/2014/main" id="{FDD3D8AD-D959-400C-9C58-ED7FB3E61887}"/>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r>
              <a:rPr lang="en-US" dirty="0"/>
              <a:t>Masters Project - Ebeid - Fall 2021</a:t>
            </a:r>
          </a:p>
        </p:txBody>
      </p:sp>
      <p:sp>
        <p:nvSpPr>
          <p:cNvPr id="4" name="Slide Number Placeholder 3">
            <a:extLst>
              <a:ext uri="{FF2B5EF4-FFF2-40B4-BE49-F238E27FC236}">
                <a16:creationId xmlns:a16="http://schemas.microsoft.com/office/drawing/2014/main" id="{DB38BCD4-D4B4-4DC0-96CF-9F4FF85B46F8}"/>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5A99AF73-65C2-407A-B44B-DB0F62C2405F}" type="slidenum">
              <a:rPr lang="en-US" smtClean="0">
                <a:latin typeface="+mn-lt"/>
                <a:ea typeface="+mn-ea"/>
                <a:cs typeface="+mn-cs"/>
              </a:rPr>
              <a:pPr>
                <a:spcAft>
                  <a:spcPts val="600"/>
                </a:spcAft>
              </a:pPr>
              <a:t>14</a:t>
            </a:fld>
            <a:endParaRPr lang="en-US">
              <a:latin typeface="+mn-lt"/>
              <a:ea typeface="+mn-ea"/>
              <a:cs typeface="+mn-cs"/>
            </a:endParaRPr>
          </a:p>
        </p:txBody>
      </p:sp>
    </p:spTree>
    <p:extLst>
      <p:ext uri="{BB962C8B-B14F-4D97-AF65-F5344CB8AC3E}">
        <p14:creationId xmlns:p14="http://schemas.microsoft.com/office/powerpoint/2010/main" val="34971614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2582FCE9-111E-4C83-B9E0-1692B21CF001}"/>
              </a:ext>
            </a:extLst>
          </p:cNvPr>
          <p:cNvSpPr txBox="1">
            <a:spLocks/>
          </p:cNvSpPr>
          <p:nvPr/>
        </p:nvSpPr>
        <p:spPr>
          <a:xfrm>
            <a:off x="838199" y="291090"/>
            <a:ext cx="10515599" cy="93268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Linux Libertine" panose="02000503000000000000" pitchFamily="2" charset="0"/>
                <a:ea typeface="Linux Libertine" panose="02000503000000000000" pitchFamily="2" charset="0"/>
                <a:cs typeface="Linux Libertine" panose="02000503000000000000" pitchFamily="2" charset="0"/>
              </a:defRPr>
            </a:lvl1pPr>
          </a:lstStyle>
          <a:p>
            <a:pPr>
              <a:spcAft>
                <a:spcPts val="600"/>
              </a:spcAft>
            </a:pPr>
            <a:r>
              <a:rPr lang="en-US" sz="3400" dirty="0">
                <a:latin typeface="+mj-lt"/>
                <a:ea typeface="+mj-ea"/>
                <a:cs typeface="+mj-cs"/>
              </a:rPr>
              <a:t>3</a:t>
            </a:r>
            <a:r>
              <a:rPr lang="en-US" sz="3400" kern="1200" dirty="0">
                <a:solidFill>
                  <a:schemeClr val="tx1"/>
                </a:solidFill>
                <a:latin typeface="+mj-lt"/>
                <a:ea typeface="+mj-ea"/>
                <a:cs typeface="+mj-cs"/>
              </a:rPr>
              <a:t>. Method: the </a:t>
            </a:r>
            <a:r>
              <a:rPr lang="en-US" sz="3400" dirty="0">
                <a:latin typeface="+mj-lt"/>
                <a:ea typeface="+mj-ea"/>
                <a:cs typeface="+mj-cs"/>
              </a:rPr>
              <a:t>P</a:t>
            </a:r>
            <a:r>
              <a:rPr lang="en-US" sz="3400" kern="1200" dirty="0">
                <a:solidFill>
                  <a:schemeClr val="tx1"/>
                </a:solidFill>
                <a:latin typeface="+mj-lt"/>
                <a:ea typeface="+mj-ea"/>
                <a:cs typeface="+mj-cs"/>
              </a:rPr>
              <a:t>ubMed dataset (Xu et al., 2020)</a:t>
            </a:r>
          </a:p>
        </p:txBody>
      </p:sp>
      <p:sp>
        <p:nvSpPr>
          <p:cNvPr id="2" name="Date Placeholder 1">
            <a:extLst>
              <a:ext uri="{FF2B5EF4-FFF2-40B4-BE49-F238E27FC236}">
                <a16:creationId xmlns:a16="http://schemas.microsoft.com/office/drawing/2014/main" id="{348F69A4-CBCC-464C-882C-93FEA4D5CC9A}"/>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a:spcAft>
                <a:spcPts val="600"/>
              </a:spcAft>
            </a:pPr>
            <a:fld id="{C1FFE036-1B22-46FC-8A87-65388E31D917}" type="datetime1">
              <a:rPr lang="en-US" smtClean="0">
                <a:latin typeface="+mn-lt"/>
                <a:ea typeface="+mn-ea"/>
                <a:cs typeface="+mn-cs"/>
              </a:rPr>
              <a:pPr>
                <a:spcAft>
                  <a:spcPts val="600"/>
                </a:spcAft>
              </a:pPr>
              <a:t>12/7/2021</a:t>
            </a:fld>
            <a:endParaRPr lang="en-US">
              <a:latin typeface="+mn-lt"/>
              <a:ea typeface="+mn-ea"/>
              <a:cs typeface="+mn-cs"/>
            </a:endParaRPr>
          </a:p>
        </p:txBody>
      </p:sp>
      <p:sp>
        <p:nvSpPr>
          <p:cNvPr id="3" name="Footer Placeholder 2">
            <a:extLst>
              <a:ext uri="{FF2B5EF4-FFF2-40B4-BE49-F238E27FC236}">
                <a16:creationId xmlns:a16="http://schemas.microsoft.com/office/drawing/2014/main" id="{FDD3D8AD-D959-400C-9C58-ED7FB3E61887}"/>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r>
              <a:rPr lang="en-US" dirty="0"/>
              <a:t>Masters Project - Ebeid - Fall 2021</a:t>
            </a:r>
          </a:p>
        </p:txBody>
      </p:sp>
      <p:sp>
        <p:nvSpPr>
          <p:cNvPr id="4" name="Slide Number Placeholder 3">
            <a:extLst>
              <a:ext uri="{FF2B5EF4-FFF2-40B4-BE49-F238E27FC236}">
                <a16:creationId xmlns:a16="http://schemas.microsoft.com/office/drawing/2014/main" id="{DB38BCD4-D4B4-4DC0-96CF-9F4FF85B46F8}"/>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5A99AF73-65C2-407A-B44B-DB0F62C2405F}" type="slidenum">
              <a:rPr lang="en-US" smtClean="0">
                <a:latin typeface="+mn-lt"/>
                <a:ea typeface="+mn-ea"/>
                <a:cs typeface="+mn-cs"/>
              </a:rPr>
              <a:pPr>
                <a:spcAft>
                  <a:spcPts val="600"/>
                </a:spcAft>
              </a:pPr>
              <a:t>15</a:t>
            </a:fld>
            <a:endParaRPr lang="en-US">
              <a:latin typeface="+mn-lt"/>
              <a:ea typeface="+mn-ea"/>
              <a:cs typeface="+mn-cs"/>
            </a:endParaRPr>
          </a:p>
        </p:txBody>
      </p:sp>
      <p:graphicFrame>
        <p:nvGraphicFramePr>
          <p:cNvPr id="5" name="Table 4">
            <a:extLst>
              <a:ext uri="{FF2B5EF4-FFF2-40B4-BE49-F238E27FC236}">
                <a16:creationId xmlns:a16="http://schemas.microsoft.com/office/drawing/2014/main" id="{3931473F-93DE-42D6-AAB9-D96C66727179}"/>
              </a:ext>
            </a:extLst>
          </p:cNvPr>
          <p:cNvGraphicFramePr>
            <a:graphicFrameLocks noGrp="1"/>
          </p:cNvGraphicFramePr>
          <p:nvPr>
            <p:extLst>
              <p:ext uri="{D42A27DB-BD31-4B8C-83A1-F6EECF244321}">
                <p14:modId xmlns:p14="http://schemas.microsoft.com/office/powerpoint/2010/main" val="3962074249"/>
              </p:ext>
            </p:extLst>
          </p:nvPr>
        </p:nvGraphicFramePr>
        <p:xfrm>
          <a:off x="838198" y="1923622"/>
          <a:ext cx="10515600" cy="4029523"/>
        </p:xfrm>
        <a:graphic>
          <a:graphicData uri="http://schemas.openxmlformats.org/drawingml/2006/table">
            <a:tbl>
              <a:tblPr firstRow="1" firstCol="1" bandRow="1">
                <a:tableStyleId>{5C22544A-7EE6-4342-B048-85BDC9FD1C3A}</a:tableStyleId>
              </a:tblPr>
              <a:tblGrid>
                <a:gridCol w="2670962">
                  <a:extLst>
                    <a:ext uri="{9D8B030D-6E8A-4147-A177-3AD203B41FA5}">
                      <a16:colId xmlns:a16="http://schemas.microsoft.com/office/drawing/2014/main" val="1475110263"/>
                    </a:ext>
                  </a:extLst>
                </a:gridCol>
                <a:gridCol w="1613093">
                  <a:extLst>
                    <a:ext uri="{9D8B030D-6E8A-4147-A177-3AD203B41FA5}">
                      <a16:colId xmlns:a16="http://schemas.microsoft.com/office/drawing/2014/main" val="1898674424"/>
                    </a:ext>
                  </a:extLst>
                </a:gridCol>
                <a:gridCol w="1640434">
                  <a:extLst>
                    <a:ext uri="{9D8B030D-6E8A-4147-A177-3AD203B41FA5}">
                      <a16:colId xmlns:a16="http://schemas.microsoft.com/office/drawing/2014/main" val="658561982"/>
                    </a:ext>
                  </a:extLst>
                </a:gridCol>
                <a:gridCol w="4591111">
                  <a:extLst>
                    <a:ext uri="{9D8B030D-6E8A-4147-A177-3AD203B41FA5}">
                      <a16:colId xmlns:a16="http://schemas.microsoft.com/office/drawing/2014/main" val="1153928538"/>
                    </a:ext>
                  </a:extLst>
                </a:gridCol>
              </a:tblGrid>
              <a:tr h="0">
                <a:tc>
                  <a:txBody>
                    <a:bodyPr/>
                    <a:lstStyle/>
                    <a:p>
                      <a:pPr marL="0" marR="0">
                        <a:lnSpc>
                          <a:spcPct val="200000"/>
                        </a:lnSpc>
                        <a:spcBef>
                          <a:spcPts val="0"/>
                        </a:spcBef>
                        <a:spcAft>
                          <a:spcPts val="0"/>
                        </a:spcAft>
                      </a:pPr>
                      <a:r>
                        <a:rPr lang="en-US" sz="1200" dirty="0">
                          <a:effectLst/>
                        </a:rPr>
                        <a:t>Table</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200">
                          <a:effectLst/>
                        </a:rPr>
                        <a:t># Of rows</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200">
                          <a:effectLst/>
                        </a:rPr>
                        <a:t># Of distinct entities</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200">
                          <a:effectLst/>
                        </a:rPr>
                        <a:t>Description</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08726505"/>
                  </a:ext>
                </a:extLst>
              </a:tr>
              <a:tr h="0">
                <a:tc>
                  <a:txBody>
                    <a:bodyPr/>
                    <a:lstStyle/>
                    <a:p>
                      <a:pPr marL="0" marR="0">
                        <a:lnSpc>
                          <a:spcPct val="200000"/>
                        </a:lnSpc>
                        <a:spcBef>
                          <a:spcPts val="0"/>
                        </a:spcBef>
                        <a:spcAft>
                          <a:spcPts val="0"/>
                        </a:spcAft>
                      </a:pPr>
                      <a:r>
                        <a:rPr lang="en-US" sz="1200" dirty="0">
                          <a:effectLst/>
                        </a:rPr>
                        <a:t>A01_Articles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200">
                          <a:effectLst/>
                        </a:rPr>
                        <a:t>31,928,777</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200">
                          <a:effectLst/>
                        </a:rPr>
                        <a:t>31,926,861</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200">
                          <a:effectLst/>
                        </a:rPr>
                        <a:t>A table containing PubMed articles’ bibliographic information.</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34747365"/>
                  </a:ext>
                </a:extLst>
              </a:tr>
              <a:tr h="0">
                <a:tc>
                  <a:txBody>
                    <a:bodyPr/>
                    <a:lstStyle/>
                    <a:p>
                      <a:pPr marL="0" marR="0">
                        <a:lnSpc>
                          <a:spcPct val="200000"/>
                        </a:lnSpc>
                        <a:spcBef>
                          <a:spcPts val="0"/>
                        </a:spcBef>
                        <a:spcAft>
                          <a:spcPts val="0"/>
                        </a:spcAft>
                      </a:pPr>
                      <a:r>
                        <a:rPr lang="en-US" sz="1200" dirty="0">
                          <a:effectLst/>
                        </a:rPr>
                        <a:t>A02_AuthorList</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200">
                          <a:effectLst/>
                        </a:rPr>
                        <a:t>131,446,038</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200">
                          <a:effectLst/>
                        </a:rPr>
                        <a:t>18,519,492</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200">
                          <a:effectLst/>
                        </a:rPr>
                        <a:t>A table containing PubMed authors and their unique identifier.</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36651795"/>
                  </a:ext>
                </a:extLst>
              </a:tr>
              <a:tr h="0">
                <a:tc>
                  <a:txBody>
                    <a:bodyPr/>
                    <a:lstStyle/>
                    <a:p>
                      <a:pPr marL="0" marR="0">
                        <a:lnSpc>
                          <a:spcPct val="200000"/>
                        </a:lnSpc>
                        <a:spcBef>
                          <a:spcPts val="0"/>
                        </a:spcBef>
                        <a:spcAft>
                          <a:spcPts val="0"/>
                        </a:spcAft>
                      </a:pPr>
                      <a:r>
                        <a:rPr lang="en-US" sz="1200">
                          <a:effectLst/>
                        </a:rPr>
                        <a:t>B10_BERN_Main</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200">
                          <a:effectLst/>
                        </a:rPr>
                        <a:t>295,921,671</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200">
                          <a:effectLst/>
                        </a:rPr>
                        <a:t>20,136,150</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200">
                          <a:effectLst/>
                        </a:rPr>
                        <a:t>A table containing all types of extracted</a:t>
                      </a:r>
                    </a:p>
                    <a:p>
                      <a:pPr marL="0" marR="0">
                        <a:lnSpc>
                          <a:spcPct val="200000"/>
                        </a:lnSpc>
                        <a:spcBef>
                          <a:spcPts val="0"/>
                        </a:spcBef>
                        <a:spcAft>
                          <a:spcPts val="0"/>
                        </a:spcAft>
                      </a:pPr>
                      <a:r>
                        <a:rPr lang="en-US" sz="1200">
                          <a:effectLst/>
                        </a:rPr>
                        <a:t>bio-entities by BioBERT are used in both building the Knowledge Graph and as an index.</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92812833"/>
                  </a:ext>
                </a:extLst>
              </a:tr>
              <a:tr h="0">
                <a:tc>
                  <a:txBody>
                    <a:bodyPr/>
                    <a:lstStyle/>
                    <a:p>
                      <a:pPr marL="0" marR="0">
                        <a:lnSpc>
                          <a:spcPct val="200000"/>
                        </a:lnSpc>
                        <a:spcBef>
                          <a:spcPts val="0"/>
                        </a:spcBef>
                        <a:spcAft>
                          <a:spcPts val="0"/>
                        </a:spcAft>
                      </a:pPr>
                      <a:r>
                        <a:rPr lang="en-US" sz="1200">
                          <a:effectLst/>
                        </a:rPr>
                        <a:t>C03_Affiliation_Merge</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200">
                          <a:effectLst/>
                        </a:rPr>
                        <a:t>62,015,712</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200">
                          <a:effectLst/>
                        </a:rPr>
                        <a:t>9,502,394</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200">
                          <a:effectLst/>
                        </a:rPr>
                        <a:t>Table containing affiliations and them</a:t>
                      </a:r>
                    </a:p>
                    <a:p>
                      <a:pPr marL="0" marR="0">
                        <a:lnSpc>
                          <a:spcPct val="200000"/>
                        </a:lnSpc>
                        <a:spcBef>
                          <a:spcPts val="0"/>
                        </a:spcBef>
                        <a:spcAft>
                          <a:spcPts val="0"/>
                        </a:spcAft>
                      </a:pPr>
                      <a:r>
                        <a:rPr lang="en-US" sz="1200">
                          <a:effectLst/>
                        </a:rPr>
                        <a:t>extracted fine-grained items.</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16346161"/>
                  </a:ext>
                </a:extLst>
              </a:tr>
              <a:tr h="0">
                <a:tc>
                  <a:txBody>
                    <a:bodyPr/>
                    <a:lstStyle/>
                    <a:p>
                      <a:pPr marL="0" marR="0">
                        <a:lnSpc>
                          <a:spcPct val="200000"/>
                        </a:lnSpc>
                        <a:spcBef>
                          <a:spcPts val="0"/>
                        </a:spcBef>
                        <a:spcAft>
                          <a:spcPts val="0"/>
                        </a:spcAft>
                      </a:pPr>
                      <a:r>
                        <a:rPr lang="en-US" sz="1200">
                          <a:effectLst/>
                        </a:rPr>
                        <a:t>C05_NIH_PubMed</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200">
                          <a:effectLst/>
                        </a:rPr>
                        <a:t>22,946,601</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200">
                          <a:effectLst/>
                        </a:rPr>
                        <a:t>116,530</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200">
                          <a:effectLst/>
                        </a:rPr>
                        <a:t>A table containing projects from NIH ExPORTER and mapping relation between PI_ID, PMID, and AND_ID.</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75419439"/>
                  </a:ext>
                </a:extLst>
              </a:tr>
              <a:tr h="0">
                <a:tc>
                  <a:txBody>
                    <a:bodyPr/>
                    <a:lstStyle/>
                    <a:p>
                      <a:pPr marL="0" marR="0">
                        <a:lnSpc>
                          <a:spcPct val="200000"/>
                        </a:lnSpc>
                        <a:spcBef>
                          <a:spcPts val="0"/>
                        </a:spcBef>
                        <a:spcAft>
                          <a:spcPts val="0"/>
                        </a:spcAft>
                      </a:pPr>
                      <a:r>
                        <a:rPr lang="en-US" sz="1200">
                          <a:effectLst/>
                        </a:rPr>
                        <a:t>C04_ReferenceList</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200">
                          <a:effectLst/>
                        </a:rPr>
                        <a:t>633,401,975</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200" dirty="0">
                          <a:effectLst/>
                        </a:rPr>
                        <a:t>23,856,949</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200" dirty="0">
                          <a:effectLst/>
                        </a:rPr>
                        <a:t>A table containing reference relations between PMID and reference PMID. It was extracted from the Web of Sciences.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19630804"/>
                  </a:ext>
                </a:extLst>
              </a:tr>
            </a:tbl>
          </a:graphicData>
        </a:graphic>
      </p:graphicFrame>
    </p:spTree>
    <p:extLst>
      <p:ext uri="{BB962C8B-B14F-4D97-AF65-F5344CB8AC3E}">
        <p14:creationId xmlns:p14="http://schemas.microsoft.com/office/powerpoint/2010/main" val="29234563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2582FCE9-111E-4C83-B9E0-1692B21CF001}"/>
              </a:ext>
            </a:extLst>
          </p:cNvPr>
          <p:cNvSpPr txBox="1">
            <a:spLocks/>
          </p:cNvSpPr>
          <p:nvPr/>
        </p:nvSpPr>
        <p:spPr>
          <a:xfrm>
            <a:off x="838199" y="291090"/>
            <a:ext cx="10515599" cy="93268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Linux Libertine" panose="02000503000000000000" pitchFamily="2" charset="0"/>
                <a:ea typeface="Linux Libertine" panose="02000503000000000000" pitchFamily="2" charset="0"/>
                <a:cs typeface="Linux Libertine" panose="02000503000000000000" pitchFamily="2" charset="0"/>
              </a:defRPr>
            </a:lvl1pPr>
          </a:lstStyle>
          <a:p>
            <a:pPr>
              <a:spcAft>
                <a:spcPts val="600"/>
              </a:spcAft>
            </a:pPr>
            <a:r>
              <a:rPr lang="en-US" sz="5400" dirty="0">
                <a:latin typeface="+mj-lt"/>
                <a:ea typeface="+mj-ea"/>
                <a:cs typeface="+mj-cs"/>
              </a:rPr>
              <a:t>3</a:t>
            </a:r>
            <a:r>
              <a:rPr lang="en-US" sz="5400" kern="1200" dirty="0">
                <a:solidFill>
                  <a:schemeClr val="tx1"/>
                </a:solidFill>
                <a:latin typeface="+mj-lt"/>
                <a:ea typeface="+mj-ea"/>
                <a:cs typeface="+mj-cs"/>
              </a:rPr>
              <a:t>. Method: indexing</a:t>
            </a:r>
          </a:p>
        </p:txBody>
      </p:sp>
      <p:pic>
        <p:nvPicPr>
          <p:cNvPr id="6" name="Graphic 3">
            <a:extLst>
              <a:ext uri="{FF2B5EF4-FFF2-40B4-BE49-F238E27FC236}">
                <a16:creationId xmlns:a16="http://schemas.microsoft.com/office/drawing/2014/main" id="{81A0CA5B-DEF2-441D-B67C-02904ACA9D19}"/>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148670" y="1863801"/>
            <a:ext cx="7894659" cy="4440746"/>
          </a:xfrm>
          <a:prstGeom prst="rect">
            <a:avLst/>
          </a:prstGeom>
        </p:spPr>
      </p:pic>
      <p:sp>
        <p:nvSpPr>
          <p:cNvPr id="2" name="Date Placeholder 1">
            <a:extLst>
              <a:ext uri="{FF2B5EF4-FFF2-40B4-BE49-F238E27FC236}">
                <a16:creationId xmlns:a16="http://schemas.microsoft.com/office/drawing/2014/main" id="{348F69A4-CBCC-464C-882C-93FEA4D5CC9A}"/>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a:spcAft>
                <a:spcPts val="600"/>
              </a:spcAft>
            </a:pPr>
            <a:fld id="{C1FFE036-1B22-46FC-8A87-65388E31D917}" type="datetime1">
              <a:rPr lang="en-US" smtClean="0">
                <a:latin typeface="+mn-lt"/>
                <a:ea typeface="+mn-ea"/>
                <a:cs typeface="+mn-cs"/>
              </a:rPr>
              <a:pPr>
                <a:spcAft>
                  <a:spcPts val="600"/>
                </a:spcAft>
              </a:pPr>
              <a:t>12/7/2021</a:t>
            </a:fld>
            <a:endParaRPr lang="en-US">
              <a:latin typeface="+mn-lt"/>
              <a:ea typeface="+mn-ea"/>
              <a:cs typeface="+mn-cs"/>
            </a:endParaRPr>
          </a:p>
        </p:txBody>
      </p:sp>
      <p:sp>
        <p:nvSpPr>
          <p:cNvPr id="3" name="Footer Placeholder 2">
            <a:extLst>
              <a:ext uri="{FF2B5EF4-FFF2-40B4-BE49-F238E27FC236}">
                <a16:creationId xmlns:a16="http://schemas.microsoft.com/office/drawing/2014/main" id="{FDD3D8AD-D959-400C-9C58-ED7FB3E61887}"/>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r>
              <a:rPr lang="en-US" dirty="0"/>
              <a:t>Masters Project - Ebeid - Fall 2021</a:t>
            </a:r>
          </a:p>
        </p:txBody>
      </p:sp>
      <p:sp>
        <p:nvSpPr>
          <p:cNvPr id="4" name="Slide Number Placeholder 3">
            <a:extLst>
              <a:ext uri="{FF2B5EF4-FFF2-40B4-BE49-F238E27FC236}">
                <a16:creationId xmlns:a16="http://schemas.microsoft.com/office/drawing/2014/main" id="{DB38BCD4-D4B4-4DC0-96CF-9F4FF85B46F8}"/>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5A99AF73-65C2-407A-B44B-DB0F62C2405F}" type="slidenum">
              <a:rPr lang="en-US" smtClean="0">
                <a:latin typeface="+mn-lt"/>
                <a:ea typeface="+mn-ea"/>
                <a:cs typeface="+mn-cs"/>
              </a:rPr>
              <a:pPr>
                <a:spcAft>
                  <a:spcPts val="600"/>
                </a:spcAft>
              </a:pPr>
              <a:t>16</a:t>
            </a:fld>
            <a:endParaRPr lang="en-US">
              <a:latin typeface="+mn-lt"/>
              <a:ea typeface="+mn-ea"/>
              <a:cs typeface="+mn-cs"/>
            </a:endParaRPr>
          </a:p>
        </p:txBody>
      </p:sp>
    </p:spTree>
    <p:extLst>
      <p:ext uri="{BB962C8B-B14F-4D97-AF65-F5344CB8AC3E}">
        <p14:creationId xmlns:p14="http://schemas.microsoft.com/office/powerpoint/2010/main" val="5371666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2582FCE9-111E-4C83-B9E0-1692B21CF001}"/>
              </a:ext>
            </a:extLst>
          </p:cNvPr>
          <p:cNvSpPr txBox="1">
            <a:spLocks/>
          </p:cNvSpPr>
          <p:nvPr/>
        </p:nvSpPr>
        <p:spPr>
          <a:xfrm>
            <a:off x="838199" y="291090"/>
            <a:ext cx="10515599" cy="93268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Linux Libertine" panose="02000503000000000000" pitchFamily="2" charset="0"/>
                <a:ea typeface="Linux Libertine" panose="02000503000000000000" pitchFamily="2" charset="0"/>
                <a:cs typeface="Linux Libertine" panose="02000503000000000000" pitchFamily="2" charset="0"/>
              </a:defRPr>
            </a:lvl1pPr>
          </a:lstStyle>
          <a:p>
            <a:pPr>
              <a:spcAft>
                <a:spcPts val="600"/>
              </a:spcAft>
            </a:pPr>
            <a:r>
              <a:rPr lang="en-US" sz="4600" dirty="0">
                <a:latin typeface="+mj-lt"/>
                <a:ea typeface="+mj-ea"/>
                <a:cs typeface="+mj-cs"/>
              </a:rPr>
              <a:t>3</a:t>
            </a:r>
            <a:r>
              <a:rPr lang="en-US" sz="4600" kern="1200" dirty="0">
                <a:solidFill>
                  <a:schemeClr val="tx1"/>
                </a:solidFill>
                <a:latin typeface="+mj-lt"/>
                <a:ea typeface="+mj-ea"/>
                <a:cs typeface="+mj-cs"/>
              </a:rPr>
              <a:t>. Method: knowledge graph extraction</a:t>
            </a:r>
          </a:p>
        </p:txBody>
      </p:sp>
      <p:pic>
        <p:nvPicPr>
          <p:cNvPr id="8" name="Graphic 4">
            <a:extLst>
              <a:ext uri="{FF2B5EF4-FFF2-40B4-BE49-F238E27FC236}">
                <a16:creationId xmlns:a16="http://schemas.microsoft.com/office/drawing/2014/main" id="{0E921640-D1FD-46FB-B169-0C074452A8B1}"/>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148670" y="1863801"/>
            <a:ext cx="7894659" cy="4440746"/>
          </a:xfrm>
          <a:prstGeom prst="rect">
            <a:avLst/>
          </a:prstGeom>
        </p:spPr>
      </p:pic>
      <p:sp>
        <p:nvSpPr>
          <p:cNvPr id="2" name="Date Placeholder 1">
            <a:extLst>
              <a:ext uri="{FF2B5EF4-FFF2-40B4-BE49-F238E27FC236}">
                <a16:creationId xmlns:a16="http://schemas.microsoft.com/office/drawing/2014/main" id="{348F69A4-CBCC-464C-882C-93FEA4D5CC9A}"/>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a:spcAft>
                <a:spcPts val="600"/>
              </a:spcAft>
            </a:pPr>
            <a:fld id="{C1FFE036-1B22-46FC-8A87-65388E31D917}" type="datetime1">
              <a:rPr lang="en-US" smtClean="0">
                <a:latin typeface="+mn-lt"/>
                <a:ea typeface="+mn-ea"/>
                <a:cs typeface="+mn-cs"/>
              </a:rPr>
              <a:pPr>
                <a:spcAft>
                  <a:spcPts val="600"/>
                </a:spcAft>
              </a:pPr>
              <a:t>12/7/2021</a:t>
            </a:fld>
            <a:endParaRPr lang="en-US">
              <a:latin typeface="+mn-lt"/>
              <a:ea typeface="+mn-ea"/>
              <a:cs typeface="+mn-cs"/>
            </a:endParaRPr>
          </a:p>
        </p:txBody>
      </p:sp>
      <p:sp>
        <p:nvSpPr>
          <p:cNvPr id="3" name="Footer Placeholder 2">
            <a:extLst>
              <a:ext uri="{FF2B5EF4-FFF2-40B4-BE49-F238E27FC236}">
                <a16:creationId xmlns:a16="http://schemas.microsoft.com/office/drawing/2014/main" id="{FDD3D8AD-D959-400C-9C58-ED7FB3E61887}"/>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r>
              <a:rPr lang="en-US" dirty="0"/>
              <a:t>Masters Project - Ebeid - Fall 2021</a:t>
            </a:r>
          </a:p>
        </p:txBody>
      </p:sp>
      <p:sp>
        <p:nvSpPr>
          <p:cNvPr id="4" name="Slide Number Placeholder 3">
            <a:extLst>
              <a:ext uri="{FF2B5EF4-FFF2-40B4-BE49-F238E27FC236}">
                <a16:creationId xmlns:a16="http://schemas.microsoft.com/office/drawing/2014/main" id="{DB38BCD4-D4B4-4DC0-96CF-9F4FF85B46F8}"/>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5A99AF73-65C2-407A-B44B-DB0F62C2405F}" type="slidenum">
              <a:rPr lang="en-US" smtClean="0">
                <a:latin typeface="+mn-lt"/>
                <a:ea typeface="+mn-ea"/>
                <a:cs typeface="+mn-cs"/>
              </a:rPr>
              <a:pPr>
                <a:spcAft>
                  <a:spcPts val="600"/>
                </a:spcAft>
              </a:pPr>
              <a:t>17</a:t>
            </a:fld>
            <a:endParaRPr lang="en-US">
              <a:latin typeface="+mn-lt"/>
              <a:ea typeface="+mn-ea"/>
              <a:cs typeface="+mn-cs"/>
            </a:endParaRPr>
          </a:p>
        </p:txBody>
      </p:sp>
      <p:sp>
        <p:nvSpPr>
          <p:cNvPr id="9" name="TextBox 8">
            <a:extLst>
              <a:ext uri="{FF2B5EF4-FFF2-40B4-BE49-F238E27FC236}">
                <a16:creationId xmlns:a16="http://schemas.microsoft.com/office/drawing/2014/main" id="{10087A74-A4A6-44EB-822F-F95771FF0523}"/>
              </a:ext>
            </a:extLst>
          </p:cNvPr>
          <p:cNvSpPr txBox="1"/>
          <p:nvPr/>
        </p:nvSpPr>
        <p:spPr>
          <a:xfrm>
            <a:off x="838199" y="1488832"/>
            <a:ext cx="8160658" cy="369332"/>
          </a:xfrm>
          <a:prstGeom prst="rect">
            <a:avLst/>
          </a:prstGeom>
          <a:noFill/>
        </p:spPr>
        <p:txBody>
          <a:bodyPr wrap="square">
            <a:spAutoFit/>
          </a:bodyPr>
          <a:lstStyle/>
          <a:p>
            <a:r>
              <a:rPr lang="en-US" sz="1800" dirty="0">
                <a:effectLst/>
                <a:latin typeface="Linux Libertine" panose="02000503000000000000" pitchFamily="2" charset="0"/>
                <a:ea typeface="Calibri" panose="020F0502020204030204" pitchFamily="34" charset="0"/>
                <a:cs typeface="Times New Roman" panose="02020603050405020304" pitchFamily="18" charset="0"/>
              </a:rPr>
              <a:t>&lt;“</a:t>
            </a:r>
            <a:r>
              <a:rPr lang="en-US" sz="1800" dirty="0" err="1">
                <a:effectLst/>
                <a:latin typeface="Linux Libertine" panose="02000503000000000000" pitchFamily="2" charset="0"/>
                <a:ea typeface="Calibri" panose="020F0502020204030204" pitchFamily="34" charset="0"/>
                <a:cs typeface="Times New Roman" panose="02020603050405020304" pitchFamily="18" charset="0"/>
              </a:rPr>
              <a:t>bioentity</a:t>
            </a:r>
            <a:r>
              <a:rPr lang="en-US" sz="1800" dirty="0">
                <a:effectLst/>
                <a:latin typeface="Linux Libertine" panose="02000503000000000000" pitchFamily="2" charset="0"/>
                <a:ea typeface="Calibri" panose="020F0502020204030204" pitchFamily="34" charset="0"/>
                <a:cs typeface="Times New Roman" panose="02020603050405020304" pitchFamily="18" charset="0"/>
              </a:rPr>
              <a:t>/drug/1256”, “</a:t>
            </a:r>
            <a:r>
              <a:rPr lang="en-US" sz="1800" dirty="0" err="1">
                <a:effectLst/>
                <a:latin typeface="Linux Libertine" panose="02000503000000000000" pitchFamily="2" charset="0"/>
                <a:ea typeface="Calibri" panose="020F0502020204030204" pitchFamily="34" charset="0"/>
                <a:cs typeface="Times New Roman" panose="02020603050405020304" pitchFamily="18" charset="0"/>
              </a:rPr>
              <a:t>isMentionedIn</a:t>
            </a:r>
            <a:r>
              <a:rPr lang="en-US" sz="1800" dirty="0">
                <a:effectLst/>
                <a:latin typeface="Linux Libertine" panose="02000503000000000000" pitchFamily="2" charset="0"/>
                <a:ea typeface="Calibri" panose="020F0502020204030204" pitchFamily="34" charset="0"/>
                <a:cs typeface="Times New Roman" panose="02020603050405020304" pitchFamily="18" charset="0"/>
              </a:rPr>
              <a:t>/mentions,” “article/</a:t>
            </a:r>
            <a:r>
              <a:rPr lang="en-US" sz="1800" dirty="0" err="1">
                <a:effectLst/>
                <a:latin typeface="Linux Libertine" panose="02000503000000000000" pitchFamily="2" charset="0"/>
                <a:ea typeface="Calibri" panose="020F0502020204030204" pitchFamily="34" charset="0"/>
                <a:cs typeface="Times New Roman" panose="02020603050405020304" pitchFamily="18" charset="0"/>
              </a:rPr>
              <a:t>pmid</a:t>
            </a:r>
            <a:r>
              <a:rPr lang="en-US" sz="1800" dirty="0">
                <a:effectLst/>
                <a:latin typeface="Linux Libertine" panose="02000503000000000000" pitchFamily="2" charset="0"/>
                <a:ea typeface="Calibri" panose="020F0502020204030204" pitchFamily="34" charset="0"/>
                <a:cs typeface="Times New Roman" panose="02020603050405020304" pitchFamily="18" charset="0"/>
              </a:rPr>
              <a:t>/78456”&gt;</a:t>
            </a:r>
            <a:endParaRPr lang="en-US" dirty="0"/>
          </a:p>
        </p:txBody>
      </p:sp>
    </p:spTree>
    <p:extLst>
      <p:ext uri="{BB962C8B-B14F-4D97-AF65-F5344CB8AC3E}">
        <p14:creationId xmlns:p14="http://schemas.microsoft.com/office/powerpoint/2010/main" val="40312517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2582FCE9-111E-4C83-B9E0-1692B21CF001}"/>
              </a:ext>
            </a:extLst>
          </p:cNvPr>
          <p:cNvSpPr txBox="1">
            <a:spLocks/>
          </p:cNvSpPr>
          <p:nvPr/>
        </p:nvSpPr>
        <p:spPr>
          <a:xfrm>
            <a:off x="838199" y="291090"/>
            <a:ext cx="10515599" cy="93268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Linux Libertine" panose="02000503000000000000" pitchFamily="2" charset="0"/>
                <a:ea typeface="Linux Libertine" panose="02000503000000000000" pitchFamily="2" charset="0"/>
                <a:cs typeface="Linux Libertine" panose="02000503000000000000" pitchFamily="2" charset="0"/>
              </a:defRPr>
            </a:lvl1pPr>
          </a:lstStyle>
          <a:p>
            <a:pPr>
              <a:spcAft>
                <a:spcPts val="600"/>
              </a:spcAft>
            </a:pPr>
            <a:r>
              <a:rPr lang="en-US" sz="4600" dirty="0">
                <a:latin typeface="+mj-lt"/>
                <a:ea typeface="+mj-ea"/>
                <a:cs typeface="+mj-cs"/>
              </a:rPr>
              <a:t>3</a:t>
            </a:r>
            <a:r>
              <a:rPr lang="en-US" sz="4600" kern="1200" dirty="0">
                <a:solidFill>
                  <a:schemeClr val="tx1"/>
                </a:solidFill>
                <a:latin typeface="+mj-lt"/>
                <a:ea typeface="+mj-ea"/>
                <a:cs typeface="+mj-cs"/>
              </a:rPr>
              <a:t>. Method: knowledge graph extraction</a:t>
            </a:r>
          </a:p>
        </p:txBody>
      </p:sp>
      <p:pic>
        <p:nvPicPr>
          <p:cNvPr id="9" name="Graphic 7">
            <a:extLst>
              <a:ext uri="{FF2B5EF4-FFF2-40B4-BE49-F238E27FC236}">
                <a16:creationId xmlns:a16="http://schemas.microsoft.com/office/drawing/2014/main" id="{104DF5A5-94B3-4472-A085-0D2DB4884194}"/>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148670" y="1863801"/>
            <a:ext cx="7894659" cy="4440746"/>
          </a:xfrm>
          <a:prstGeom prst="rect">
            <a:avLst/>
          </a:prstGeom>
        </p:spPr>
      </p:pic>
      <p:sp>
        <p:nvSpPr>
          <p:cNvPr id="2" name="Date Placeholder 1">
            <a:extLst>
              <a:ext uri="{FF2B5EF4-FFF2-40B4-BE49-F238E27FC236}">
                <a16:creationId xmlns:a16="http://schemas.microsoft.com/office/drawing/2014/main" id="{348F69A4-CBCC-464C-882C-93FEA4D5CC9A}"/>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a:spcAft>
                <a:spcPts val="600"/>
              </a:spcAft>
            </a:pPr>
            <a:fld id="{C1FFE036-1B22-46FC-8A87-65388E31D917}" type="datetime1">
              <a:rPr lang="en-US" smtClean="0">
                <a:latin typeface="+mn-lt"/>
                <a:ea typeface="+mn-ea"/>
                <a:cs typeface="+mn-cs"/>
              </a:rPr>
              <a:pPr>
                <a:spcAft>
                  <a:spcPts val="600"/>
                </a:spcAft>
              </a:pPr>
              <a:t>12/7/2021</a:t>
            </a:fld>
            <a:endParaRPr lang="en-US">
              <a:latin typeface="+mn-lt"/>
              <a:ea typeface="+mn-ea"/>
              <a:cs typeface="+mn-cs"/>
            </a:endParaRPr>
          </a:p>
        </p:txBody>
      </p:sp>
      <p:sp>
        <p:nvSpPr>
          <p:cNvPr id="3" name="Footer Placeholder 2">
            <a:extLst>
              <a:ext uri="{FF2B5EF4-FFF2-40B4-BE49-F238E27FC236}">
                <a16:creationId xmlns:a16="http://schemas.microsoft.com/office/drawing/2014/main" id="{FDD3D8AD-D959-400C-9C58-ED7FB3E61887}"/>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r>
              <a:rPr lang="en-US" dirty="0"/>
              <a:t>Masters Project - Ebeid - Fall 2021</a:t>
            </a:r>
          </a:p>
        </p:txBody>
      </p:sp>
      <p:sp>
        <p:nvSpPr>
          <p:cNvPr id="4" name="Slide Number Placeholder 3">
            <a:extLst>
              <a:ext uri="{FF2B5EF4-FFF2-40B4-BE49-F238E27FC236}">
                <a16:creationId xmlns:a16="http://schemas.microsoft.com/office/drawing/2014/main" id="{DB38BCD4-D4B4-4DC0-96CF-9F4FF85B46F8}"/>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5A99AF73-65C2-407A-B44B-DB0F62C2405F}" type="slidenum">
              <a:rPr lang="en-US" smtClean="0">
                <a:latin typeface="+mn-lt"/>
                <a:ea typeface="+mn-ea"/>
                <a:cs typeface="+mn-cs"/>
              </a:rPr>
              <a:pPr>
                <a:spcAft>
                  <a:spcPts val="600"/>
                </a:spcAft>
              </a:pPr>
              <a:t>18</a:t>
            </a:fld>
            <a:endParaRPr lang="en-US">
              <a:latin typeface="+mn-lt"/>
              <a:ea typeface="+mn-ea"/>
              <a:cs typeface="+mn-cs"/>
            </a:endParaRPr>
          </a:p>
        </p:txBody>
      </p:sp>
      <p:sp>
        <p:nvSpPr>
          <p:cNvPr id="8" name="TextBox 7">
            <a:extLst>
              <a:ext uri="{FF2B5EF4-FFF2-40B4-BE49-F238E27FC236}">
                <a16:creationId xmlns:a16="http://schemas.microsoft.com/office/drawing/2014/main" id="{3097B989-901B-4227-A396-17626195AB40}"/>
              </a:ext>
            </a:extLst>
          </p:cNvPr>
          <p:cNvSpPr txBox="1"/>
          <p:nvPr/>
        </p:nvSpPr>
        <p:spPr>
          <a:xfrm>
            <a:off x="838199" y="1376168"/>
            <a:ext cx="9676843" cy="369332"/>
          </a:xfrm>
          <a:prstGeom prst="rect">
            <a:avLst/>
          </a:prstGeom>
          <a:noFill/>
        </p:spPr>
        <p:txBody>
          <a:bodyPr wrap="square">
            <a:spAutoFit/>
          </a:bodyPr>
          <a:lstStyle/>
          <a:p>
            <a:r>
              <a:rPr lang="en-US" sz="1800" dirty="0">
                <a:effectLst/>
                <a:latin typeface="Linux Libertine" panose="02000503000000000000" pitchFamily="2" charset="0"/>
                <a:ea typeface="Calibri" panose="020F0502020204030204" pitchFamily="34" charset="0"/>
              </a:rPr>
              <a:t>&lt;“article/</a:t>
            </a:r>
            <a:r>
              <a:rPr lang="en-US" sz="1800" dirty="0" err="1">
                <a:effectLst/>
                <a:latin typeface="Linux Libertine" panose="02000503000000000000" pitchFamily="2" charset="0"/>
                <a:ea typeface="Calibri" panose="020F0502020204030204" pitchFamily="34" charset="0"/>
              </a:rPr>
              <a:t>pmid</a:t>
            </a:r>
            <a:r>
              <a:rPr lang="en-US" sz="1800" dirty="0">
                <a:effectLst/>
                <a:latin typeface="Linux Libertine" panose="02000503000000000000" pitchFamily="2" charset="0"/>
                <a:ea typeface="Calibri" panose="020F0502020204030204" pitchFamily="34" charset="0"/>
              </a:rPr>
              <a:t>/652148”, “</a:t>
            </a:r>
            <a:r>
              <a:rPr lang="en-US" sz="1800" dirty="0" err="1">
                <a:effectLst/>
                <a:latin typeface="Linux Libertine" panose="02000503000000000000" pitchFamily="2" charset="0"/>
                <a:ea typeface="Calibri" panose="020F0502020204030204" pitchFamily="34" charset="0"/>
              </a:rPr>
              <a:t>isCitedBy</a:t>
            </a:r>
            <a:r>
              <a:rPr lang="en-US" sz="1800" dirty="0">
                <a:effectLst/>
                <a:latin typeface="Linux Libertine" panose="02000503000000000000" pitchFamily="2" charset="0"/>
                <a:ea typeface="Calibri" panose="020F0502020204030204" pitchFamily="34" charset="0"/>
              </a:rPr>
              <a:t>/cites,” “article/</a:t>
            </a:r>
            <a:r>
              <a:rPr lang="en-US" sz="1800" dirty="0" err="1">
                <a:effectLst/>
                <a:latin typeface="Linux Libertine" panose="02000503000000000000" pitchFamily="2" charset="0"/>
                <a:ea typeface="Calibri" panose="020F0502020204030204" pitchFamily="34" charset="0"/>
              </a:rPr>
              <a:t>pmid</a:t>
            </a:r>
            <a:r>
              <a:rPr lang="en-US" sz="1800" dirty="0">
                <a:effectLst/>
                <a:latin typeface="Linux Libertine" panose="02000503000000000000" pitchFamily="2" charset="0"/>
                <a:ea typeface="Calibri" panose="020F0502020204030204" pitchFamily="34" charset="0"/>
              </a:rPr>
              <a:t>/415923”&gt;</a:t>
            </a:r>
            <a:endParaRPr lang="en-US" dirty="0"/>
          </a:p>
        </p:txBody>
      </p:sp>
    </p:spTree>
    <p:extLst>
      <p:ext uri="{BB962C8B-B14F-4D97-AF65-F5344CB8AC3E}">
        <p14:creationId xmlns:p14="http://schemas.microsoft.com/office/powerpoint/2010/main" val="20396052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2582FCE9-111E-4C83-B9E0-1692B21CF001}"/>
              </a:ext>
            </a:extLst>
          </p:cNvPr>
          <p:cNvSpPr txBox="1">
            <a:spLocks/>
          </p:cNvSpPr>
          <p:nvPr/>
        </p:nvSpPr>
        <p:spPr>
          <a:xfrm>
            <a:off x="838199" y="291090"/>
            <a:ext cx="10515599" cy="93268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Linux Libertine" panose="02000503000000000000" pitchFamily="2" charset="0"/>
                <a:ea typeface="Linux Libertine" panose="02000503000000000000" pitchFamily="2" charset="0"/>
                <a:cs typeface="Linux Libertine" panose="02000503000000000000" pitchFamily="2" charset="0"/>
              </a:defRPr>
            </a:lvl1pPr>
          </a:lstStyle>
          <a:p>
            <a:pPr>
              <a:spcAft>
                <a:spcPts val="600"/>
              </a:spcAft>
            </a:pPr>
            <a:r>
              <a:rPr lang="en-US" sz="4600" dirty="0">
                <a:latin typeface="+mj-lt"/>
                <a:ea typeface="+mj-ea"/>
                <a:cs typeface="+mj-cs"/>
              </a:rPr>
              <a:t>3</a:t>
            </a:r>
            <a:r>
              <a:rPr lang="en-US" sz="4600" kern="1200" dirty="0">
                <a:solidFill>
                  <a:schemeClr val="tx1"/>
                </a:solidFill>
                <a:latin typeface="+mj-lt"/>
                <a:ea typeface="+mj-ea"/>
                <a:cs typeface="+mj-cs"/>
              </a:rPr>
              <a:t>. Method: KG embedding: Node2vec</a:t>
            </a:r>
          </a:p>
        </p:txBody>
      </p:sp>
      <p:pic>
        <p:nvPicPr>
          <p:cNvPr id="8" name="Graphic 17">
            <a:extLst>
              <a:ext uri="{FF2B5EF4-FFF2-40B4-BE49-F238E27FC236}">
                <a16:creationId xmlns:a16="http://schemas.microsoft.com/office/drawing/2014/main" id="{C597C002-ACC7-424D-AEA1-AB957670E61B}"/>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8200" y="2411238"/>
            <a:ext cx="10515599" cy="3345872"/>
          </a:xfrm>
          <a:prstGeom prst="rect">
            <a:avLst/>
          </a:prstGeom>
        </p:spPr>
      </p:pic>
      <p:sp>
        <p:nvSpPr>
          <p:cNvPr id="2" name="Date Placeholder 1">
            <a:extLst>
              <a:ext uri="{FF2B5EF4-FFF2-40B4-BE49-F238E27FC236}">
                <a16:creationId xmlns:a16="http://schemas.microsoft.com/office/drawing/2014/main" id="{348F69A4-CBCC-464C-882C-93FEA4D5CC9A}"/>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a:spcAft>
                <a:spcPts val="600"/>
              </a:spcAft>
            </a:pPr>
            <a:fld id="{C1FFE036-1B22-46FC-8A87-65388E31D917}" type="datetime1">
              <a:rPr lang="en-US" smtClean="0">
                <a:latin typeface="+mn-lt"/>
                <a:ea typeface="+mn-ea"/>
                <a:cs typeface="+mn-cs"/>
              </a:rPr>
              <a:pPr>
                <a:spcAft>
                  <a:spcPts val="600"/>
                </a:spcAft>
              </a:pPr>
              <a:t>12/7/2021</a:t>
            </a:fld>
            <a:endParaRPr lang="en-US">
              <a:latin typeface="+mn-lt"/>
              <a:ea typeface="+mn-ea"/>
              <a:cs typeface="+mn-cs"/>
            </a:endParaRPr>
          </a:p>
        </p:txBody>
      </p:sp>
      <p:sp>
        <p:nvSpPr>
          <p:cNvPr id="3" name="Footer Placeholder 2">
            <a:extLst>
              <a:ext uri="{FF2B5EF4-FFF2-40B4-BE49-F238E27FC236}">
                <a16:creationId xmlns:a16="http://schemas.microsoft.com/office/drawing/2014/main" id="{FDD3D8AD-D959-400C-9C58-ED7FB3E61887}"/>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r>
              <a:rPr lang="en-US" dirty="0"/>
              <a:t>Masters Project - Ebeid - Fall 2021</a:t>
            </a:r>
          </a:p>
        </p:txBody>
      </p:sp>
      <p:sp>
        <p:nvSpPr>
          <p:cNvPr id="4" name="Slide Number Placeholder 3">
            <a:extLst>
              <a:ext uri="{FF2B5EF4-FFF2-40B4-BE49-F238E27FC236}">
                <a16:creationId xmlns:a16="http://schemas.microsoft.com/office/drawing/2014/main" id="{DB38BCD4-D4B4-4DC0-96CF-9F4FF85B46F8}"/>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5A99AF73-65C2-407A-B44B-DB0F62C2405F}" type="slidenum">
              <a:rPr lang="en-US" smtClean="0">
                <a:latin typeface="+mn-lt"/>
                <a:ea typeface="+mn-ea"/>
                <a:cs typeface="+mn-cs"/>
              </a:rPr>
              <a:pPr>
                <a:spcAft>
                  <a:spcPts val="600"/>
                </a:spcAft>
              </a:pPr>
              <a:t>19</a:t>
            </a:fld>
            <a:endParaRPr lang="en-US">
              <a:latin typeface="+mn-lt"/>
              <a:ea typeface="+mn-ea"/>
              <a:cs typeface="+mn-cs"/>
            </a:endParaRPr>
          </a:p>
        </p:txBody>
      </p:sp>
      <p:sp>
        <p:nvSpPr>
          <p:cNvPr id="5" name="Rectangle 4">
            <a:extLst>
              <a:ext uri="{FF2B5EF4-FFF2-40B4-BE49-F238E27FC236}">
                <a16:creationId xmlns:a16="http://schemas.microsoft.com/office/drawing/2014/main" id="{BE61AC87-4E2F-4A18-861B-EEE0CFC0FF4E}"/>
              </a:ext>
            </a:extLst>
          </p:cNvPr>
          <p:cNvSpPr/>
          <p:nvPr/>
        </p:nvSpPr>
        <p:spPr>
          <a:xfrm>
            <a:off x="5283200" y="2411238"/>
            <a:ext cx="2467429" cy="269779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345998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BA82155-E704-4E74-9416-EBA24F8A3B25}"/>
              </a:ext>
            </a:extLst>
          </p:cNvPr>
          <p:cNvSpPr>
            <a:spLocks noGrp="1"/>
          </p:cNvSpPr>
          <p:nvPr>
            <p:ph type="dt" sz="half" idx="10"/>
          </p:nvPr>
        </p:nvSpPr>
        <p:spPr/>
        <p:txBody>
          <a:bodyPr/>
          <a:lstStyle/>
          <a:p>
            <a:fld id="{C1FFE036-1B22-46FC-8A87-65388E31D917}" type="datetime1">
              <a:rPr lang="en-US" smtClean="0"/>
              <a:t>12/7/2021</a:t>
            </a:fld>
            <a:endParaRPr lang="en-US"/>
          </a:p>
        </p:txBody>
      </p:sp>
      <p:sp>
        <p:nvSpPr>
          <p:cNvPr id="3" name="Footer Placeholder 2">
            <a:extLst>
              <a:ext uri="{FF2B5EF4-FFF2-40B4-BE49-F238E27FC236}">
                <a16:creationId xmlns:a16="http://schemas.microsoft.com/office/drawing/2014/main" id="{E0D580D2-B38D-451B-B4BE-CD04255DEF72}"/>
              </a:ext>
            </a:extLst>
          </p:cNvPr>
          <p:cNvSpPr>
            <a:spLocks noGrp="1"/>
          </p:cNvSpPr>
          <p:nvPr>
            <p:ph type="ftr" sz="quarter" idx="11"/>
          </p:nvPr>
        </p:nvSpPr>
        <p:spPr/>
        <p:txBody>
          <a:bodyPr/>
          <a:lstStyle/>
          <a:p>
            <a:r>
              <a:rPr lang="en-US" dirty="0"/>
              <a:t>Masters Project - Ebeid - Fall 2021</a:t>
            </a:r>
          </a:p>
        </p:txBody>
      </p:sp>
      <p:sp>
        <p:nvSpPr>
          <p:cNvPr id="4" name="Slide Number Placeholder 3">
            <a:extLst>
              <a:ext uri="{FF2B5EF4-FFF2-40B4-BE49-F238E27FC236}">
                <a16:creationId xmlns:a16="http://schemas.microsoft.com/office/drawing/2014/main" id="{E761730D-D557-4D05-88A1-1DE50017EC5D}"/>
              </a:ext>
            </a:extLst>
          </p:cNvPr>
          <p:cNvSpPr>
            <a:spLocks noGrp="1"/>
          </p:cNvSpPr>
          <p:nvPr>
            <p:ph type="sldNum" sz="quarter" idx="12"/>
          </p:nvPr>
        </p:nvSpPr>
        <p:spPr/>
        <p:txBody>
          <a:bodyPr/>
          <a:lstStyle/>
          <a:p>
            <a:fld id="{5A99AF73-65C2-407A-B44B-DB0F62C2405F}" type="slidenum">
              <a:rPr lang="en-US" smtClean="0"/>
              <a:t>20</a:t>
            </a:fld>
            <a:endParaRPr lang="en-US"/>
          </a:p>
        </p:txBody>
      </p:sp>
      <p:pic>
        <p:nvPicPr>
          <p:cNvPr id="5" name="Content Placeholder 4" descr="A screenshot of a cell phone&#10;&#10;Description automatically generated">
            <a:extLst>
              <a:ext uri="{FF2B5EF4-FFF2-40B4-BE49-F238E27FC236}">
                <a16:creationId xmlns:a16="http://schemas.microsoft.com/office/drawing/2014/main" id="{20B3B9D2-73CE-48D4-85E7-05F1109643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26346" y="1825625"/>
            <a:ext cx="8339307" cy="4351338"/>
          </a:xfrm>
          <a:prstGeom prst="rect">
            <a:avLst/>
          </a:prstGeom>
        </p:spPr>
      </p:pic>
      <p:sp>
        <p:nvSpPr>
          <p:cNvPr id="8" name="Title 1">
            <a:extLst>
              <a:ext uri="{FF2B5EF4-FFF2-40B4-BE49-F238E27FC236}">
                <a16:creationId xmlns:a16="http://schemas.microsoft.com/office/drawing/2014/main" id="{B2E8242F-2364-4CD1-8704-1D54FDCCEF8D}"/>
              </a:ext>
            </a:extLst>
          </p:cNvPr>
          <p:cNvSpPr txBox="1">
            <a:spLocks/>
          </p:cNvSpPr>
          <p:nvPr/>
        </p:nvSpPr>
        <p:spPr>
          <a:xfrm>
            <a:off x="838199" y="291090"/>
            <a:ext cx="10515599" cy="932688"/>
          </a:xfrm>
          <a:prstGeom prst="rect">
            <a:avLst/>
          </a:prstGeom>
        </p:spPr>
        <p:txBody>
          <a:bodyPr vert="horz" lIns="91440" tIns="45720" rIns="91440" bIns="45720" rtlCol="0" anchor="b">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Linux Libertine" panose="02000503000000000000" pitchFamily="2" charset="0"/>
                <a:ea typeface="Linux Libertine" panose="02000503000000000000" pitchFamily="2" charset="0"/>
                <a:cs typeface="Linux Libertine" panose="02000503000000000000" pitchFamily="2" charset="0"/>
              </a:defRPr>
            </a:lvl1pPr>
          </a:lstStyle>
          <a:p>
            <a:pPr>
              <a:spcAft>
                <a:spcPts val="600"/>
              </a:spcAft>
            </a:pPr>
            <a:r>
              <a:rPr lang="en-US" sz="4600" dirty="0">
                <a:latin typeface="+mj-lt"/>
                <a:ea typeface="+mj-ea"/>
                <a:cs typeface="+mj-cs"/>
              </a:rPr>
              <a:t>3</a:t>
            </a:r>
            <a:r>
              <a:rPr lang="en-US" sz="4600" kern="1200" dirty="0">
                <a:solidFill>
                  <a:schemeClr val="tx1"/>
                </a:solidFill>
                <a:latin typeface="+mj-lt"/>
                <a:ea typeface="+mj-ea"/>
                <a:cs typeface="+mj-cs"/>
              </a:rPr>
              <a:t>. Method: KG embedding: Node2vec: </a:t>
            </a:r>
            <a:r>
              <a:rPr lang="en-US" sz="4600" kern="1200" dirty="0" err="1">
                <a:solidFill>
                  <a:schemeClr val="tx1"/>
                </a:solidFill>
                <a:latin typeface="+mj-lt"/>
                <a:ea typeface="+mj-ea"/>
                <a:cs typeface="+mj-cs"/>
              </a:rPr>
              <a:t>Skipgram</a:t>
            </a:r>
            <a:endParaRPr lang="en-US" sz="4600" kern="1200" dirty="0">
              <a:solidFill>
                <a:schemeClr val="tx1"/>
              </a:solidFill>
              <a:latin typeface="+mj-lt"/>
              <a:ea typeface="+mj-ea"/>
              <a:cs typeface="+mj-cs"/>
            </a:endParaRPr>
          </a:p>
        </p:txBody>
      </p:sp>
    </p:spTree>
    <p:extLst>
      <p:ext uri="{BB962C8B-B14F-4D97-AF65-F5344CB8AC3E}">
        <p14:creationId xmlns:p14="http://schemas.microsoft.com/office/powerpoint/2010/main" val="30771262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BAD094A-4FE8-401E-B918-241BA6F3FB93}"/>
              </a:ext>
            </a:extLst>
          </p:cNvPr>
          <p:cNvSpPr txBox="1">
            <a:spLocks/>
          </p:cNvSpPr>
          <p:nvPr/>
        </p:nvSpPr>
        <p:spPr>
          <a:xfrm>
            <a:off x="990600" y="338328"/>
            <a:ext cx="10210800" cy="1078992"/>
          </a:xfrm>
          <a:prstGeom prst="rect">
            <a:avLst/>
          </a:prstGeom>
        </p:spPr>
        <p:txBody>
          <a:bodyPr vert="horz" lIns="91440" tIns="45720" rIns="91440" bIns="45720" rtlCol="0" anchor="b">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Linux Libertine" panose="02000503000000000000" pitchFamily="2" charset="0"/>
                <a:ea typeface="Linux Libertine" panose="02000503000000000000" pitchFamily="2" charset="0"/>
                <a:cs typeface="Linux Libertine" panose="02000503000000000000" pitchFamily="2" charset="0"/>
              </a:defRPr>
            </a:lvl1pPr>
          </a:lstStyle>
          <a:p>
            <a:pPr algn="ctr">
              <a:spcAft>
                <a:spcPts val="600"/>
              </a:spcAft>
            </a:pPr>
            <a:r>
              <a:rPr lang="en-US" sz="5000" dirty="0">
                <a:latin typeface="+mj-lt"/>
                <a:ea typeface="+mj-ea"/>
                <a:cs typeface="+mj-cs"/>
              </a:rPr>
              <a:t>3. Method: KG embedding: Node2vec: </a:t>
            </a:r>
            <a:r>
              <a:rPr lang="en-US" sz="5000" dirty="0" err="1">
                <a:latin typeface="+mj-lt"/>
                <a:ea typeface="+mj-ea"/>
                <a:cs typeface="+mj-cs"/>
              </a:rPr>
              <a:t>Skipgram</a:t>
            </a:r>
            <a:endParaRPr lang="en-US" sz="5000" dirty="0">
              <a:latin typeface="+mj-lt"/>
              <a:ea typeface="+mj-ea"/>
              <a:cs typeface="+mj-cs"/>
            </a:endParaRPr>
          </a:p>
        </p:txBody>
      </p:sp>
      <p:sp>
        <p:nvSpPr>
          <p:cNvPr id="12" name="Rectangle 11">
            <a:extLst>
              <a:ext uri="{FF2B5EF4-FFF2-40B4-BE49-F238E27FC236}">
                <a16:creationId xmlns:a16="http://schemas.microsoft.com/office/drawing/2014/main" id="{70BDD0CE-06A4-404B-8A13-580229C1C9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141750"/>
            <a:ext cx="12192000" cy="471625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26">
            <a:extLst>
              <a:ext uri="{FF2B5EF4-FFF2-40B4-BE49-F238E27FC236}">
                <a16:creationId xmlns:a16="http://schemas.microsoft.com/office/drawing/2014/main" id="{EE9899FA-8881-472C-AA59-D08A89CA8A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1564" y="2423160"/>
            <a:ext cx="5613569" cy="3930315"/>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16">
            <a:extLst>
              <a:ext uri="{FF2B5EF4-FFF2-40B4-BE49-F238E27FC236}">
                <a16:creationId xmlns:a16="http://schemas.microsoft.com/office/drawing/2014/main" id="{080B7D90-3DF1-4514-B26D-616BE35553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54749" y="2423160"/>
            <a:ext cx="5613569" cy="3930315"/>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4" descr="A screenshot of a cell phone&#10;&#10;Description automatically generated">
            <a:extLst>
              <a:ext uri="{FF2B5EF4-FFF2-40B4-BE49-F238E27FC236}">
                <a16:creationId xmlns:a16="http://schemas.microsoft.com/office/drawing/2014/main" id="{D1C19FE6-B988-4615-A599-4022E13379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1180" y="3011684"/>
            <a:ext cx="4974336" cy="2474732"/>
          </a:xfrm>
          <a:prstGeom prst="rect">
            <a:avLst/>
          </a:prstGeom>
        </p:spPr>
      </p:pic>
      <p:sp>
        <p:nvSpPr>
          <p:cNvPr id="2" name="Date Placeholder 1">
            <a:extLst>
              <a:ext uri="{FF2B5EF4-FFF2-40B4-BE49-F238E27FC236}">
                <a16:creationId xmlns:a16="http://schemas.microsoft.com/office/drawing/2014/main" id="{5F155E1B-BA3D-49FF-B679-8A34381DCD1B}"/>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a:spcAft>
                <a:spcPts val="600"/>
              </a:spcAft>
            </a:pPr>
            <a:fld id="{C1FFE036-1B22-46FC-8A87-65388E31D917}" type="datetime1">
              <a:rPr lang="en-US">
                <a:solidFill>
                  <a:srgbClr val="898989"/>
                </a:solidFill>
                <a:latin typeface="+mn-lt"/>
                <a:ea typeface="+mn-ea"/>
                <a:cs typeface="+mn-cs"/>
              </a:rPr>
              <a:pPr>
                <a:spcAft>
                  <a:spcPts val="600"/>
                </a:spcAft>
              </a:pPr>
              <a:t>12/7/2021</a:t>
            </a:fld>
            <a:endParaRPr lang="en-US">
              <a:solidFill>
                <a:srgbClr val="898989"/>
              </a:solidFill>
              <a:latin typeface="+mn-lt"/>
              <a:ea typeface="+mn-ea"/>
              <a:cs typeface="+mn-cs"/>
            </a:endParaRPr>
          </a:p>
        </p:txBody>
      </p:sp>
      <p:sp>
        <p:nvSpPr>
          <p:cNvPr id="3" name="Footer Placeholder 2">
            <a:extLst>
              <a:ext uri="{FF2B5EF4-FFF2-40B4-BE49-F238E27FC236}">
                <a16:creationId xmlns:a16="http://schemas.microsoft.com/office/drawing/2014/main" id="{75378FCE-6FED-424C-9096-CC7ED1064406}"/>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pPr>
            <a:r>
              <a:rPr lang="en-US" kern="1200">
                <a:solidFill>
                  <a:srgbClr val="898989"/>
                </a:solidFill>
                <a:latin typeface="+mn-lt"/>
                <a:ea typeface="+mn-ea"/>
                <a:cs typeface="+mn-cs"/>
              </a:rPr>
              <a:t>Masters Project - Ebeid - Fall 2021</a:t>
            </a:r>
          </a:p>
        </p:txBody>
      </p:sp>
      <p:sp>
        <p:nvSpPr>
          <p:cNvPr id="4" name="Slide Number Placeholder 3">
            <a:extLst>
              <a:ext uri="{FF2B5EF4-FFF2-40B4-BE49-F238E27FC236}">
                <a16:creationId xmlns:a16="http://schemas.microsoft.com/office/drawing/2014/main" id="{601B0AC5-B5B7-40E9-85F3-415129E8AD54}"/>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5A99AF73-65C2-407A-B44B-DB0F62C2405F}" type="slidenum">
              <a:rPr lang="en-US">
                <a:solidFill>
                  <a:srgbClr val="898989"/>
                </a:solidFill>
                <a:latin typeface="+mn-lt"/>
                <a:ea typeface="+mn-ea"/>
                <a:cs typeface="+mn-cs"/>
              </a:rPr>
              <a:pPr>
                <a:spcAft>
                  <a:spcPts val="600"/>
                </a:spcAft>
              </a:pPr>
              <a:t>21</a:t>
            </a:fld>
            <a:endParaRPr lang="en-US">
              <a:solidFill>
                <a:srgbClr val="898989"/>
              </a:solidFill>
              <a:latin typeface="+mn-lt"/>
              <a:ea typeface="+mn-ea"/>
              <a:cs typeface="+mn-cs"/>
            </a:endParaRPr>
          </a:p>
        </p:txBody>
      </p:sp>
      <p:pic>
        <p:nvPicPr>
          <p:cNvPr id="11" name="Content Placeholder 4" descr="A screenshot of a cell phone&#10;&#10;Description automatically generated">
            <a:extLst>
              <a:ext uri="{FF2B5EF4-FFF2-40B4-BE49-F238E27FC236}">
                <a16:creationId xmlns:a16="http://schemas.microsoft.com/office/drawing/2014/main" id="{0EC5CC6A-4F03-48C3-9E72-A2CF5A8B5D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74365" y="2713224"/>
            <a:ext cx="4974336" cy="3071652"/>
          </a:xfrm>
          <a:prstGeom prst="rect">
            <a:avLst/>
          </a:prstGeom>
        </p:spPr>
      </p:pic>
    </p:spTree>
    <p:extLst>
      <p:ext uri="{BB962C8B-B14F-4D97-AF65-F5344CB8AC3E}">
        <p14:creationId xmlns:p14="http://schemas.microsoft.com/office/powerpoint/2010/main" val="17859207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1F334725-6DA5-4606-8A15-EEC674AB95C2}"/>
              </a:ext>
            </a:extLst>
          </p:cNvPr>
          <p:cNvSpPr txBox="1">
            <a:spLocks/>
          </p:cNvSpPr>
          <p:nvPr/>
        </p:nvSpPr>
        <p:spPr>
          <a:xfrm>
            <a:off x="838199" y="291090"/>
            <a:ext cx="10515599" cy="932688"/>
          </a:xfrm>
          <a:prstGeom prst="rect">
            <a:avLst/>
          </a:prstGeom>
        </p:spPr>
        <p:txBody>
          <a:bodyPr vert="horz" lIns="91440" tIns="45720" rIns="91440" bIns="45720" rtlCol="0" anchor="b">
            <a:normAutofit fontScale="77500" lnSpcReduction="20000"/>
          </a:bodyPr>
          <a:lstStyle>
            <a:lvl1pPr algn="l" defTabSz="914400" rtl="0" eaLnBrk="1" latinLnBrk="0" hangingPunct="1">
              <a:lnSpc>
                <a:spcPct val="90000"/>
              </a:lnSpc>
              <a:spcBef>
                <a:spcPct val="0"/>
              </a:spcBef>
              <a:buNone/>
              <a:defRPr sz="4400" kern="1200">
                <a:solidFill>
                  <a:schemeClr val="tx1"/>
                </a:solidFill>
                <a:latin typeface="Linux Libertine" panose="02000503000000000000" pitchFamily="2" charset="0"/>
                <a:ea typeface="Linux Libertine" panose="02000503000000000000" pitchFamily="2" charset="0"/>
                <a:cs typeface="Linux Libertine" panose="02000503000000000000" pitchFamily="2" charset="0"/>
              </a:defRPr>
            </a:lvl1pPr>
          </a:lstStyle>
          <a:p>
            <a:pPr>
              <a:spcAft>
                <a:spcPts val="600"/>
              </a:spcAft>
            </a:pPr>
            <a:r>
              <a:rPr lang="en-US" sz="5000" dirty="0">
                <a:latin typeface="+mj-lt"/>
                <a:ea typeface="+mj-ea"/>
                <a:cs typeface="+mj-cs"/>
              </a:rPr>
              <a:t>3</a:t>
            </a:r>
            <a:r>
              <a:rPr lang="en-US" sz="5000" kern="1200" dirty="0">
                <a:solidFill>
                  <a:schemeClr val="tx1"/>
                </a:solidFill>
                <a:latin typeface="+mj-lt"/>
                <a:ea typeface="+mj-ea"/>
                <a:cs typeface="+mj-cs"/>
              </a:rPr>
              <a:t>. Method: KG embedding: Node2vec: </a:t>
            </a:r>
            <a:r>
              <a:rPr lang="en-US" sz="5000" kern="1200" dirty="0" err="1">
                <a:solidFill>
                  <a:schemeClr val="tx1"/>
                </a:solidFill>
                <a:latin typeface="+mj-lt"/>
                <a:ea typeface="+mj-ea"/>
                <a:cs typeface="+mj-cs"/>
              </a:rPr>
              <a:t>Skipgram</a:t>
            </a:r>
            <a:endParaRPr lang="en-US" sz="5000" kern="1200" dirty="0">
              <a:solidFill>
                <a:schemeClr val="tx1"/>
              </a:solidFill>
              <a:latin typeface="+mj-lt"/>
              <a:ea typeface="+mj-ea"/>
              <a:cs typeface="+mj-cs"/>
            </a:endParaRPr>
          </a:p>
        </p:txBody>
      </p:sp>
      <p:pic>
        <p:nvPicPr>
          <p:cNvPr id="6" name="Content Placeholder 4" descr="A screenshot of a cell phone&#10;&#10;Description automatically generated">
            <a:extLst>
              <a:ext uri="{FF2B5EF4-FFF2-40B4-BE49-F238E27FC236}">
                <a16:creationId xmlns:a16="http://schemas.microsoft.com/office/drawing/2014/main" id="{2CC1597D-0CE3-4904-A235-7750C06005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1592" y="1863801"/>
            <a:ext cx="10448814" cy="4440746"/>
          </a:xfrm>
          <a:prstGeom prst="rect">
            <a:avLst/>
          </a:prstGeom>
        </p:spPr>
      </p:pic>
      <p:sp>
        <p:nvSpPr>
          <p:cNvPr id="2" name="Date Placeholder 1">
            <a:extLst>
              <a:ext uri="{FF2B5EF4-FFF2-40B4-BE49-F238E27FC236}">
                <a16:creationId xmlns:a16="http://schemas.microsoft.com/office/drawing/2014/main" id="{F15F441B-7962-4642-BE6D-4B1EF8B312A3}"/>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a:spcAft>
                <a:spcPts val="600"/>
              </a:spcAft>
            </a:pPr>
            <a:fld id="{C1FFE036-1B22-46FC-8A87-65388E31D917}" type="datetime1">
              <a:rPr lang="en-US" smtClean="0">
                <a:latin typeface="+mn-lt"/>
                <a:ea typeface="+mn-ea"/>
                <a:cs typeface="+mn-cs"/>
              </a:rPr>
              <a:pPr>
                <a:spcAft>
                  <a:spcPts val="600"/>
                </a:spcAft>
              </a:pPr>
              <a:t>12/7/2021</a:t>
            </a:fld>
            <a:endParaRPr lang="en-US">
              <a:latin typeface="+mn-lt"/>
              <a:ea typeface="+mn-ea"/>
              <a:cs typeface="+mn-cs"/>
            </a:endParaRPr>
          </a:p>
        </p:txBody>
      </p:sp>
      <p:sp>
        <p:nvSpPr>
          <p:cNvPr id="3" name="Footer Placeholder 2">
            <a:extLst>
              <a:ext uri="{FF2B5EF4-FFF2-40B4-BE49-F238E27FC236}">
                <a16:creationId xmlns:a16="http://schemas.microsoft.com/office/drawing/2014/main" id="{FCEF2696-4571-4EE7-8B0A-033B57D119F0}"/>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pPr>
            <a:r>
              <a:rPr lang="en-US" kern="1200">
                <a:solidFill>
                  <a:schemeClr val="tx1">
                    <a:tint val="75000"/>
                  </a:schemeClr>
                </a:solidFill>
                <a:latin typeface="+mn-lt"/>
                <a:ea typeface="+mn-ea"/>
                <a:cs typeface="+mn-cs"/>
              </a:rPr>
              <a:t>Masters Project - Ebeid - Fall 2021</a:t>
            </a:r>
          </a:p>
        </p:txBody>
      </p:sp>
      <p:sp>
        <p:nvSpPr>
          <p:cNvPr id="4" name="Slide Number Placeholder 3">
            <a:extLst>
              <a:ext uri="{FF2B5EF4-FFF2-40B4-BE49-F238E27FC236}">
                <a16:creationId xmlns:a16="http://schemas.microsoft.com/office/drawing/2014/main" id="{24C4493A-6E26-41E4-8DAC-4302D4C54FE4}"/>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5A99AF73-65C2-407A-B44B-DB0F62C2405F}" type="slidenum">
              <a:rPr lang="en-US" smtClean="0">
                <a:latin typeface="+mn-lt"/>
                <a:ea typeface="+mn-ea"/>
                <a:cs typeface="+mn-cs"/>
              </a:rPr>
              <a:pPr>
                <a:spcAft>
                  <a:spcPts val="600"/>
                </a:spcAft>
              </a:pPr>
              <a:t>22</a:t>
            </a:fld>
            <a:endParaRPr lang="en-US">
              <a:latin typeface="+mn-lt"/>
              <a:ea typeface="+mn-ea"/>
              <a:cs typeface="+mn-cs"/>
            </a:endParaRPr>
          </a:p>
        </p:txBody>
      </p:sp>
    </p:spTree>
    <p:extLst>
      <p:ext uri="{BB962C8B-B14F-4D97-AF65-F5344CB8AC3E}">
        <p14:creationId xmlns:p14="http://schemas.microsoft.com/office/powerpoint/2010/main" val="18855550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993EBBB7-B8EB-4B31-A06E-F1B20BD43C0B}"/>
              </a:ext>
            </a:extLst>
          </p:cNvPr>
          <p:cNvSpPr txBox="1">
            <a:spLocks/>
          </p:cNvSpPr>
          <p:nvPr/>
        </p:nvSpPr>
        <p:spPr>
          <a:xfrm>
            <a:off x="990600" y="338328"/>
            <a:ext cx="10210800" cy="1078992"/>
          </a:xfrm>
          <a:prstGeom prst="rect">
            <a:avLst/>
          </a:prstGeom>
        </p:spPr>
        <p:txBody>
          <a:bodyPr vert="horz" lIns="91440" tIns="45720" rIns="91440" bIns="45720" rtlCol="0" anchor="b">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Linux Libertine" panose="02000503000000000000" pitchFamily="2" charset="0"/>
                <a:ea typeface="Linux Libertine" panose="02000503000000000000" pitchFamily="2" charset="0"/>
                <a:cs typeface="Linux Libertine" panose="02000503000000000000" pitchFamily="2" charset="0"/>
              </a:defRPr>
            </a:lvl1pPr>
          </a:lstStyle>
          <a:p>
            <a:pPr algn="ctr">
              <a:spcAft>
                <a:spcPts val="600"/>
              </a:spcAft>
            </a:pPr>
            <a:r>
              <a:rPr lang="en-US" sz="5000" dirty="0">
                <a:latin typeface="+mj-lt"/>
                <a:ea typeface="+mj-ea"/>
                <a:cs typeface="+mj-cs"/>
              </a:rPr>
              <a:t>3. Method: KG embedding: Node2vec: </a:t>
            </a:r>
            <a:r>
              <a:rPr lang="en-US" sz="5000" dirty="0" err="1">
                <a:latin typeface="+mj-lt"/>
                <a:ea typeface="+mj-ea"/>
                <a:cs typeface="+mj-cs"/>
              </a:rPr>
              <a:t>Skipgram</a:t>
            </a:r>
            <a:endParaRPr lang="en-US" sz="5000" dirty="0">
              <a:latin typeface="+mj-lt"/>
              <a:ea typeface="+mj-ea"/>
              <a:cs typeface="+mj-cs"/>
            </a:endParaRPr>
          </a:p>
        </p:txBody>
      </p:sp>
      <p:sp>
        <p:nvSpPr>
          <p:cNvPr id="12" name="Rectangle 11">
            <a:extLst>
              <a:ext uri="{FF2B5EF4-FFF2-40B4-BE49-F238E27FC236}">
                <a16:creationId xmlns:a16="http://schemas.microsoft.com/office/drawing/2014/main" id="{70BDD0CE-06A4-404B-8A13-580229C1C9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141750"/>
            <a:ext cx="12192000" cy="4716250"/>
          </a:xfrm>
          <a:prstGeom prst="rect">
            <a:avLst/>
          </a:prstGeom>
          <a:solidFill>
            <a:srgbClr val="5E73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26">
            <a:extLst>
              <a:ext uri="{FF2B5EF4-FFF2-40B4-BE49-F238E27FC236}">
                <a16:creationId xmlns:a16="http://schemas.microsoft.com/office/drawing/2014/main" id="{EE9899FA-8881-472C-AA59-D08A89CA8A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1564" y="2423160"/>
            <a:ext cx="5613569" cy="3930315"/>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4" descr="A screenshot of a cell phone&#10;&#10;Description automatically generated">
            <a:extLst>
              <a:ext uri="{FF2B5EF4-FFF2-40B4-BE49-F238E27FC236}">
                <a16:creationId xmlns:a16="http://schemas.microsoft.com/office/drawing/2014/main" id="{C26A48F9-5702-494E-80C5-D397D16B9F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9148" y="2964413"/>
            <a:ext cx="4974336" cy="2847807"/>
          </a:xfrm>
          <a:prstGeom prst="rect">
            <a:avLst/>
          </a:prstGeom>
        </p:spPr>
      </p:pic>
      <p:sp>
        <p:nvSpPr>
          <p:cNvPr id="16" name="Rounded Rectangle 16">
            <a:extLst>
              <a:ext uri="{FF2B5EF4-FFF2-40B4-BE49-F238E27FC236}">
                <a16:creationId xmlns:a16="http://schemas.microsoft.com/office/drawing/2014/main" id="{080B7D90-3DF1-4514-B26D-616BE35553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54749" y="2423160"/>
            <a:ext cx="5613569" cy="3930315"/>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4" descr="A screenshot of a cell phone&#10;&#10;Description automatically generated">
            <a:extLst>
              <a:ext uri="{FF2B5EF4-FFF2-40B4-BE49-F238E27FC236}">
                <a16:creationId xmlns:a16="http://schemas.microsoft.com/office/drawing/2014/main" id="{F90668EE-25D9-4532-8104-E6937FEE9AE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78516" y="3694244"/>
            <a:ext cx="4974336" cy="1392814"/>
          </a:xfrm>
          <a:prstGeom prst="rect">
            <a:avLst/>
          </a:prstGeom>
        </p:spPr>
      </p:pic>
      <p:sp>
        <p:nvSpPr>
          <p:cNvPr id="2" name="Date Placeholder 1">
            <a:extLst>
              <a:ext uri="{FF2B5EF4-FFF2-40B4-BE49-F238E27FC236}">
                <a16:creationId xmlns:a16="http://schemas.microsoft.com/office/drawing/2014/main" id="{480B82A0-B4F5-4400-BD89-DF681CBBBEE4}"/>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a:spcAft>
                <a:spcPts val="600"/>
              </a:spcAft>
            </a:pPr>
            <a:fld id="{C1FFE036-1B22-46FC-8A87-65388E31D917}" type="datetime1">
              <a:rPr lang="en-US">
                <a:solidFill>
                  <a:srgbClr val="898989"/>
                </a:solidFill>
                <a:latin typeface="+mn-lt"/>
                <a:ea typeface="+mn-ea"/>
                <a:cs typeface="+mn-cs"/>
              </a:rPr>
              <a:pPr>
                <a:spcAft>
                  <a:spcPts val="600"/>
                </a:spcAft>
              </a:pPr>
              <a:t>12/7/2021</a:t>
            </a:fld>
            <a:endParaRPr lang="en-US">
              <a:solidFill>
                <a:srgbClr val="898989"/>
              </a:solidFill>
              <a:latin typeface="+mn-lt"/>
              <a:ea typeface="+mn-ea"/>
              <a:cs typeface="+mn-cs"/>
            </a:endParaRPr>
          </a:p>
        </p:txBody>
      </p:sp>
      <p:sp>
        <p:nvSpPr>
          <p:cNvPr id="3" name="Footer Placeholder 2">
            <a:extLst>
              <a:ext uri="{FF2B5EF4-FFF2-40B4-BE49-F238E27FC236}">
                <a16:creationId xmlns:a16="http://schemas.microsoft.com/office/drawing/2014/main" id="{45FF676D-5AC4-4E50-A31D-D80654FEB0F2}"/>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pPr>
            <a:r>
              <a:rPr lang="en-US" kern="1200">
                <a:solidFill>
                  <a:srgbClr val="898989"/>
                </a:solidFill>
                <a:latin typeface="+mn-lt"/>
                <a:ea typeface="+mn-ea"/>
                <a:cs typeface="+mn-cs"/>
              </a:rPr>
              <a:t>Masters Project - Ebeid - Fall 2021</a:t>
            </a:r>
          </a:p>
        </p:txBody>
      </p:sp>
      <p:sp>
        <p:nvSpPr>
          <p:cNvPr id="4" name="Slide Number Placeholder 3">
            <a:extLst>
              <a:ext uri="{FF2B5EF4-FFF2-40B4-BE49-F238E27FC236}">
                <a16:creationId xmlns:a16="http://schemas.microsoft.com/office/drawing/2014/main" id="{EDE40B19-A677-47AA-B04E-A16AE3FBF7B9}"/>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5A99AF73-65C2-407A-B44B-DB0F62C2405F}" type="slidenum">
              <a:rPr lang="en-US">
                <a:solidFill>
                  <a:srgbClr val="898989"/>
                </a:solidFill>
                <a:latin typeface="+mn-lt"/>
                <a:ea typeface="+mn-ea"/>
                <a:cs typeface="+mn-cs"/>
              </a:rPr>
              <a:pPr>
                <a:spcAft>
                  <a:spcPts val="600"/>
                </a:spcAft>
              </a:pPr>
              <a:t>23</a:t>
            </a:fld>
            <a:endParaRPr lang="en-US">
              <a:solidFill>
                <a:srgbClr val="898989"/>
              </a:solidFill>
              <a:latin typeface="+mn-lt"/>
              <a:ea typeface="+mn-ea"/>
              <a:cs typeface="+mn-cs"/>
            </a:endParaRPr>
          </a:p>
        </p:txBody>
      </p:sp>
    </p:spTree>
    <p:extLst>
      <p:ext uri="{BB962C8B-B14F-4D97-AF65-F5344CB8AC3E}">
        <p14:creationId xmlns:p14="http://schemas.microsoft.com/office/powerpoint/2010/main" val="6746945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2582FCE9-111E-4C83-B9E0-1692B21CF001}"/>
              </a:ext>
            </a:extLst>
          </p:cNvPr>
          <p:cNvSpPr txBox="1">
            <a:spLocks/>
          </p:cNvSpPr>
          <p:nvPr/>
        </p:nvSpPr>
        <p:spPr>
          <a:xfrm>
            <a:off x="838199" y="291090"/>
            <a:ext cx="10515599" cy="93268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Linux Libertine" panose="02000503000000000000" pitchFamily="2" charset="0"/>
                <a:ea typeface="Linux Libertine" panose="02000503000000000000" pitchFamily="2" charset="0"/>
                <a:cs typeface="Linux Libertine" panose="02000503000000000000" pitchFamily="2" charset="0"/>
              </a:defRPr>
            </a:lvl1pPr>
          </a:lstStyle>
          <a:p>
            <a:pPr>
              <a:spcAft>
                <a:spcPts val="600"/>
              </a:spcAft>
            </a:pPr>
            <a:r>
              <a:rPr lang="en-US" sz="5000" dirty="0">
                <a:latin typeface="+mj-lt"/>
                <a:ea typeface="+mj-ea"/>
                <a:cs typeface="+mj-cs"/>
              </a:rPr>
              <a:t>3</a:t>
            </a:r>
            <a:r>
              <a:rPr lang="en-US" sz="5000" kern="1200" dirty="0">
                <a:solidFill>
                  <a:schemeClr val="tx1"/>
                </a:solidFill>
                <a:latin typeface="+mj-lt"/>
                <a:ea typeface="+mj-ea"/>
                <a:cs typeface="+mj-cs"/>
              </a:rPr>
              <a:t>. Method: Generate article </a:t>
            </a:r>
            <a:r>
              <a:rPr lang="en-US" sz="5000" kern="1200" dirty="0" err="1">
                <a:solidFill>
                  <a:schemeClr val="tx1"/>
                </a:solidFill>
                <a:latin typeface="+mj-lt"/>
                <a:ea typeface="+mj-ea"/>
                <a:cs typeface="+mj-cs"/>
              </a:rPr>
              <a:t>embeding</a:t>
            </a:r>
            <a:endParaRPr lang="en-US" sz="5000" kern="1200" dirty="0">
              <a:solidFill>
                <a:schemeClr val="tx1"/>
              </a:solidFill>
              <a:latin typeface="+mj-lt"/>
              <a:ea typeface="+mj-ea"/>
              <a:cs typeface="+mj-cs"/>
            </a:endParaRPr>
          </a:p>
        </p:txBody>
      </p:sp>
      <p:pic>
        <p:nvPicPr>
          <p:cNvPr id="9" name="Graphic 13">
            <a:extLst>
              <a:ext uri="{FF2B5EF4-FFF2-40B4-BE49-F238E27FC236}">
                <a16:creationId xmlns:a16="http://schemas.microsoft.com/office/drawing/2014/main" id="{A6333A45-52CD-49E6-A612-CA4CD8DD575C}"/>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8200" y="2411238"/>
            <a:ext cx="10515599" cy="3345872"/>
          </a:xfrm>
          <a:prstGeom prst="rect">
            <a:avLst/>
          </a:prstGeom>
        </p:spPr>
      </p:pic>
      <p:sp>
        <p:nvSpPr>
          <p:cNvPr id="2" name="Date Placeholder 1">
            <a:extLst>
              <a:ext uri="{FF2B5EF4-FFF2-40B4-BE49-F238E27FC236}">
                <a16:creationId xmlns:a16="http://schemas.microsoft.com/office/drawing/2014/main" id="{348F69A4-CBCC-464C-882C-93FEA4D5CC9A}"/>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a:spcAft>
                <a:spcPts val="600"/>
              </a:spcAft>
            </a:pPr>
            <a:fld id="{C1FFE036-1B22-46FC-8A87-65388E31D917}" type="datetime1">
              <a:rPr lang="en-US" smtClean="0">
                <a:latin typeface="+mn-lt"/>
                <a:ea typeface="+mn-ea"/>
                <a:cs typeface="+mn-cs"/>
              </a:rPr>
              <a:pPr>
                <a:spcAft>
                  <a:spcPts val="600"/>
                </a:spcAft>
              </a:pPr>
              <a:t>12/7/2021</a:t>
            </a:fld>
            <a:endParaRPr lang="en-US">
              <a:latin typeface="+mn-lt"/>
              <a:ea typeface="+mn-ea"/>
              <a:cs typeface="+mn-cs"/>
            </a:endParaRPr>
          </a:p>
        </p:txBody>
      </p:sp>
      <p:sp>
        <p:nvSpPr>
          <p:cNvPr id="3" name="Footer Placeholder 2">
            <a:extLst>
              <a:ext uri="{FF2B5EF4-FFF2-40B4-BE49-F238E27FC236}">
                <a16:creationId xmlns:a16="http://schemas.microsoft.com/office/drawing/2014/main" id="{FDD3D8AD-D959-400C-9C58-ED7FB3E61887}"/>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r>
              <a:rPr lang="en-US" dirty="0"/>
              <a:t>Masters Project - Ebeid - Fall 2021</a:t>
            </a:r>
          </a:p>
        </p:txBody>
      </p:sp>
      <p:sp>
        <p:nvSpPr>
          <p:cNvPr id="4" name="Slide Number Placeholder 3">
            <a:extLst>
              <a:ext uri="{FF2B5EF4-FFF2-40B4-BE49-F238E27FC236}">
                <a16:creationId xmlns:a16="http://schemas.microsoft.com/office/drawing/2014/main" id="{DB38BCD4-D4B4-4DC0-96CF-9F4FF85B46F8}"/>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5A99AF73-65C2-407A-B44B-DB0F62C2405F}" type="slidenum">
              <a:rPr lang="en-US" smtClean="0">
                <a:latin typeface="+mn-lt"/>
                <a:ea typeface="+mn-ea"/>
                <a:cs typeface="+mn-cs"/>
              </a:rPr>
              <a:pPr>
                <a:spcAft>
                  <a:spcPts val="600"/>
                </a:spcAft>
              </a:pPr>
              <a:t>24</a:t>
            </a:fld>
            <a:endParaRPr lang="en-US">
              <a:latin typeface="+mn-lt"/>
              <a:ea typeface="+mn-ea"/>
              <a:cs typeface="+mn-cs"/>
            </a:endParaRPr>
          </a:p>
        </p:txBody>
      </p:sp>
    </p:spTree>
    <p:extLst>
      <p:ext uri="{BB962C8B-B14F-4D97-AF65-F5344CB8AC3E}">
        <p14:creationId xmlns:p14="http://schemas.microsoft.com/office/powerpoint/2010/main" val="22774074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2582FCE9-111E-4C83-B9E0-1692B21CF001}"/>
              </a:ext>
            </a:extLst>
          </p:cNvPr>
          <p:cNvSpPr txBox="1">
            <a:spLocks/>
          </p:cNvSpPr>
          <p:nvPr/>
        </p:nvSpPr>
        <p:spPr>
          <a:xfrm>
            <a:off x="838199" y="291090"/>
            <a:ext cx="10515599" cy="932688"/>
          </a:xfrm>
          <a:prstGeom prst="rect">
            <a:avLst/>
          </a:prstGeom>
        </p:spPr>
        <p:txBody>
          <a:bodyPr vert="horz" lIns="91440" tIns="45720" rIns="91440" bIns="45720" rtlCol="0" anchor="b">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Linux Libertine" panose="02000503000000000000" pitchFamily="2" charset="0"/>
                <a:ea typeface="Linux Libertine" panose="02000503000000000000" pitchFamily="2" charset="0"/>
                <a:cs typeface="Linux Libertine" panose="02000503000000000000" pitchFamily="2" charset="0"/>
              </a:defRPr>
            </a:lvl1pPr>
          </a:lstStyle>
          <a:p>
            <a:pPr>
              <a:spcAft>
                <a:spcPts val="600"/>
              </a:spcAft>
            </a:pPr>
            <a:r>
              <a:rPr lang="en-US" sz="5000" dirty="0">
                <a:latin typeface="+mj-lt"/>
                <a:ea typeface="+mj-ea"/>
                <a:cs typeface="+mj-cs"/>
              </a:rPr>
              <a:t>3</a:t>
            </a:r>
            <a:r>
              <a:rPr lang="en-US" sz="5000" kern="1200" dirty="0">
                <a:solidFill>
                  <a:schemeClr val="tx1"/>
                </a:solidFill>
                <a:latin typeface="+mj-lt"/>
                <a:ea typeface="+mj-ea"/>
                <a:cs typeface="+mj-cs"/>
              </a:rPr>
              <a:t>. Method: Search Interface: </a:t>
            </a:r>
            <a:r>
              <a:rPr lang="en-US" sz="5000" dirty="0">
                <a:latin typeface="+mj-lt"/>
                <a:ea typeface="+mj-ea"/>
                <a:cs typeface="+mj-cs"/>
              </a:rPr>
              <a:t>Query tokenizer</a:t>
            </a:r>
            <a:endParaRPr lang="en-US" sz="5000" kern="1200" dirty="0">
              <a:solidFill>
                <a:schemeClr val="tx1"/>
              </a:solidFill>
              <a:latin typeface="+mj-lt"/>
              <a:ea typeface="+mj-ea"/>
              <a:cs typeface="+mj-cs"/>
            </a:endParaRPr>
          </a:p>
        </p:txBody>
      </p:sp>
      <p:sp>
        <p:nvSpPr>
          <p:cNvPr id="2" name="Date Placeholder 1">
            <a:extLst>
              <a:ext uri="{FF2B5EF4-FFF2-40B4-BE49-F238E27FC236}">
                <a16:creationId xmlns:a16="http://schemas.microsoft.com/office/drawing/2014/main" id="{348F69A4-CBCC-464C-882C-93FEA4D5CC9A}"/>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a:spcAft>
                <a:spcPts val="600"/>
              </a:spcAft>
            </a:pPr>
            <a:fld id="{C1FFE036-1B22-46FC-8A87-65388E31D917}" type="datetime1">
              <a:rPr lang="en-US" smtClean="0">
                <a:latin typeface="+mn-lt"/>
                <a:ea typeface="+mn-ea"/>
                <a:cs typeface="+mn-cs"/>
              </a:rPr>
              <a:pPr>
                <a:spcAft>
                  <a:spcPts val="600"/>
                </a:spcAft>
              </a:pPr>
              <a:t>12/7/2021</a:t>
            </a:fld>
            <a:endParaRPr lang="en-US">
              <a:latin typeface="+mn-lt"/>
              <a:ea typeface="+mn-ea"/>
              <a:cs typeface="+mn-cs"/>
            </a:endParaRPr>
          </a:p>
        </p:txBody>
      </p:sp>
      <p:sp>
        <p:nvSpPr>
          <p:cNvPr id="3" name="Footer Placeholder 2">
            <a:extLst>
              <a:ext uri="{FF2B5EF4-FFF2-40B4-BE49-F238E27FC236}">
                <a16:creationId xmlns:a16="http://schemas.microsoft.com/office/drawing/2014/main" id="{FDD3D8AD-D959-400C-9C58-ED7FB3E61887}"/>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r>
              <a:rPr lang="en-US" dirty="0"/>
              <a:t>Masters Project - Ebeid - Fall 2021</a:t>
            </a:r>
          </a:p>
        </p:txBody>
      </p:sp>
      <p:sp>
        <p:nvSpPr>
          <p:cNvPr id="4" name="Slide Number Placeholder 3">
            <a:extLst>
              <a:ext uri="{FF2B5EF4-FFF2-40B4-BE49-F238E27FC236}">
                <a16:creationId xmlns:a16="http://schemas.microsoft.com/office/drawing/2014/main" id="{DB38BCD4-D4B4-4DC0-96CF-9F4FF85B46F8}"/>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5A99AF73-65C2-407A-B44B-DB0F62C2405F}" type="slidenum">
              <a:rPr lang="en-US" smtClean="0">
                <a:latin typeface="+mn-lt"/>
                <a:ea typeface="+mn-ea"/>
                <a:cs typeface="+mn-cs"/>
              </a:rPr>
              <a:pPr>
                <a:spcAft>
                  <a:spcPts val="600"/>
                </a:spcAft>
              </a:pPr>
              <a:t>25</a:t>
            </a:fld>
            <a:endParaRPr lang="en-US">
              <a:latin typeface="+mn-lt"/>
              <a:ea typeface="+mn-ea"/>
              <a:cs typeface="+mn-cs"/>
            </a:endParaRPr>
          </a:p>
        </p:txBody>
      </p:sp>
      <p:sp>
        <p:nvSpPr>
          <p:cNvPr id="8" name="TextBox 7">
            <a:extLst>
              <a:ext uri="{FF2B5EF4-FFF2-40B4-BE49-F238E27FC236}">
                <a16:creationId xmlns:a16="http://schemas.microsoft.com/office/drawing/2014/main" id="{4CAAD0C7-154F-44FC-80CE-929B936A8B2D}"/>
              </a:ext>
            </a:extLst>
          </p:cNvPr>
          <p:cNvSpPr txBox="1"/>
          <p:nvPr/>
        </p:nvSpPr>
        <p:spPr>
          <a:xfrm>
            <a:off x="3223549" y="1632559"/>
            <a:ext cx="6099858" cy="369332"/>
          </a:xfrm>
          <a:prstGeom prst="rect">
            <a:avLst/>
          </a:prstGeom>
          <a:noFill/>
        </p:spPr>
        <p:txBody>
          <a:bodyPr wrap="square">
            <a:spAutoFit/>
          </a:bodyPr>
          <a:lstStyle/>
          <a:p>
            <a:r>
              <a:rPr lang="en-US" sz="1800" dirty="0">
                <a:effectLst/>
                <a:latin typeface="Linux Libertine" panose="02000503000000000000" pitchFamily="2" charset="0"/>
                <a:ea typeface="Calibri" panose="020F0502020204030204" pitchFamily="34" charset="0"/>
              </a:rPr>
              <a:t>“show me articles on depression and type 2 diabetes”</a:t>
            </a:r>
            <a:endParaRPr lang="en-US" dirty="0"/>
          </a:p>
        </p:txBody>
      </p:sp>
      <p:sp>
        <p:nvSpPr>
          <p:cNvPr id="6" name="Arrow: Down 5">
            <a:extLst>
              <a:ext uri="{FF2B5EF4-FFF2-40B4-BE49-F238E27FC236}">
                <a16:creationId xmlns:a16="http://schemas.microsoft.com/office/drawing/2014/main" id="{4087DCDC-9FBA-4684-9A05-DDFBEA7D638C}"/>
              </a:ext>
            </a:extLst>
          </p:cNvPr>
          <p:cNvSpPr/>
          <p:nvPr/>
        </p:nvSpPr>
        <p:spPr>
          <a:xfrm>
            <a:off x="5058137" y="2743200"/>
            <a:ext cx="532435" cy="78707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163B5C16-8DF0-4DE5-8492-35ADBBFAF0F8}"/>
              </a:ext>
            </a:extLst>
          </p:cNvPr>
          <p:cNvSpPr txBox="1"/>
          <p:nvPr/>
        </p:nvSpPr>
        <p:spPr>
          <a:xfrm>
            <a:off x="3339296" y="4271587"/>
            <a:ext cx="6099858" cy="369332"/>
          </a:xfrm>
          <a:prstGeom prst="rect">
            <a:avLst/>
          </a:prstGeom>
          <a:noFill/>
        </p:spPr>
        <p:txBody>
          <a:bodyPr wrap="square">
            <a:spAutoFit/>
          </a:bodyPr>
          <a:lstStyle/>
          <a:p>
            <a:r>
              <a:rPr lang="en-US" sz="1800" dirty="0">
                <a:effectLst/>
                <a:latin typeface="Linux Libertine" panose="02000503000000000000" pitchFamily="2" charset="0"/>
                <a:ea typeface="Calibri" panose="020F0502020204030204" pitchFamily="34" charset="0"/>
              </a:rPr>
              <a:t>[“articles,” “depression,” “type,” “2”, “diabetes”]</a:t>
            </a:r>
            <a:endParaRPr lang="en-US" dirty="0"/>
          </a:p>
        </p:txBody>
      </p:sp>
    </p:spTree>
    <p:extLst>
      <p:ext uri="{BB962C8B-B14F-4D97-AF65-F5344CB8AC3E}">
        <p14:creationId xmlns:p14="http://schemas.microsoft.com/office/powerpoint/2010/main" val="32056630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2582FCE9-111E-4C83-B9E0-1692B21CF001}"/>
              </a:ext>
            </a:extLst>
          </p:cNvPr>
          <p:cNvSpPr txBox="1">
            <a:spLocks/>
          </p:cNvSpPr>
          <p:nvPr/>
        </p:nvSpPr>
        <p:spPr>
          <a:xfrm>
            <a:off x="838199" y="291090"/>
            <a:ext cx="10515599" cy="932688"/>
          </a:xfrm>
          <a:prstGeom prst="rect">
            <a:avLst/>
          </a:prstGeom>
        </p:spPr>
        <p:txBody>
          <a:bodyPr vert="horz" lIns="91440" tIns="45720" rIns="91440" bIns="45720" rtlCol="0" anchor="b">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Linux Libertine" panose="02000503000000000000" pitchFamily="2" charset="0"/>
                <a:ea typeface="Linux Libertine" panose="02000503000000000000" pitchFamily="2" charset="0"/>
                <a:cs typeface="Linux Libertine" panose="02000503000000000000" pitchFamily="2" charset="0"/>
              </a:defRPr>
            </a:lvl1pPr>
          </a:lstStyle>
          <a:p>
            <a:pPr>
              <a:spcAft>
                <a:spcPts val="600"/>
              </a:spcAft>
            </a:pPr>
            <a:r>
              <a:rPr lang="en-US" sz="5000" kern="1200" dirty="0">
                <a:solidFill>
                  <a:schemeClr val="tx1"/>
                </a:solidFill>
                <a:latin typeface="+mj-lt"/>
                <a:ea typeface="+mj-ea"/>
                <a:cs typeface="+mj-cs"/>
              </a:rPr>
              <a:t>3. Method: Search Interface: </a:t>
            </a:r>
            <a:r>
              <a:rPr lang="en-US" sz="5000" dirty="0">
                <a:latin typeface="+mj-lt"/>
                <a:ea typeface="+mj-ea"/>
                <a:cs typeface="+mj-cs"/>
              </a:rPr>
              <a:t>Query Matcher</a:t>
            </a:r>
            <a:endParaRPr lang="en-US" sz="5000" kern="1200" dirty="0">
              <a:solidFill>
                <a:schemeClr val="tx1"/>
              </a:solidFill>
              <a:latin typeface="+mj-lt"/>
              <a:ea typeface="+mj-ea"/>
              <a:cs typeface="+mj-cs"/>
            </a:endParaRPr>
          </a:p>
        </p:txBody>
      </p:sp>
      <p:sp>
        <p:nvSpPr>
          <p:cNvPr id="2" name="Date Placeholder 1">
            <a:extLst>
              <a:ext uri="{FF2B5EF4-FFF2-40B4-BE49-F238E27FC236}">
                <a16:creationId xmlns:a16="http://schemas.microsoft.com/office/drawing/2014/main" id="{348F69A4-CBCC-464C-882C-93FEA4D5CC9A}"/>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a:spcAft>
                <a:spcPts val="600"/>
              </a:spcAft>
            </a:pPr>
            <a:fld id="{C1FFE036-1B22-46FC-8A87-65388E31D917}" type="datetime1">
              <a:rPr lang="en-US" smtClean="0">
                <a:latin typeface="+mn-lt"/>
                <a:ea typeface="+mn-ea"/>
                <a:cs typeface="+mn-cs"/>
              </a:rPr>
              <a:pPr>
                <a:spcAft>
                  <a:spcPts val="600"/>
                </a:spcAft>
              </a:pPr>
              <a:t>12/7/2021</a:t>
            </a:fld>
            <a:endParaRPr lang="en-US">
              <a:latin typeface="+mn-lt"/>
              <a:ea typeface="+mn-ea"/>
              <a:cs typeface="+mn-cs"/>
            </a:endParaRPr>
          </a:p>
        </p:txBody>
      </p:sp>
      <p:sp>
        <p:nvSpPr>
          <p:cNvPr id="3" name="Footer Placeholder 2">
            <a:extLst>
              <a:ext uri="{FF2B5EF4-FFF2-40B4-BE49-F238E27FC236}">
                <a16:creationId xmlns:a16="http://schemas.microsoft.com/office/drawing/2014/main" id="{FDD3D8AD-D959-400C-9C58-ED7FB3E61887}"/>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r>
              <a:rPr lang="en-US" dirty="0"/>
              <a:t>Masters Project - Ebeid - Fall 2021</a:t>
            </a:r>
          </a:p>
        </p:txBody>
      </p:sp>
      <p:sp>
        <p:nvSpPr>
          <p:cNvPr id="4" name="Slide Number Placeholder 3">
            <a:extLst>
              <a:ext uri="{FF2B5EF4-FFF2-40B4-BE49-F238E27FC236}">
                <a16:creationId xmlns:a16="http://schemas.microsoft.com/office/drawing/2014/main" id="{DB38BCD4-D4B4-4DC0-96CF-9F4FF85B46F8}"/>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5A99AF73-65C2-407A-B44B-DB0F62C2405F}" type="slidenum">
              <a:rPr lang="en-US" smtClean="0">
                <a:latin typeface="+mn-lt"/>
                <a:ea typeface="+mn-ea"/>
                <a:cs typeface="+mn-cs"/>
              </a:rPr>
              <a:pPr>
                <a:spcAft>
                  <a:spcPts val="600"/>
                </a:spcAft>
              </a:pPr>
              <a:t>26</a:t>
            </a:fld>
            <a:endParaRPr lang="en-US">
              <a:latin typeface="+mn-lt"/>
              <a:ea typeface="+mn-ea"/>
              <a:cs typeface="+mn-cs"/>
            </a:endParaRPr>
          </a:p>
        </p:txBody>
      </p:sp>
      <p:sp>
        <p:nvSpPr>
          <p:cNvPr id="10" name="TextBox 9">
            <a:extLst>
              <a:ext uri="{FF2B5EF4-FFF2-40B4-BE49-F238E27FC236}">
                <a16:creationId xmlns:a16="http://schemas.microsoft.com/office/drawing/2014/main" id="{AD27270D-3C9D-416B-9ED5-10BDF1A09CFB}"/>
              </a:ext>
            </a:extLst>
          </p:cNvPr>
          <p:cNvSpPr txBox="1"/>
          <p:nvPr/>
        </p:nvSpPr>
        <p:spPr>
          <a:xfrm>
            <a:off x="3374020" y="1736731"/>
            <a:ext cx="6099858" cy="369332"/>
          </a:xfrm>
          <a:prstGeom prst="rect">
            <a:avLst/>
          </a:prstGeom>
          <a:noFill/>
        </p:spPr>
        <p:txBody>
          <a:bodyPr wrap="square">
            <a:spAutoFit/>
          </a:bodyPr>
          <a:lstStyle/>
          <a:p>
            <a:r>
              <a:rPr lang="en-US" sz="1800" dirty="0">
                <a:effectLst/>
                <a:latin typeface="Linux Libertine" panose="02000503000000000000" pitchFamily="2" charset="0"/>
                <a:ea typeface="Calibri" panose="020F0502020204030204" pitchFamily="34" charset="0"/>
              </a:rPr>
              <a:t>[“articles,” “depression,” “type,” “2”, “diabetes”] </a:t>
            </a:r>
            <a:endParaRPr lang="en-US" dirty="0"/>
          </a:p>
        </p:txBody>
      </p:sp>
      <p:sp>
        <p:nvSpPr>
          <p:cNvPr id="9" name="Arrow: Down 8">
            <a:extLst>
              <a:ext uri="{FF2B5EF4-FFF2-40B4-BE49-F238E27FC236}">
                <a16:creationId xmlns:a16="http://schemas.microsoft.com/office/drawing/2014/main" id="{BCDAAF4E-8132-4A95-8BF3-D94F65900789}"/>
              </a:ext>
            </a:extLst>
          </p:cNvPr>
          <p:cNvSpPr/>
          <p:nvPr/>
        </p:nvSpPr>
        <p:spPr>
          <a:xfrm>
            <a:off x="5752618" y="2858947"/>
            <a:ext cx="343382" cy="57005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5CDC4C18-4066-4A58-8666-A98B2EE2390F}"/>
              </a:ext>
            </a:extLst>
          </p:cNvPr>
          <p:cNvSpPr txBox="1"/>
          <p:nvPr/>
        </p:nvSpPr>
        <p:spPr>
          <a:xfrm>
            <a:off x="838198" y="4171632"/>
            <a:ext cx="10515599" cy="646331"/>
          </a:xfrm>
          <a:prstGeom prst="rect">
            <a:avLst/>
          </a:prstGeom>
          <a:noFill/>
        </p:spPr>
        <p:txBody>
          <a:bodyPr wrap="square">
            <a:spAutoFit/>
          </a:bodyPr>
          <a:lstStyle/>
          <a:p>
            <a:r>
              <a:rPr lang="en-US" sz="1800" dirty="0">
                <a:effectLst/>
                <a:latin typeface="Linux Libertine" panose="02000503000000000000" pitchFamily="2" charset="0"/>
                <a:ea typeface="Calibri" panose="020F0502020204030204" pitchFamily="34" charset="0"/>
              </a:rPr>
              <a:t>[“articles,” “depression,” “type,” “2”, “diabetes,” “articles depression,” “depression type,” “type 2”, “2 diabetes”, “articles depression type,” “depression type 2”, “type 2 diabetes”]</a:t>
            </a:r>
            <a:endParaRPr lang="en-US" dirty="0"/>
          </a:p>
        </p:txBody>
      </p:sp>
    </p:spTree>
    <p:extLst>
      <p:ext uri="{BB962C8B-B14F-4D97-AF65-F5344CB8AC3E}">
        <p14:creationId xmlns:p14="http://schemas.microsoft.com/office/powerpoint/2010/main" val="37749218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2582FCE9-111E-4C83-B9E0-1692B21CF001}"/>
              </a:ext>
            </a:extLst>
          </p:cNvPr>
          <p:cNvSpPr txBox="1">
            <a:spLocks/>
          </p:cNvSpPr>
          <p:nvPr/>
        </p:nvSpPr>
        <p:spPr>
          <a:xfrm>
            <a:off x="838199" y="291090"/>
            <a:ext cx="10515599" cy="93268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Linux Libertine" panose="02000503000000000000" pitchFamily="2" charset="0"/>
                <a:ea typeface="Linux Libertine" panose="02000503000000000000" pitchFamily="2" charset="0"/>
                <a:cs typeface="Linux Libertine" panose="02000503000000000000" pitchFamily="2" charset="0"/>
              </a:defRPr>
            </a:lvl1pPr>
          </a:lstStyle>
          <a:p>
            <a:pPr>
              <a:spcAft>
                <a:spcPts val="600"/>
              </a:spcAft>
            </a:pPr>
            <a:r>
              <a:rPr lang="en-US" sz="5000" dirty="0">
                <a:latin typeface="+mj-lt"/>
                <a:ea typeface="+mj-ea"/>
                <a:cs typeface="+mj-cs"/>
              </a:rPr>
              <a:t>3</a:t>
            </a:r>
            <a:r>
              <a:rPr lang="en-US" sz="5000" kern="1200" dirty="0">
                <a:solidFill>
                  <a:schemeClr val="tx1"/>
                </a:solidFill>
                <a:latin typeface="+mj-lt"/>
                <a:ea typeface="+mj-ea"/>
                <a:cs typeface="+mj-cs"/>
              </a:rPr>
              <a:t>. Method: </a:t>
            </a:r>
            <a:r>
              <a:rPr lang="en-US" sz="5000" dirty="0">
                <a:latin typeface="+mj-lt"/>
                <a:ea typeface="+mj-ea"/>
                <a:cs typeface="+mj-cs"/>
              </a:rPr>
              <a:t>Query Embedding</a:t>
            </a:r>
            <a:endParaRPr lang="en-US" sz="5000" kern="1200" dirty="0">
              <a:solidFill>
                <a:schemeClr val="tx1"/>
              </a:solidFill>
              <a:latin typeface="+mj-lt"/>
              <a:ea typeface="+mj-ea"/>
              <a:cs typeface="+mj-cs"/>
            </a:endParaRPr>
          </a:p>
        </p:txBody>
      </p:sp>
      <p:sp>
        <p:nvSpPr>
          <p:cNvPr id="2" name="Date Placeholder 1">
            <a:extLst>
              <a:ext uri="{FF2B5EF4-FFF2-40B4-BE49-F238E27FC236}">
                <a16:creationId xmlns:a16="http://schemas.microsoft.com/office/drawing/2014/main" id="{348F69A4-CBCC-464C-882C-93FEA4D5CC9A}"/>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a:spcAft>
                <a:spcPts val="600"/>
              </a:spcAft>
            </a:pPr>
            <a:fld id="{C1FFE036-1B22-46FC-8A87-65388E31D917}" type="datetime1">
              <a:rPr lang="en-US" smtClean="0">
                <a:latin typeface="+mn-lt"/>
                <a:ea typeface="+mn-ea"/>
                <a:cs typeface="+mn-cs"/>
              </a:rPr>
              <a:pPr>
                <a:spcAft>
                  <a:spcPts val="600"/>
                </a:spcAft>
              </a:pPr>
              <a:t>12/7/2021</a:t>
            </a:fld>
            <a:endParaRPr lang="en-US">
              <a:latin typeface="+mn-lt"/>
              <a:ea typeface="+mn-ea"/>
              <a:cs typeface="+mn-cs"/>
            </a:endParaRPr>
          </a:p>
        </p:txBody>
      </p:sp>
      <p:sp>
        <p:nvSpPr>
          <p:cNvPr id="3" name="Footer Placeholder 2">
            <a:extLst>
              <a:ext uri="{FF2B5EF4-FFF2-40B4-BE49-F238E27FC236}">
                <a16:creationId xmlns:a16="http://schemas.microsoft.com/office/drawing/2014/main" id="{FDD3D8AD-D959-400C-9C58-ED7FB3E61887}"/>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r>
              <a:rPr lang="en-US" dirty="0"/>
              <a:t>Masters Project - Ebeid - Fall 2021</a:t>
            </a:r>
          </a:p>
        </p:txBody>
      </p:sp>
      <p:sp>
        <p:nvSpPr>
          <p:cNvPr id="4" name="Slide Number Placeholder 3">
            <a:extLst>
              <a:ext uri="{FF2B5EF4-FFF2-40B4-BE49-F238E27FC236}">
                <a16:creationId xmlns:a16="http://schemas.microsoft.com/office/drawing/2014/main" id="{DB38BCD4-D4B4-4DC0-96CF-9F4FF85B46F8}"/>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5A99AF73-65C2-407A-B44B-DB0F62C2405F}" type="slidenum">
              <a:rPr lang="en-US" smtClean="0">
                <a:latin typeface="+mn-lt"/>
                <a:ea typeface="+mn-ea"/>
                <a:cs typeface="+mn-cs"/>
              </a:rPr>
              <a:pPr>
                <a:spcAft>
                  <a:spcPts val="600"/>
                </a:spcAft>
              </a:pPr>
              <a:t>27</a:t>
            </a:fld>
            <a:endParaRPr lang="en-US">
              <a:latin typeface="+mn-lt"/>
              <a:ea typeface="+mn-ea"/>
              <a:cs typeface="+mn-cs"/>
            </a:endParaRPr>
          </a:p>
        </p:txBody>
      </p:sp>
      <p:sp>
        <p:nvSpPr>
          <p:cNvPr id="11" name="TextBox 10">
            <a:extLst>
              <a:ext uri="{FF2B5EF4-FFF2-40B4-BE49-F238E27FC236}">
                <a16:creationId xmlns:a16="http://schemas.microsoft.com/office/drawing/2014/main" id="{F286607B-9A1C-496A-BB9A-601A0BA4A73D}"/>
              </a:ext>
            </a:extLst>
          </p:cNvPr>
          <p:cNvSpPr txBox="1"/>
          <p:nvPr/>
        </p:nvSpPr>
        <p:spPr>
          <a:xfrm>
            <a:off x="861346" y="1496725"/>
            <a:ext cx="10515599" cy="646331"/>
          </a:xfrm>
          <a:prstGeom prst="rect">
            <a:avLst/>
          </a:prstGeom>
          <a:noFill/>
        </p:spPr>
        <p:txBody>
          <a:bodyPr wrap="square">
            <a:spAutoFit/>
          </a:bodyPr>
          <a:lstStyle/>
          <a:p>
            <a:r>
              <a:rPr lang="en-US" sz="1800" dirty="0">
                <a:effectLst/>
                <a:latin typeface="Linux Libertine" panose="02000503000000000000" pitchFamily="2" charset="0"/>
                <a:ea typeface="Calibri" panose="020F0502020204030204" pitchFamily="34" charset="0"/>
              </a:rPr>
              <a:t>[“articles,” “depression,” “type,” “2”, “diabetes,” “articles depression,” “depression type,” “type 2”, “2 diabetes”, “articles depression type,” “depression type 2”, “type 2 diabetes”]</a:t>
            </a:r>
            <a:endParaRPr lang="en-US" dirty="0"/>
          </a:p>
        </p:txBody>
      </p:sp>
      <p:sp>
        <p:nvSpPr>
          <p:cNvPr id="5" name="Arrow: Down 4">
            <a:extLst>
              <a:ext uri="{FF2B5EF4-FFF2-40B4-BE49-F238E27FC236}">
                <a16:creationId xmlns:a16="http://schemas.microsoft.com/office/drawing/2014/main" id="{76BC6276-9B10-471B-9A08-3A4815BC5C03}"/>
              </a:ext>
            </a:extLst>
          </p:cNvPr>
          <p:cNvSpPr/>
          <p:nvPr/>
        </p:nvSpPr>
        <p:spPr>
          <a:xfrm>
            <a:off x="5515333" y="2225042"/>
            <a:ext cx="302712" cy="64633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B23E50D0-5A77-426C-AB39-C9C74E8B54D7}"/>
              </a:ext>
            </a:extLst>
          </p:cNvPr>
          <p:cNvSpPr txBox="1"/>
          <p:nvPr/>
        </p:nvSpPr>
        <p:spPr>
          <a:xfrm>
            <a:off x="5798917" y="2379192"/>
            <a:ext cx="1539432" cy="369332"/>
          </a:xfrm>
          <a:prstGeom prst="rect">
            <a:avLst/>
          </a:prstGeom>
          <a:noFill/>
        </p:spPr>
        <p:txBody>
          <a:bodyPr wrap="square" rtlCol="0">
            <a:spAutoFit/>
          </a:bodyPr>
          <a:lstStyle/>
          <a:p>
            <a:r>
              <a:rPr lang="en-US" dirty="0"/>
              <a:t>Search Index</a:t>
            </a:r>
          </a:p>
        </p:txBody>
      </p:sp>
      <p:sp>
        <p:nvSpPr>
          <p:cNvPr id="14" name="TextBox 13">
            <a:extLst>
              <a:ext uri="{FF2B5EF4-FFF2-40B4-BE49-F238E27FC236}">
                <a16:creationId xmlns:a16="http://schemas.microsoft.com/office/drawing/2014/main" id="{914C94EA-31DE-4AA2-9C11-7E4B113FD82F}"/>
              </a:ext>
            </a:extLst>
          </p:cNvPr>
          <p:cNvSpPr txBox="1"/>
          <p:nvPr/>
        </p:nvSpPr>
        <p:spPr>
          <a:xfrm>
            <a:off x="838198" y="2991263"/>
            <a:ext cx="10515599" cy="369332"/>
          </a:xfrm>
          <a:prstGeom prst="rect">
            <a:avLst/>
          </a:prstGeom>
          <a:noFill/>
        </p:spPr>
        <p:txBody>
          <a:bodyPr wrap="square">
            <a:spAutoFit/>
          </a:bodyPr>
          <a:lstStyle/>
          <a:p>
            <a:r>
              <a:rPr lang="en-US" dirty="0">
                <a:latin typeface="Linux Libertine" panose="02000503000000000000" pitchFamily="2" charset="0"/>
                <a:ea typeface="Calibri" panose="020F0502020204030204" pitchFamily="34" charset="0"/>
              </a:rPr>
              <a:t>Extracted b</a:t>
            </a:r>
            <a:r>
              <a:rPr lang="en-US" sz="1800" dirty="0">
                <a:effectLst/>
                <a:latin typeface="Linux Libertine" panose="02000503000000000000" pitchFamily="2" charset="0"/>
                <a:ea typeface="Calibri" panose="020F0502020204030204" pitchFamily="34" charset="0"/>
              </a:rPr>
              <a:t>iological entities: [“256321”, “96587”, “74125”, “203”, “98765”, “85210”, “74152”]</a:t>
            </a:r>
            <a:endParaRPr lang="en-US" dirty="0"/>
          </a:p>
        </p:txBody>
      </p:sp>
      <p:sp>
        <p:nvSpPr>
          <p:cNvPr id="12" name="Arrow: Down 11">
            <a:extLst>
              <a:ext uri="{FF2B5EF4-FFF2-40B4-BE49-F238E27FC236}">
                <a16:creationId xmlns:a16="http://schemas.microsoft.com/office/drawing/2014/main" id="{0C15A6C2-9738-422A-9AFD-9B088D88C8E1}"/>
              </a:ext>
            </a:extLst>
          </p:cNvPr>
          <p:cNvSpPr/>
          <p:nvPr/>
        </p:nvSpPr>
        <p:spPr>
          <a:xfrm>
            <a:off x="5528676" y="3501126"/>
            <a:ext cx="289370" cy="59631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6" name="Graphic 13">
            <a:extLst>
              <a:ext uri="{FF2B5EF4-FFF2-40B4-BE49-F238E27FC236}">
                <a16:creationId xmlns:a16="http://schemas.microsoft.com/office/drawing/2014/main" id="{B15A8A58-8968-4647-BBE3-AC1B9D683BBF}"/>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696904" y="4193303"/>
            <a:ext cx="6354018" cy="2021733"/>
          </a:xfrm>
          <a:prstGeom prst="rect">
            <a:avLst/>
          </a:prstGeom>
        </p:spPr>
      </p:pic>
      <p:sp>
        <p:nvSpPr>
          <p:cNvPr id="17" name="TextBox 16">
            <a:extLst>
              <a:ext uri="{FF2B5EF4-FFF2-40B4-BE49-F238E27FC236}">
                <a16:creationId xmlns:a16="http://schemas.microsoft.com/office/drawing/2014/main" id="{C5C1892B-D82E-49F5-A937-50DCB850B764}"/>
              </a:ext>
            </a:extLst>
          </p:cNvPr>
          <p:cNvSpPr txBox="1"/>
          <p:nvPr/>
        </p:nvSpPr>
        <p:spPr>
          <a:xfrm>
            <a:off x="5818044" y="3599501"/>
            <a:ext cx="2573601" cy="923330"/>
          </a:xfrm>
          <a:prstGeom prst="rect">
            <a:avLst/>
          </a:prstGeom>
          <a:noFill/>
        </p:spPr>
        <p:txBody>
          <a:bodyPr wrap="square" rtlCol="0">
            <a:spAutoFit/>
          </a:bodyPr>
          <a:lstStyle/>
          <a:p>
            <a:r>
              <a:rPr lang="en-US" dirty="0"/>
              <a:t>Average node embedding vectors to get query vector</a:t>
            </a:r>
          </a:p>
        </p:txBody>
      </p:sp>
    </p:spTree>
    <p:extLst>
      <p:ext uri="{BB962C8B-B14F-4D97-AF65-F5344CB8AC3E}">
        <p14:creationId xmlns:p14="http://schemas.microsoft.com/office/powerpoint/2010/main" val="22049013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2582FCE9-111E-4C83-B9E0-1692B21CF001}"/>
              </a:ext>
            </a:extLst>
          </p:cNvPr>
          <p:cNvSpPr txBox="1">
            <a:spLocks/>
          </p:cNvSpPr>
          <p:nvPr/>
        </p:nvSpPr>
        <p:spPr>
          <a:xfrm>
            <a:off x="838199" y="291090"/>
            <a:ext cx="10515599" cy="93268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Linux Libertine" panose="02000503000000000000" pitchFamily="2" charset="0"/>
                <a:ea typeface="Linux Libertine" panose="02000503000000000000" pitchFamily="2" charset="0"/>
                <a:cs typeface="Linux Libertine" panose="02000503000000000000" pitchFamily="2" charset="0"/>
              </a:defRPr>
            </a:lvl1pPr>
          </a:lstStyle>
          <a:p>
            <a:pPr>
              <a:spcAft>
                <a:spcPts val="600"/>
              </a:spcAft>
            </a:pPr>
            <a:r>
              <a:rPr lang="en-US" sz="5000" dirty="0">
                <a:latin typeface="+mj-lt"/>
                <a:ea typeface="+mj-ea"/>
                <a:cs typeface="+mj-cs"/>
              </a:rPr>
              <a:t>3</a:t>
            </a:r>
            <a:r>
              <a:rPr lang="en-US" sz="5000" kern="1200" dirty="0">
                <a:solidFill>
                  <a:schemeClr val="tx1"/>
                </a:solidFill>
                <a:latin typeface="+mj-lt"/>
                <a:ea typeface="+mj-ea"/>
                <a:cs typeface="+mj-cs"/>
              </a:rPr>
              <a:t>. Method: </a:t>
            </a:r>
            <a:r>
              <a:rPr lang="en-US" sz="5000" dirty="0">
                <a:latin typeface="+mj-lt"/>
                <a:ea typeface="+mj-ea"/>
                <a:cs typeface="+mj-cs"/>
              </a:rPr>
              <a:t>Cosine distance ranking</a:t>
            </a:r>
            <a:endParaRPr lang="en-US" sz="5000" kern="1200" dirty="0">
              <a:solidFill>
                <a:schemeClr val="tx1"/>
              </a:solidFill>
              <a:latin typeface="+mj-lt"/>
              <a:ea typeface="+mj-ea"/>
              <a:cs typeface="+mj-cs"/>
            </a:endParaRPr>
          </a:p>
        </p:txBody>
      </p:sp>
      <p:sp>
        <p:nvSpPr>
          <p:cNvPr id="2" name="Date Placeholder 1">
            <a:extLst>
              <a:ext uri="{FF2B5EF4-FFF2-40B4-BE49-F238E27FC236}">
                <a16:creationId xmlns:a16="http://schemas.microsoft.com/office/drawing/2014/main" id="{348F69A4-CBCC-464C-882C-93FEA4D5CC9A}"/>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a:spcAft>
                <a:spcPts val="600"/>
              </a:spcAft>
            </a:pPr>
            <a:fld id="{C1FFE036-1B22-46FC-8A87-65388E31D917}" type="datetime1">
              <a:rPr lang="en-US" smtClean="0">
                <a:latin typeface="+mn-lt"/>
                <a:ea typeface="+mn-ea"/>
                <a:cs typeface="+mn-cs"/>
              </a:rPr>
              <a:pPr>
                <a:spcAft>
                  <a:spcPts val="600"/>
                </a:spcAft>
              </a:pPr>
              <a:t>12/7/2021</a:t>
            </a:fld>
            <a:endParaRPr lang="en-US">
              <a:latin typeface="+mn-lt"/>
              <a:ea typeface="+mn-ea"/>
              <a:cs typeface="+mn-cs"/>
            </a:endParaRPr>
          </a:p>
        </p:txBody>
      </p:sp>
      <p:sp>
        <p:nvSpPr>
          <p:cNvPr id="3" name="Footer Placeholder 2">
            <a:extLst>
              <a:ext uri="{FF2B5EF4-FFF2-40B4-BE49-F238E27FC236}">
                <a16:creationId xmlns:a16="http://schemas.microsoft.com/office/drawing/2014/main" id="{FDD3D8AD-D959-400C-9C58-ED7FB3E61887}"/>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r>
              <a:rPr lang="en-US" dirty="0"/>
              <a:t>Masters Project - Ebeid - Fall 2021</a:t>
            </a:r>
          </a:p>
        </p:txBody>
      </p:sp>
      <p:sp>
        <p:nvSpPr>
          <p:cNvPr id="4" name="Slide Number Placeholder 3">
            <a:extLst>
              <a:ext uri="{FF2B5EF4-FFF2-40B4-BE49-F238E27FC236}">
                <a16:creationId xmlns:a16="http://schemas.microsoft.com/office/drawing/2014/main" id="{DB38BCD4-D4B4-4DC0-96CF-9F4FF85B46F8}"/>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5A99AF73-65C2-407A-B44B-DB0F62C2405F}" type="slidenum">
              <a:rPr lang="en-US" smtClean="0">
                <a:latin typeface="+mn-lt"/>
                <a:ea typeface="+mn-ea"/>
                <a:cs typeface="+mn-cs"/>
              </a:rPr>
              <a:pPr>
                <a:spcAft>
                  <a:spcPts val="600"/>
                </a:spcAft>
              </a:pPr>
              <a:t>28</a:t>
            </a:fld>
            <a:endParaRPr lang="en-US">
              <a:latin typeface="+mn-lt"/>
              <a:ea typeface="+mn-ea"/>
              <a:cs typeface="+mn-cs"/>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F1990D0-4B20-4B84-B77F-4CE49FBC90CE}"/>
                  </a:ext>
                </a:extLst>
              </p:cNvPr>
              <p:cNvSpPr txBox="1"/>
              <p:nvPr/>
            </p:nvSpPr>
            <p:spPr>
              <a:xfrm>
                <a:off x="3049929" y="3084539"/>
                <a:ext cx="6099858" cy="70628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mtClean="0">
                          <a:latin typeface="Cambria Math" panose="02040503050406030204" pitchFamily="18" charset="0"/>
                        </a:rPr>
                        <m:t>s</m:t>
                      </m:r>
                      <m:r>
                        <m:rPr>
                          <m:sty m:val="p"/>
                        </m:rPr>
                        <a:rPr lang="en-US" i="0">
                          <a:latin typeface="Cambria Math" panose="02040503050406030204" pitchFamily="18" charset="0"/>
                        </a:rPr>
                        <m:t>imilarity</m:t>
                      </m:r>
                      <m:r>
                        <a:rPr lang="en-US" i="0">
                          <a:latin typeface="Cambria Math" panose="02040503050406030204" pitchFamily="18" charset="0"/>
                        </a:rPr>
                        <m:t> =</m:t>
                      </m:r>
                      <m:func>
                        <m:funcPr>
                          <m:ctrlPr>
                            <a:rPr lang="en-US" i="1">
                              <a:latin typeface="Cambria Math" panose="02040503050406030204" pitchFamily="18" charset="0"/>
                            </a:rPr>
                          </m:ctrlPr>
                        </m:funcPr>
                        <m:fName>
                          <m:r>
                            <m:rPr>
                              <m:sty m:val="p"/>
                            </m:rPr>
                            <a:rPr lang="en-US" i="0">
                              <a:latin typeface="Cambria Math" panose="02040503050406030204" pitchFamily="18" charset="0"/>
                            </a:rPr>
                            <m:t>cos</m:t>
                          </m:r>
                        </m:fName>
                        <m:e>
                          <m:d>
                            <m:dPr>
                              <m:ctrlPr>
                                <a:rPr lang="en-US" i="1">
                                  <a:latin typeface="Cambria Math" panose="02040503050406030204" pitchFamily="18" charset="0"/>
                                </a:rPr>
                              </m:ctrlPr>
                            </m:dPr>
                            <m:e>
                              <m:r>
                                <a:rPr lang="en-US" i="1">
                                  <a:latin typeface="Cambria Math" panose="02040503050406030204" pitchFamily="18" charset="0"/>
                                </a:rPr>
                                <m:t>𝜃</m:t>
                              </m:r>
                            </m:e>
                          </m:d>
                        </m:e>
                      </m:func>
                      <m:r>
                        <a:rPr lang="en-US" i="0">
                          <a:latin typeface="Cambria Math" panose="02040503050406030204" pitchFamily="18" charset="0"/>
                        </a:rPr>
                        <m:t>=</m:t>
                      </m:r>
                      <m:f>
                        <m:fPr>
                          <m:ctrlPr>
                            <a:rPr lang="en-US" i="1">
                              <a:solidFill>
                                <a:srgbClr val="836967"/>
                              </a:solidFill>
                              <a:latin typeface="Cambria Math" panose="02040503050406030204" pitchFamily="18" charset="0"/>
                            </a:rPr>
                          </m:ctrlPr>
                        </m:fPr>
                        <m:num>
                          <m:r>
                            <a:rPr lang="en-US" i="1">
                              <a:latin typeface="Cambria Math" panose="02040503050406030204" pitchFamily="18" charset="0"/>
                            </a:rPr>
                            <m:t>𝐴𝐵</m:t>
                          </m:r>
                        </m:num>
                        <m:den>
                          <m:d>
                            <m:dPr>
                              <m:begChr m:val="|"/>
                              <m:endChr m:val="|"/>
                              <m:ctrlPr>
                                <a:rPr lang="en-US" i="1">
                                  <a:solidFill>
                                    <a:srgbClr val="836967"/>
                                  </a:solidFill>
                                  <a:latin typeface="Cambria Math" panose="02040503050406030204" pitchFamily="18" charset="0"/>
                                </a:rPr>
                              </m:ctrlPr>
                            </m:dPr>
                            <m:e>
                              <m:d>
                                <m:dPr>
                                  <m:begChr m:val="|"/>
                                  <m:endChr m:val="|"/>
                                  <m:ctrlPr>
                                    <a:rPr lang="en-US" i="1">
                                      <a:solidFill>
                                        <a:srgbClr val="836967"/>
                                      </a:solidFill>
                                      <a:latin typeface="Cambria Math" panose="02040503050406030204" pitchFamily="18" charset="0"/>
                                    </a:rPr>
                                  </m:ctrlPr>
                                </m:dPr>
                                <m:e>
                                  <m:r>
                                    <a:rPr lang="en-US" i="1">
                                      <a:latin typeface="Cambria Math" panose="02040503050406030204" pitchFamily="18" charset="0"/>
                                    </a:rPr>
                                    <m:t>𝐴</m:t>
                                  </m:r>
                                </m:e>
                              </m:d>
                            </m:e>
                          </m:d>
                          <m:d>
                            <m:dPr>
                              <m:begChr m:val="|"/>
                              <m:endChr m:val="|"/>
                              <m:ctrlPr>
                                <a:rPr lang="en-US" i="1">
                                  <a:solidFill>
                                    <a:srgbClr val="836967"/>
                                  </a:solidFill>
                                  <a:latin typeface="Cambria Math" panose="02040503050406030204" pitchFamily="18" charset="0"/>
                                </a:rPr>
                              </m:ctrlPr>
                            </m:dPr>
                            <m:e>
                              <m:d>
                                <m:dPr>
                                  <m:begChr m:val="|"/>
                                  <m:endChr m:val="|"/>
                                  <m:ctrlPr>
                                    <a:rPr lang="en-US" i="1">
                                      <a:solidFill>
                                        <a:srgbClr val="836967"/>
                                      </a:solidFill>
                                      <a:latin typeface="Cambria Math" panose="02040503050406030204" pitchFamily="18" charset="0"/>
                                    </a:rPr>
                                  </m:ctrlPr>
                                </m:dPr>
                                <m:e>
                                  <m:r>
                                    <a:rPr lang="en-US" i="1">
                                      <a:latin typeface="Cambria Math" panose="02040503050406030204" pitchFamily="18" charset="0"/>
                                    </a:rPr>
                                    <m:t>𝐵</m:t>
                                  </m:r>
                                </m:e>
                              </m:d>
                            </m:e>
                          </m:d>
                        </m:den>
                      </m:f>
                    </m:oMath>
                  </m:oMathPara>
                </a14:m>
                <a:endParaRPr lang="en-US" dirty="0"/>
              </a:p>
            </p:txBody>
          </p:sp>
        </mc:Choice>
        <mc:Fallback xmlns="">
          <p:sp>
            <p:nvSpPr>
              <p:cNvPr id="10" name="TextBox 9">
                <a:extLst>
                  <a:ext uri="{FF2B5EF4-FFF2-40B4-BE49-F238E27FC236}">
                    <a16:creationId xmlns:a16="http://schemas.microsoft.com/office/drawing/2014/main" id="{AF1990D0-4B20-4B84-B77F-4CE49FBC90CE}"/>
                  </a:ext>
                </a:extLst>
              </p:cNvPr>
              <p:cNvSpPr txBox="1">
                <a:spLocks noRot="1" noChangeAspect="1" noMove="1" noResize="1" noEditPoints="1" noAdjustHandles="1" noChangeArrowheads="1" noChangeShapeType="1" noTextEdit="1"/>
              </p:cNvSpPr>
              <p:nvPr/>
            </p:nvSpPr>
            <p:spPr>
              <a:xfrm>
                <a:off x="3049929" y="3084539"/>
                <a:ext cx="6099858" cy="706284"/>
              </a:xfrm>
              <a:prstGeom prst="rect">
                <a:avLst/>
              </a:prstGeom>
              <a:blipFill>
                <a:blip r:embed="rId3"/>
                <a:stretch>
                  <a:fillRect/>
                </a:stretch>
              </a:blipFill>
            </p:spPr>
            <p:txBody>
              <a:bodyPr/>
              <a:lstStyle/>
              <a:p>
                <a:r>
                  <a:rPr lang="en-US">
                    <a:noFill/>
                  </a:rPr>
                  <a:t> </a:t>
                </a:r>
              </a:p>
            </p:txBody>
          </p:sp>
        </mc:Fallback>
      </mc:AlternateContent>
      <p:pic>
        <p:nvPicPr>
          <p:cNvPr id="12" name="Graphic 11">
            <a:extLst>
              <a:ext uri="{FF2B5EF4-FFF2-40B4-BE49-F238E27FC236}">
                <a16:creationId xmlns:a16="http://schemas.microsoft.com/office/drawing/2014/main" id="{20633455-6825-41A9-AAE0-F259CD83DF8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32800" y="2145777"/>
            <a:ext cx="2857500" cy="2381250"/>
          </a:xfrm>
          <a:prstGeom prst="rect">
            <a:avLst/>
          </a:prstGeom>
        </p:spPr>
      </p:pic>
    </p:spTree>
    <p:extLst>
      <p:ext uri="{BB962C8B-B14F-4D97-AF65-F5344CB8AC3E}">
        <p14:creationId xmlns:p14="http://schemas.microsoft.com/office/powerpoint/2010/main" val="11366661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2582FCE9-111E-4C83-B9E0-1692B21CF001}"/>
              </a:ext>
            </a:extLst>
          </p:cNvPr>
          <p:cNvSpPr txBox="1">
            <a:spLocks/>
          </p:cNvSpPr>
          <p:nvPr/>
        </p:nvSpPr>
        <p:spPr>
          <a:xfrm>
            <a:off x="838199" y="291090"/>
            <a:ext cx="10515599" cy="93268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Linux Libertine" panose="02000503000000000000" pitchFamily="2" charset="0"/>
                <a:ea typeface="Linux Libertine" panose="02000503000000000000" pitchFamily="2" charset="0"/>
                <a:cs typeface="Linux Libertine" panose="02000503000000000000" pitchFamily="2" charset="0"/>
              </a:defRPr>
            </a:lvl1pPr>
          </a:lstStyle>
          <a:p>
            <a:pPr>
              <a:spcAft>
                <a:spcPts val="600"/>
              </a:spcAft>
            </a:pPr>
            <a:r>
              <a:rPr lang="en-US" sz="5000" kern="1200" dirty="0">
                <a:solidFill>
                  <a:schemeClr val="tx1"/>
                </a:solidFill>
                <a:latin typeface="+mj-lt"/>
                <a:ea typeface="+mj-ea"/>
                <a:cs typeface="+mj-cs"/>
              </a:rPr>
              <a:t>4. Evaluation: Dataset</a:t>
            </a:r>
          </a:p>
        </p:txBody>
      </p:sp>
      <p:sp>
        <p:nvSpPr>
          <p:cNvPr id="2" name="Date Placeholder 1">
            <a:extLst>
              <a:ext uri="{FF2B5EF4-FFF2-40B4-BE49-F238E27FC236}">
                <a16:creationId xmlns:a16="http://schemas.microsoft.com/office/drawing/2014/main" id="{348F69A4-CBCC-464C-882C-93FEA4D5CC9A}"/>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a:spcAft>
                <a:spcPts val="600"/>
              </a:spcAft>
            </a:pPr>
            <a:fld id="{C1FFE036-1B22-46FC-8A87-65388E31D917}" type="datetime1">
              <a:rPr lang="en-US" smtClean="0">
                <a:latin typeface="+mn-lt"/>
                <a:ea typeface="+mn-ea"/>
                <a:cs typeface="+mn-cs"/>
              </a:rPr>
              <a:pPr>
                <a:spcAft>
                  <a:spcPts val="600"/>
                </a:spcAft>
              </a:pPr>
              <a:t>12/7/2021</a:t>
            </a:fld>
            <a:endParaRPr lang="en-US">
              <a:latin typeface="+mn-lt"/>
              <a:ea typeface="+mn-ea"/>
              <a:cs typeface="+mn-cs"/>
            </a:endParaRPr>
          </a:p>
        </p:txBody>
      </p:sp>
      <p:sp>
        <p:nvSpPr>
          <p:cNvPr id="3" name="Footer Placeholder 2">
            <a:extLst>
              <a:ext uri="{FF2B5EF4-FFF2-40B4-BE49-F238E27FC236}">
                <a16:creationId xmlns:a16="http://schemas.microsoft.com/office/drawing/2014/main" id="{FDD3D8AD-D959-400C-9C58-ED7FB3E61887}"/>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r>
              <a:rPr lang="en-US" dirty="0"/>
              <a:t>Masters Project - Ebeid - Fall 2021</a:t>
            </a:r>
          </a:p>
        </p:txBody>
      </p:sp>
      <p:sp>
        <p:nvSpPr>
          <p:cNvPr id="4" name="Slide Number Placeholder 3">
            <a:extLst>
              <a:ext uri="{FF2B5EF4-FFF2-40B4-BE49-F238E27FC236}">
                <a16:creationId xmlns:a16="http://schemas.microsoft.com/office/drawing/2014/main" id="{DB38BCD4-D4B4-4DC0-96CF-9F4FF85B46F8}"/>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5A99AF73-65C2-407A-B44B-DB0F62C2405F}" type="slidenum">
              <a:rPr lang="en-US" smtClean="0">
                <a:latin typeface="+mn-lt"/>
                <a:ea typeface="+mn-ea"/>
                <a:cs typeface="+mn-cs"/>
              </a:rPr>
              <a:pPr>
                <a:spcAft>
                  <a:spcPts val="600"/>
                </a:spcAft>
              </a:pPr>
              <a:t>29</a:t>
            </a:fld>
            <a:endParaRPr lang="en-US">
              <a:latin typeface="+mn-lt"/>
              <a:ea typeface="+mn-ea"/>
              <a:cs typeface="+mn-cs"/>
            </a:endParaRPr>
          </a:p>
        </p:txBody>
      </p:sp>
      <p:sp>
        <p:nvSpPr>
          <p:cNvPr id="8" name="TextBox 7">
            <a:extLst>
              <a:ext uri="{FF2B5EF4-FFF2-40B4-BE49-F238E27FC236}">
                <a16:creationId xmlns:a16="http://schemas.microsoft.com/office/drawing/2014/main" id="{670721C0-D719-4213-AB1B-1C8D8B57000E}"/>
              </a:ext>
            </a:extLst>
          </p:cNvPr>
          <p:cNvSpPr txBox="1"/>
          <p:nvPr/>
        </p:nvSpPr>
        <p:spPr>
          <a:xfrm>
            <a:off x="2911032" y="1797598"/>
            <a:ext cx="6099858" cy="1122487"/>
          </a:xfrm>
          <a:prstGeom prst="rect">
            <a:avLst/>
          </a:prstGeom>
          <a:noFill/>
        </p:spPr>
        <p:txBody>
          <a:bodyPr wrap="square">
            <a:spAutoFit/>
          </a:bodyPr>
          <a:lstStyle/>
          <a:p>
            <a:pPr marL="0" marR="0" algn="ctr">
              <a:lnSpc>
                <a:spcPct val="200000"/>
              </a:lnSpc>
              <a:spcBef>
                <a:spcPts val="0"/>
              </a:spcBef>
              <a:spcAft>
                <a:spcPts val="800"/>
              </a:spcAft>
            </a:pPr>
            <a:r>
              <a:rPr lang="en-US" sz="1800" dirty="0">
                <a:effectLst/>
                <a:latin typeface="Linux Libertine" panose="02000503000000000000" pitchFamily="2" charset="0"/>
                <a:ea typeface="Calibri" panose="020F0502020204030204" pitchFamily="34" charset="0"/>
                <a:cs typeface="Times New Roman" panose="02020603050405020304" pitchFamily="18" charset="0"/>
              </a:rPr>
              <a:t>(((("2019/month/01"[Date - Completion]: "2019/month/30"[Date - Completion]))))</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2" name="TextBox 11">
            <a:extLst>
              <a:ext uri="{FF2B5EF4-FFF2-40B4-BE49-F238E27FC236}">
                <a16:creationId xmlns:a16="http://schemas.microsoft.com/office/drawing/2014/main" id="{41E56F80-4FF0-458E-B54E-4C5FE9D39697}"/>
              </a:ext>
            </a:extLst>
          </p:cNvPr>
          <p:cNvSpPr txBox="1"/>
          <p:nvPr/>
        </p:nvSpPr>
        <p:spPr>
          <a:xfrm>
            <a:off x="2806860" y="4616394"/>
            <a:ext cx="6099858" cy="1122487"/>
          </a:xfrm>
          <a:prstGeom prst="rect">
            <a:avLst/>
          </a:prstGeom>
          <a:noFill/>
        </p:spPr>
        <p:txBody>
          <a:bodyPr wrap="square">
            <a:spAutoFit/>
          </a:bodyPr>
          <a:lstStyle/>
          <a:p>
            <a:pPr marL="0" marR="0" algn="ctr">
              <a:lnSpc>
                <a:spcPct val="200000"/>
              </a:lnSpc>
              <a:spcBef>
                <a:spcPts val="0"/>
              </a:spcBef>
              <a:spcAft>
                <a:spcPts val="800"/>
              </a:spcAft>
            </a:pPr>
            <a:r>
              <a:rPr lang="en-US" sz="1800" dirty="0">
                <a:effectLst/>
                <a:latin typeface="Linux Libertine" panose="02000503000000000000" pitchFamily="2" charset="0"/>
                <a:ea typeface="Calibri" panose="020F0502020204030204" pitchFamily="34" charset="0"/>
                <a:cs typeface="Times New Roman" panose="02020603050405020304" pitchFamily="18" charset="0"/>
              </a:rPr>
              <a:t>(((("2019/02/01"[Date - Completion]: "2019/02/03"[Date - Completion]))))</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3" name="Arrow: Down 12">
            <a:extLst>
              <a:ext uri="{FF2B5EF4-FFF2-40B4-BE49-F238E27FC236}">
                <a16:creationId xmlns:a16="http://schemas.microsoft.com/office/drawing/2014/main" id="{DF5503D3-B541-4CD9-9BDD-8887F54A1AB3}"/>
              </a:ext>
            </a:extLst>
          </p:cNvPr>
          <p:cNvSpPr/>
          <p:nvPr/>
        </p:nvSpPr>
        <p:spPr>
          <a:xfrm>
            <a:off x="5706319" y="3429000"/>
            <a:ext cx="389681" cy="56992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744196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2582FCE9-111E-4C83-B9E0-1692B21CF001}"/>
              </a:ext>
            </a:extLst>
          </p:cNvPr>
          <p:cNvSpPr txBox="1">
            <a:spLocks/>
          </p:cNvSpPr>
          <p:nvPr/>
        </p:nvSpPr>
        <p:spPr>
          <a:xfrm>
            <a:off x="838199" y="291090"/>
            <a:ext cx="10515599" cy="93268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Linux Libertine" panose="02000503000000000000" pitchFamily="2" charset="0"/>
                <a:ea typeface="Linux Libertine" panose="02000503000000000000" pitchFamily="2" charset="0"/>
                <a:cs typeface="Linux Libertine" panose="02000503000000000000" pitchFamily="2" charset="0"/>
              </a:defRPr>
            </a:lvl1pPr>
          </a:lstStyle>
          <a:p>
            <a:pPr>
              <a:spcAft>
                <a:spcPts val="600"/>
              </a:spcAft>
            </a:pPr>
            <a:r>
              <a:rPr lang="en-US" sz="5000" kern="1200" dirty="0">
                <a:solidFill>
                  <a:schemeClr val="tx1"/>
                </a:solidFill>
                <a:latin typeface="+mj-lt"/>
                <a:ea typeface="+mj-ea"/>
                <a:cs typeface="+mj-cs"/>
              </a:rPr>
              <a:t>4. Evaluation: Dataset</a:t>
            </a:r>
          </a:p>
        </p:txBody>
      </p:sp>
      <p:sp>
        <p:nvSpPr>
          <p:cNvPr id="2" name="Date Placeholder 1">
            <a:extLst>
              <a:ext uri="{FF2B5EF4-FFF2-40B4-BE49-F238E27FC236}">
                <a16:creationId xmlns:a16="http://schemas.microsoft.com/office/drawing/2014/main" id="{348F69A4-CBCC-464C-882C-93FEA4D5CC9A}"/>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a:spcAft>
                <a:spcPts val="600"/>
              </a:spcAft>
            </a:pPr>
            <a:fld id="{C1FFE036-1B22-46FC-8A87-65388E31D917}" type="datetime1">
              <a:rPr lang="en-US" smtClean="0">
                <a:latin typeface="+mn-lt"/>
                <a:ea typeface="+mn-ea"/>
                <a:cs typeface="+mn-cs"/>
              </a:rPr>
              <a:pPr>
                <a:spcAft>
                  <a:spcPts val="600"/>
                </a:spcAft>
              </a:pPr>
              <a:t>12/7/2021</a:t>
            </a:fld>
            <a:endParaRPr lang="en-US">
              <a:latin typeface="+mn-lt"/>
              <a:ea typeface="+mn-ea"/>
              <a:cs typeface="+mn-cs"/>
            </a:endParaRPr>
          </a:p>
        </p:txBody>
      </p:sp>
      <p:sp>
        <p:nvSpPr>
          <p:cNvPr id="3" name="Footer Placeholder 2">
            <a:extLst>
              <a:ext uri="{FF2B5EF4-FFF2-40B4-BE49-F238E27FC236}">
                <a16:creationId xmlns:a16="http://schemas.microsoft.com/office/drawing/2014/main" id="{FDD3D8AD-D959-400C-9C58-ED7FB3E61887}"/>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r>
              <a:rPr lang="en-US" dirty="0"/>
              <a:t>Masters Project - Ebeid - Fall 2021</a:t>
            </a:r>
          </a:p>
        </p:txBody>
      </p:sp>
      <p:sp>
        <p:nvSpPr>
          <p:cNvPr id="4" name="Slide Number Placeholder 3">
            <a:extLst>
              <a:ext uri="{FF2B5EF4-FFF2-40B4-BE49-F238E27FC236}">
                <a16:creationId xmlns:a16="http://schemas.microsoft.com/office/drawing/2014/main" id="{DB38BCD4-D4B4-4DC0-96CF-9F4FF85B46F8}"/>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5A99AF73-65C2-407A-B44B-DB0F62C2405F}" type="slidenum">
              <a:rPr lang="en-US" smtClean="0">
                <a:latin typeface="+mn-lt"/>
                <a:ea typeface="+mn-ea"/>
                <a:cs typeface="+mn-cs"/>
              </a:rPr>
              <a:pPr>
                <a:spcAft>
                  <a:spcPts val="600"/>
                </a:spcAft>
              </a:pPr>
              <a:t>30</a:t>
            </a:fld>
            <a:endParaRPr lang="en-US">
              <a:latin typeface="+mn-lt"/>
              <a:ea typeface="+mn-ea"/>
              <a:cs typeface="+mn-cs"/>
            </a:endParaRPr>
          </a:p>
        </p:txBody>
      </p:sp>
      <p:graphicFrame>
        <p:nvGraphicFramePr>
          <p:cNvPr id="5" name="Table 4">
            <a:extLst>
              <a:ext uri="{FF2B5EF4-FFF2-40B4-BE49-F238E27FC236}">
                <a16:creationId xmlns:a16="http://schemas.microsoft.com/office/drawing/2014/main" id="{A766C987-A9D2-4713-883C-A3E3A7854825}"/>
              </a:ext>
            </a:extLst>
          </p:cNvPr>
          <p:cNvGraphicFramePr>
            <a:graphicFrameLocks noGrp="1"/>
          </p:cNvGraphicFramePr>
          <p:nvPr>
            <p:extLst>
              <p:ext uri="{D42A27DB-BD31-4B8C-83A1-F6EECF244321}">
                <p14:modId xmlns:p14="http://schemas.microsoft.com/office/powerpoint/2010/main" val="2467545393"/>
              </p:ext>
            </p:extLst>
          </p:nvPr>
        </p:nvGraphicFramePr>
        <p:xfrm>
          <a:off x="898584" y="1223778"/>
          <a:ext cx="10394827" cy="5502021"/>
        </p:xfrm>
        <a:graphic>
          <a:graphicData uri="http://schemas.openxmlformats.org/drawingml/2006/table">
            <a:tbl>
              <a:tblPr firstRow="1" firstCol="1" bandRow="1">
                <a:tableStyleId>{5C22544A-7EE6-4342-B048-85BDC9FD1C3A}</a:tableStyleId>
              </a:tblPr>
              <a:tblGrid>
                <a:gridCol w="5232756">
                  <a:extLst>
                    <a:ext uri="{9D8B030D-6E8A-4147-A177-3AD203B41FA5}">
                      <a16:colId xmlns:a16="http://schemas.microsoft.com/office/drawing/2014/main" val="2813293992"/>
                    </a:ext>
                  </a:extLst>
                </a:gridCol>
                <a:gridCol w="5162071">
                  <a:extLst>
                    <a:ext uri="{9D8B030D-6E8A-4147-A177-3AD203B41FA5}">
                      <a16:colId xmlns:a16="http://schemas.microsoft.com/office/drawing/2014/main" val="1136058003"/>
                    </a:ext>
                  </a:extLst>
                </a:gridCol>
              </a:tblGrid>
              <a:tr h="207207">
                <a:tc>
                  <a:txBody>
                    <a:bodyPr/>
                    <a:lstStyle/>
                    <a:p>
                      <a:pPr marL="0" marR="0">
                        <a:lnSpc>
                          <a:spcPct val="200000"/>
                        </a:lnSpc>
                        <a:spcBef>
                          <a:spcPts val="0"/>
                        </a:spcBef>
                        <a:spcAft>
                          <a:spcPts val="0"/>
                        </a:spcAft>
                      </a:pPr>
                      <a:r>
                        <a:rPr lang="en-US" sz="1000" dirty="0">
                          <a:effectLst/>
                        </a:rPr>
                        <a:t>Node/Edge type</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7792" marR="67792" marT="0" marB="0"/>
                </a:tc>
                <a:tc>
                  <a:txBody>
                    <a:bodyPr/>
                    <a:lstStyle/>
                    <a:p>
                      <a:pPr marL="0" marR="0">
                        <a:lnSpc>
                          <a:spcPct val="200000"/>
                        </a:lnSpc>
                        <a:spcBef>
                          <a:spcPts val="0"/>
                        </a:spcBef>
                        <a:spcAft>
                          <a:spcPts val="0"/>
                        </a:spcAft>
                      </a:pPr>
                      <a:r>
                        <a:rPr lang="en-US" sz="1000">
                          <a:effectLst/>
                        </a:rPr>
                        <a:t>Number of nodes in the graph</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7792" marR="67792" marT="0" marB="0"/>
                </a:tc>
                <a:extLst>
                  <a:ext uri="{0D108BD9-81ED-4DB2-BD59-A6C34878D82A}">
                    <a16:rowId xmlns:a16="http://schemas.microsoft.com/office/drawing/2014/main" val="1055473463"/>
                  </a:ext>
                </a:extLst>
              </a:tr>
              <a:tr h="207207">
                <a:tc>
                  <a:txBody>
                    <a:bodyPr/>
                    <a:lstStyle/>
                    <a:p>
                      <a:pPr marL="0" marR="0">
                        <a:lnSpc>
                          <a:spcPct val="200000"/>
                        </a:lnSpc>
                        <a:spcBef>
                          <a:spcPts val="0"/>
                        </a:spcBef>
                        <a:spcAft>
                          <a:spcPts val="0"/>
                        </a:spcAft>
                      </a:pPr>
                      <a:r>
                        <a:rPr lang="en-US" sz="1000">
                          <a:effectLst/>
                        </a:rPr>
                        <a:t># Nodes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7792" marR="67792" marT="0" marB="0"/>
                </a:tc>
                <a:tc>
                  <a:txBody>
                    <a:bodyPr/>
                    <a:lstStyle/>
                    <a:p>
                      <a:pPr marL="0" marR="0">
                        <a:lnSpc>
                          <a:spcPct val="200000"/>
                        </a:lnSpc>
                        <a:spcBef>
                          <a:spcPts val="0"/>
                        </a:spcBef>
                        <a:spcAft>
                          <a:spcPts val="0"/>
                        </a:spcAft>
                      </a:pPr>
                      <a:r>
                        <a:rPr lang="en-US" sz="1000">
                          <a:effectLst/>
                        </a:rPr>
                        <a:t>578453</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7792" marR="67792" marT="0" marB="0"/>
                </a:tc>
                <a:extLst>
                  <a:ext uri="{0D108BD9-81ED-4DB2-BD59-A6C34878D82A}">
                    <a16:rowId xmlns:a16="http://schemas.microsoft.com/office/drawing/2014/main" val="842133050"/>
                  </a:ext>
                </a:extLst>
              </a:tr>
              <a:tr h="207207">
                <a:tc>
                  <a:txBody>
                    <a:bodyPr/>
                    <a:lstStyle/>
                    <a:p>
                      <a:pPr marL="0" marR="0">
                        <a:lnSpc>
                          <a:spcPct val="200000"/>
                        </a:lnSpc>
                        <a:spcBef>
                          <a:spcPts val="0"/>
                        </a:spcBef>
                        <a:spcAft>
                          <a:spcPts val="0"/>
                        </a:spcAft>
                      </a:pPr>
                      <a:r>
                        <a:rPr lang="en-US" sz="1000" dirty="0">
                          <a:effectLst/>
                        </a:rPr>
                        <a:t># Author</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7792" marR="67792" marT="0" marB="0"/>
                </a:tc>
                <a:tc>
                  <a:txBody>
                    <a:bodyPr/>
                    <a:lstStyle/>
                    <a:p>
                      <a:pPr marL="0" marR="0">
                        <a:lnSpc>
                          <a:spcPct val="200000"/>
                        </a:lnSpc>
                        <a:spcBef>
                          <a:spcPts val="0"/>
                        </a:spcBef>
                        <a:spcAft>
                          <a:spcPts val="0"/>
                        </a:spcAft>
                      </a:pPr>
                      <a:r>
                        <a:rPr lang="en-US" sz="1000">
                          <a:effectLst/>
                        </a:rPr>
                        <a:t>393864</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7792" marR="67792" marT="0" marB="0"/>
                </a:tc>
                <a:extLst>
                  <a:ext uri="{0D108BD9-81ED-4DB2-BD59-A6C34878D82A}">
                    <a16:rowId xmlns:a16="http://schemas.microsoft.com/office/drawing/2014/main" val="4138417100"/>
                  </a:ext>
                </a:extLst>
              </a:tr>
              <a:tr h="207207">
                <a:tc>
                  <a:txBody>
                    <a:bodyPr/>
                    <a:lstStyle/>
                    <a:p>
                      <a:pPr marL="0" marR="0">
                        <a:lnSpc>
                          <a:spcPct val="200000"/>
                        </a:lnSpc>
                        <a:spcBef>
                          <a:spcPts val="0"/>
                        </a:spcBef>
                        <a:spcAft>
                          <a:spcPts val="0"/>
                        </a:spcAft>
                      </a:pPr>
                      <a:r>
                        <a:rPr lang="en-US" sz="1000">
                          <a:effectLst/>
                        </a:rPr>
                        <a:t># Article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7792" marR="67792" marT="0" marB="0"/>
                </a:tc>
                <a:tc>
                  <a:txBody>
                    <a:bodyPr/>
                    <a:lstStyle/>
                    <a:p>
                      <a:pPr marL="0" marR="0">
                        <a:lnSpc>
                          <a:spcPct val="200000"/>
                        </a:lnSpc>
                        <a:spcBef>
                          <a:spcPts val="0"/>
                        </a:spcBef>
                        <a:spcAft>
                          <a:spcPts val="0"/>
                        </a:spcAft>
                      </a:pPr>
                      <a:r>
                        <a:rPr lang="en-US" sz="1000">
                          <a:effectLst/>
                        </a:rPr>
                        <a:t>100456</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7792" marR="67792" marT="0" marB="0"/>
                </a:tc>
                <a:extLst>
                  <a:ext uri="{0D108BD9-81ED-4DB2-BD59-A6C34878D82A}">
                    <a16:rowId xmlns:a16="http://schemas.microsoft.com/office/drawing/2014/main" val="461562190"/>
                  </a:ext>
                </a:extLst>
              </a:tr>
              <a:tr h="207207">
                <a:tc>
                  <a:txBody>
                    <a:bodyPr/>
                    <a:lstStyle/>
                    <a:p>
                      <a:pPr marL="0" marR="0">
                        <a:lnSpc>
                          <a:spcPct val="200000"/>
                        </a:lnSpc>
                        <a:spcBef>
                          <a:spcPts val="0"/>
                        </a:spcBef>
                        <a:spcAft>
                          <a:spcPts val="0"/>
                        </a:spcAft>
                      </a:pPr>
                      <a:r>
                        <a:rPr lang="en-US" sz="1000" dirty="0">
                          <a:effectLst/>
                        </a:rPr>
                        <a:t># NIH Projects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7792" marR="67792" marT="0" marB="0"/>
                </a:tc>
                <a:tc>
                  <a:txBody>
                    <a:bodyPr/>
                    <a:lstStyle/>
                    <a:p>
                      <a:pPr marL="0" marR="0">
                        <a:lnSpc>
                          <a:spcPct val="200000"/>
                        </a:lnSpc>
                        <a:spcBef>
                          <a:spcPts val="0"/>
                        </a:spcBef>
                        <a:spcAft>
                          <a:spcPts val="0"/>
                        </a:spcAft>
                      </a:pPr>
                      <a:r>
                        <a:rPr lang="en-US" sz="1000" dirty="0">
                          <a:effectLst/>
                        </a:rPr>
                        <a:t>27109</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7792" marR="67792" marT="0" marB="0"/>
                </a:tc>
                <a:extLst>
                  <a:ext uri="{0D108BD9-81ED-4DB2-BD59-A6C34878D82A}">
                    <a16:rowId xmlns:a16="http://schemas.microsoft.com/office/drawing/2014/main" val="1955141922"/>
                  </a:ext>
                </a:extLst>
              </a:tr>
              <a:tr h="207207">
                <a:tc>
                  <a:txBody>
                    <a:bodyPr/>
                    <a:lstStyle/>
                    <a:p>
                      <a:pPr marL="0" marR="0">
                        <a:lnSpc>
                          <a:spcPct val="200000"/>
                        </a:lnSpc>
                        <a:spcBef>
                          <a:spcPts val="0"/>
                        </a:spcBef>
                        <a:spcAft>
                          <a:spcPts val="0"/>
                        </a:spcAft>
                      </a:pPr>
                      <a:r>
                        <a:rPr lang="en-US" sz="1000">
                          <a:effectLst/>
                        </a:rPr>
                        <a:t># MeSH Terms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7792" marR="67792" marT="0" marB="0"/>
                </a:tc>
                <a:tc>
                  <a:txBody>
                    <a:bodyPr/>
                    <a:lstStyle/>
                    <a:p>
                      <a:pPr marL="0" marR="0">
                        <a:lnSpc>
                          <a:spcPct val="200000"/>
                        </a:lnSpc>
                        <a:spcBef>
                          <a:spcPts val="0"/>
                        </a:spcBef>
                        <a:spcAft>
                          <a:spcPts val="0"/>
                        </a:spcAft>
                      </a:pPr>
                      <a:r>
                        <a:rPr lang="en-US" sz="1000">
                          <a:effectLst/>
                        </a:rPr>
                        <a:t>20015</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7792" marR="67792" marT="0" marB="0"/>
                </a:tc>
                <a:extLst>
                  <a:ext uri="{0D108BD9-81ED-4DB2-BD59-A6C34878D82A}">
                    <a16:rowId xmlns:a16="http://schemas.microsoft.com/office/drawing/2014/main" val="1074718763"/>
                  </a:ext>
                </a:extLst>
              </a:tr>
              <a:tr h="207207">
                <a:tc>
                  <a:txBody>
                    <a:bodyPr/>
                    <a:lstStyle/>
                    <a:p>
                      <a:pPr marL="0" marR="0">
                        <a:lnSpc>
                          <a:spcPct val="200000"/>
                        </a:lnSpc>
                        <a:spcBef>
                          <a:spcPts val="0"/>
                        </a:spcBef>
                        <a:spcAft>
                          <a:spcPts val="0"/>
                        </a:spcAft>
                      </a:pPr>
                      <a:r>
                        <a:rPr lang="en-US" sz="1000">
                          <a:effectLst/>
                        </a:rPr>
                        <a:t># Chemical Substances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7792" marR="67792" marT="0" marB="0"/>
                </a:tc>
                <a:tc>
                  <a:txBody>
                    <a:bodyPr/>
                    <a:lstStyle/>
                    <a:p>
                      <a:pPr marL="0" marR="0">
                        <a:lnSpc>
                          <a:spcPct val="200000"/>
                        </a:lnSpc>
                        <a:spcBef>
                          <a:spcPts val="0"/>
                        </a:spcBef>
                        <a:spcAft>
                          <a:spcPts val="0"/>
                        </a:spcAft>
                      </a:pPr>
                      <a:r>
                        <a:rPr lang="en-US" sz="1000">
                          <a:effectLst/>
                        </a:rPr>
                        <a:t>9686</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7792" marR="67792" marT="0" marB="0"/>
                </a:tc>
                <a:extLst>
                  <a:ext uri="{0D108BD9-81ED-4DB2-BD59-A6C34878D82A}">
                    <a16:rowId xmlns:a16="http://schemas.microsoft.com/office/drawing/2014/main" val="2762974259"/>
                  </a:ext>
                </a:extLst>
              </a:tr>
              <a:tr h="207207">
                <a:tc>
                  <a:txBody>
                    <a:bodyPr/>
                    <a:lstStyle/>
                    <a:p>
                      <a:pPr marL="0" marR="0">
                        <a:lnSpc>
                          <a:spcPct val="200000"/>
                        </a:lnSpc>
                        <a:spcBef>
                          <a:spcPts val="0"/>
                        </a:spcBef>
                        <a:spcAft>
                          <a:spcPts val="0"/>
                        </a:spcAft>
                      </a:pPr>
                      <a:r>
                        <a:rPr lang="en-US" sz="1000">
                          <a:effectLst/>
                        </a:rPr>
                        <a:t># Disease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7792" marR="67792" marT="0" marB="0"/>
                </a:tc>
                <a:tc>
                  <a:txBody>
                    <a:bodyPr/>
                    <a:lstStyle/>
                    <a:p>
                      <a:pPr marL="0" marR="0">
                        <a:lnSpc>
                          <a:spcPct val="200000"/>
                        </a:lnSpc>
                        <a:spcBef>
                          <a:spcPts val="0"/>
                        </a:spcBef>
                        <a:spcAft>
                          <a:spcPts val="0"/>
                        </a:spcAft>
                      </a:pPr>
                      <a:r>
                        <a:rPr lang="en-US" sz="1000">
                          <a:effectLst/>
                        </a:rPr>
                        <a:t>9594</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7792" marR="67792" marT="0" marB="0"/>
                </a:tc>
                <a:extLst>
                  <a:ext uri="{0D108BD9-81ED-4DB2-BD59-A6C34878D82A}">
                    <a16:rowId xmlns:a16="http://schemas.microsoft.com/office/drawing/2014/main" val="3681071236"/>
                  </a:ext>
                </a:extLst>
              </a:tr>
              <a:tr h="207207">
                <a:tc>
                  <a:txBody>
                    <a:bodyPr/>
                    <a:lstStyle/>
                    <a:p>
                      <a:pPr marL="0" marR="0">
                        <a:lnSpc>
                          <a:spcPct val="200000"/>
                        </a:lnSpc>
                        <a:spcBef>
                          <a:spcPts val="0"/>
                        </a:spcBef>
                        <a:spcAft>
                          <a:spcPts val="0"/>
                        </a:spcAft>
                      </a:pPr>
                      <a:r>
                        <a:rPr lang="en-US" sz="1000">
                          <a:effectLst/>
                        </a:rPr>
                        <a:t># Drug</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7792" marR="67792" marT="0" marB="0"/>
                </a:tc>
                <a:tc>
                  <a:txBody>
                    <a:bodyPr/>
                    <a:lstStyle/>
                    <a:p>
                      <a:pPr marL="0" marR="0">
                        <a:lnSpc>
                          <a:spcPct val="200000"/>
                        </a:lnSpc>
                        <a:spcBef>
                          <a:spcPts val="0"/>
                        </a:spcBef>
                        <a:spcAft>
                          <a:spcPts val="0"/>
                        </a:spcAft>
                      </a:pPr>
                      <a:r>
                        <a:rPr lang="en-US" sz="1000">
                          <a:effectLst/>
                        </a:rPr>
                        <a:t>8762</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7792" marR="67792" marT="0" marB="0"/>
                </a:tc>
                <a:extLst>
                  <a:ext uri="{0D108BD9-81ED-4DB2-BD59-A6C34878D82A}">
                    <a16:rowId xmlns:a16="http://schemas.microsoft.com/office/drawing/2014/main" val="1319486674"/>
                  </a:ext>
                </a:extLst>
              </a:tr>
              <a:tr h="207207">
                <a:tc>
                  <a:txBody>
                    <a:bodyPr/>
                    <a:lstStyle/>
                    <a:p>
                      <a:pPr marL="0" marR="0">
                        <a:lnSpc>
                          <a:spcPct val="200000"/>
                        </a:lnSpc>
                        <a:spcBef>
                          <a:spcPts val="0"/>
                        </a:spcBef>
                        <a:spcAft>
                          <a:spcPts val="0"/>
                        </a:spcAft>
                      </a:pPr>
                      <a:r>
                        <a:rPr lang="en-US" sz="1000" dirty="0">
                          <a:effectLst/>
                        </a:rPr>
                        <a:t># Gene</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7792" marR="67792" marT="0" marB="0"/>
                </a:tc>
                <a:tc>
                  <a:txBody>
                    <a:bodyPr/>
                    <a:lstStyle/>
                    <a:p>
                      <a:pPr marL="0" marR="0">
                        <a:lnSpc>
                          <a:spcPct val="200000"/>
                        </a:lnSpc>
                        <a:spcBef>
                          <a:spcPts val="0"/>
                        </a:spcBef>
                        <a:spcAft>
                          <a:spcPts val="0"/>
                        </a:spcAft>
                      </a:pPr>
                      <a:r>
                        <a:rPr lang="en-US" sz="1000">
                          <a:effectLst/>
                        </a:rPr>
                        <a:t>6094</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7792" marR="67792" marT="0" marB="0"/>
                </a:tc>
                <a:extLst>
                  <a:ext uri="{0D108BD9-81ED-4DB2-BD59-A6C34878D82A}">
                    <a16:rowId xmlns:a16="http://schemas.microsoft.com/office/drawing/2014/main" val="972185090"/>
                  </a:ext>
                </a:extLst>
              </a:tr>
              <a:tr h="207207">
                <a:tc>
                  <a:txBody>
                    <a:bodyPr/>
                    <a:lstStyle/>
                    <a:p>
                      <a:pPr marL="0" marR="0">
                        <a:lnSpc>
                          <a:spcPct val="200000"/>
                        </a:lnSpc>
                        <a:spcBef>
                          <a:spcPts val="0"/>
                        </a:spcBef>
                        <a:spcAft>
                          <a:spcPts val="0"/>
                        </a:spcAft>
                      </a:pPr>
                      <a:r>
                        <a:rPr lang="en-US" sz="1000" dirty="0">
                          <a:effectLst/>
                        </a:rPr>
                        <a:t># Species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7792" marR="67792" marT="0" marB="0"/>
                </a:tc>
                <a:tc>
                  <a:txBody>
                    <a:bodyPr/>
                    <a:lstStyle/>
                    <a:p>
                      <a:pPr marL="0" marR="0">
                        <a:lnSpc>
                          <a:spcPct val="200000"/>
                        </a:lnSpc>
                        <a:spcBef>
                          <a:spcPts val="0"/>
                        </a:spcBef>
                        <a:spcAft>
                          <a:spcPts val="0"/>
                        </a:spcAft>
                      </a:pPr>
                      <a:r>
                        <a:rPr lang="en-US" sz="1000">
                          <a:effectLst/>
                        </a:rPr>
                        <a:t>2873</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7792" marR="67792" marT="0" marB="0"/>
                </a:tc>
                <a:extLst>
                  <a:ext uri="{0D108BD9-81ED-4DB2-BD59-A6C34878D82A}">
                    <a16:rowId xmlns:a16="http://schemas.microsoft.com/office/drawing/2014/main" val="1248728977"/>
                  </a:ext>
                </a:extLst>
              </a:tr>
              <a:tr h="207207">
                <a:tc>
                  <a:txBody>
                    <a:bodyPr/>
                    <a:lstStyle/>
                    <a:p>
                      <a:pPr marL="0" marR="0">
                        <a:lnSpc>
                          <a:spcPct val="200000"/>
                        </a:lnSpc>
                        <a:spcBef>
                          <a:spcPts val="0"/>
                        </a:spcBef>
                        <a:spcAft>
                          <a:spcPts val="0"/>
                        </a:spcAft>
                      </a:pPr>
                      <a:r>
                        <a:rPr lang="en-US" sz="1000">
                          <a:effectLst/>
                        </a:rPr>
                        <a:t># Edges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7792" marR="67792" marT="0" marB="0"/>
                </a:tc>
                <a:tc>
                  <a:txBody>
                    <a:bodyPr/>
                    <a:lstStyle/>
                    <a:p>
                      <a:pPr marL="0" marR="0">
                        <a:lnSpc>
                          <a:spcPct val="200000"/>
                        </a:lnSpc>
                        <a:spcBef>
                          <a:spcPts val="0"/>
                        </a:spcBef>
                        <a:spcAft>
                          <a:spcPts val="0"/>
                        </a:spcAft>
                      </a:pPr>
                      <a:r>
                        <a:rPr lang="en-US" sz="1000">
                          <a:effectLst/>
                        </a:rPr>
                        <a:t>2226999</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7792" marR="67792" marT="0" marB="0"/>
                </a:tc>
                <a:extLst>
                  <a:ext uri="{0D108BD9-81ED-4DB2-BD59-A6C34878D82A}">
                    <a16:rowId xmlns:a16="http://schemas.microsoft.com/office/drawing/2014/main" val="3861832564"/>
                  </a:ext>
                </a:extLst>
              </a:tr>
              <a:tr h="207207">
                <a:tc>
                  <a:txBody>
                    <a:bodyPr/>
                    <a:lstStyle/>
                    <a:p>
                      <a:pPr marL="0" marR="0">
                        <a:lnSpc>
                          <a:spcPct val="200000"/>
                        </a:lnSpc>
                        <a:spcBef>
                          <a:spcPts val="0"/>
                        </a:spcBef>
                        <a:spcAft>
                          <a:spcPts val="0"/>
                        </a:spcAft>
                      </a:pPr>
                      <a:r>
                        <a:rPr lang="en-US" sz="1000">
                          <a:effectLst/>
                        </a:rPr>
                        <a:t># Article-relatedTo-MeSHTerm</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7792" marR="67792" marT="0" marB="0"/>
                </a:tc>
                <a:tc>
                  <a:txBody>
                    <a:bodyPr/>
                    <a:lstStyle/>
                    <a:p>
                      <a:pPr marL="0" marR="0">
                        <a:lnSpc>
                          <a:spcPct val="200000"/>
                        </a:lnSpc>
                        <a:spcBef>
                          <a:spcPts val="0"/>
                        </a:spcBef>
                        <a:spcAft>
                          <a:spcPts val="0"/>
                        </a:spcAft>
                      </a:pPr>
                      <a:r>
                        <a:rPr lang="en-US" sz="1000">
                          <a:effectLst/>
                        </a:rPr>
                        <a:t>1049789</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7792" marR="67792" marT="0" marB="0"/>
                </a:tc>
                <a:extLst>
                  <a:ext uri="{0D108BD9-81ED-4DB2-BD59-A6C34878D82A}">
                    <a16:rowId xmlns:a16="http://schemas.microsoft.com/office/drawing/2014/main" val="2556197684"/>
                  </a:ext>
                </a:extLst>
              </a:tr>
              <a:tr h="207207">
                <a:tc>
                  <a:txBody>
                    <a:bodyPr/>
                    <a:lstStyle/>
                    <a:p>
                      <a:pPr marL="0" marR="0">
                        <a:lnSpc>
                          <a:spcPct val="200000"/>
                        </a:lnSpc>
                        <a:spcBef>
                          <a:spcPts val="0"/>
                        </a:spcBef>
                        <a:spcAft>
                          <a:spcPts val="0"/>
                        </a:spcAft>
                      </a:pPr>
                      <a:r>
                        <a:rPr lang="en-US" sz="1000">
                          <a:effectLst/>
                        </a:rPr>
                        <a:t># Article-writtenBy-Author</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7792" marR="67792" marT="0" marB="0"/>
                </a:tc>
                <a:tc>
                  <a:txBody>
                    <a:bodyPr/>
                    <a:lstStyle/>
                    <a:p>
                      <a:pPr marL="0" marR="0">
                        <a:lnSpc>
                          <a:spcPct val="200000"/>
                        </a:lnSpc>
                        <a:spcBef>
                          <a:spcPts val="0"/>
                        </a:spcBef>
                        <a:spcAft>
                          <a:spcPts val="0"/>
                        </a:spcAft>
                      </a:pPr>
                      <a:r>
                        <a:rPr lang="en-US" sz="1000">
                          <a:effectLst/>
                        </a:rPr>
                        <a:t>596340</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7792" marR="67792" marT="0" marB="0"/>
                </a:tc>
                <a:extLst>
                  <a:ext uri="{0D108BD9-81ED-4DB2-BD59-A6C34878D82A}">
                    <a16:rowId xmlns:a16="http://schemas.microsoft.com/office/drawing/2014/main" val="3650133230"/>
                  </a:ext>
                </a:extLst>
              </a:tr>
              <a:tr h="207207">
                <a:tc>
                  <a:txBody>
                    <a:bodyPr/>
                    <a:lstStyle/>
                    <a:p>
                      <a:pPr marL="0" marR="0">
                        <a:lnSpc>
                          <a:spcPct val="200000"/>
                        </a:lnSpc>
                        <a:spcBef>
                          <a:spcPts val="0"/>
                        </a:spcBef>
                        <a:spcAft>
                          <a:spcPts val="0"/>
                        </a:spcAft>
                      </a:pPr>
                      <a:r>
                        <a:rPr lang="en-US" sz="1000">
                          <a:effectLst/>
                        </a:rPr>
                        <a:t># Article-mentions-Disease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7792" marR="67792" marT="0" marB="0"/>
                </a:tc>
                <a:tc>
                  <a:txBody>
                    <a:bodyPr/>
                    <a:lstStyle/>
                    <a:p>
                      <a:pPr marL="0" marR="0">
                        <a:lnSpc>
                          <a:spcPct val="200000"/>
                        </a:lnSpc>
                        <a:spcBef>
                          <a:spcPts val="0"/>
                        </a:spcBef>
                        <a:spcAft>
                          <a:spcPts val="0"/>
                        </a:spcAft>
                      </a:pPr>
                      <a:r>
                        <a:rPr lang="en-US" sz="1000">
                          <a:effectLst/>
                        </a:rPr>
                        <a:t>176516</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7792" marR="67792" marT="0" marB="0"/>
                </a:tc>
                <a:extLst>
                  <a:ext uri="{0D108BD9-81ED-4DB2-BD59-A6C34878D82A}">
                    <a16:rowId xmlns:a16="http://schemas.microsoft.com/office/drawing/2014/main" val="2196657579"/>
                  </a:ext>
                </a:extLst>
              </a:tr>
              <a:tr h="207207">
                <a:tc>
                  <a:txBody>
                    <a:bodyPr/>
                    <a:lstStyle/>
                    <a:p>
                      <a:pPr marL="0" marR="0">
                        <a:lnSpc>
                          <a:spcPct val="200000"/>
                        </a:lnSpc>
                        <a:spcBef>
                          <a:spcPts val="0"/>
                        </a:spcBef>
                        <a:spcAft>
                          <a:spcPts val="0"/>
                        </a:spcAft>
                      </a:pPr>
                      <a:r>
                        <a:rPr lang="en-US" sz="1000">
                          <a:effectLst/>
                        </a:rPr>
                        <a:t># Article-mentions-Drug</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7792" marR="67792" marT="0" marB="0"/>
                </a:tc>
                <a:tc>
                  <a:txBody>
                    <a:bodyPr/>
                    <a:lstStyle/>
                    <a:p>
                      <a:pPr marL="0" marR="0">
                        <a:lnSpc>
                          <a:spcPct val="200000"/>
                        </a:lnSpc>
                        <a:spcBef>
                          <a:spcPts val="0"/>
                        </a:spcBef>
                        <a:spcAft>
                          <a:spcPts val="0"/>
                        </a:spcAft>
                      </a:pPr>
                      <a:r>
                        <a:rPr lang="en-US" sz="1000">
                          <a:effectLst/>
                        </a:rPr>
                        <a:t>108435</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7792" marR="67792" marT="0" marB="0"/>
                </a:tc>
                <a:extLst>
                  <a:ext uri="{0D108BD9-81ED-4DB2-BD59-A6C34878D82A}">
                    <a16:rowId xmlns:a16="http://schemas.microsoft.com/office/drawing/2014/main" val="3581815093"/>
                  </a:ext>
                </a:extLst>
              </a:tr>
              <a:tr h="207207">
                <a:tc>
                  <a:txBody>
                    <a:bodyPr/>
                    <a:lstStyle/>
                    <a:p>
                      <a:pPr marL="0" marR="0">
                        <a:lnSpc>
                          <a:spcPct val="200000"/>
                        </a:lnSpc>
                        <a:spcBef>
                          <a:spcPts val="0"/>
                        </a:spcBef>
                        <a:spcAft>
                          <a:spcPts val="0"/>
                        </a:spcAft>
                      </a:pPr>
                      <a:r>
                        <a:rPr lang="en-US" sz="1000">
                          <a:effectLst/>
                        </a:rPr>
                        <a:t># Article-cites-Article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7792" marR="67792" marT="0" marB="0"/>
                </a:tc>
                <a:tc>
                  <a:txBody>
                    <a:bodyPr/>
                    <a:lstStyle/>
                    <a:p>
                      <a:pPr marL="0" marR="0">
                        <a:lnSpc>
                          <a:spcPct val="200000"/>
                        </a:lnSpc>
                        <a:spcBef>
                          <a:spcPts val="0"/>
                        </a:spcBef>
                        <a:spcAft>
                          <a:spcPts val="0"/>
                        </a:spcAft>
                      </a:pPr>
                      <a:r>
                        <a:rPr lang="en-US" sz="1000">
                          <a:effectLst/>
                        </a:rPr>
                        <a:t>104138</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7792" marR="67792" marT="0" marB="0"/>
                </a:tc>
                <a:extLst>
                  <a:ext uri="{0D108BD9-81ED-4DB2-BD59-A6C34878D82A}">
                    <a16:rowId xmlns:a16="http://schemas.microsoft.com/office/drawing/2014/main" val="2936809834"/>
                  </a:ext>
                </a:extLst>
              </a:tr>
              <a:tr h="207207">
                <a:tc>
                  <a:txBody>
                    <a:bodyPr/>
                    <a:lstStyle/>
                    <a:p>
                      <a:pPr marL="0" marR="0">
                        <a:lnSpc>
                          <a:spcPct val="200000"/>
                        </a:lnSpc>
                        <a:spcBef>
                          <a:spcPts val="0"/>
                        </a:spcBef>
                        <a:spcAft>
                          <a:spcPts val="0"/>
                        </a:spcAft>
                      </a:pPr>
                      <a:r>
                        <a:rPr lang="en-US" sz="1000">
                          <a:effectLst/>
                        </a:rPr>
                        <a:t># Article-metions-Species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7792" marR="67792" marT="0" marB="0"/>
                </a:tc>
                <a:tc>
                  <a:txBody>
                    <a:bodyPr/>
                    <a:lstStyle/>
                    <a:p>
                      <a:pPr marL="0" marR="0">
                        <a:lnSpc>
                          <a:spcPct val="200000"/>
                        </a:lnSpc>
                        <a:spcBef>
                          <a:spcPts val="0"/>
                        </a:spcBef>
                        <a:spcAft>
                          <a:spcPts val="0"/>
                        </a:spcAft>
                      </a:pPr>
                      <a:r>
                        <a:rPr lang="en-US" sz="1000">
                          <a:effectLst/>
                        </a:rPr>
                        <a:t>70694</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7792" marR="67792" marT="0" marB="0"/>
                </a:tc>
                <a:extLst>
                  <a:ext uri="{0D108BD9-81ED-4DB2-BD59-A6C34878D82A}">
                    <a16:rowId xmlns:a16="http://schemas.microsoft.com/office/drawing/2014/main" val="3870309614"/>
                  </a:ext>
                </a:extLst>
              </a:tr>
              <a:tr h="207207">
                <a:tc>
                  <a:txBody>
                    <a:bodyPr/>
                    <a:lstStyle/>
                    <a:p>
                      <a:pPr marL="0" marR="0">
                        <a:lnSpc>
                          <a:spcPct val="200000"/>
                        </a:lnSpc>
                        <a:spcBef>
                          <a:spcPts val="0"/>
                        </a:spcBef>
                        <a:spcAft>
                          <a:spcPts val="0"/>
                        </a:spcAft>
                      </a:pPr>
                      <a:r>
                        <a:rPr lang="en-US" sz="1000">
                          <a:effectLst/>
                        </a:rPr>
                        <a:t># Article-mentions-Gene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7792" marR="67792" marT="0" marB="0"/>
                </a:tc>
                <a:tc>
                  <a:txBody>
                    <a:bodyPr/>
                    <a:lstStyle/>
                    <a:p>
                      <a:pPr marL="0" marR="0">
                        <a:lnSpc>
                          <a:spcPct val="200000"/>
                        </a:lnSpc>
                        <a:spcBef>
                          <a:spcPts val="0"/>
                        </a:spcBef>
                        <a:spcAft>
                          <a:spcPts val="0"/>
                        </a:spcAft>
                      </a:pPr>
                      <a:r>
                        <a:rPr lang="en-US" sz="1000">
                          <a:effectLst/>
                        </a:rPr>
                        <a:t>56337</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7792" marR="67792" marT="0" marB="0"/>
                </a:tc>
                <a:extLst>
                  <a:ext uri="{0D108BD9-81ED-4DB2-BD59-A6C34878D82A}">
                    <a16:rowId xmlns:a16="http://schemas.microsoft.com/office/drawing/2014/main" val="1110845102"/>
                  </a:ext>
                </a:extLst>
              </a:tr>
              <a:tr h="207207">
                <a:tc>
                  <a:txBody>
                    <a:bodyPr/>
                    <a:lstStyle/>
                    <a:p>
                      <a:pPr marL="0" marR="0">
                        <a:lnSpc>
                          <a:spcPct val="200000"/>
                        </a:lnSpc>
                        <a:spcBef>
                          <a:spcPts val="0"/>
                        </a:spcBef>
                        <a:spcAft>
                          <a:spcPts val="0"/>
                        </a:spcAft>
                      </a:pPr>
                      <a:r>
                        <a:rPr lang="en-US" sz="1000">
                          <a:effectLst/>
                        </a:rPr>
                        <a:t># Article-isFundedBy-NIHProject</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7792" marR="67792" marT="0" marB="0"/>
                </a:tc>
                <a:tc>
                  <a:txBody>
                    <a:bodyPr/>
                    <a:lstStyle/>
                    <a:p>
                      <a:pPr marL="0" marR="0">
                        <a:lnSpc>
                          <a:spcPct val="200000"/>
                        </a:lnSpc>
                        <a:spcBef>
                          <a:spcPts val="0"/>
                        </a:spcBef>
                        <a:spcAft>
                          <a:spcPts val="0"/>
                        </a:spcAft>
                      </a:pPr>
                      <a:r>
                        <a:rPr lang="en-US" sz="1000">
                          <a:effectLst/>
                        </a:rPr>
                        <a:t>54751</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7792" marR="67792" marT="0" marB="0"/>
                </a:tc>
                <a:extLst>
                  <a:ext uri="{0D108BD9-81ED-4DB2-BD59-A6C34878D82A}">
                    <a16:rowId xmlns:a16="http://schemas.microsoft.com/office/drawing/2014/main" val="3079242923"/>
                  </a:ext>
                </a:extLst>
              </a:tr>
              <a:tr h="207207">
                <a:tc>
                  <a:txBody>
                    <a:bodyPr/>
                    <a:lstStyle/>
                    <a:p>
                      <a:pPr marL="0" marR="0">
                        <a:lnSpc>
                          <a:spcPct val="200000"/>
                        </a:lnSpc>
                        <a:spcBef>
                          <a:spcPts val="0"/>
                        </a:spcBef>
                        <a:spcAft>
                          <a:spcPts val="0"/>
                        </a:spcAft>
                      </a:pPr>
                      <a:r>
                        <a:rPr lang="en-US" sz="1000">
                          <a:effectLst/>
                        </a:rPr>
                        <a:t># Article-relatedTo-Substances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7792" marR="67792" marT="0" marB="0"/>
                </a:tc>
                <a:tc>
                  <a:txBody>
                    <a:bodyPr/>
                    <a:lstStyle/>
                    <a:p>
                      <a:pPr marL="0" marR="0">
                        <a:lnSpc>
                          <a:spcPct val="200000"/>
                        </a:lnSpc>
                        <a:spcBef>
                          <a:spcPts val="0"/>
                        </a:spcBef>
                        <a:spcAft>
                          <a:spcPts val="0"/>
                        </a:spcAft>
                      </a:pPr>
                      <a:r>
                        <a:rPr lang="en-US" sz="1000" dirty="0">
                          <a:effectLst/>
                        </a:rPr>
                        <a:t>9999</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7792" marR="67792" marT="0" marB="0"/>
                </a:tc>
                <a:extLst>
                  <a:ext uri="{0D108BD9-81ED-4DB2-BD59-A6C34878D82A}">
                    <a16:rowId xmlns:a16="http://schemas.microsoft.com/office/drawing/2014/main" val="3375639134"/>
                  </a:ext>
                </a:extLst>
              </a:tr>
            </a:tbl>
          </a:graphicData>
        </a:graphic>
      </p:graphicFrame>
    </p:spTree>
    <p:extLst>
      <p:ext uri="{BB962C8B-B14F-4D97-AF65-F5344CB8AC3E}">
        <p14:creationId xmlns:p14="http://schemas.microsoft.com/office/powerpoint/2010/main" val="29603941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2582FCE9-111E-4C83-B9E0-1692B21CF001}"/>
              </a:ext>
            </a:extLst>
          </p:cNvPr>
          <p:cNvSpPr txBox="1">
            <a:spLocks/>
          </p:cNvSpPr>
          <p:nvPr/>
        </p:nvSpPr>
        <p:spPr>
          <a:xfrm>
            <a:off x="838199" y="291090"/>
            <a:ext cx="10515599" cy="93268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Linux Libertine" panose="02000503000000000000" pitchFamily="2" charset="0"/>
                <a:ea typeface="Linux Libertine" panose="02000503000000000000" pitchFamily="2" charset="0"/>
                <a:cs typeface="Linux Libertine" panose="02000503000000000000" pitchFamily="2" charset="0"/>
              </a:defRPr>
            </a:lvl1pPr>
          </a:lstStyle>
          <a:p>
            <a:pPr>
              <a:spcAft>
                <a:spcPts val="600"/>
              </a:spcAft>
            </a:pPr>
            <a:r>
              <a:rPr lang="en-US" sz="5000" kern="1200" dirty="0">
                <a:solidFill>
                  <a:schemeClr val="tx1"/>
                </a:solidFill>
                <a:latin typeface="+mj-lt"/>
                <a:ea typeface="+mj-ea"/>
                <a:cs typeface="+mj-cs"/>
              </a:rPr>
              <a:t>4. Evaluation: Experiments</a:t>
            </a:r>
          </a:p>
        </p:txBody>
      </p:sp>
      <p:sp>
        <p:nvSpPr>
          <p:cNvPr id="2" name="Date Placeholder 1">
            <a:extLst>
              <a:ext uri="{FF2B5EF4-FFF2-40B4-BE49-F238E27FC236}">
                <a16:creationId xmlns:a16="http://schemas.microsoft.com/office/drawing/2014/main" id="{348F69A4-CBCC-464C-882C-93FEA4D5CC9A}"/>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a:spcAft>
                <a:spcPts val="600"/>
              </a:spcAft>
            </a:pPr>
            <a:fld id="{C1FFE036-1B22-46FC-8A87-65388E31D917}" type="datetime1">
              <a:rPr lang="en-US" smtClean="0">
                <a:latin typeface="+mn-lt"/>
                <a:ea typeface="+mn-ea"/>
                <a:cs typeface="+mn-cs"/>
              </a:rPr>
              <a:pPr>
                <a:spcAft>
                  <a:spcPts val="600"/>
                </a:spcAft>
              </a:pPr>
              <a:t>12/7/2021</a:t>
            </a:fld>
            <a:endParaRPr lang="en-US">
              <a:latin typeface="+mn-lt"/>
              <a:ea typeface="+mn-ea"/>
              <a:cs typeface="+mn-cs"/>
            </a:endParaRPr>
          </a:p>
        </p:txBody>
      </p:sp>
      <p:sp>
        <p:nvSpPr>
          <p:cNvPr id="3" name="Footer Placeholder 2">
            <a:extLst>
              <a:ext uri="{FF2B5EF4-FFF2-40B4-BE49-F238E27FC236}">
                <a16:creationId xmlns:a16="http://schemas.microsoft.com/office/drawing/2014/main" id="{FDD3D8AD-D959-400C-9C58-ED7FB3E61887}"/>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r>
              <a:rPr lang="en-US" dirty="0"/>
              <a:t>Masters Project - Ebeid - Fall 2021</a:t>
            </a:r>
          </a:p>
        </p:txBody>
      </p:sp>
      <p:sp>
        <p:nvSpPr>
          <p:cNvPr id="4" name="Slide Number Placeholder 3">
            <a:extLst>
              <a:ext uri="{FF2B5EF4-FFF2-40B4-BE49-F238E27FC236}">
                <a16:creationId xmlns:a16="http://schemas.microsoft.com/office/drawing/2014/main" id="{DB38BCD4-D4B4-4DC0-96CF-9F4FF85B46F8}"/>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5A99AF73-65C2-407A-B44B-DB0F62C2405F}" type="slidenum">
              <a:rPr lang="en-US" smtClean="0">
                <a:latin typeface="+mn-lt"/>
                <a:ea typeface="+mn-ea"/>
                <a:cs typeface="+mn-cs"/>
              </a:rPr>
              <a:pPr>
                <a:spcAft>
                  <a:spcPts val="600"/>
                </a:spcAft>
              </a:pPr>
              <a:t>31</a:t>
            </a:fld>
            <a:endParaRPr lang="en-US">
              <a:latin typeface="+mn-lt"/>
              <a:ea typeface="+mn-ea"/>
              <a:cs typeface="+mn-cs"/>
            </a:endParaRPr>
          </a:p>
        </p:txBody>
      </p:sp>
      <p:sp>
        <p:nvSpPr>
          <p:cNvPr id="9" name="TextBox 8">
            <a:extLst>
              <a:ext uri="{FF2B5EF4-FFF2-40B4-BE49-F238E27FC236}">
                <a16:creationId xmlns:a16="http://schemas.microsoft.com/office/drawing/2014/main" id="{36C00FF0-970C-4F74-8C00-C4D83685E1AD}"/>
              </a:ext>
            </a:extLst>
          </p:cNvPr>
          <p:cNvSpPr txBox="1"/>
          <p:nvPr/>
        </p:nvSpPr>
        <p:spPr>
          <a:xfrm>
            <a:off x="1023396" y="1223778"/>
            <a:ext cx="10515600" cy="369332"/>
          </a:xfrm>
          <a:prstGeom prst="rect">
            <a:avLst/>
          </a:prstGeom>
          <a:noFill/>
        </p:spPr>
        <p:txBody>
          <a:bodyPr wrap="square">
            <a:spAutoFit/>
          </a:bodyPr>
          <a:lstStyle/>
          <a:p>
            <a:r>
              <a:rPr lang="en-US" sz="1800" dirty="0">
                <a:effectLst/>
                <a:latin typeface="Linux Libertine" panose="02000503000000000000" pitchFamily="2" charset="0"/>
                <a:ea typeface="Calibri" panose="020F0502020204030204" pitchFamily="34" charset="0"/>
              </a:rPr>
              <a:t>(((("2019/02/01"[Date - Completion] : "2019/02/03"[Date - Completion])))) AND (type 2 diabetes[Text Word])</a:t>
            </a:r>
            <a:endParaRPr lang="en-US" dirty="0"/>
          </a:p>
        </p:txBody>
      </p:sp>
      <p:graphicFrame>
        <p:nvGraphicFramePr>
          <p:cNvPr id="6" name="Table 5">
            <a:extLst>
              <a:ext uri="{FF2B5EF4-FFF2-40B4-BE49-F238E27FC236}">
                <a16:creationId xmlns:a16="http://schemas.microsoft.com/office/drawing/2014/main" id="{F4C952B6-0944-4905-A56C-07970AD9D1DC}"/>
              </a:ext>
            </a:extLst>
          </p:cNvPr>
          <p:cNvGraphicFramePr>
            <a:graphicFrameLocks noGrp="1"/>
          </p:cNvGraphicFramePr>
          <p:nvPr>
            <p:extLst>
              <p:ext uri="{D42A27DB-BD31-4B8C-83A1-F6EECF244321}">
                <p14:modId xmlns:p14="http://schemas.microsoft.com/office/powerpoint/2010/main" val="1953822654"/>
              </p:ext>
            </p:extLst>
          </p:nvPr>
        </p:nvGraphicFramePr>
        <p:xfrm>
          <a:off x="1023396" y="1593110"/>
          <a:ext cx="10515600" cy="5030224"/>
        </p:xfrm>
        <a:graphic>
          <a:graphicData uri="http://schemas.openxmlformats.org/drawingml/2006/table">
            <a:tbl>
              <a:tblPr firstRow="1" firstCol="1" bandRow="1">
                <a:tableStyleId>{5C22544A-7EE6-4342-B048-85BDC9FD1C3A}</a:tableStyleId>
              </a:tblPr>
              <a:tblGrid>
                <a:gridCol w="1688805">
                  <a:extLst>
                    <a:ext uri="{9D8B030D-6E8A-4147-A177-3AD203B41FA5}">
                      <a16:colId xmlns:a16="http://schemas.microsoft.com/office/drawing/2014/main" val="4172224510"/>
                    </a:ext>
                  </a:extLst>
                </a:gridCol>
                <a:gridCol w="3615263">
                  <a:extLst>
                    <a:ext uri="{9D8B030D-6E8A-4147-A177-3AD203B41FA5}">
                      <a16:colId xmlns:a16="http://schemas.microsoft.com/office/drawing/2014/main" val="3749708940"/>
                    </a:ext>
                  </a:extLst>
                </a:gridCol>
                <a:gridCol w="3535345">
                  <a:extLst>
                    <a:ext uri="{9D8B030D-6E8A-4147-A177-3AD203B41FA5}">
                      <a16:colId xmlns:a16="http://schemas.microsoft.com/office/drawing/2014/main" val="1954866276"/>
                    </a:ext>
                  </a:extLst>
                </a:gridCol>
                <a:gridCol w="1676187">
                  <a:extLst>
                    <a:ext uri="{9D8B030D-6E8A-4147-A177-3AD203B41FA5}">
                      <a16:colId xmlns:a16="http://schemas.microsoft.com/office/drawing/2014/main" val="695719063"/>
                    </a:ext>
                  </a:extLst>
                </a:gridCol>
              </a:tblGrid>
              <a:tr h="190500">
                <a:tc>
                  <a:txBody>
                    <a:bodyPr/>
                    <a:lstStyle/>
                    <a:p>
                      <a:pPr marL="0" marR="0">
                        <a:lnSpc>
                          <a:spcPct val="200000"/>
                        </a:lnSpc>
                        <a:spcBef>
                          <a:spcPts val="0"/>
                        </a:spcBef>
                        <a:spcAft>
                          <a:spcPts val="0"/>
                        </a:spcAft>
                      </a:pPr>
                      <a:r>
                        <a:rPr lang="en-US" sz="1200">
                          <a:effectLst/>
                        </a:rPr>
                        <a:t>Query ID</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200" dirty="0">
                          <a:effectLst/>
                        </a:rPr>
                        <a:t>Text</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200">
                          <a:effectLst/>
                        </a:rPr>
                        <a:t># Relevant Documents</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200">
                          <a:effectLst/>
                        </a:rPr>
                        <a:t># Tokens</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53203586"/>
                  </a:ext>
                </a:extLst>
              </a:tr>
              <a:tr h="190500">
                <a:tc>
                  <a:txBody>
                    <a:bodyPr/>
                    <a:lstStyle/>
                    <a:p>
                      <a:pPr marL="0" marR="0">
                        <a:lnSpc>
                          <a:spcPct val="200000"/>
                        </a:lnSpc>
                        <a:spcBef>
                          <a:spcPts val="0"/>
                        </a:spcBef>
                        <a:spcAft>
                          <a:spcPts val="0"/>
                        </a:spcAft>
                      </a:pPr>
                      <a:r>
                        <a:rPr lang="en-US" sz="1200" dirty="0">
                          <a:effectLst/>
                        </a:rPr>
                        <a:t>1</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200" dirty="0">
                          <a:effectLst/>
                        </a:rPr>
                        <a:t>alcohol</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200">
                          <a:effectLst/>
                        </a:rPr>
                        <a:t>37</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200">
                          <a:effectLst/>
                        </a:rPr>
                        <a:t>1</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72654586"/>
                  </a:ext>
                </a:extLst>
              </a:tr>
              <a:tr h="190500">
                <a:tc>
                  <a:txBody>
                    <a:bodyPr/>
                    <a:lstStyle/>
                    <a:p>
                      <a:pPr marL="0" marR="0">
                        <a:lnSpc>
                          <a:spcPct val="200000"/>
                        </a:lnSpc>
                        <a:spcBef>
                          <a:spcPts val="0"/>
                        </a:spcBef>
                        <a:spcAft>
                          <a:spcPts val="0"/>
                        </a:spcAft>
                      </a:pPr>
                      <a:r>
                        <a:rPr lang="en-US" sz="1200">
                          <a:effectLst/>
                        </a:rPr>
                        <a:t>2</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200">
                          <a:effectLst/>
                        </a:rPr>
                        <a:t>amino acids</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200">
                          <a:effectLst/>
                        </a:rPr>
                        <a:t>11</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200">
                          <a:effectLst/>
                        </a:rPr>
                        <a:t>2</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27168448"/>
                  </a:ext>
                </a:extLst>
              </a:tr>
              <a:tr h="190500">
                <a:tc>
                  <a:txBody>
                    <a:bodyPr/>
                    <a:lstStyle/>
                    <a:p>
                      <a:pPr marL="0" marR="0">
                        <a:lnSpc>
                          <a:spcPct val="200000"/>
                        </a:lnSpc>
                        <a:spcBef>
                          <a:spcPts val="0"/>
                        </a:spcBef>
                        <a:spcAft>
                          <a:spcPts val="0"/>
                        </a:spcAft>
                      </a:pPr>
                      <a:r>
                        <a:rPr lang="en-US" sz="1200">
                          <a:effectLst/>
                        </a:rPr>
                        <a:t>3</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200">
                          <a:effectLst/>
                        </a:rPr>
                        <a:t>bacterial infections</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200">
                          <a:effectLst/>
                        </a:rPr>
                        <a:t>6</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200">
                          <a:effectLst/>
                        </a:rPr>
                        <a:t>2</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79200618"/>
                  </a:ext>
                </a:extLst>
              </a:tr>
              <a:tr h="190500">
                <a:tc>
                  <a:txBody>
                    <a:bodyPr/>
                    <a:lstStyle/>
                    <a:p>
                      <a:pPr marL="0" marR="0">
                        <a:lnSpc>
                          <a:spcPct val="200000"/>
                        </a:lnSpc>
                        <a:spcBef>
                          <a:spcPts val="0"/>
                        </a:spcBef>
                        <a:spcAft>
                          <a:spcPts val="0"/>
                        </a:spcAft>
                      </a:pPr>
                      <a:r>
                        <a:rPr lang="en-US" sz="1200">
                          <a:effectLst/>
                        </a:rPr>
                        <a:t>4</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200">
                          <a:effectLst/>
                        </a:rPr>
                        <a:t>basal cell carcinoma</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200">
                          <a:effectLst/>
                        </a:rPr>
                        <a:t>3</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200">
                          <a:effectLst/>
                        </a:rPr>
                        <a:t>3</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72968911"/>
                  </a:ext>
                </a:extLst>
              </a:tr>
              <a:tr h="190500">
                <a:tc>
                  <a:txBody>
                    <a:bodyPr/>
                    <a:lstStyle/>
                    <a:p>
                      <a:pPr marL="0" marR="0">
                        <a:lnSpc>
                          <a:spcPct val="200000"/>
                        </a:lnSpc>
                        <a:spcBef>
                          <a:spcPts val="0"/>
                        </a:spcBef>
                        <a:spcAft>
                          <a:spcPts val="0"/>
                        </a:spcAft>
                      </a:pPr>
                      <a:r>
                        <a:rPr lang="en-US" sz="1200">
                          <a:effectLst/>
                        </a:rPr>
                        <a:t>5</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200">
                          <a:effectLst/>
                        </a:rPr>
                        <a:t>bipolar disorder</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200">
                          <a:effectLst/>
                        </a:rPr>
                        <a:t>10</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200">
                          <a:effectLst/>
                        </a:rPr>
                        <a:t>2</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427879290"/>
                  </a:ext>
                </a:extLst>
              </a:tr>
              <a:tr h="190500">
                <a:tc>
                  <a:txBody>
                    <a:bodyPr/>
                    <a:lstStyle/>
                    <a:p>
                      <a:pPr marL="0" marR="0">
                        <a:lnSpc>
                          <a:spcPct val="200000"/>
                        </a:lnSpc>
                        <a:spcBef>
                          <a:spcPts val="0"/>
                        </a:spcBef>
                        <a:spcAft>
                          <a:spcPts val="0"/>
                        </a:spcAft>
                      </a:pPr>
                      <a:r>
                        <a:rPr lang="en-US" sz="1200">
                          <a:effectLst/>
                        </a:rPr>
                        <a:t>6</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200">
                          <a:effectLst/>
                        </a:rPr>
                        <a:t>cancer</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200">
                          <a:effectLst/>
                        </a:rPr>
                        <a:t>320</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200">
                          <a:effectLst/>
                        </a:rPr>
                        <a:t>1</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26527722"/>
                  </a:ext>
                </a:extLst>
              </a:tr>
              <a:tr h="190500">
                <a:tc>
                  <a:txBody>
                    <a:bodyPr/>
                    <a:lstStyle/>
                    <a:p>
                      <a:pPr marL="0" marR="0">
                        <a:lnSpc>
                          <a:spcPct val="200000"/>
                        </a:lnSpc>
                        <a:spcBef>
                          <a:spcPts val="0"/>
                        </a:spcBef>
                        <a:spcAft>
                          <a:spcPts val="0"/>
                        </a:spcAft>
                      </a:pPr>
                      <a:r>
                        <a:rPr lang="en-US" sz="1200">
                          <a:effectLst/>
                        </a:rPr>
                        <a:t>7</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200">
                          <a:effectLst/>
                        </a:rPr>
                        <a:t>diabetes</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200">
                          <a:effectLst/>
                        </a:rPr>
                        <a:t>59</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200">
                          <a:effectLst/>
                        </a:rPr>
                        <a:t>1</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86128768"/>
                  </a:ext>
                </a:extLst>
              </a:tr>
              <a:tr h="190500">
                <a:tc>
                  <a:txBody>
                    <a:bodyPr/>
                    <a:lstStyle/>
                    <a:p>
                      <a:pPr marL="0" marR="0">
                        <a:lnSpc>
                          <a:spcPct val="200000"/>
                        </a:lnSpc>
                        <a:spcBef>
                          <a:spcPts val="0"/>
                        </a:spcBef>
                        <a:spcAft>
                          <a:spcPts val="0"/>
                        </a:spcAft>
                      </a:pPr>
                      <a:r>
                        <a:rPr lang="en-US" sz="1200">
                          <a:effectLst/>
                        </a:rPr>
                        <a:t>8</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200">
                          <a:effectLst/>
                        </a:rPr>
                        <a:t>hepatitis c virus</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200">
                          <a:effectLst/>
                        </a:rPr>
                        <a:t>3</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200">
                          <a:effectLst/>
                        </a:rPr>
                        <a:t>3</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79471964"/>
                  </a:ext>
                </a:extLst>
              </a:tr>
              <a:tr h="190500">
                <a:tc>
                  <a:txBody>
                    <a:bodyPr/>
                    <a:lstStyle/>
                    <a:p>
                      <a:pPr marL="0" marR="0">
                        <a:lnSpc>
                          <a:spcPct val="200000"/>
                        </a:lnSpc>
                        <a:spcBef>
                          <a:spcPts val="0"/>
                        </a:spcBef>
                        <a:spcAft>
                          <a:spcPts val="0"/>
                        </a:spcAft>
                      </a:pPr>
                      <a:r>
                        <a:rPr lang="en-US" sz="1200">
                          <a:effectLst/>
                        </a:rPr>
                        <a:t>9</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200">
                          <a:effectLst/>
                        </a:rPr>
                        <a:t>histamine</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200">
                          <a:effectLst/>
                        </a:rPr>
                        <a:t>2</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200">
                          <a:effectLst/>
                        </a:rPr>
                        <a:t>1</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95271710"/>
                  </a:ext>
                </a:extLst>
              </a:tr>
              <a:tr h="190500">
                <a:tc>
                  <a:txBody>
                    <a:bodyPr/>
                    <a:lstStyle/>
                    <a:p>
                      <a:pPr marL="0" marR="0">
                        <a:lnSpc>
                          <a:spcPct val="200000"/>
                        </a:lnSpc>
                        <a:spcBef>
                          <a:spcPts val="0"/>
                        </a:spcBef>
                        <a:spcAft>
                          <a:spcPts val="0"/>
                        </a:spcAft>
                      </a:pPr>
                      <a:r>
                        <a:rPr lang="en-US" sz="1200">
                          <a:effectLst/>
                        </a:rPr>
                        <a:t>10</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200">
                          <a:effectLst/>
                        </a:rPr>
                        <a:t>insulin</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200">
                          <a:effectLst/>
                        </a:rPr>
                        <a:t>25</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200">
                          <a:effectLst/>
                        </a:rPr>
                        <a:t>1</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41357607"/>
                  </a:ext>
                </a:extLst>
              </a:tr>
              <a:tr h="190500">
                <a:tc>
                  <a:txBody>
                    <a:bodyPr/>
                    <a:lstStyle/>
                    <a:p>
                      <a:pPr marL="0" marR="0">
                        <a:lnSpc>
                          <a:spcPct val="200000"/>
                        </a:lnSpc>
                        <a:spcBef>
                          <a:spcPts val="0"/>
                        </a:spcBef>
                        <a:spcAft>
                          <a:spcPts val="0"/>
                        </a:spcAft>
                      </a:pPr>
                      <a:r>
                        <a:rPr lang="en-US" sz="1200">
                          <a:effectLst/>
                        </a:rPr>
                        <a:t>11</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200">
                          <a:effectLst/>
                        </a:rPr>
                        <a:t>loss of muscle strength</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200">
                          <a:effectLst/>
                        </a:rPr>
                        <a:t>1</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200">
                          <a:effectLst/>
                        </a:rPr>
                        <a:t>4</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90445463"/>
                  </a:ext>
                </a:extLst>
              </a:tr>
              <a:tr h="190500">
                <a:tc>
                  <a:txBody>
                    <a:bodyPr/>
                    <a:lstStyle/>
                    <a:p>
                      <a:pPr marL="0" marR="0">
                        <a:lnSpc>
                          <a:spcPct val="200000"/>
                        </a:lnSpc>
                        <a:spcBef>
                          <a:spcPts val="0"/>
                        </a:spcBef>
                        <a:spcAft>
                          <a:spcPts val="0"/>
                        </a:spcAft>
                      </a:pPr>
                      <a:r>
                        <a:rPr lang="en-US" sz="1200">
                          <a:effectLst/>
                        </a:rPr>
                        <a:t>12</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200">
                          <a:effectLst/>
                        </a:rPr>
                        <a:t>pediatric cancer</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200">
                          <a:effectLst/>
                        </a:rPr>
                        <a:t>1</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200">
                          <a:effectLst/>
                        </a:rPr>
                        <a:t>2</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94219534"/>
                  </a:ext>
                </a:extLst>
              </a:tr>
              <a:tr h="190500">
                <a:tc>
                  <a:txBody>
                    <a:bodyPr/>
                    <a:lstStyle/>
                    <a:p>
                      <a:pPr marL="0" marR="0">
                        <a:lnSpc>
                          <a:spcPct val="200000"/>
                        </a:lnSpc>
                        <a:spcBef>
                          <a:spcPts val="0"/>
                        </a:spcBef>
                        <a:spcAft>
                          <a:spcPts val="0"/>
                        </a:spcAft>
                      </a:pPr>
                      <a:r>
                        <a:rPr lang="en-US" sz="1200">
                          <a:effectLst/>
                        </a:rPr>
                        <a:t>13</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200">
                          <a:effectLst/>
                        </a:rPr>
                        <a:t>trauma</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200">
                          <a:effectLst/>
                        </a:rPr>
                        <a:t>22</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200">
                          <a:effectLst/>
                        </a:rPr>
                        <a:t>1</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59168598"/>
                  </a:ext>
                </a:extLst>
              </a:tr>
              <a:tr h="190500">
                <a:tc>
                  <a:txBody>
                    <a:bodyPr/>
                    <a:lstStyle/>
                    <a:p>
                      <a:pPr marL="0" marR="0">
                        <a:lnSpc>
                          <a:spcPct val="200000"/>
                        </a:lnSpc>
                        <a:spcBef>
                          <a:spcPts val="0"/>
                        </a:spcBef>
                        <a:spcAft>
                          <a:spcPts val="0"/>
                        </a:spcAft>
                      </a:pPr>
                      <a:r>
                        <a:rPr lang="en-US" sz="1200">
                          <a:effectLst/>
                        </a:rPr>
                        <a:t>14</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200">
                          <a:effectLst/>
                        </a:rPr>
                        <a:t>type 2 diabetes</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200">
                          <a:effectLst/>
                        </a:rPr>
                        <a:t>22</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200">
                          <a:effectLst/>
                        </a:rPr>
                        <a:t>3</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83398940"/>
                  </a:ext>
                </a:extLst>
              </a:tr>
              <a:tr h="190500">
                <a:tc>
                  <a:txBody>
                    <a:bodyPr/>
                    <a:lstStyle/>
                    <a:p>
                      <a:pPr marL="0" marR="0">
                        <a:lnSpc>
                          <a:spcPct val="200000"/>
                        </a:lnSpc>
                        <a:spcBef>
                          <a:spcPts val="0"/>
                        </a:spcBef>
                        <a:spcAft>
                          <a:spcPts val="0"/>
                        </a:spcAft>
                      </a:pPr>
                      <a:r>
                        <a:rPr lang="en-US" sz="1200">
                          <a:effectLst/>
                        </a:rPr>
                        <a:t>15</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200">
                          <a:effectLst/>
                        </a:rPr>
                        <a:t>urinary tract infection</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200">
                          <a:effectLst/>
                        </a:rPr>
                        <a:t>5</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200" dirty="0">
                          <a:effectLst/>
                        </a:rPr>
                        <a:t>3</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20542797"/>
                  </a:ext>
                </a:extLst>
              </a:tr>
            </a:tbl>
          </a:graphicData>
        </a:graphic>
      </p:graphicFrame>
    </p:spTree>
    <p:extLst>
      <p:ext uri="{BB962C8B-B14F-4D97-AF65-F5344CB8AC3E}">
        <p14:creationId xmlns:p14="http://schemas.microsoft.com/office/powerpoint/2010/main" val="35284312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2582FCE9-111E-4C83-B9E0-1692B21CF001}"/>
              </a:ext>
            </a:extLst>
          </p:cNvPr>
          <p:cNvSpPr txBox="1">
            <a:spLocks/>
          </p:cNvSpPr>
          <p:nvPr/>
        </p:nvSpPr>
        <p:spPr>
          <a:xfrm>
            <a:off x="838199" y="291090"/>
            <a:ext cx="10515599" cy="93268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Linux Libertine" panose="02000503000000000000" pitchFamily="2" charset="0"/>
                <a:ea typeface="Linux Libertine" panose="02000503000000000000" pitchFamily="2" charset="0"/>
                <a:cs typeface="Linux Libertine" panose="02000503000000000000" pitchFamily="2" charset="0"/>
              </a:defRPr>
            </a:lvl1pPr>
          </a:lstStyle>
          <a:p>
            <a:pPr>
              <a:spcAft>
                <a:spcPts val="600"/>
              </a:spcAft>
            </a:pPr>
            <a:r>
              <a:rPr lang="en-US" sz="5000" kern="1200" dirty="0">
                <a:solidFill>
                  <a:schemeClr val="tx1"/>
                </a:solidFill>
                <a:latin typeface="+mj-lt"/>
                <a:ea typeface="+mj-ea"/>
                <a:cs typeface="+mj-cs"/>
              </a:rPr>
              <a:t>4. Evaluation: Experiments</a:t>
            </a:r>
          </a:p>
        </p:txBody>
      </p:sp>
      <p:sp>
        <p:nvSpPr>
          <p:cNvPr id="2" name="Date Placeholder 1">
            <a:extLst>
              <a:ext uri="{FF2B5EF4-FFF2-40B4-BE49-F238E27FC236}">
                <a16:creationId xmlns:a16="http://schemas.microsoft.com/office/drawing/2014/main" id="{348F69A4-CBCC-464C-882C-93FEA4D5CC9A}"/>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a:spcAft>
                <a:spcPts val="600"/>
              </a:spcAft>
            </a:pPr>
            <a:fld id="{C1FFE036-1B22-46FC-8A87-65388E31D917}" type="datetime1">
              <a:rPr lang="en-US" smtClean="0">
                <a:latin typeface="+mn-lt"/>
                <a:ea typeface="+mn-ea"/>
                <a:cs typeface="+mn-cs"/>
              </a:rPr>
              <a:pPr>
                <a:spcAft>
                  <a:spcPts val="600"/>
                </a:spcAft>
              </a:pPr>
              <a:t>12/7/2021</a:t>
            </a:fld>
            <a:endParaRPr lang="en-US">
              <a:latin typeface="+mn-lt"/>
              <a:ea typeface="+mn-ea"/>
              <a:cs typeface="+mn-cs"/>
            </a:endParaRPr>
          </a:p>
        </p:txBody>
      </p:sp>
      <p:sp>
        <p:nvSpPr>
          <p:cNvPr id="3" name="Footer Placeholder 2">
            <a:extLst>
              <a:ext uri="{FF2B5EF4-FFF2-40B4-BE49-F238E27FC236}">
                <a16:creationId xmlns:a16="http://schemas.microsoft.com/office/drawing/2014/main" id="{FDD3D8AD-D959-400C-9C58-ED7FB3E61887}"/>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r>
              <a:rPr lang="en-US" dirty="0"/>
              <a:t>Masters Project - Ebeid - Fall 2021</a:t>
            </a:r>
          </a:p>
        </p:txBody>
      </p:sp>
      <p:sp>
        <p:nvSpPr>
          <p:cNvPr id="4" name="Slide Number Placeholder 3">
            <a:extLst>
              <a:ext uri="{FF2B5EF4-FFF2-40B4-BE49-F238E27FC236}">
                <a16:creationId xmlns:a16="http://schemas.microsoft.com/office/drawing/2014/main" id="{DB38BCD4-D4B4-4DC0-96CF-9F4FF85B46F8}"/>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5A99AF73-65C2-407A-B44B-DB0F62C2405F}" type="slidenum">
              <a:rPr lang="en-US" smtClean="0">
                <a:latin typeface="+mn-lt"/>
                <a:ea typeface="+mn-ea"/>
                <a:cs typeface="+mn-cs"/>
              </a:rPr>
              <a:pPr>
                <a:spcAft>
                  <a:spcPts val="600"/>
                </a:spcAft>
              </a:pPr>
              <a:t>32</a:t>
            </a:fld>
            <a:endParaRPr lang="en-US">
              <a:latin typeface="+mn-lt"/>
              <a:ea typeface="+mn-ea"/>
              <a:cs typeface="+mn-cs"/>
            </a:endParaRPr>
          </a:p>
        </p:txBody>
      </p:sp>
      <p:sp>
        <p:nvSpPr>
          <p:cNvPr id="5" name="TextBox 4">
            <a:extLst>
              <a:ext uri="{FF2B5EF4-FFF2-40B4-BE49-F238E27FC236}">
                <a16:creationId xmlns:a16="http://schemas.microsoft.com/office/drawing/2014/main" id="{00BCD135-2CA0-4974-81AB-F8FDC709BBF4}"/>
              </a:ext>
            </a:extLst>
          </p:cNvPr>
          <p:cNvSpPr txBox="1"/>
          <p:nvPr/>
        </p:nvSpPr>
        <p:spPr>
          <a:xfrm>
            <a:off x="838199" y="2828835"/>
            <a:ext cx="9555867" cy="1200329"/>
          </a:xfrm>
          <a:prstGeom prst="rect">
            <a:avLst/>
          </a:prstGeom>
          <a:noFill/>
        </p:spPr>
        <p:txBody>
          <a:bodyPr wrap="square" rtlCol="0">
            <a:spAutoFit/>
          </a:bodyPr>
          <a:lstStyle/>
          <a:p>
            <a:r>
              <a:rPr lang="en-US" b="1" dirty="0"/>
              <a:t>Precision</a:t>
            </a:r>
            <a:r>
              <a:rPr lang="en-US" dirty="0"/>
              <a:t> = number of relevant articles retrieved / total number of relevant articles</a:t>
            </a:r>
          </a:p>
          <a:p>
            <a:r>
              <a:rPr lang="en-US" b="1" dirty="0"/>
              <a:t>Recall</a:t>
            </a:r>
            <a:r>
              <a:rPr lang="en-US" dirty="0"/>
              <a:t> = number of relevant articles retrieved / total number of retrieved articles</a:t>
            </a:r>
          </a:p>
          <a:p>
            <a:r>
              <a:rPr lang="en-US" b="1" dirty="0"/>
              <a:t>F1-Score</a:t>
            </a:r>
            <a:r>
              <a:rPr lang="en-US" dirty="0"/>
              <a:t> = 2 * (Precision * Recall)/(Precision + Recall)</a:t>
            </a:r>
          </a:p>
          <a:p>
            <a:r>
              <a:rPr lang="en-US" b="1" dirty="0"/>
              <a:t>Mean Average Precision </a:t>
            </a:r>
            <a:r>
              <a:rPr lang="en-US" dirty="0"/>
              <a:t>(MAP) = Precision at each position in K</a:t>
            </a:r>
          </a:p>
        </p:txBody>
      </p:sp>
      <p:sp>
        <p:nvSpPr>
          <p:cNvPr id="8" name="Rectangle 7">
            <a:extLst>
              <a:ext uri="{FF2B5EF4-FFF2-40B4-BE49-F238E27FC236}">
                <a16:creationId xmlns:a16="http://schemas.microsoft.com/office/drawing/2014/main" id="{BEE801E6-0FC3-4B09-B554-477FC646F56F}"/>
              </a:ext>
            </a:extLst>
          </p:cNvPr>
          <p:cNvSpPr/>
          <p:nvPr/>
        </p:nvSpPr>
        <p:spPr>
          <a:xfrm>
            <a:off x="1006997" y="4687747"/>
            <a:ext cx="1678330" cy="7639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Corpus</a:t>
            </a:r>
          </a:p>
        </p:txBody>
      </p:sp>
      <p:sp>
        <p:nvSpPr>
          <p:cNvPr id="10" name="Rectangle 9">
            <a:extLst>
              <a:ext uri="{FF2B5EF4-FFF2-40B4-BE49-F238E27FC236}">
                <a16:creationId xmlns:a16="http://schemas.microsoft.com/office/drawing/2014/main" id="{1CE9FFC7-5225-424A-ABC3-4629D4647C64}"/>
              </a:ext>
            </a:extLst>
          </p:cNvPr>
          <p:cNvSpPr/>
          <p:nvPr/>
        </p:nvSpPr>
        <p:spPr>
          <a:xfrm>
            <a:off x="3162783" y="4700247"/>
            <a:ext cx="1470949" cy="7639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BOW</a:t>
            </a:r>
          </a:p>
        </p:txBody>
      </p:sp>
      <p:sp>
        <p:nvSpPr>
          <p:cNvPr id="11" name="Arrow: Right 10">
            <a:extLst>
              <a:ext uri="{FF2B5EF4-FFF2-40B4-BE49-F238E27FC236}">
                <a16:creationId xmlns:a16="http://schemas.microsoft.com/office/drawing/2014/main" id="{871166B0-18BE-4301-90A1-1B95D834A90E}"/>
              </a:ext>
            </a:extLst>
          </p:cNvPr>
          <p:cNvSpPr/>
          <p:nvPr/>
        </p:nvSpPr>
        <p:spPr>
          <a:xfrm>
            <a:off x="2728612" y="5000262"/>
            <a:ext cx="398362" cy="17362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FF5D8F9-44BE-482B-9C6D-21BA4EB9C16D}"/>
              </a:ext>
            </a:extLst>
          </p:cNvPr>
          <p:cNvSpPr/>
          <p:nvPr/>
        </p:nvSpPr>
        <p:spPr>
          <a:xfrm>
            <a:off x="5175332" y="4700246"/>
            <a:ext cx="1470949" cy="7639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TFIDF</a:t>
            </a:r>
          </a:p>
        </p:txBody>
      </p:sp>
      <p:sp>
        <p:nvSpPr>
          <p:cNvPr id="13" name="Arrow: Right 12">
            <a:extLst>
              <a:ext uri="{FF2B5EF4-FFF2-40B4-BE49-F238E27FC236}">
                <a16:creationId xmlns:a16="http://schemas.microsoft.com/office/drawing/2014/main" id="{96323073-CAD9-49C1-9A2B-495720311DEA}"/>
              </a:ext>
            </a:extLst>
          </p:cNvPr>
          <p:cNvSpPr/>
          <p:nvPr/>
        </p:nvSpPr>
        <p:spPr>
          <a:xfrm>
            <a:off x="4705351" y="5000262"/>
            <a:ext cx="398362" cy="17362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545B360-B3E3-46B4-8C94-A65634E2EF60}"/>
              </a:ext>
            </a:extLst>
          </p:cNvPr>
          <p:cNvSpPr/>
          <p:nvPr/>
        </p:nvSpPr>
        <p:spPr>
          <a:xfrm>
            <a:off x="7187881" y="4700246"/>
            <a:ext cx="1470949" cy="7639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Input query</a:t>
            </a:r>
          </a:p>
        </p:txBody>
      </p:sp>
      <p:sp>
        <p:nvSpPr>
          <p:cNvPr id="15" name="Arrow: Right 14">
            <a:extLst>
              <a:ext uri="{FF2B5EF4-FFF2-40B4-BE49-F238E27FC236}">
                <a16:creationId xmlns:a16="http://schemas.microsoft.com/office/drawing/2014/main" id="{D172A6C4-CB33-457F-9CCE-297046929BF0}"/>
              </a:ext>
            </a:extLst>
          </p:cNvPr>
          <p:cNvSpPr/>
          <p:nvPr/>
        </p:nvSpPr>
        <p:spPr>
          <a:xfrm>
            <a:off x="6717900" y="4982901"/>
            <a:ext cx="398362" cy="17362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BA052733-FAAA-4080-BCC7-286BD47CFE74}"/>
              </a:ext>
            </a:extLst>
          </p:cNvPr>
          <p:cNvSpPr/>
          <p:nvPr/>
        </p:nvSpPr>
        <p:spPr>
          <a:xfrm>
            <a:off x="9246725" y="4687746"/>
            <a:ext cx="1470949" cy="7639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Rank</a:t>
            </a:r>
          </a:p>
        </p:txBody>
      </p:sp>
      <p:sp>
        <p:nvSpPr>
          <p:cNvPr id="17" name="Arrow: Right 16">
            <a:extLst>
              <a:ext uri="{FF2B5EF4-FFF2-40B4-BE49-F238E27FC236}">
                <a16:creationId xmlns:a16="http://schemas.microsoft.com/office/drawing/2014/main" id="{20036956-A2FD-427A-9C8B-2BF32DC97B29}"/>
              </a:ext>
            </a:extLst>
          </p:cNvPr>
          <p:cNvSpPr/>
          <p:nvPr/>
        </p:nvSpPr>
        <p:spPr>
          <a:xfrm>
            <a:off x="8743589" y="4968562"/>
            <a:ext cx="398362" cy="17362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554068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2582FCE9-111E-4C83-B9E0-1692B21CF001}"/>
              </a:ext>
            </a:extLst>
          </p:cNvPr>
          <p:cNvSpPr txBox="1">
            <a:spLocks/>
          </p:cNvSpPr>
          <p:nvPr/>
        </p:nvSpPr>
        <p:spPr>
          <a:xfrm>
            <a:off x="838199" y="291090"/>
            <a:ext cx="10515599" cy="93268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Linux Libertine" panose="02000503000000000000" pitchFamily="2" charset="0"/>
                <a:ea typeface="Linux Libertine" panose="02000503000000000000" pitchFamily="2" charset="0"/>
                <a:cs typeface="Linux Libertine" panose="02000503000000000000" pitchFamily="2" charset="0"/>
              </a:defRPr>
            </a:lvl1pPr>
          </a:lstStyle>
          <a:p>
            <a:pPr>
              <a:spcAft>
                <a:spcPts val="600"/>
              </a:spcAft>
            </a:pPr>
            <a:r>
              <a:rPr lang="en-US" sz="5000" dirty="0">
                <a:latin typeface="+mj-lt"/>
                <a:ea typeface="+mj-ea"/>
                <a:cs typeface="+mj-cs"/>
              </a:rPr>
              <a:t>3</a:t>
            </a:r>
            <a:r>
              <a:rPr lang="en-US" sz="5000" kern="1200" dirty="0">
                <a:solidFill>
                  <a:schemeClr val="tx1"/>
                </a:solidFill>
                <a:latin typeface="+mj-lt"/>
                <a:ea typeface="+mj-ea"/>
                <a:cs typeface="+mj-cs"/>
              </a:rPr>
              <a:t>. Evaluation: Results</a:t>
            </a:r>
          </a:p>
        </p:txBody>
      </p:sp>
      <p:sp>
        <p:nvSpPr>
          <p:cNvPr id="2" name="Date Placeholder 1">
            <a:extLst>
              <a:ext uri="{FF2B5EF4-FFF2-40B4-BE49-F238E27FC236}">
                <a16:creationId xmlns:a16="http://schemas.microsoft.com/office/drawing/2014/main" id="{348F69A4-CBCC-464C-882C-93FEA4D5CC9A}"/>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a:spcAft>
                <a:spcPts val="600"/>
              </a:spcAft>
            </a:pPr>
            <a:fld id="{C1FFE036-1B22-46FC-8A87-65388E31D917}" type="datetime1">
              <a:rPr lang="en-US" smtClean="0">
                <a:latin typeface="+mn-lt"/>
                <a:ea typeface="+mn-ea"/>
                <a:cs typeface="+mn-cs"/>
              </a:rPr>
              <a:pPr>
                <a:spcAft>
                  <a:spcPts val="600"/>
                </a:spcAft>
              </a:pPr>
              <a:t>12/7/2021</a:t>
            </a:fld>
            <a:endParaRPr lang="en-US">
              <a:latin typeface="+mn-lt"/>
              <a:ea typeface="+mn-ea"/>
              <a:cs typeface="+mn-cs"/>
            </a:endParaRPr>
          </a:p>
        </p:txBody>
      </p:sp>
      <p:sp>
        <p:nvSpPr>
          <p:cNvPr id="3" name="Footer Placeholder 2">
            <a:extLst>
              <a:ext uri="{FF2B5EF4-FFF2-40B4-BE49-F238E27FC236}">
                <a16:creationId xmlns:a16="http://schemas.microsoft.com/office/drawing/2014/main" id="{FDD3D8AD-D959-400C-9C58-ED7FB3E61887}"/>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r>
              <a:rPr lang="en-US" dirty="0"/>
              <a:t>Masters Project - Ebeid - Fall 2021</a:t>
            </a:r>
          </a:p>
        </p:txBody>
      </p:sp>
      <p:sp>
        <p:nvSpPr>
          <p:cNvPr id="4" name="Slide Number Placeholder 3">
            <a:extLst>
              <a:ext uri="{FF2B5EF4-FFF2-40B4-BE49-F238E27FC236}">
                <a16:creationId xmlns:a16="http://schemas.microsoft.com/office/drawing/2014/main" id="{DB38BCD4-D4B4-4DC0-96CF-9F4FF85B46F8}"/>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5A99AF73-65C2-407A-B44B-DB0F62C2405F}" type="slidenum">
              <a:rPr lang="en-US" smtClean="0">
                <a:latin typeface="+mn-lt"/>
                <a:ea typeface="+mn-ea"/>
                <a:cs typeface="+mn-cs"/>
              </a:rPr>
              <a:pPr>
                <a:spcAft>
                  <a:spcPts val="600"/>
                </a:spcAft>
              </a:pPr>
              <a:t>33</a:t>
            </a:fld>
            <a:endParaRPr lang="en-US">
              <a:latin typeface="+mn-lt"/>
              <a:ea typeface="+mn-ea"/>
              <a:cs typeface="+mn-cs"/>
            </a:endParaRPr>
          </a:p>
        </p:txBody>
      </p:sp>
      <p:graphicFrame>
        <p:nvGraphicFramePr>
          <p:cNvPr id="6" name="Table 5">
            <a:extLst>
              <a:ext uri="{FF2B5EF4-FFF2-40B4-BE49-F238E27FC236}">
                <a16:creationId xmlns:a16="http://schemas.microsoft.com/office/drawing/2014/main" id="{1583C37F-DB56-4CFA-AEEE-53A1DAA1FDC8}"/>
              </a:ext>
            </a:extLst>
          </p:cNvPr>
          <p:cNvGraphicFramePr>
            <a:graphicFrameLocks noGrp="1"/>
          </p:cNvGraphicFramePr>
          <p:nvPr>
            <p:extLst>
              <p:ext uri="{D42A27DB-BD31-4B8C-83A1-F6EECF244321}">
                <p14:modId xmlns:p14="http://schemas.microsoft.com/office/powerpoint/2010/main" val="3546041156"/>
              </p:ext>
            </p:extLst>
          </p:nvPr>
        </p:nvGraphicFramePr>
        <p:xfrm>
          <a:off x="838198" y="1565148"/>
          <a:ext cx="10515599" cy="3727704"/>
        </p:xfrm>
        <a:graphic>
          <a:graphicData uri="http://schemas.openxmlformats.org/drawingml/2006/table">
            <a:tbl>
              <a:tblPr firstRow="1" firstCol="1" bandRow="1">
                <a:tableStyleId>{5C22544A-7EE6-4342-B048-85BDC9FD1C3A}</a:tableStyleId>
              </a:tblPr>
              <a:tblGrid>
                <a:gridCol w="1038941">
                  <a:extLst>
                    <a:ext uri="{9D8B030D-6E8A-4147-A177-3AD203B41FA5}">
                      <a16:colId xmlns:a16="http://schemas.microsoft.com/office/drawing/2014/main" val="3703667801"/>
                    </a:ext>
                  </a:extLst>
                </a:gridCol>
                <a:gridCol w="1038941">
                  <a:extLst>
                    <a:ext uri="{9D8B030D-6E8A-4147-A177-3AD203B41FA5}">
                      <a16:colId xmlns:a16="http://schemas.microsoft.com/office/drawing/2014/main" val="1659908286"/>
                    </a:ext>
                  </a:extLst>
                </a:gridCol>
                <a:gridCol w="664586">
                  <a:extLst>
                    <a:ext uri="{9D8B030D-6E8A-4147-A177-3AD203B41FA5}">
                      <a16:colId xmlns:a16="http://schemas.microsoft.com/office/drawing/2014/main" val="1724611969"/>
                    </a:ext>
                  </a:extLst>
                </a:gridCol>
                <a:gridCol w="664586">
                  <a:extLst>
                    <a:ext uri="{9D8B030D-6E8A-4147-A177-3AD203B41FA5}">
                      <a16:colId xmlns:a16="http://schemas.microsoft.com/office/drawing/2014/main" val="1929159998"/>
                    </a:ext>
                  </a:extLst>
                </a:gridCol>
                <a:gridCol w="666689">
                  <a:extLst>
                    <a:ext uri="{9D8B030D-6E8A-4147-A177-3AD203B41FA5}">
                      <a16:colId xmlns:a16="http://schemas.microsoft.com/office/drawing/2014/main" val="1154168168"/>
                    </a:ext>
                  </a:extLst>
                </a:gridCol>
                <a:gridCol w="666689">
                  <a:extLst>
                    <a:ext uri="{9D8B030D-6E8A-4147-A177-3AD203B41FA5}">
                      <a16:colId xmlns:a16="http://schemas.microsoft.com/office/drawing/2014/main" val="3466384352"/>
                    </a:ext>
                  </a:extLst>
                </a:gridCol>
                <a:gridCol w="666689">
                  <a:extLst>
                    <a:ext uri="{9D8B030D-6E8A-4147-A177-3AD203B41FA5}">
                      <a16:colId xmlns:a16="http://schemas.microsoft.com/office/drawing/2014/main" val="1658360759"/>
                    </a:ext>
                  </a:extLst>
                </a:gridCol>
                <a:gridCol w="666689">
                  <a:extLst>
                    <a:ext uri="{9D8B030D-6E8A-4147-A177-3AD203B41FA5}">
                      <a16:colId xmlns:a16="http://schemas.microsoft.com/office/drawing/2014/main" val="3428719016"/>
                    </a:ext>
                  </a:extLst>
                </a:gridCol>
                <a:gridCol w="759226">
                  <a:extLst>
                    <a:ext uri="{9D8B030D-6E8A-4147-A177-3AD203B41FA5}">
                      <a16:colId xmlns:a16="http://schemas.microsoft.com/office/drawing/2014/main" val="3616942747"/>
                    </a:ext>
                  </a:extLst>
                </a:gridCol>
                <a:gridCol w="759226">
                  <a:extLst>
                    <a:ext uri="{9D8B030D-6E8A-4147-A177-3AD203B41FA5}">
                      <a16:colId xmlns:a16="http://schemas.microsoft.com/office/drawing/2014/main" val="3024821805"/>
                    </a:ext>
                  </a:extLst>
                </a:gridCol>
                <a:gridCol w="759226">
                  <a:extLst>
                    <a:ext uri="{9D8B030D-6E8A-4147-A177-3AD203B41FA5}">
                      <a16:colId xmlns:a16="http://schemas.microsoft.com/office/drawing/2014/main" val="573819018"/>
                    </a:ext>
                  </a:extLst>
                </a:gridCol>
                <a:gridCol w="759226">
                  <a:extLst>
                    <a:ext uri="{9D8B030D-6E8A-4147-A177-3AD203B41FA5}">
                      <a16:colId xmlns:a16="http://schemas.microsoft.com/office/drawing/2014/main" val="3618652654"/>
                    </a:ext>
                  </a:extLst>
                </a:gridCol>
                <a:gridCol w="851764">
                  <a:extLst>
                    <a:ext uri="{9D8B030D-6E8A-4147-A177-3AD203B41FA5}">
                      <a16:colId xmlns:a16="http://schemas.microsoft.com/office/drawing/2014/main" val="1264036323"/>
                    </a:ext>
                  </a:extLst>
                </a:gridCol>
                <a:gridCol w="553121">
                  <a:extLst>
                    <a:ext uri="{9D8B030D-6E8A-4147-A177-3AD203B41FA5}">
                      <a16:colId xmlns:a16="http://schemas.microsoft.com/office/drawing/2014/main" val="3536683533"/>
                    </a:ext>
                  </a:extLst>
                </a:gridCol>
              </a:tblGrid>
              <a:tr h="0">
                <a:tc>
                  <a:txBody>
                    <a:bodyPr/>
                    <a:lstStyle/>
                    <a:p>
                      <a:pPr marL="0" marR="0">
                        <a:lnSpc>
                          <a:spcPct val="200000"/>
                        </a:lnSpc>
                        <a:spcBef>
                          <a:spcPts val="0"/>
                        </a:spcBef>
                        <a:spcAft>
                          <a:spcPts val="0"/>
                        </a:spcAft>
                      </a:pPr>
                      <a:r>
                        <a:rPr lang="en-US" sz="1400">
                          <a:effectLst/>
                        </a:rPr>
                        <a:t>Metric</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Method</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K=1</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K=2</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K=5</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K=10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K=25</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K=50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K=75</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K=100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K=150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K=250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K=500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K=1000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29572297"/>
                  </a:ext>
                </a:extLst>
              </a:tr>
              <a:tr h="0">
                <a:tc rowSpan="2">
                  <a:txBody>
                    <a:bodyPr/>
                    <a:lstStyle/>
                    <a:p>
                      <a:pPr marL="0" marR="0">
                        <a:lnSpc>
                          <a:spcPct val="200000"/>
                        </a:lnSpc>
                        <a:spcBef>
                          <a:spcPts val="0"/>
                        </a:spcBef>
                        <a:spcAft>
                          <a:spcPts val="0"/>
                        </a:spcAft>
                      </a:pPr>
                      <a:r>
                        <a:rPr lang="en-US" sz="1400" dirty="0">
                          <a:effectLst/>
                        </a:rPr>
                        <a:t>Recall</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TFIDF</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0.053</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0.062</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0.078</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0.113</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0.177</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0.197</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0.202</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0.207</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0.217</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0.22</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0.22</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0.22</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48574110"/>
                  </a:ext>
                </a:extLst>
              </a:tr>
              <a:tr h="0">
                <a:tc vMerge="1">
                  <a:txBody>
                    <a:bodyPr/>
                    <a:lstStyle/>
                    <a:p>
                      <a:endParaRPr lang="en-US"/>
                    </a:p>
                  </a:txBody>
                  <a:tcPr/>
                </a:tc>
                <a:tc>
                  <a:txBody>
                    <a:bodyPr/>
                    <a:lstStyle/>
                    <a:p>
                      <a:pPr marL="0" marR="0">
                        <a:lnSpc>
                          <a:spcPct val="200000"/>
                        </a:lnSpc>
                        <a:spcBef>
                          <a:spcPts val="0"/>
                        </a:spcBef>
                        <a:spcAft>
                          <a:spcPts val="0"/>
                        </a:spcAft>
                      </a:pPr>
                      <a:r>
                        <a:rPr lang="en-US" sz="1400">
                          <a:effectLst/>
                        </a:rPr>
                        <a:t>MedGraph</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0.227</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0.245</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0.297</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0.392</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0.545</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0.646</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0.693</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0.726</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0.749</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0.846</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0.931</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0.976</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20413094"/>
                  </a:ext>
                </a:extLst>
              </a:tr>
              <a:tr h="0">
                <a:tc rowSpan="2">
                  <a:txBody>
                    <a:bodyPr/>
                    <a:lstStyle/>
                    <a:p>
                      <a:pPr marL="0" marR="0">
                        <a:lnSpc>
                          <a:spcPct val="200000"/>
                        </a:lnSpc>
                        <a:spcBef>
                          <a:spcPts val="0"/>
                        </a:spcBef>
                        <a:spcAft>
                          <a:spcPts val="0"/>
                        </a:spcAft>
                      </a:pPr>
                      <a:r>
                        <a:rPr lang="en-US" sz="1400">
                          <a:effectLst/>
                        </a:rPr>
                        <a:t>Precision</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TFIDF</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0.467</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0.4</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0.307</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0.293</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0.248</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0.171</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0.136</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0.117</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0.1</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0.064</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0.032</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0.016</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07279246"/>
                  </a:ext>
                </a:extLst>
              </a:tr>
              <a:tr h="0">
                <a:tc vMerge="1">
                  <a:txBody>
                    <a:bodyPr/>
                    <a:lstStyle/>
                    <a:p>
                      <a:endParaRPr lang="en-US"/>
                    </a:p>
                  </a:txBody>
                  <a:tcPr/>
                </a:tc>
                <a:tc>
                  <a:txBody>
                    <a:bodyPr/>
                    <a:lstStyle/>
                    <a:p>
                      <a:pPr marL="0" marR="0">
                        <a:lnSpc>
                          <a:spcPct val="200000"/>
                        </a:lnSpc>
                        <a:spcBef>
                          <a:spcPts val="0"/>
                        </a:spcBef>
                        <a:spcAft>
                          <a:spcPts val="0"/>
                        </a:spcAft>
                      </a:pPr>
                      <a:r>
                        <a:rPr lang="en-US" sz="1400">
                          <a:effectLst/>
                        </a:rPr>
                        <a:t>MedGraph</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0.867</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0.667</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0.507</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0.453</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0.336</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0.248</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0.202</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0.172</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0.134</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0.103</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0.064</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0.034</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7322645"/>
                  </a:ext>
                </a:extLst>
              </a:tr>
              <a:tr h="0">
                <a:tc rowSpan="2">
                  <a:txBody>
                    <a:bodyPr/>
                    <a:lstStyle/>
                    <a:p>
                      <a:pPr marL="0" marR="0">
                        <a:lnSpc>
                          <a:spcPct val="200000"/>
                        </a:lnSpc>
                        <a:spcBef>
                          <a:spcPts val="0"/>
                        </a:spcBef>
                        <a:spcAft>
                          <a:spcPts val="0"/>
                        </a:spcAft>
                      </a:pPr>
                      <a:r>
                        <a:rPr lang="en-US" sz="1400">
                          <a:effectLst/>
                        </a:rPr>
                        <a:t>F1-Score</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TFIDF</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0.081</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0.083</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0.09</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0.122</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0.161</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0.138</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0.118</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0.107</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0.097</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dirty="0">
                          <a:effectLst/>
                        </a:rPr>
                        <a:t>0.074</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0.046</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0.026</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03845142"/>
                  </a:ext>
                </a:extLst>
              </a:tr>
              <a:tr h="0">
                <a:tc vMerge="1">
                  <a:txBody>
                    <a:bodyPr/>
                    <a:lstStyle/>
                    <a:p>
                      <a:endParaRPr lang="en-US"/>
                    </a:p>
                  </a:txBody>
                  <a:tcPr/>
                </a:tc>
                <a:tc>
                  <a:txBody>
                    <a:bodyPr/>
                    <a:lstStyle/>
                    <a:p>
                      <a:pPr marL="0" marR="0">
                        <a:lnSpc>
                          <a:spcPct val="200000"/>
                        </a:lnSpc>
                        <a:spcBef>
                          <a:spcPts val="0"/>
                        </a:spcBef>
                        <a:spcAft>
                          <a:spcPts val="0"/>
                        </a:spcAft>
                      </a:pPr>
                      <a:r>
                        <a:rPr lang="en-US" sz="1400">
                          <a:effectLst/>
                        </a:rPr>
                        <a:t>MedGraph</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0.279</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0.245</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0.235</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0.276</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0.282</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0.253</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0.221</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0.197</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0.161</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0.134</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0.095</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0.056</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40041824"/>
                  </a:ext>
                </a:extLst>
              </a:tr>
              <a:tr h="0">
                <a:tc rowSpan="2">
                  <a:txBody>
                    <a:bodyPr/>
                    <a:lstStyle/>
                    <a:p>
                      <a:pPr marL="0" marR="0">
                        <a:lnSpc>
                          <a:spcPct val="200000"/>
                        </a:lnSpc>
                        <a:spcBef>
                          <a:spcPts val="0"/>
                        </a:spcBef>
                        <a:spcAft>
                          <a:spcPts val="0"/>
                        </a:spcAft>
                      </a:pPr>
                      <a:r>
                        <a:rPr lang="en-US" sz="1400">
                          <a:effectLst/>
                        </a:rPr>
                        <a:t>MAP</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TFIDF</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0.467</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0.383</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0.272</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0.221</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0.184</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0.177</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0.175</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0.174</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0.174</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0.173</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0.173</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0.173</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62564191"/>
                  </a:ext>
                </a:extLst>
              </a:tr>
              <a:tr h="0">
                <a:tc vMerge="1">
                  <a:txBody>
                    <a:bodyPr/>
                    <a:lstStyle/>
                    <a:p>
                      <a:endParaRPr lang="en-US"/>
                    </a:p>
                  </a:txBody>
                  <a:tcPr/>
                </a:tc>
                <a:tc>
                  <a:txBody>
                    <a:bodyPr/>
                    <a:lstStyle/>
                    <a:p>
                      <a:pPr marL="0" marR="0">
                        <a:lnSpc>
                          <a:spcPct val="200000"/>
                        </a:lnSpc>
                        <a:spcBef>
                          <a:spcPts val="0"/>
                        </a:spcBef>
                        <a:spcAft>
                          <a:spcPts val="0"/>
                        </a:spcAft>
                      </a:pPr>
                      <a:r>
                        <a:rPr lang="en-US" sz="1400">
                          <a:effectLst/>
                        </a:rPr>
                        <a:t>MedGraph</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0.867</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0.55</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0.284</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0.168</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0.077</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0.041</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0.028</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0.021</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0.014</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0.009</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0.004</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dirty="0">
                          <a:effectLst/>
                        </a:rPr>
                        <a:t>0.002</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429247402"/>
                  </a:ext>
                </a:extLst>
              </a:tr>
            </a:tbl>
          </a:graphicData>
        </a:graphic>
      </p:graphicFrame>
    </p:spTree>
    <p:extLst>
      <p:ext uri="{BB962C8B-B14F-4D97-AF65-F5344CB8AC3E}">
        <p14:creationId xmlns:p14="http://schemas.microsoft.com/office/powerpoint/2010/main" val="25732810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2582FCE9-111E-4C83-B9E0-1692B21CF001}"/>
              </a:ext>
            </a:extLst>
          </p:cNvPr>
          <p:cNvSpPr txBox="1">
            <a:spLocks/>
          </p:cNvSpPr>
          <p:nvPr/>
        </p:nvSpPr>
        <p:spPr>
          <a:xfrm>
            <a:off x="990600" y="338328"/>
            <a:ext cx="10210800" cy="1078992"/>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Linux Libertine" panose="02000503000000000000" pitchFamily="2" charset="0"/>
                <a:ea typeface="Linux Libertine" panose="02000503000000000000" pitchFamily="2" charset="0"/>
                <a:cs typeface="Linux Libertine" panose="02000503000000000000" pitchFamily="2" charset="0"/>
              </a:defRPr>
            </a:lvl1pPr>
          </a:lstStyle>
          <a:p>
            <a:pPr algn="ctr">
              <a:spcAft>
                <a:spcPts val="600"/>
              </a:spcAft>
            </a:pPr>
            <a:r>
              <a:rPr lang="en-US" sz="5400">
                <a:latin typeface="+mj-lt"/>
                <a:ea typeface="+mj-ea"/>
                <a:cs typeface="+mj-cs"/>
              </a:rPr>
              <a:t>3. Evaluation: Results</a:t>
            </a:r>
          </a:p>
        </p:txBody>
      </p:sp>
      <p:sp>
        <p:nvSpPr>
          <p:cNvPr id="14" name="Rectangle 13">
            <a:extLst>
              <a:ext uri="{FF2B5EF4-FFF2-40B4-BE49-F238E27FC236}">
                <a16:creationId xmlns:a16="http://schemas.microsoft.com/office/drawing/2014/main" id="{70BDD0CE-06A4-404B-8A13-580229C1C9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141750"/>
            <a:ext cx="12192000" cy="471625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26">
            <a:extLst>
              <a:ext uri="{FF2B5EF4-FFF2-40B4-BE49-F238E27FC236}">
                <a16:creationId xmlns:a16="http://schemas.microsoft.com/office/drawing/2014/main" id="{EE9899FA-8881-472C-AA59-D08A89CA8A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1564" y="2423160"/>
            <a:ext cx="5613569" cy="3930315"/>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Graphic 5">
            <a:extLst>
              <a:ext uri="{FF2B5EF4-FFF2-40B4-BE49-F238E27FC236}">
                <a16:creationId xmlns:a16="http://schemas.microsoft.com/office/drawing/2014/main" id="{0F770326-088E-4BDE-A236-0BF4D7B61851}"/>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21564" y="2420284"/>
            <a:ext cx="5609504" cy="3211635"/>
          </a:xfrm>
          <a:prstGeom prst="rect">
            <a:avLst/>
          </a:prstGeom>
        </p:spPr>
      </p:pic>
      <p:sp>
        <p:nvSpPr>
          <p:cNvPr id="18" name="Rounded Rectangle 16">
            <a:extLst>
              <a:ext uri="{FF2B5EF4-FFF2-40B4-BE49-F238E27FC236}">
                <a16:creationId xmlns:a16="http://schemas.microsoft.com/office/drawing/2014/main" id="{080B7D90-3DF1-4514-B26D-616BE35553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54749" y="2423160"/>
            <a:ext cx="5613569" cy="3930315"/>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6">
            <a:extLst>
              <a:ext uri="{FF2B5EF4-FFF2-40B4-BE49-F238E27FC236}">
                <a16:creationId xmlns:a16="http://schemas.microsoft.com/office/drawing/2014/main" id="{750883DA-0750-4AF5-97A2-98BE0845A299}"/>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260934" y="2420284"/>
            <a:ext cx="5607384" cy="3211634"/>
          </a:xfrm>
          <a:prstGeom prst="rect">
            <a:avLst/>
          </a:prstGeom>
        </p:spPr>
      </p:pic>
      <p:sp>
        <p:nvSpPr>
          <p:cNvPr id="2" name="Date Placeholder 1">
            <a:extLst>
              <a:ext uri="{FF2B5EF4-FFF2-40B4-BE49-F238E27FC236}">
                <a16:creationId xmlns:a16="http://schemas.microsoft.com/office/drawing/2014/main" id="{348F69A4-CBCC-464C-882C-93FEA4D5CC9A}"/>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a:spcAft>
                <a:spcPts val="600"/>
              </a:spcAft>
            </a:pPr>
            <a:fld id="{C1FFE036-1B22-46FC-8A87-65388E31D917}" type="datetime1">
              <a:rPr lang="en-US">
                <a:solidFill>
                  <a:srgbClr val="898989"/>
                </a:solidFill>
                <a:latin typeface="+mn-lt"/>
                <a:ea typeface="+mn-ea"/>
                <a:cs typeface="+mn-cs"/>
              </a:rPr>
              <a:pPr>
                <a:spcAft>
                  <a:spcPts val="600"/>
                </a:spcAft>
              </a:pPr>
              <a:t>12/7/2021</a:t>
            </a:fld>
            <a:endParaRPr lang="en-US">
              <a:solidFill>
                <a:srgbClr val="898989"/>
              </a:solidFill>
              <a:latin typeface="+mn-lt"/>
              <a:ea typeface="+mn-ea"/>
              <a:cs typeface="+mn-cs"/>
            </a:endParaRPr>
          </a:p>
        </p:txBody>
      </p:sp>
      <p:sp>
        <p:nvSpPr>
          <p:cNvPr id="3" name="Footer Placeholder 2">
            <a:extLst>
              <a:ext uri="{FF2B5EF4-FFF2-40B4-BE49-F238E27FC236}">
                <a16:creationId xmlns:a16="http://schemas.microsoft.com/office/drawing/2014/main" id="{FDD3D8AD-D959-400C-9C58-ED7FB3E61887}"/>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pPr>
            <a:r>
              <a:rPr lang="en-US" kern="1200">
                <a:solidFill>
                  <a:srgbClr val="898989"/>
                </a:solidFill>
                <a:latin typeface="+mn-lt"/>
                <a:ea typeface="+mn-ea"/>
                <a:cs typeface="+mn-cs"/>
              </a:rPr>
              <a:t>Masters Project - Ebeid - Fall 2021</a:t>
            </a:r>
          </a:p>
        </p:txBody>
      </p:sp>
      <p:sp>
        <p:nvSpPr>
          <p:cNvPr id="4" name="Slide Number Placeholder 3">
            <a:extLst>
              <a:ext uri="{FF2B5EF4-FFF2-40B4-BE49-F238E27FC236}">
                <a16:creationId xmlns:a16="http://schemas.microsoft.com/office/drawing/2014/main" id="{DB38BCD4-D4B4-4DC0-96CF-9F4FF85B46F8}"/>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5A99AF73-65C2-407A-B44B-DB0F62C2405F}" type="slidenum">
              <a:rPr lang="en-US">
                <a:solidFill>
                  <a:srgbClr val="898989"/>
                </a:solidFill>
                <a:latin typeface="+mn-lt"/>
                <a:ea typeface="+mn-ea"/>
                <a:cs typeface="+mn-cs"/>
              </a:rPr>
              <a:pPr>
                <a:spcAft>
                  <a:spcPts val="600"/>
                </a:spcAft>
              </a:pPr>
              <a:t>34</a:t>
            </a:fld>
            <a:endParaRPr lang="en-US">
              <a:solidFill>
                <a:srgbClr val="898989"/>
              </a:solidFill>
              <a:latin typeface="+mn-lt"/>
              <a:ea typeface="+mn-ea"/>
              <a:cs typeface="+mn-cs"/>
            </a:endParaRPr>
          </a:p>
        </p:txBody>
      </p:sp>
    </p:spTree>
    <p:extLst>
      <p:ext uri="{BB962C8B-B14F-4D97-AF65-F5344CB8AC3E}">
        <p14:creationId xmlns:p14="http://schemas.microsoft.com/office/powerpoint/2010/main" val="16701245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2582FCE9-111E-4C83-B9E0-1692B21CF001}"/>
              </a:ext>
            </a:extLst>
          </p:cNvPr>
          <p:cNvSpPr txBox="1">
            <a:spLocks/>
          </p:cNvSpPr>
          <p:nvPr/>
        </p:nvSpPr>
        <p:spPr>
          <a:xfrm>
            <a:off x="990600" y="338328"/>
            <a:ext cx="10210800" cy="1078992"/>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Linux Libertine" panose="02000503000000000000" pitchFamily="2" charset="0"/>
                <a:ea typeface="Linux Libertine" panose="02000503000000000000" pitchFamily="2" charset="0"/>
                <a:cs typeface="Linux Libertine" panose="02000503000000000000" pitchFamily="2" charset="0"/>
              </a:defRPr>
            </a:lvl1pPr>
          </a:lstStyle>
          <a:p>
            <a:pPr algn="ctr">
              <a:spcAft>
                <a:spcPts val="600"/>
              </a:spcAft>
            </a:pPr>
            <a:r>
              <a:rPr lang="en-US" sz="5400" dirty="0">
                <a:latin typeface="+mj-lt"/>
                <a:ea typeface="+mj-ea"/>
                <a:cs typeface="+mj-cs"/>
              </a:rPr>
              <a:t>3. Evaluation: Results</a:t>
            </a:r>
          </a:p>
        </p:txBody>
      </p:sp>
      <p:sp>
        <p:nvSpPr>
          <p:cNvPr id="14" name="Rectangle 13">
            <a:extLst>
              <a:ext uri="{FF2B5EF4-FFF2-40B4-BE49-F238E27FC236}">
                <a16:creationId xmlns:a16="http://schemas.microsoft.com/office/drawing/2014/main" id="{70BDD0CE-06A4-404B-8A13-580229C1C9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141750"/>
            <a:ext cx="12192000" cy="471625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26">
            <a:extLst>
              <a:ext uri="{FF2B5EF4-FFF2-40B4-BE49-F238E27FC236}">
                <a16:creationId xmlns:a16="http://schemas.microsoft.com/office/drawing/2014/main" id="{EE9899FA-8881-472C-AA59-D08A89CA8A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1564" y="2423160"/>
            <a:ext cx="5613569" cy="3930315"/>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ounded Rectangle 16">
            <a:extLst>
              <a:ext uri="{FF2B5EF4-FFF2-40B4-BE49-F238E27FC236}">
                <a16:creationId xmlns:a16="http://schemas.microsoft.com/office/drawing/2014/main" id="{080B7D90-3DF1-4514-B26D-616BE35553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54749" y="2423160"/>
            <a:ext cx="5613569" cy="3930315"/>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348F69A4-CBCC-464C-882C-93FEA4D5CC9A}"/>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a:spcAft>
                <a:spcPts val="600"/>
              </a:spcAft>
            </a:pPr>
            <a:fld id="{C1FFE036-1B22-46FC-8A87-65388E31D917}" type="datetime1">
              <a:rPr lang="en-US">
                <a:solidFill>
                  <a:srgbClr val="898989"/>
                </a:solidFill>
                <a:latin typeface="+mn-lt"/>
                <a:ea typeface="+mn-ea"/>
                <a:cs typeface="+mn-cs"/>
              </a:rPr>
              <a:pPr>
                <a:spcAft>
                  <a:spcPts val="600"/>
                </a:spcAft>
              </a:pPr>
              <a:t>12/7/2021</a:t>
            </a:fld>
            <a:endParaRPr lang="en-US">
              <a:solidFill>
                <a:srgbClr val="898989"/>
              </a:solidFill>
              <a:latin typeface="+mn-lt"/>
              <a:ea typeface="+mn-ea"/>
              <a:cs typeface="+mn-cs"/>
            </a:endParaRPr>
          </a:p>
        </p:txBody>
      </p:sp>
      <p:sp>
        <p:nvSpPr>
          <p:cNvPr id="3" name="Footer Placeholder 2">
            <a:extLst>
              <a:ext uri="{FF2B5EF4-FFF2-40B4-BE49-F238E27FC236}">
                <a16:creationId xmlns:a16="http://schemas.microsoft.com/office/drawing/2014/main" id="{FDD3D8AD-D959-400C-9C58-ED7FB3E61887}"/>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pPr>
            <a:r>
              <a:rPr lang="en-US" kern="1200">
                <a:solidFill>
                  <a:srgbClr val="898989"/>
                </a:solidFill>
                <a:latin typeface="+mn-lt"/>
                <a:ea typeface="+mn-ea"/>
                <a:cs typeface="+mn-cs"/>
              </a:rPr>
              <a:t>Masters Project - Ebeid - Fall 2021</a:t>
            </a:r>
          </a:p>
        </p:txBody>
      </p:sp>
      <p:sp>
        <p:nvSpPr>
          <p:cNvPr id="4" name="Slide Number Placeholder 3">
            <a:extLst>
              <a:ext uri="{FF2B5EF4-FFF2-40B4-BE49-F238E27FC236}">
                <a16:creationId xmlns:a16="http://schemas.microsoft.com/office/drawing/2014/main" id="{DB38BCD4-D4B4-4DC0-96CF-9F4FF85B46F8}"/>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5A99AF73-65C2-407A-B44B-DB0F62C2405F}" type="slidenum">
              <a:rPr lang="en-US">
                <a:solidFill>
                  <a:srgbClr val="898989"/>
                </a:solidFill>
                <a:latin typeface="+mn-lt"/>
                <a:ea typeface="+mn-ea"/>
                <a:cs typeface="+mn-cs"/>
              </a:rPr>
              <a:pPr>
                <a:spcAft>
                  <a:spcPts val="600"/>
                </a:spcAft>
              </a:pPr>
              <a:t>35</a:t>
            </a:fld>
            <a:endParaRPr lang="en-US">
              <a:solidFill>
                <a:srgbClr val="898989"/>
              </a:solidFill>
              <a:latin typeface="+mn-lt"/>
              <a:ea typeface="+mn-ea"/>
              <a:cs typeface="+mn-cs"/>
            </a:endParaRPr>
          </a:p>
        </p:txBody>
      </p:sp>
      <p:pic>
        <p:nvPicPr>
          <p:cNvPr id="11" name="Graphic 8">
            <a:extLst>
              <a:ext uri="{FF2B5EF4-FFF2-40B4-BE49-F238E27FC236}">
                <a16:creationId xmlns:a16="http://schemas.microsoft.com/office/drawing/2014/main" id="{5EDE6BF6-E4D3-4D42-863A-9A729450BC52}"/>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21564" y="2420285"/>
            <a:ext cx="5609504" cy="3228286"/>
          </a:xfrm>
          <a:prstGeom prst="rect">
            <a:avLst/>
          </a:prstGeom>
        </p:spPr>
      </p:pic>
      <p:pic>
        <p:nvPicPr>
          <p:cNvPr id="12" name="Graphic 9">
            <a:extLst>
              <a:ext uri="{FF2B5EF4-FFF2-40B4-BE49-F238E27FC236}">
                <a16:creationId xmlns:a16="http://schemas.microsoft.com/office/drawing/2014/main" id="{E428EED3-425B-40D7-A43E-89EFBEFCE814}"/>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250684" y="2419307"/>
            <a:ext cx="5613569" cy="3228286"/>
          </a:xfrm>
          <a:prstGeom prst="rect">
            <a:avLst/>
          </a:prstGeom>
        </p:spPr>
      </p:pic>
    </p:spTree>
    <p:extLst>
      <p:ext uri="{BB962C8B-B14F-4D97-AF65-F5344CB8AC3E}">
        <p14:creationId xmlns:p14="http://schemas.microsoft.com/office/powerpoint/2010/main" val="10920874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3B741E5E-B83A-40FB-A36F-BF06146A1F4F}"/>
              </a:ext>
            </a:extLst>
          </p:cNvPr>
          <p:cNvSpPr txBox="1">
            <a:spLocks/>
          </p:cNvSpPr>
          <p:nvPr/>
        </p:nvSpPr>
        <p:spPr>
          <a:xfrm>
            <a:off x="990600" y="338328"/>
            <a:ext cx="10210800" cy="1078992"/>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Linux Libertine" panose="02000503000000000000" pitchFamily="2" charset="0"/>
                <a:ea typeface="Linux Libertine" panose="02000503000000000000" pitchFamily="2" charset="0"/>
                <a:cs typeface="Linux Libertine" panose="02000503000000000000" pitchFamily="2" charset="0"/>
              </a:defRPr>
            </a:lvl1pPr>
          </a:lstStyle>
          <a:p>
            <a:pPr algn="ctr">
              <a:spcAft>
                <a:spcPts val="600"/>
              </a:spcAft>
            </a:pPr>
            <a:r>
              <a:rPr lang="en-US" sz="5400" dirty="0">
                <a:latin typeface="+mj-lt"/>
                <a:ea typeface="+mj-ea"/>
                <a:cs typeface="+mj-cs"/>
              </a:rPr>
              <a:t>3. Evaluation: Results</a:t>
            </a:r>
          </a:p>
        </p:txBody>
      </p:sp>
      <p:sp>
        <p:nvSpPr>
          <p:cNvPr id="19" name="Rectangle 18">
            <a:extLst>
              <a:ext uri="{FF2B5EF4-FFF2-40B4-BE49-F238E27FC236}">
                <a16:creationId xmlns:a16="http://schemas.microsoft.com/office/drawing/2014/main" id="{70BDD0CE-06A4-404B-8A13-580229C1C9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141750"/>
            <a:ext cx="12192000" cy="471625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ounded Rectangle 26">
            <a:extLst>
              <a:ext uri="{FF2B5EF4-FFF2-40B4-BE49-F238E27FC236}">
                <a16:creationId xmlns:a16="http://schemas.microsoft.com/office/drawing/2014/main" id="{EE9899FA-8881-472C-AA59-D08A89CA8A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1564" y="2423160"/>
            <a:ext cx="5613569" cy="3930315"/>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14">
            <a:extLst>
              <a:ext uri="{FF2B5EF4-FFF2-40B4-BE49-F238E27FC236}">
                <a16:creationId xmlns:a16="http://schemas.microsoft.com/office/drawing/2014/main" id="{EEEC04DC-381F-4234-AAE3-B14C8F25A3EA}"/>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39148" y="2989285"/>
            <a:ext cx="4974336" cy="2798064"/>
          </a:xfrm>
          <a:prstGeom prst="rect">
            <a:avLst/>
          </a:prstGeom>
        </p:spPr>
      </p:pic>
      <p:sp>
        <p:nvSpPr>
          <p:cNvPr id="23" name="Rounded Rectangle 16">
            <a:extLst>
              <a:ext uri="{FF2B5EF4-FFF2-40B4-BE49-F238E27FC236}">
                <a16:creationId xmlns:a16="http://schemas.microsoft.com/office/drawing/2014/main" id="{080B7D90-3DF1-4514-B26D-616BE35553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54749" y="2423160"/>
            <a:ext cx="5613569" cy="3930315"/>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phic 15">
            <a:extLst>
              <a:ext uri="{FF2B5EF4-FFF2-40B4-BE49-F238E27FC236}">
                <a16:creationId xmlns:a16="http://schemas.microsoft.com/office/drawing/2014/main" id="{C425A3B4-55B9-4CCC-BA76-A439338A1EA6}"/>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578516" y="2991619"/>
            <a:ext cx="4974336" cy="2798064"/>
          </a:xfrm>
          <a:prstGeom prst="rect">
            <a:avLst/>
          </a:prstGeom>
        </p:spPr>
      </p:pic>
      <p:sp>
        <p:nvSpPr>
          <p:cNvPr id="2" name="Date Placeholder 1">
            <a:extLst>
              <a:ext uri="{FF2B5EF4-FFF2-40B4-BE49-F238E27FC236}">
                <a16:creationId xmlns:a16="http://schemas.microsoft.com/office/drawing/2014/main" id="{C9447B75-7979-44EE-827B-464C84E7D93A}"/>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a:spcAft>
                <a:spcPts val="600"/>
              </a:spcAft>
            </a:pPr>
            <a:fld id="{C1FFE036-1B22-46FC-8A87-65388E31D917}" type="datetime1">
              <a:rPr lang="en-US">
                <a:solidFill>
                  <a:srgbClr val="898989"/>
                </a:solidFill>
                <a:latin typeface="+mn-lt"/>
                <a:ea typeface="+mn-ea"/>
                <a:cs typeface="+mn-cs"/>
              </a:rPr>
              <a:pPr>
                <a:spcAft>
                  <a:spcPts val="600"/>
                </a:spcAft>
              </a:pPr>
              <a:t>12/7/2021</a:t>
            </a:fld>
            <a:endParaRPr lang="en-US">
              <a:solidFill>
                <a:srgbClr val="898989"/>
              </a:solidFill>
              <a:latin typeface="+mn-lt"/>
              <a:ea typeface="+mn-ea"/>
              <a:cs typeface="+mn-cs"/>
            </a:endParaRPr>
          </a:p>
        </p:txBody>
      </p:sp>
      <p:sp>
        <p:nvSpPr>
          <p:cNvPr id="3" name="Footer Placeholder 2">
            <a:extLst>
              <a:ext uri="{FF2B5EF4-FFF2-40B4-BE49-F238E27FC236}">
                <a16:creationId xmlns:a16="http://schemas.microsoft.com/office/drawing/2014/main" id="{A4550807-EC1F-47B1-9F16-2E5C6386F18B}"/>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pPr>
            <a:r>
              <a:rPr lang="en-US" kern="1200">
                <a:solidFill>
                  <a:srgbClr val="898989"/>
                </a:solidFill>
                <a:latin typeface="+mn-lt"/>
                <a:ea typeface="+mn-ea"/>
                <a:cs typeface="+mn-cs"/>
              </a:rPr>
              <a:t>Masters Project - Ebeid - Fall 2021</a:t>
            </a:r>
          </a:p>
        </p:txBody>
      </p:sp>
      <p:sp>
        <p:nvSpPr>
          <p:cNvPr id="4" name="Slide Number Placeholder 3">
            <a:extLst>
              <a:ext uri="{FF2B5EF4-FFF2-40B4-BE49-F238E27FC236}">
                <a16:creationId xmlns:a16="http://schemas.microsoft.com/office/drawing/2014/main" id="{59AC6731-FF7D-4FF5-AE4B-FABA1E5E0325}"/>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5A99AF73-65C2-407A-B44B-DB0F62C2405F}" type="slidenum">
              <a:rPr lang="en-US">
                <a:solidFill>
                  <a:srgbClr val="898989"/>
                </a:solidFill>
                <a:latin typeface="+mn-lt"/>
                <a:ea typeface="+mn-ea"/>
                <a:cs typeface="+mn-cs"/>
              </a:rPr>
              <a:pPr>
                <a:spcAft>
                  <a:spcPts val="600"/>
                </a:spcAft>
              </a:pPr>
              <a:t>36</a:t>
            </a:fld>
            <a:endParaRPr lang="en-US">
              <a:solidFill>
                <a:srgbClr val="898989"/>
              </a:solidFill>
              <a:latin typeface="+mn-lt"/>
              <a:ea typeface="+mn-ea"/>
              <a:cs typeface="+mn-cs"/>
            </a:endParaRPr>
          </a:p>
        </p:txBody>
      </p:sp>
    </p:spTree>
    <p:extLst>
      <p:ext uri="{BB962C8B-B14F-4D97-AF65-F5344CB8AC3E}">
        <p14:creationId xmlns:p14="http://schemas.microsoft.com/office/powerpoint/2010/main" val="313921107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8AB7667-C40C-40D6-83B2-1E86D97F4182}"/>
              </a:ext>
            </a:extLst>
          </p:cNvPr>
          <p:cNvSpPr>
            <a:spLocks noGrp="1"/>
          </p:cNvSpPr>
          <p:nvPr>
            <p:ph type="dt" sz="half" idx="10"/>
          </p:nvPr>
        </p:nvSpPr>
        <p:spPr/>
        <p:txBody>
          <a:bodyPr/>
          <a:lstStyle/>
          <a:p>
            <a:fld id="{C1FFE036-1B22-46FC-8A87-65388E31D917}" type="datetime1">
              <a:rPr lang="en-US" smtClean="0"/>
              <a:t>12/7/2021</a:t>
            </a:fld>
            <a:endParaRPr lang="en-US"/>
          </a:p>
        </p:txBody>
      </p:sp>
      <p:sp>
        <p:nvSpPr>
          <p:cNvPr id="3" name="Footer Placeholder 2">
            <a:extLst>
              <a:ext uri="{FF2B5EF4-FFF2-40B4-BE49-F238E27FC236}">
                <a16:creationId xmlns:a16="http://schemas.microsoft.com/office/drawing/2014/main" id="{815E9B57-2FF0-47D2-A51D-390678AA8E55}"/>
              </a:ext>
            </a:extLst>
          </p:cNvPr>
          <p:cNvSpPr>
            <a:spLocks noGrp="1"/>
          </p:cNvSpPr>
          <p:nvPr>
            <p:ph type="ftr" sz="quarter" idx="11"/>
          </p:nvPr>
        </p:nvSpPr>
        <p:spPr/>
        <p:txBody>
          <a:bodyPr/>
          <a:lstStyle/>
          <a:p>
            <a:r>
              <a:rPr lang="en-US" dirty="0"/>
              <a:t>Masters Project - Ebeid - Fall 2021</a:t>
            </a:r>
          </a:p>
        </p:txBody>
      </p:sp>
      <p:sp>
        <p:nvSpPr>
          <p:cNvPr id="4" name="Slide Number Placeholder 3">
            <a:extLst>
              <a:ext uri="{FF2B5EF4-FFF2-40B4-BE49-F238E27FC236}">
                <a16:creationId xmlns:a16="http://schemas.microsoft.com/office/drawing/2014/main" id="{ADCA874D-49A2-4621-A931-0AFBB956BD0B}"/>
              </a:ext>
            </a:extLst>
          </p:cNvPr>
          <p:cNvSpPr>
            <a:spLocks noGrp="1"/>
          </p:cNvSpPr>
          <p:nvPr>
            <p:ph type="sldNum" sz="quarter" idx="12"/>
          </p:nvPr>
        </p:nvSpPr>
        <p:spPr/>
        <p:txBody>
          <a:bodyPr/>
          <a:lstStyle/>
          <a:p>
            <a:fld id="{5A99AF73-65C2-407A-B44B-DB0F62C2405F}" type="slidenum">
              <a:rPr lang="en-US" smtClean="0"/>
              <a:t>37</a:t>
            </a:fld>
            <a:endParaRPr lang="en-US"/>
          </a:p>
        </p:txBody>
      </p:sp>
      <p:sp>
        <p:nvSpPr>
          <p:cNvPr id="5" name="Title 1">
            <a:extLst>
              <a:ext uri="{FF2B5EF4-FFF2-40B4-BE49-F238E27FC236}">
                <a16:creationId xmlns:a16="http://schemas.microsoft.com/office/drawing/2014/main" id="{C2DBDD92-28B8-4A67-9209-B4733C7271F1}"/>
              </a:ext>
            </a:extLst>
          </p:cNvPr>
          <p:cNvSpPr txBox="1">
            <a:spLocks/>
          </p:cNvSpPr>
          <p:nvPr/>
        </p:nvSpPr>
        <p:spPr>
          <a:xfrm>
            <a:off x="990600" y="338328"/>
            <a:ext cx="10210800" cy="1078992"/>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Linux Libertine" panose="02000503000000000000" pitchFamily="2" charset="0"/>
                <a:ea typeface="Linux Libertine" panose="02000503000000000000" pitchFamily="2" charset="0"/>
                <a:cs typeface="Linux Libertine" panose="02000503000000000000" pitchFamily="2" charset="0"/>
              </a:defRPr>
            </a:lvl1pPr>
          </a:lstStyle>
          <a:p>
            <a:pPr algn="ctr">
              <a:spcAft>
                <a:spcPts val="600"/>
              </a:spcAft>
            </a:pPr>
            <a:r>
              <a:rPr lang="en-US" sz="5400" dirty="0">
                <a:latin typeface="+mj-lt"/>
                <a:ea typeface="+mj-ea"/>
                <a:cs typeface="+mj-cs"/>
              </a:rPr>
              <a:t>3. Discussion &amp; Future Work</a:t>
            </a:r>
          </a:p>
        </p:txBody>
      </p:sp>
      <p:sp>
        <p:nvSpPr>
          <p:cNvPr id="6" name="TextBox 5">
            <a:extLst>
              <a:ext uri="{FF2B5EF4-FFF2-40B4-BE49-F238E27FC236}">
                <a16:creationId xmlns:a16="http://schemas.microsoft.com/office/drawing/2014/main" id="{B827DF2D-FCFE-43EA-B8FE-7D2BFE724356}"/>
              </a:ext>
            </a:extLst>
          </p:cNvPr>
          <p:cNvSpPr txBox="1"/>
          <p:nvPr/>
        </p:nvSpPr>
        <p:spPr>
          <a:xfrm>
            <a:off x="546100" y="2690336"/>
            <a:ext cx="6070600" cy="1754326"/>
          </a:xfrm>
          <a:prstGeom prst="rect">
            <a:avLst/>
          </a:prstGeom>
          <a:noFill/>
        </p:spPr>
        <p:txBody>
          <a:bodyPr wrap="square" rtlCol="0">
            <a:spAutoFit/>
          </a:bodyPr>
          <a:lstStyle/>
          <a:p>
            <a:pPr marL="285750" indent="-285750">
              <a:buFontTx/>
              <a:buChar char="-"/>
            </a:pPr>
            <a:r>
              <a:rPr lang="en-US" dirty="0"/>
              <a:t>Knowledge Graph methods are very useful and efficient</a:t>
            </a:r>
          </a:p>
          <a:p>
            <a:pPr marL="285750" indent="-285750">
              <a:buFontTx/>
              <a:buChar char="-"/>
            </a:pPr>
            <a:r>
              <a:rPr lang="en-US" dirty="0" err="1"/>
              <a:t>BestMatch</a:t>
            </a:r>
            <a:r>
              <a:rPr lang="en-US" dirty="0"/>
              <a:t> and TFIDF do not understand semantics</a:t>
            </a:r>
          </a:p>
          <a:p>
            <a:pPr marL="285750" indent="-285750">
              <a:buFontTx/>
              <a:buChar char="-"/>
            </a:pPr>
            <a:r>
              <a:rPr lang="en-US" dirty="0"/>
              <a:t>MAP alone is not enough</a:t>
            </a:r>
          </a:p>
          <a:p>
            <a:pPr marL="285750" indent="-285750">
              <a:buFontTx/>
              <a:buChar char="-"/>
            </a:pPr>
            <a:r>
              <a:rPr lang="en-US" dirty="0"/>
              <a:t>A/B testing is needed</a:t>
            </a:r>
          </a:p>
          <a:p>
            <a:pPr marL="285750" indent="-285750">
              <a:buFontTx/>
              <a:buChar char="-"/>
            </a:pPr>
            <a:r>
              <a:rPr lang="en-US" dirty="0"/>
              <a:t>Precision alone is very informative, and Recall can be </a:t>
            </a:r>
            <a:r>
              <a:rPr lang="en-US" dirty="0" err="1"/>
              <a:t>decieving</a:t>
            </a:r>
            <a:endParaRPr lang="en-US" dirty="0"/>
          </a:p>
        </p:txBody>
      </p:sp>
      <p:sp>
        <p:nvSpPr>
          <p:cNvPr id="7" name="TextBox 6">
            <a:extLst>
              <a:ext uri="{FF2B5EF4-FFF2-40B4-BE49-F238E27FC236}">
                <a16:creationId xmlns:a16="http://schemas.microsoft.com/office/drawing/2014/main" id="{025D77D6-F51D-445B-BA75-36AB491DE88B}"/>
              </a:ext>
            </a:extLst>
          </p:cNvPr>
          <p:cNvSpPr txBox="1"/>
          <p:nvPr/>
        </p:nvSpPr>
        <p:spPr>
          <a:xfrm>
            <a:off x="7061200" y="2768600"/>
            <a:ext cx="3670300" cy="2862322"/>
          </a:xfrm>
          <a:prstGeom prst="rect">
            <a:avLst/>
          </a:prstGeom>
          <a:noFill/>
        </p:spPr>
        <p:txBody>
          <a:bodyPr wrap="square" rtlCol="0">
            <a:spAutoFit/>
          </a:bodyPr>
          <a:lstStyle/>
          <a:p>
            <a:pPr marL="285750" indent="-285750">
              <a:buFontTx/>
              <a:buChar char="-"/>
            </a:pPr>
            <a:r>
              <a:rPr lang="en-US" dirty="0"/>
              <a:t>Conduct user studies</a:t>
            </a:r>
          </a:p>
          <a:p>
            <a:pPr marL="285750" indent="-285750">
              <a:buFontTx/>
              <a:buChar char="-"/>
            </a:pPr>
            <a:r>
              <a:rPr lang="en-US" dirty="0"/>
              <a:t>Train on the full dataset</a:t>
            </a:r>
          </a:p>
          <a:p>
            <a:pPr marL="285750" indent="-285750">
              <a:buFontTx/>
              <a:buChar char="-"/>
            </a:pPr>
            <a:r>
              <a:rPr lang="en-US" dirty="0"/>
              <a:t>Enrich the knowledge graph with semantic datasets</a:t>
            </a:r>
          </a:p>
          <a:p>
            <a:pPr marL="285750" indent="-285750">
              <a:buFontTx/>
              <a:buChar char="-"/>
            </a:pPr>
            <a:r>
              <a:rPr lang="en-US" dirty="0"/>
              <a:t>User knowledge graph embedding models that understand heterogeneity</a:t>
            </a:r>
          </a:p>
          <a:p>
            <a:pPr marL="285750" indent="-285750">
              <a:buFontTx/>
              <a:buChar char="-"/>
            </a:pPr>
            <a:r>
              <a:rPr lang="en-US" dirty="0"/>
              <a:t>Testing with more complex queries</a:t>
            </a:r>
          </a:p>
          <a:p>
            <a:pPr marL="285750" indent="-285750">
              <a:buFontTx/>
              <a:buChar char="-"/>
            </a:pPr>
            <a:r>
              <a:rPr lang="en-US" dirty="0"/>
              <a:t>Finding a ground truth dataset</a:t>
            </a:r>
          </a:p>
        </p:txBody>
      </p:sp>
      <p:sp>
        <p:nvSpPr>
          <p:cNvPr id="8" name="TextBox 7">
            <a:extLst>
              <a:ext uri="{FF2B5EF4-FFF2-40B4-BE49-F238E27FC236}">
                <a16:creationId xmlns:a16="http://schemas.microsoft.com/office/drawing/2014/main" id="{CAB22C08-719E-4951-98AE-A4EF70457BE6}"/>
              </a:ext>
            </a:extLst>
          </p:cNvPr>
          <p:cNvSpPr txBox="1"/>
          <p:nvPr/>
        </p:nvSpPr>
        <p:spPr>
          <a:xfrm>
            <a:off x="7061200" y="2104571"/>
            <a:ext cx="1676400" cy="369332"/>
          </a:xfrm>
          <a:prstGeom prst="rect">
            <a:avLst/>
          </a:prstGeom>
          <a:noFill/>
        </p:spPr>
        <p:txBody>
          <a:bodyPr wrap="square" rtlCol="0">
            <a:spAutoFit/>
          </a:bodyPr>
          <a:lstStyle/>
          <a:p>
            <a:r>
              <a:rPr lang="en-US" dirty="0"/>
              <a:t>Future</a:t>
            </a:r>
          </a:p>
        </p:txBody>
      </p:sp>
      <p:sp>
        <p:nvSpPr>
          <p:cNvPr id="9" name="TextBox 8">
            <a:extLst>
              <a:ext uri="{FF2B5EF4-FFF2-40B4-BE49-F238E27FC236}">
                <a16:creationId xmlns:a16="http://schemas.microsoft.com/office/drawing/2014/main" id="{3F0A97B4-7C56-42BE-BBD4-6E37893D7D24}"/>
              </a:ext>
            </a:extLst>
          </p:cNvPr>
          <p:cNvSpPr txBox="1"/>
          <p:nvPr/>
        </p:nvSpPr>
        <p:spPr>
          <a:xfrm>
            <a:off x="667658" y="2122714"/>
            <a:ext cx="1676400" cy="369332"/>
          </a:xfrm>
          <a:prstGeom prst="rect">
            <a:avLst/>
          </a:prstGeom>
          <a:noFill/>
        </p:spPr>
        <p:txBody>
          <a:bodyPr wrap="square" rtlCol="0">
            <a:spAutoFit/>
          </a:bodyPr>
          <a:lstStyle/>
          <a:p>
            <a:r>
              <a:rPr lang="en-US" dirty="0" err="1"/>
              <a:t>Conlcusion</a:t>
            </a:r>
            <a:endParaRPr lang="en-US" dirty="0"/>
          </a:p>
        </p:txBody>
      </p:sp>
    </p:spTree>
    <p:extLst>
      <p:ext uri="{BB962C8B-B14F-4D97-AF65-F5344CB8AC3E}">
        <p14:creationId xmlns:p14="http://schemas.microsoft.com/office/powerpoint/2010/main" val="11746231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293BE-1577-4EE6-8F61-22883D8945CA}"/>
              </a:ext>
            </a:extLst>
          </p:cNvPr>
          <p:cNvSpPr>
            <a:spLocks noGrp="1"/>
          </p:cNvSpPr>
          <p:nvPr>
            <p:ph type="title"/>
          </p:nvPr>
        </p:nvSpPr>
        <p:spPr/>
        <p:txBody>
          <a:bodyPr/>
          <a:lstStyle/>
          <a:p>
            <a:r>
              <a:rPr lang="en-US" dirty="0"/>
              <a:t>8. Bibliography</a:t>
            </a:r>
          </a:p>
        </p:txBody>
      </p:sp>
      <p:sp>
        <p:nvSpPr>
          <p:cNvPr id="3" name="Content Placeholder 2">
            <a:extLst>
              <a:ext uri="{FF2B5EF4-FFF2-40B4-BE49-F238E27FC236}">
                <a16:creationId xmlns:a16="http://schemas.microsoft.com/office/drawing/2014/main" id="{BFE48A44-CDFF-4C14-B51A-4A8A2368DE34}"/>
              </a:ext>
            </a:extLst>
          </p:cNvPr>
          <p:cNvSpPr>
            <a:spLocks noGrp="1"/>
          </p:cNvSpPr>
          <p:nvPr>
            <p:ph idx="1"/>
          </p:nvPr>
        </p:nvSpPr>
        <p:spPr/>
        <p:txBody>
          <a:bodyPr>
            <a:normAutofit/>
          </a:bodyPr>
          <a:lstStyle/>
          <a:p>
            <a:pPr marL="0" indent="0">
              <a:buNone/>
            </a:pPr>
            <a:r>
              <a:rPr lang="en-US" dirty="0"/>
              <a:t>References and full bibliography is available in the report in section 7</a:t>
            </a:r>
          </a:p>
        </p:txBody>
      </p:sp>
      <p:sp>
        <p:nvSpPr>
          <p:cNvPr id="4" name="Date Placeholder 3">
            <a:extLst>
              <a:ext uri="{FF2B5EF4-FFF2-40B4-BE49-F238E27FC236}">
                <a16:creationId xmlns:a16="http://schemas.microsoft.com/office/drawing/2014/main" id="{B30DFC74-69B5-49AF-A488-741219177CFD}"/>
              </a:ext>
            </a:extLst>
          </p:cNvPr>
          <p:cNvSpPr>
            <a:spLocks noGrp="1"/>
          </p:cNvSpPr>
          <p:nvPr>
            <p:ph type="dt" sz="half" idx="10"/>
          </p:nvPr>
        </p:nvSpPr>
        <p:spPr/>
        <p:txBody>
          <a:bodyPr/>
          <a:lstStyle/>
          <a:p>
            <a:fld id="{BABF04DC-B7C3-4944-AA8E-09C8B0351AC9}" type="datetime1">
              <a:rPr lang="en-US" smtClean="0"/>
              <a:t>12/7/2021</a:t>
            </a:fld>
            <a:endParaRPr lang="en-US"/>
          </a:p>
        </p:txBody>
      </p:sp>
      <p:sp>
        <p:nvSpPr>
          <p:cNvPr id="5" name="Footer Placeholder 4">
            <a:extLst>
              <a:ext uri="{FF2B5EF4-FFF2-40B4-BE49-F238E27FC236}">
                <a16:creationId xmlns:a16="http://schemas.microsoft.com/office/drawing/2014/main" id="{4F4EA7B4-A566-4AC6-8074-66A477199420}"/>
              </a:ext>
            </a:extLst>
          </p:cNvPr>
          <p:cNvSpPr>
            <a:spLocks noGrp="1"/>
          </p:cNvSpPr>
          <p:nvPr>
            <p:ph type="ftr" sz="quarter" idx="11"/>
          </p:nvPr>
        </p:nvSpPr>
        <p:spPr/>
        <p:txBody>
          <a:bodyPr/>
          <a:lstStyle/>
          <a:p>
            <a:r>
              <a:rPr lang="en-US" dirty="0"/>
              <a:t>Masters Project - Ebeid - Fall 2021</a:t>
            </a:r>
          </a:p>
        </p:txBody>
      </p:sp>
      <p:sp>
        <p:nvSpPr>
          <p:cNvPr id="6" name="Slide Number Placeholder 5">
            <a:extLst>
              <a:ext uri="{FF2B5EF4-FFF2-40B4-BE49-F238E27FC236}">
                <a16:creationId xmlns:a16="http://schemas.microsoft.com/office/drawing/2014/main" id="{F04E857D-7F7D-4E1B-9FFB-9D693933D471}"/>
              </a:ext>
            </a:extLst>
          </p:cNvPr>
          <p:cNvSpPr>
            <a:spLocks noGrp="1"/>
          </p:cNvSpPr>
          <p:nvPr>
            <p:ph type="sldNum" sz="quarter" idx="12"/>
          </p:nvPr>
        </p:nvSpPr>
        <p:spPr/>
        <p:txBody>
          <a:bodyPr/>
          <a:lstStyle/>
          <a:p>
            <a:fld id="{5A99AF73-65C2-407A-B44B-DB0F62C2405F}" type="slidenum">
              <a:rPr lang="en-US" smtClean="0"/>
              <a:t>38</a:t>
            </a:fld>
            <a:endParaRPr lang="en-US"/>
          </a:p>
        </p:txBody>
      </p:sp>
    </p:spTree>
    <p:extLst>
      <p:ext uri="{BB962C8B-B14F-4D97-AF65-F5344CB8AC3E}">
        <p14:creationId xmlns:p14="http://schemas.microsoft.com/office/powerpoint/2010/main" val="37687951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EC438-4850-4A07-9D8E-65E58240789F}"/>
              </a:ext>
            </a:extLst>
          </p:cNvPr>
          <p:cNvSpPr>
            <a:spLocks noGrp="1"/>
          </p:cNvSpPr>
          <p:nvPr>
            <p:ph type="title"/>
          </p:nvPr>
        </p:nvSpPr>
        <p:spPr/>
        <p:txBody>
          <a:bodyPr>
            <a:normAutofit fontScale="90000"/>
          </a:bodyPr>
          <a:lstStyle/>
          <a:p>
            <a:r>
              <a:rPr lang="en-US" dirty="0"/>
              <a:t>Thank you for attending and listening.  </a:t>
            </a:r>
            <a:br>
              <a:rPr lang="en-US" dirty="0"/>
            </a:br>
            <a:br>
              <a:rPr lang="en-US" dirty="0"/>
            </a:br>
            <a:endParaRPr lang="en-US" dirty="0"/>
          </a:p>
        </p:txBody>
      </p:sp>
      <p:sp>
        <p:nvSpPr>
          <p:cNvPr id="3" name="Text Placeholder 2">
            <a:extLst>
              <a:ext uri="{FF2B5EF4-FFF2-40B4-BE49-F238E27FC236}">
                <a16:creationId xmlns:a16="http://schemas.microsoft.com/office/drawing/2014/main" id="{FF71D60C-0F38-4DC1-B15D-5C1185242B00}"/>
              </a:ext>
            </a:extLst>
          </p:cNvPr>
          <p:cNvSpPr>
            <a:spLocks noGrp="1"/>
          </p:cNvSpPr>
          <p:nvPr>
            <p:ph type="body" idx="1"/>
          </p:nvPr>
        </p:nvSpPr>
        <p:spPr/>
        <p:txBody>
          <a:bodyPr/>
          <a:lstStyle/>
          <a:p>
            <a:r>
              <a:rPr lang="en-US" dirty="0"/>
              <a:t>iaebeid@ualr.edu</a:t>
            </a:r>
          </a:p>
        </p:txBody>
      </p:sp>
      <p:sp>
        <p:nvSpPr>
          <p:cNvPr id="4" name="Date Placeholder 3">
            <a:extLst>
              <a:ext uri="{FF2B5EF4-FFF2-40B4-BE49-F238E27FC236}">
                <a16:creationId xmlns:a16="http://schemas.microsoft.com/office/drawing/2014/main" id="{03F0870A-9360-4531-98CA-E2E2072869BC}"/>
              </a:ext>
            </a:extLst>
          </p:cNvPr>
          <p:cNvSpPr>
            <a:spLocks noGrp="1"/>
          </p:cNvSpPr>
          <p:nvPr>
            <p:ph type="dt" sz="half" idx="10"/>
          </p:nvPr>
        </p:nvSpPr>
        <p:spPr/>
        <p:txBody>
          <a:bodyPr/>
          <a:lstStyle/>
          <a:p>
            <a:fld id="{33E13A38-D6AE-41E1-B4F8-DAC7E467750A}" type="datetime1">
              <a:rPr lang="en-US" smtClean="0"/>
              <a:t>12/7/2021</a:t>
            </a:fld>
            <a:endParaRPr lang="en-US"/>
          </a:p>
        </p:txBody>
      </p:sp>
      <p:sp>
        <p:nvSpPr>
          <p:cNvPr id="5" name="Footer Placeholder 4">
            <a:extLst>
              <a:ext uri="{FF2B5EF4-FFF2-40B4-BE49-F238E27FC236}">
                <a16:creationId xmlns:a16="http://schemas.microsoft.com/office/drawing/2014/main" id="{E8EFE67C-2C40-4C45-8056-0ED53214726D}"/>
              </a:ext>
            </a:extLst>
          </p:cNvPr>
          <p:cNvSpPr>
            <a:spLocks noGrp="1"/>
          </p:cNvSpPr>
          <p:nvPr>
            <p:ph type="ftr" sz="quarter" idx="11"/>
          </p:nvPr>
        </p:nvSpPr>
        <p:spPr/>
        <p:txBody>
          <a:bodyPr/>
          <a:lstStyle/>
          <a:p>
            <a:r>
              <a:rPr lang="en-US" dirty="0"/>
              <a:t>Masters Project - Ebeid - Fall 2021</a:t>
            </a:r>
          </a:p>
        </p:txBody>
      </p:sp>
      <p:sp>
        <p:nvSpPr>
          <p:cNvPr id="6" name="Slide Number Placeholder 5">
            <a:extLst>
              <a:ext uri="{FF2B5EF4-FFF2-40B4-BE49-F238E27FC236}">
                <a16:creationId xmlns:a16="http://schemas.microsoft.com/office/drawing/2014/main" id="{A0887B71-B9F4-40A0-BB10-5A6CBF9495D2}"/>
              </a:ext>
            </a:extLst>
          </p:cNvPr>
          <p:cNvSpPr>
            <a:spLocks noGrp="1"/>
          </p:cNvSpPr>
          <p:nvPr>
            <p:ph type="sldNum" sz="quarter" idx="12"/>
          </p:nvPr>
        </p:nvSpPr>
        <p:spPr/>
        <p:txBody>
          <a:bodyPr/>
          <a:lstStyle/>
          <a:p>
            <a:fld id="{5A99AF73-65C2-407A-B44B-DB0F62C2405F}" type="slidenum">
              <a:rPr lang="en-US" smtClean="0"/>
              <a:t>39</a:t>
            </a:fld>
            <a:endParaRPr lang="en-US"/>
          </a:p>
        </p:txBody>
      </p:sp>
    </p:spTree>
    <p:extLst>
      <p:ext uri="{BB962C8B-B14F-4D97-AF65-F5344CB8AC3E}">
        <p14:creationId xmlns:p14="http://schemas.microsoft.com/office/powerpoint/2010/main" val="3420870691"/>
      </p:ext>
    </p:extLst>
  </p:cSld>
  <p:clrMapOvr>
    <a:masterClrMapping/>
  </p:clrMapOvr>
</p:sld>
</file>

<file path=ppt/theme/theme1.xml><?xml version="1.0" encoding="utf-8"?>
<a:theme xmlns:a="http://schemas.openxmlformats.org/drawingml/2006/main" name="Office Theme">
  <a:themeElements>
    <a:clrScheme name="Custom 2">
      <a:dk1>
        <a:srgbClr val="000000"/>
      </a:dk1>
      <a:lt1>
        <a:sysClr val="window" lastClr="FFFFFF"/>
      </a:lt1>
      <a:dk2>
        <a:srgbClr val="A7A9AC"/>
      </a:dk2>
      <a:lt2>
        <a:srgbClr val="FFFFFF"/>
      </a:lt2>
      <a:accent1>
        <a:srgbClr val="6E2639"/>
      </a:accent1>
      <a:accent2>
        <a:srgbClr val="FFFFFF"/>
      </a:accent2>
      <a:accent3>
        <a:srgbClr val="A7A9AC"/>
      </a:accent3>
      <a:accent4>
        <a:srgbClr val="6E2639"/>
      </a:accent4>
      <a:accent5>
        <a:srgbClr val="FFFFFF"/>
      </a:accent5>
      <a:accent6>
        <a:srgbClr val="A7A9AC"/>
      </a:accent6>
      <a:hlink>
        <a:srgbClr val="1F3864"/>
      </a:hlink>
      <a:folHlink>
        <a:srgbClr val="A7A9AC"/>
      </a:folHlink>
    </a:clrScheme>
    <a:fontScheme name="Custom 1">
      <a:majorFont>
        <a:latin typeface="Linux Libertine"/>
        <a:ea typeface=""/>
        <a:cs typeface=""/>
      </a:majorFont>
      <a:minorFont>
        <a:latin typeface="Linux Libertin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2336</TotalTime>
  <Words>8339</Words>
  <Application>Microsoft Office PowerPoint</Application>
  <PresentationFormat>Widescreen</PresentationFormat>
  <Paragraphs>783</Paragraphs>
  <Slides>39</Slides>
  <Notes>36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39</vt:i4>
      </vt:variant>
    </vt:vector>
  </HeadingPairs>
  <TitlesOfParts>
    <vt:vector size="45" baseType="lpstr">
      <vt:lpstr>Arial</vt:lpstr>
      <vt:lpstr>Calibri</vt:lpstr>
      <vt:lpstr>Cambria Math</vt:lpstr>
      <vt:lpstr>Linux Libertine</vt:lpstr>
      <vt:lpstr>Roboto</vt:lpstr>
      <vt:lpstr>Office Theme</vt:lpstr>
      <vt:lpstr>MedGraph: An experimental semantic information retrieval method using knowledge graph embedding for the biomedical citations indexed in PubMed</vt:lpstr>
      <vt:lpstr>Outline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8. Bibliography</vt:lpstr>
      <vt:lpstr>Thank you for attending and listening.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Akef Ebeid</dc:creator>
  <cp:lastModifiedBy>Akef Ebeid</cp:lastModifiedBy>
  <cp:revision>470</cp:revision>
  <dcterms:created xsi:type="dcterms:W3CDTF">2021-09-21T14:59:54Z</dcterms:created>
  <dcterms:modified xsi:type="dcterms:W3CDTF">2021-12-07T15:33:41Z</dcterms:modified>
</cp:coreProperties>
</file>