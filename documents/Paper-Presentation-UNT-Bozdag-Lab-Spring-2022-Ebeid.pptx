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256" r:id="rId2"/>
    <p:sldId id="261" r:id="rId3"/>
    <p:sldId id="263" r:id="rId4"/>
    <p:sldId id="264" r:id="rId5"/>
    <p:sldId id="266" r:id="rId6"/>
    <p:sldId id="265" r:id="rId7"/>
    <p:sldId id="267" r:id="rId8"/>
    <p:sldId id="268" r:id="rId9"/>
    <p:sldId id="270" r:id="rId10"/>
    <p:sldId id="271" r:id="rId11"/>
    <p:sldId id="269" r:id="rId12"/>
    <p:sldId id="272" r:id="rId13"/>
    <p:sldId id="273" r:id="rId14"/>
    <p:sldId id="275" r:id="rId15"/>
    <p:sldId id="274" r:id="rId16"/>
    <p:sldId id="277" r:id="rId17"/>
    <p:sldId id="278" r:id="rId18"/>
    <p:sldId id="280" r:id="rId19"/>
    <p:sldId id="279" r:id="rId20"/>
    <p:sldId id="281" r:id="rId21"/>
    <p:sldId id="282" r:id="rId22"/>
    <p:sldId id="285" r:id="rId23"/>
    <p:sldId id="283" r:id="rId24"/>
    <p:sldId id="28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5924" autoAdjust="0"/>
  </p:normalViewPr>
  <p:slideViewPr>
    <p:cSldViewPr snapToGrid="0">
      <p:cViewPr varScale="1">
        <p:scale>
          <a:sx n="63" d="100"/>
          <a:sy n="63" d="100"/>
        </p:scale>
        <p:origin x="24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5451E-0592-4F2F-A5BD-B1F22BDE6E34}" type="datetimeFigureOut">
              <a:rPr lang="en-US" smtClean="0"/>
              <a:t>3/1/2022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FD9562-06E4-4870-8AF1-0A7C14987F98}" type="slidenum">
              <a:rPr lang="en-US" smtClean="0"/>
              <a:t>‹#›</a:t>
            </a:fld>
            <a:endParaRPr lang="en-US"/>
          </a:p>
        </p:txBody>
      </p:sp>
    </p:spTree>
    <p:extLst>
      <p:ext uri="{BB962C8B-B14F-4D97-AF65-F5344CB8AC3E}">
        <p14:creationId xmlns:p14="http://schemas.microsoft.com/office/powerpoint/2010/main" val="2727884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Linux Libertine" panose="02000503000000000000" pitchFamily="2" charset="0"/>
                <a:ea typeface="Calibri" panose="020F0502020204030204" pitchFamily="34" charset="0"/>
                <a:cs typeface="Times New Roman" panose="02020603050405020304" pitchFamily="18" charset="0"/>
              </a:rPr>
              <a:t>So first thank you so much Dr. </a:t>
            </a:r>
            <a:r>
              <a:rPr lang="en-US" sz="1200" dirty="0" err="1">
                <a:effectLst/>
                <a:latin typeface="Linux Libertine" panose="02000503000000000000" pitchFamily="2" charset="0"/>
                <a:ea typeface="Calibri" panose="020F0502020204030204" pitchFamily="34" charset="0"/>
                <a:cs typeface="Times New Roman" panose="02020603050405020304" pitchFamily="18" charset="0"/>
              </a:rPr>
              <a:t>Bozdag</a:t>
            </a:r>
            <a:r>
              <a:rPr lang="en-US" sz="1200" dirty="0">
                <a:effectLst/>
                <a:latin typeface="Linux Libertine" panose="02000503000000000000" pitchFamily="2" charset="0"/>
                <a:ea typeface="Calibri" panose="020F0502020204030204" pitchFamily="34" charset="0"/>
                <a:cs typeface="Times New Roman" panose="02020603050405020304" pitchFamily="18" charset="0"/>
              </a:rPr>
              <a:t> for giving me this opportunity to meet with your research team. I was intrigued by the work you are all doing to apply to this postdoc position. Ok so for the next 30 to 40 minutes I will be talking about graph representation learning on heterogenous networks also I will be presenting some concepts and results from the paper cited above. As you all may know graph representation learning is very exciting and interesting field of study especially when applied to biomedical and omics datasets. Of course, graph representation learning combines machine learning algorithms with graph theory. Graph theory is very useful set of tools used in parallel with statistical graphical models to handle and mine data modeled as networks or graphs. And when we say networks or graphs what we really mean is a data structure where data and relations are equally represented. That is as opposed to relational and tabular or structured data and on the other side unstructured data such as text and images.</a:t>
            </a:r>
            <a:endParaRPr lang="en-US" dirty="0"/>
          </a:p>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1</a:t>
            </a:fld>
            <a:endParaRPr lang="en-US"/>
          </a:p>
        </p:txBody>
      </p:sp>
    </p:spTree>
    <p:extLst>
      <p:ext uri="{BB962C8B-B14F-4D97-AF65-F5344CB8AC3E}">
        <p14:creationId xmlns:p14="http://schemas.microsoft.com/office/powerpoint/2010/main" val="4291953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eorgia" panose="02040502050405020303" pitchFamily="18" charset="0"/>
                <a:ea typeface="Calibri" panose="020F0502020204030204" pitchFamily="34" charset="0"/>
                <a:cs typeface="Times New Roman" panose="02020603050405020304" pitchFamily="18" charset="0"/>
              </a:rPr>
              <a:t>In graph theory, graphs are discrete mathematical structures rooted in combinatorics used to model relations between entities. Graphs are made of vertices (nodes) and edges (links). Graphs can have directed or undirected edges or simple or multi edges between vertices. A graph is usually represented as a list of unordered vertices, an adjacency matrix, a degree matrix, or a Laplacian matrix. Graphs are especially useful in modeling biological, social, and information systems. Graph theory provides essential mathematical tools and algorithms like Dijkstra's algorithm </a:t>
            </a:r>
            <a:r>
              <a:rPr lang="en-US" sz="1800" dirty="0">
                <a:effectLst/>
                <a:latin typeface="Georgia" panose="02040502050405020303" pitchFamily="18" charset="0"/>
                <a:ea typeface="Calibri" panose="020F0502020204030204" pitchFamily="34" charset="0"/>
                <a:cs typeface="Calibri" panose="020F0502020204030204" pitchFamily="34" charset="0"/>
              </a:rPr>
              <a:t>(Dijkstra, 1959)</a:t>
            </a:r>
            <a:r>
              <a:rPr lang="en-US" sz="1800" dirty="0">
                <a:effectLst/>
                <a:latin typeface="Georgia" panose="02040502050405020303" pitchFamily="18" charset="0"/>
                <a:ea typeface="Calibri" panose="020F0502020204030204" pitchFamily="34" charset="0"/>
                <a:cs typeface="Times New Roman" panose="02020603050405020304" pitchFamily="18" charset="0"/>
              </a:rPr>
              <a:t> to solve problems like finding the shortest path between two vertices (nodes). Figure 3 and figure 4 show different ways of representing various types of graphs. Note that here I use the terms nodes and vertices interchangeably. That also applies to edges and links in addition to a graph and a network.</a:t>
            </a:r>
          </a:p>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2</a:t>
            </a:fld>
            <a:endParaRPr lang="en-US"/>
          </a:p>
        </p:txBody>
      </p:sp>
    </p:spTree>
    <p:extLst>
      <p:ext uri="{BB962C8B-B14F-4D97-AF65-F5344CB8AC3E}">
        <p14:creationId xmlns:p14="http://schemas.microsoft.com/office/powerpoint/2010/main" val="821210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eorgia" panose="02040502050405020303" pitchFamily="18" charset="0"/>
                    <a:ea typeface="Calibri" panose="020F0502020204030204" pitchFamily="34" charset="0"/>
                    <a:cs typeface="Times New Roman" panose="02020603050405020304" pitchFamily="18" charset="0"/>
                  </a:rPr>
                  <a:t>Different representations of graphs: A weighted, directed labeled graph can be represented using a weighted edge list. The edge list is converted into a weighted asymmetric adjacency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sz="1800" dirty="0">
                    <a:effectLst/>
                    <a:latin typeface="Georgia" panose="02040502050405020303" pitchFamily="18" charset="0"/>
                    <a:ea typeface="Calibri" panose="020F0502020204030204" pitchFamily="34" charset="0"/>
                    <a:cs typeface="Times New Roman" panose="02020603050405020304" pitchFamily="18" charset="0"/>
                  </a:rPr>
                  <a:t> where the matrix entries represent the weight of each link between two nodes. Another representation is using two degree matrices for the in-links </a:t>
                </a:r>
                <a:r>
                  <a:rPr lang="en-US" sz="1800" dirty="0">
                    <a:effectLst/>
                    <a:latin typeface="Georgia" panose="02040502050405020303" pitchFamily="18" charset="0"/>
                    <a:ea typeface="Calibri" panose="020F0502020204030204" pitchFamily="34" charset="0"/>
                    <a:cs typeface="Calibri" panose="020F0502020204030204" pitchFamily="34" charset="0"/>
                  </a:rPr>
                  <a:t>D</a:t>
                </a:r>
                <a:r>
                  <a:rPr lang="en-US" sz="1800" baseline="-25000" dirty="0">
                    <a:effectLst/>
                    <a:latin typeface="Georgia" panose="02040502050405020303" pitchFamily="18" charset="0"/>
                    <a:ea typeface="Calibri" panose="020F0502020204030204" pitchFamily="34" charset="0"/>
                    <a:cs typeface="Times New Roman" panose="02020603050405020304" pitchFamily="18" charset="0"/>
                  </a:rPr>
                  <a:t>in</a:t>
                </a:r>
                <a:r>
                  <a:rPr lang="en-US" sz="1800" dirty="0">
                    <a:effectLst/>
                    <a:latin typeface="Georgia" panose="02040502050405020303" pitchFamily="18" charset="0"/>
                    <a:ea typeface="Calibri" panose="020F0502020204030204" pitchFamily="34" charset="0"/>
                    <a:cs typeface="Times New Roman" panose="02020603050405020304" pitchFamily="18" charset="0"/>
                  </a:rPr>
                  <a:t> and one for the out-links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D</a:t>
                </a:r>
                <a:r>
                  <a:rPr lang="en-US" sz="1800" baseline="-25000" dirty="0" err="1">
                    <a:effectLst/>
                    <a:latin typeface="Georgia" panose="02040502050405020303" pitchFamily="18" charset="0"/>
                    <a:ea typeface="Calibri" panose="020F0502020204030204" pitchFamily="34" charset="0"/>
                    <a:cs typeface="Times New Roman" panose="02020603050405020304" pitchFamily="18" charset="0"/>
                  </a:rPr>
                  <a:t>out</a:t>
                </a:r>
                <a:r>
                  <a:rPr lang="en-US" sz="1200" baseline="-25000" dirty="0">
                    <a:effectLst/>
                    <a:latin typeface="Georgia" panose="02040502050405020303" pitchFamily="18"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eorgia" panose="02040502050405020303" pitchFamily="18" charset="0"/>
                    <a:ea typeface="Calibri" panose="020F0502020204030204" pitchFamily="34" charset="0"/>
                    <a:cs typeface="Times New Roman" panose="02020603050405020304" pitchFamily="18" charset="0"/>
                  </a:rPr>
                  <a:t>Different representations of graphs: an unweighted undirected labeled graph. The graph is represented using an unordered list of source and target nodes. The list can be transformed into a symmetric adjacency matrix </a:t>
                </a:r>
                <a:r>
                  <a:rPr lang="en-US" sz="1200" i="0">
                    <a:effectLst/>
                    <a:latin typeface="Cambria Math" panose="02040503050406030204" pitchFamily="18" charset="0"/>
                    <a:ea typeface="Calibri" panose="020F0502020204030204" pitchFamily="34" charset="0"/>
                    <a:cs typeface="Times New Roman" panose="02020603050405020304" pitchFamily="18" charset="0"/>
                  </a:rPr>
                  <a:t>𝐴</a:t>
                </a:r>
                <a:r>
                  <a:rPr lang="en-US" sz="1200" dirty="0">
                    <a:effectLst/>
                    <a:latin typeface="Georgia" panose="02040502050405020303" pitchFamily="18" charset="0"/>
                    <a:ea typeface="Calibri" panose="020F0502020204030204" pitchFamily="34" charset="0"/>
                    <a:cs typeface="Times New Roman" panose="02020603050405020304" pitchFamily="18" charset="0"/>
                  </a:rPr>
                  <a:t> where a cell with a value of </a:t>
                </a:r>
                <a:r>
                  <a:rPr lang="en-US" sz="1200" i="0">
                    <a:effectLst/>
                    <a:latin typeface="Cambria Math" panose="02040503050406030204" pitchFamily="18" charset="0"/>
                    <a:ea typeface="Calibri" panose="020F0502020204030204" pitchFamily="34" charset="0"/>
                    <a:cs typeface="Times New Roman" panose="02020603050405020304" pitchFamily="18" charset="0"/>
                  </a:rPr>
                  <a:t>1</a:t>
                </a:r>
                <a:r>
                  <a:rPr lang="en-US" sz="1200" dirty="0">
                    <a:effectLst/>
                    <a:latin typeface="Georgia" panose="02040502050405020303" pitchFamily="18" charset="0"/>
                    <a:ea typeface="Calibri" panose="020F0502020204030204" pitchFamily="34" charset="0"/>
                    <a:cs typeface="Times New Roman" panose="02020603050405020304" pitchFamily="18" charset="0"/>
                  </a:rPr>
                  <a:t> represents an edge between the source node and the target node. It can also be described as a degree matrix </a:t>
                </a:r>
                <a:r>
                  <a:rPr lang="en-US" sz="1200" i="0">
                    <a:effectLst/>
                    <a:latin typeface="Cambria Math" panose="02040503050406030204" pitchFamily="18" charset="0"/>
                    <a:ea typeface="Calibri" panose="020F0502020204030204" pitchFamily="34" charset="0"/>
                    <a:cs typeface="Times New Roman" panose="02020603050405020304" pitchFamily="18" charset="0"/>
                  </a:rPr>
                  <a:t>𝐷</a:t>
                </a:r>
                <a:r>
                  <a:rPr lang="en-US" sz="1200" dirty="0">
                    <a:effectLst/>
                    <a:latin typeface="Georgia" panose="02040502050405020303" pitchFamily="18" charset="0"/>
                    <a:ea typeface="Calibri" panose="020F0502020204030204" pitchFamily="34" charset="0"/>
                    <a:cs typeface="Times New Roman" panose="02020603050405020304" pitchFamily="18" charset="0"/>
                  </a:rPr>
                  <a:t> where the diagonal values represent the number of links that each node is involved in. The Laplacian matrix </a:t>
                </a:r>
                <a:r>
                  <a:rPr lang="en-US" sz="1200" i="0">
                    <a:effectLst/>
                    <a:latin typeface="Cambria Math" panose="02040503050406030204" pitchFamily="18" charset="0"/>
                    <a:ea typeface="Calibri" panose="020F0502020204030204" pitchFamily="34" charset="0"/>
                    <a:cs typeface="Times New Roman" panose="02020603050405020304" pitchFamily="18" charset="0"/>
                  </a:rPr>
                  <a:t>𝐿</a:t>
                </a:r>
                <a:r>
                  <a:rPr lang="en-US" sz="1200" dirty="0">
                    <a:effectLst/>
                    <a:latin typeface="Georgia" panose="02040502050405020303" pitchFamily="18" charset="0"/>
                    <a:ea typeface="Calibri" panose="020F0502020204030204" pitchFamily="34" charset="0"/>
                    <a:cs typeface="Times New Roman" panose="02020603050405020304" pitchFamily="18" charset="0"/>
                  </a:rPr>
                  <a:t> is simply the difference between the diagonal matrix and the adjacency matrix </a:t>
                </a:r>
                <a:r>
                  <a:rPr lang="en-US" sz="1200" i="0">
                    <a:effectLst/>
                    <a:latin typeface="Cambria Math" panose="02040503050406030204" pitchFamily="18" charset="0"/>
                    <a:ea typeface="Calibri" panose="020F0502020204030204" pitchFamily="34" charset="0"/>
                    <a:cs typeface="Times New Roman" panose="02020603050405020304" pitchFamily="18" charset="0"/>
                  </a:rPr>
                  <a:t>𝐿=𝐷−𝐴</a:t>
                </a:r>
                <a:r>
                  <a:rPr lang="en-US" sz="1200" dirty="0">
                    <a:effectLst/>
                    <a:latin typeface="Georgia" panose="02040502050405020303" pitchFamily="18" charset="0"/>
                    <a:ea typeface="Calibri" panose="020F0502020204030204" pitchFamily="34"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eorgia" panose="02040502050405020303" pitchFamily="18" charset="0"/>
                    <a:ea typeface="Calibri" panose="020F0502020204030204" pitchFamily="34" charset="0"/>
                    <a:cs typeface="Times New Roman" panose="02020603050405020304" pitchFamily="18" charset="0"/>
                  </a:rPr>
                  <a:t>Different representations of graphs: A weighted, directed labeled graph can be represented using a weighted edge list. The edge list is converted into a weighted asymmetric adjacency matrix </a:t>
                </a:r>
                <a:r>
                  <a:rPr lang="en-US" sz="1800" i="0">
                    <a:effectLst/>
                    <a:latin typeface="Cambria Math" panose="02040503050406030204" pitchFamily="18" charset="0"/>
                    <a:ea typeface="Calibri" panose="020F0502020204030204" pitchFamily="34" charset="0"/>
                    <a:cs typeface="Times New Roman" panose="02020603050405020304" pitchFamily="18" charset="0"/>
                  </a:rPr>
                  <a:t>𝐴</a:t>
                </a:r>
                <a:r>
                  <a:rPr lang="en-US" sz="1800" dirty="0">
                    <a:effectLst/>
                    <a:latin typeface="Georgia" panose="02040502050405020303" pitchFamily="18" charset="0"/>
                    <a:ea typeface="Calibri" panose="020F0502020204030204" pitchFamily="34" charset="0"/>
                    <a:cs typeface="Times New Roman" panose="02020603050405020304" pitchFamily="18" charset="0"/>
                  </a:rPr>
                  <a:t> where the matrix entries represent the weight of each link between two nodes. Another representation is using two degree matrices for the in-links </a:t>
                </a:r>
                <a:r>
                  <a:rPr lang="en-US" sz="1800" dirty="0">
                    <a:effectLst/>
                    <a:latin typeface="Georgia" panose="02040502050405020303" pitchFamily="18" charset="0"/>
                    <a:ea typeface="Calibri" panose="020F0502020204030204" pitchFamily="34" charset="0"/>
                    <a:cs typeface="Calibri" panose="020F0502020204030204" pitchFamily="34" charset="0"/>
                  </a:rPr>
                  <a:t>D</a:t>
                </a:r>
                <a:r>
                  <a:rPr lang="en-US" sz="1800" baseline="-25000" dirty="0">
                    <a:effectLst/>
                    <a:latin typeface="Georgia" panose="02040502050405020303" pitchFamily="18" charset="0"/>
                    <a:ea typeface="Calibri" panose="020F0502020204030204" pitchFamily="34" charset="0"/>
                    <a:cs typeface="Times New Roman" panose="02020603050405020304" pitchFamily="18" charset="0"/>
                  </a:rPr>
                  <a:t>in</a:t>
                </a:r>
                <a:r>
                  <a:rPr lang="en-US" sz="1800" dirty="0">
                    <a:effectLst/>
                    <a:latin typeface="Georgia" panose="02040502050405020303" pitchFamily="18" charset="0"/>
                    <a:ea typeface="Calibri" panose="020F0502020204030204" pitchFamily="34" charset="0"/>
                    <a:cs typeface="Times New Roman" panose="02020603050405020304" pitchFamily="18" charset="0"/>
                  </a:rPr>
                  <a:t> and one for the out-links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D</a:t>
                </a:r>
                <a:r>
                  <a:rPr lang="en-US" sz="1800" baseline="-25000" dirty="0" err="1">
                    <a:effectLst/>
                    <a:latin typeface="Georgia" panose="02040502050405020303" pitchFamily="18" charset="0"/>
                    <a:ea typeface="Calibri" panose="020F0502020204030204" pitchFamily="34" charset="0"/>
                    <a:cs typeface="Times New Roman" panose="02020603050405020304" pitchFamily="18" charset="0"/>
                  </a:rPr>
                  <a:t>out</a:t>
                </a:r>
                <a:r>
                  <a:rPr lang="en-US" sz="1200" baseline="-25000" dirty="0">
                    <a:effectLst/>
                    <a:latin typeface="Georgia" panose="02040502050405020303" pitchFamily="18"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Fallback>
      </mc:AlternateContent>
      <p:sp>
        <p:nvSpPr>
          <p:cNvPr id="4" name="Slide Number Placeholder 3"/>
          <p:cNvSpPr>
            <a:spLocks noGrp="1"/>
          </p:cNvSpPr>
          <p:nvPr>
            <p:ph type="sldNum" sz="quarter" idx="5"/>
          </p:nvPr>
        </p:nvSpPr>
        <p:spPr/>
        <p:txBody>
          <a:bodyPr/>
          <a:lstStyle/>
          <a:p>
            <a:fld id="{17FD9562-06E4-4870-8AF1-0A7C14987F98}" type="slidenum">
              <a:rPr lang="en-US" smtClean="0"/>
              <a:t>3</a:t>
            </a:fld>
            <a:endParaRPr lang="en-US"/>
          </a:p>
        </p:txBody>
      </p:sp>
    </p:spTree>
    <p:extLst>
      <p:ext uri="{BB962C8B-B14F-4D97-AF65-F5344CB8AC3E}">
        <p14:creationId xmlns:p14="http://schemas.microsoft.com/office/powerpoint/2010/main" val="3672495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Georgia" panose="02040502050405020303" pitchFamily="18" charset="0"/>
                <a:ea typeface="Calibri" panose="020F0502020204030204" pitchFamily="34" charset="0"/>
                <a:cs typeface="Times New Roman" panose="02020603050405020304" pitchFamily="18" charset="0"/>
              </a:rPr>
              <a:t>Network science studies the applications of graph theory in the real world. It provides a more diverse set of algorithms to understand, for example, the importance and relevance of nodes. In addition to metrics such as node centrality </a:t>
            </a:r>
            <a:r>
              <a:rPr lang="en-US" sz="1800" dirty="0">
                <a:effectLst/>
                <a:latin typeface="Georgia" panose="02040502050405020303" pitchFamily="18" charset="0"/>
                <a:ea typeface="Calibri" panose="020F0502020204030204" pitchFamily="34" charset="0"/>
                <a:cs typeface="Calibri" panose="020F0502020204030204" pitchFamily="34" charset="0"/>
              </a:rPr>
              <a:t>(</a:t>
            </a:r>
            <a:r>
              <a:rPr lang="en-US" sz="1800" dirty="0" err="1">
                <a:effectLst/>
                <a:latin typeface="Georgia" panose="02040502050405020303" pitchFamily="18" charset="0"/>
                <a:ea typeface="Calibri" panose="020F0502020204030204" pitchFamily="34" charset="0"/>
                <a:cs typeface="Calibri" panose="020F0502020204030204" pitchFamily="34" charset="0"/>
              </a:rPr>
              <a:t>Borgatti</a:t>
            </a:r>
            <a:r>
              <a:rPr lang="en-US" sz="1800" dirty="0">
                <a:effectLst/>
                <a:latin typeface="Georgia" panose="02040502050405020303" pitchFamily="18" charset="0"/>
                <a:ea typeface="Calibri" panose="020F0502020204030204" pitchFamily="34" charset="0"/>
                <a:cs typeface="Calibri" panose="020F0502020204030204" pitchFamily="34" charset="0"/>
              </a:rPr>
              <a:t>, 2005)</a:t>
            </a:r>
            <a:r>
              <a:rPr lang="en-US" sz="1800" dirty="0">
                <a:effectLst/>
                <a:latin typeface="Georgia" panose="02040502050405020303" pitchFamily="18" charset="0"/>
                <a:ea typeface="Calibri" panose="020F0502020204030204" pitchFamily="34" charset="0"/>
                <a:cs typeface="Times New Roman" panose="02020603050405020304" pitchFamily="18" charset="0"/>
              </a:rPr>
              <a:t>, the goal is to measure how individual nodes interact with other individual nodes, such as a social network or the web. Another example is node density referring to the number of connections a node has in ratio to the number of links a node can have in a network </a:t>
            </a:r>
            <a:r>
              <a:rPr lang="en-US" sz="1800" dirty="0">
                <a:effectLst/>
                <a:latin typeface="Georgia" panose="02040502050405020303" pitchFamily="18" charset="0"/>
                <a:ea typeface="Calibri" panose="020F0502020204030204" pitchFamily="34" charset="0"/>
                <a:cs typeface="Calibri" panose="020F0502020204030204" pitchFamily="34" charset="0"/>
              </a:rPr>
              <a:t>(Wasserman et al., 1994)</a:t>
            </a:r>
            <a:r>
              <a:rPr lang="en-US" sz="1800" dirty="0">
                <a:effectLst/>
                <a:latin typeface="Georgia" panose="02040502050405020303" pitchFamily="18" charset="0"/>
                <a:ea typeface="Calibri" panose="020F0502020204030204" pitchFamily="34" charset="0"/>
                <a:cs typeface="Times New Roman" panose="02020603050405020304" pitchFamily="18" charset="0"/>
              </a:rPr>
              <a:t>. It is worth mentioning that the interpretation of a metric or a heuristic like a node's centrality, relevance, or density depends on the network's domain and structure in addition to the application at hand.</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4</a:t>
            </a:fld>
            <a:endParaRPr lang="en-US"/>
          </a:p>
        </p:txBody>
      </p:sp>
    </p:spTree>
    <p:extLst>
      <p:ext uri="{BB962C8B-B14F-4D97-AF65-F5344CB8AC3E}">
        <p14:creationId xmlns:p14="http://schemas.microsoft.com/office/powerpoint/2010/main" val="110235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Georgia" panose="02040502050405020303" pitchFamily="18" charset="0"/>
                <a:ea typeface="Calibri" panose="020F0502020204030204" pitchFamily="34" charset="0"/>
                <a:cs typeface="Times New Roman" panose="02020603050405020304" pitchFamily="18" charset="0"/>
              </a:rPr>
              <a:t>Another essential concept in graph theory is random walking. Random walking is a graph sampling technique used in most of the algorithms mentioned earlier. Random walking refers to traversing the graph to optimize a particular objective. Those objectives could include counting the nodes between the start node and a final node to eventually compute a value indicating the probability of reaching the target node from the source node </a:t>
            </a:r>
            <a:r>
              <a:rPr lang="en-US" sz="1800" dirty="0">
                <a:effectLst/>
                <a:latin typeface="Georgia" panose="02040502050405020303" pitchFamily="18" charset="0"/>
                <a:ea typeface="Calibri" panose="020F0502020204030204" pitchFamily="34" charset="0"/>
                <a:cs typeface="Calibri" panose="020F0502020204030204" pitchFamily="34" charset="0"/>
              </a:rPr>
              <a:t>(</a:t>
            </a:r>
            <a:r>
              <a:rPr lang="en-US" sz="1800" dirty="0" err="1">
                <a:effectLst/>
                <a:latin typeface="Georgia" panose="02040502050405020303" pitchFamily="18" charset="0"/>
                <a:ea typeface="Calibri" panose="020F0502020204030204" pitchFamily="34" charset="0"/>
                <a:cs typeface="Calibri" panose="020F0502020204030204" pitchFamily="34" charset="0"/>
              </a:rPr>
              <a:t>Lovász</a:t>
            </a:r>
            <a:r>
              <a:rPr lang="en-US" sz="1800" dirty="0">
                <a:effectLst/>
                <a:latin typeface="Georgia" panose="02040502050405020303" pitchFamily="18" charset="0"/>
                <a:ea typeface="Calibri" panose="020F0502020204030204" pitchFamily="34" charset="0"/>
                <a:cs typeface="Calibri" panose="020F0502020204030204" pitchFamily="34" charset="0"/>
              </a:rPr>
              <a:t> &amp; others, 1993)</a:t>
            </a:r>
            <a:r>
              <a:rPr lang="en-US" sz="1800" dirty="0">
                <a:effectLst/>
                <a:latin typeface="Georgia" panose="02040502050405020303" pitchFamily="18" charset="0"/>
                <a:ea typeface="Calibri" panose="020F0502020204030204" pitchFamily="34" charset="0"/>
                <a:cs typeface="Times New Roman" panose="02020603050405020304" pitchFamily="18" charset="0"/>
              </a:rPr>
              <a:t>. And this could be done easily through a simple implementation of a breadth first search or depth first search or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dijikstras</a:t>
            </a:r>
            <a:r>
              <a:rPr lang="en-US" sz="1800" dirty="0">
                <a:effectLst/>
                <a:latin typeface="Georgia" panose="02040502050405020303" pitchFamily="18" charset="0"/>
                <a:ea typeface="Calibri" panose="020F0502020204030204" pitchFamily="34" charset="0"/>
                <a:cs typeface="Times New Roman" panose="02020603050405020304" pitchFamily="18" charset="0"/>
              </a:rPr>
              <a:t> or other approaches such as the ones introduced in Node2vec where the walk is biased or the random walk strategy introduced in Metapath2vec that takes node types into consideration when sampling the graph.</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5</a:t>
            </a:fld>
            <a:endParaRPr lang="en-US"/>
          </a:p>
        </p:txBody>
      </p:sp>
    </p:spTree>
    <p:extLst>
      <p:ext uri="{BB962C8B-B14F-4D97-AF65-F5344CB8AC3E}">
        <p14:creationId xmlns:p14="http://schemas.microsoft.com/office/powerpoint/2010/main" val="3456516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Georgia" panose="02040502050405020303" pitchFamily="18" charset="0"/>
                <a:ea typeface="Calibri" panose="020F0502020204030204" pitchFamily="34" charset="0"/>
                <a:cs typeface="Times New Roman" panose="02020603050405020304" pitchFamily="18" charset="0"/>
              </a:rPr>
              <a:t>The traditional approach to finding similar nodes relies on comparing node neighborhoods leveraging the topology and the graph structure </a:t>
            </a:r>
            <a:r>
              <a:rPr lang="en-US" sz="1800" dirty="0">
                <a:effectLst/>
                <a:latin typeface="Georgia" panose="02040502050405020303" pitchFamily="18" charset="0"/>
                <a:ea typeface="Calibri" panose="020F0502020204030204" pitchFamily="34" charset="0"/>
                <a:cs typeface="Calibri" panose="020F0502020204030204" pitchFamily="34" charset="0"/>
              </a:rPr>
              <a:t>(Ng et al., 2002)</a:t>
            </a:r>
            <a:r>
              <a:rPr lang="en-US" sz="1800" dirty="0">
                <a:effectLst/>
                <a:latin typeface="Georgia" panose="02040502050405020303" pitchFamily="18" charset="0"/>
                <a:ea typeface="Calibri" panose="020F0502020204030204" pitchFamily="34" charset="0"/>
                <a:cs typeface="Times New Roman" panose="02020603050405020304" pitchFamily="18" charset="0"/>
              </a:rPr>
              <a:t>. Several algorithms and metrics have been developed building on different graph sampling methods such as random walks to measure the similarity between two nodes in a graph, such as PageRank </a:t>
            </a:r>
            <a:r>
              <a:rPr lang="en-US" sz="1800" dirty="0">
                <a:effectLst/>
                <a:latin typeface="Georgia" panose="02040502050405020303" pitchFamily="18" charset="0"/>
                <a:ea typeface="Calibri" panose="020F0502020204030204" pitchFamily="34" charset="0"/>
                <a:cs typeface="Calibri" panose="020F0502020204030204" pitchFamily="34" charset="0"/>
              </a:rPr>
              <a:t>(Page et al., 1999)</a:t>
            </a:r>
            <a:r>
              <a:rPr lang="en-US" sz="1800" dirty="0">
                <a:effectLst/>
                <a:latin typeface="Georgia" panose="02040502050405020303" pitchFamily="18" charset="0"/>
                <a:ea typeface="Calibri" panose="020F0502020204030204" pitchFamily="34" charset="0"/>
                <a:cs typeface="Times New Roman" panose="02020603050405020304" pitchFamily="18" charset="0"/>
              </a:rPr>
              <a:t>,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SimRank</a:t>
            </a:r>
            <a:r>
              <a:rPr lang="en-US" sz="1800" dirty="0">
                <a:effectLst/>
                <a:latin typeface="Georgia" panose="02040502050405020303" pitchFamily="18" charset="0"/>
                <a:ea typeface="Calibri" panose="020F0502020204030204" pitchFamily="34" charset="0"/>
                <a:cs typeface="Times New Roman" panose="02020603050405020304" pitchFamily="18" charset="0"/>
              </a:rPr>
              <a:t> </a:t>
            </a:r>
            <a:r>
              <a:rPr lang="en-US" sz="1800" dirty="0">
                <a:effectLst/>
                <a:latin typeface="Georgia" panose="02040502050405020303" pitchFamily="18" charset="0"/>
                <a:ea typeface="Calibri" panose="020F0502020204030204" pitchFamily="34" charset="0"/>
                <a:cs typeface="Calibri" panose="020F0502020204030204" pitchFamily="34" charset="0"/>
              </a:rPr>
              <a:t>(Jeh &amp; </a:t>
            </a:r>
            <a:r>
              <a:rPr lang="en-US" sz="1800" dirty="0" err="1">
                <a:effectLst/>
                <a:latin typeface="Georgia" panose="02040502050405020303" pitchFamily="18" charset="0"/>
                <a:ea typeface="Calibri" panose="020F0502020204030204" pitchFamily="34" charset="0"/>
                <a:cs typeface="Calibri" panose="020F0502020204030204" pitchFamily="34" charset="0"/>
              </a:rPr>
              <a:t>Widom</a:t>
            </a:r>
            <a:r>
              <a:rPr lang="en-US" sz="1800" dirty="0">
                <a:effectLst/>
                <a:latin typeface="Georgia" panose="02040502050405020303" pitchFamily="18" charset="0"/>
                <a:ea typeface="Calibri" panose="020F0502020204030204" pitchFamily="34" charset="0"/>
                <a:cs typeface="Calibri" panose="020F0502020204030204" pitchFamily="34" charset="0"/>
              </a:rPr>
              <a:t>, 2002)</a:t>
            </a:r>
            <a:r>
              <a:rPr lang="en-US" sz="1800" dirty="0">
                <a:effectLst/>
                <a:latin typeface="Georgia" panose="02040502050405020303" pitchFamily="18" charset="0"/>
                <a:ea typeface="Calibri" panose="020F0502020204030204" pitchFamily="34" charset="0"/>
                <a:cs typeface="Times New Roman" panose="02020603050405020304" pitchFamily="18" charset="0"/>
              </a:rPr>
              <a:t>, and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PathSim</a:t>
            </a:r>
            <a:r>
              <a:rPr lang="en-US" sz="1800" dirty="0">
                <a:effectLst/>
                <a:latin typeface="Georgia" panose="02040502050405020303" pitchFamily="18" charset="0"/>
                <a:ea typeface="Calibri" panose="020F0502020204030204" pitchFamily="34" charset="0"/>
                <a:cs typeface="Times New Roman" panose="02020603050405020304" pitchFamily="18" charset="0"/>
              </a:rPr>
              <a:t> </a:t>
            </a:r>
            <a:r>
              <a:rPr lang="en-US" sz="1800" dirty="0">
                <a:effectLst/>
                <a:latin typeface="Georgia" panose="02040502050405020303" pitchFamily="18" charset="0"/>
                <a:ea typeface="Calibri" panose="020F0502020204030204" pitchFamily="34" charset="0"/>
                <a:cs typeface="Calibri" panose="020F0502020204030204" pitchFamily="34" charset="0"/>
              </a:rPr>
              <a:t>(Y. Sun et al., 2011)</a:t>
            </a:r>
            <a:r>
              <a:rPr lang="en-US" sz="1800" dirty="0">
                <a:effectLst/>
                <a:latin typeface="Georgia" panose="02040502050405020303" pitchFamily="18" charset="0"/>
                <a:ea typeface="Calibri" panose="020F0502020204030204" pitchFamily="34" charset="0"/>
                <a:cs typeface="Times New Roman" panose="02020603050405020304" pitchFamily="18" charset="0"/>
              </a:rPr>
              <a:t>. Those metrics rely on propagating such scores in a graph simulating a Markov chain process </a:t>
            </a:r>
            <a:r>
              <a:rPr lang="en-US" sz="1800" dirty="0">
                <a:effectLst/>
                <a:latin typeface="Georgia" panose="02040502050405020303" pitchFamily="18" charset="0"/>
                <a:ea typeface="Calibri" panose="020F0502020204030204" pitchFamily="34" charset="0"/>
                <a:cs typeface="Calibri" panose="020F0502020204030204" pitchFamily="34" charset="0"/>
              </a:rPr>
              <a:t>(</a:t>
            </a:r>
            <a:r>
              <a:rPr lang="en-US" sz="1800" dirty="0" err="1">
                <a:effectLst/>
                <a:latin typeface="Georgia" panose="02040502050405020303" pitchFamily="18" charset="0"/>
                <a:ea typeface="Calibri" panose="020F0502020204030204" pitchFamily="34" charset="0"/>
                <a:cs typeface="Calibri" panose="020F0502020204030204" pitchFamily="34" charset="0"/>
              </a:rPr>
              <a:t>Besag</a:t>
            </a:r>
            <a:r>
              <a:rPr lang="en-US" sz="1800" dirty="0">
                <a:effectLst/>
                <a:latin typeface="Georgia" panose="02040502050405020303" pitchFamily="18" charset="0"/>
                <a:ea typeface="Calibri" panose="020F0502020204030204" pitchFamily="34" charset="0"/>
                <a:cs typeface="Calibri" panose="020F0502020204030204" pitchFamily="34" charset="0"/>
              </a:rPr>
              <a:t> &amp; Mondal, 2013)</a:t>
            </a:r>
            <a:r>
              <a:rPr lang="en-US" sz="1800" dirty="0">
                <a:effectLst/>
                <a:latin typeface="Georgia" panose="02040502050405020303" pitchFamily="18" charset="0"/>
                <a:ea typeface="Calibri" panose="020F0502020204030204" pitchFamily="34" charset="0"/>
                <a:cs typeface="Times New Roman" panose="02020603050405020304" pitchFamily="18" charset="0"/>
              </a:rPr>
              <a:t>. Figure 5 describes the essential elements of the PageRank algorithm, where the goal is to find the most similar or relevant node to a query node relying only on the graph structure.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Georgia" panose="02040502050405020303" pitchFamily="18" charset="0"/>
                <a:ea typeface="Calibri" panose="020F0502020204030204" pitchFamily="34" charset="0"/>
                <a:cs typeface="Times New Roman" panose="02020603050405020304" pitchFamily="18" charset="0"/>
              </a:rPr>
              <a:t>Recent developments in Deep Learning methods have increased the accuracy of the node similarity outcomes. That has allowed better results in downstream tasks on graphs such as link prediction. In link prediction, the similarity between nodes plays an essential role in indicating an edge's existence within the graph. An illustration of the recursive PageRank algorithm and node importance scores are computed and propagated using linear algebra. Those scores can be used as a heuristic to find similar nodes and applied in entity resolution.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6</a:t>
            </a:fld>
            <a:endParaRPr lang="en-US"/>
          </a:p>
        </p:txBody>
      </p:sp>
    </p:spTree>
    <p:extLst>
      <p:ext uri="{BB962C8B-B14F-4D97-AF65-F5344CB8AC3E}">
        <p14:creationId xmlns:p14="http://schemas.microsoft.com/office/powerpoint/2010/main" val="3836679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Georgia" panose="02040502050405020303" pitchFamily="18" charset="0"/>
                <a:ea typeface="Calibri" panose="020F0502020204030204" pitchFamily="34" charset="0"/>
                <a:cs typeface="Times New Roman" panose="02020603050405020304" pitchFamily="18" charset="0"/>
              </a:rPr>
              <a:t>The network is usually characterized by closely connected areas and sparsely connected areas through the edge structure and density. The closely or firmly connected regions are referred to as communities or clusters or subgraphs or cliques. Identifying areas of high connectivity in a graph or a network is difficult because those communities cannot be determined only by the number of in and out edges of each node within a clique or a cluster. For example, each node's average number of in and out edges could be the same for a community or a cluster, even if the wiring or the edge structure is different. Hence identifying strongly connected communities or clusters require a measure capable of quantifying the density of edges and taking structure into account at the same time. Random walk sampling methods in graph theory offer that feature of quantifying the network structure. However, random walking algorithms are computationally expensive and memory intensive (</a:t>
            </a:r>
            <a:r>
              <a:rPr lang="en-US" sz="1800" dirty="0" err="1">
                <a:effectLst/>
                <a:latin typeface="Georgia" panose="02040502050405020303" pitchFamily="18" charset="0"/>
                <a:ea typeface="Calibri" panose="020F0502020204030204" pitchFamily="34" charset="0"/>
                <a:cs typeface="Times New Roman" panose="02020603050405020304" pitchFamily="18" charset="0"/>
              </a:rPr>
              <a:t>Lovász</a:t>
            </a:r>
            <a:r>
              <a:rPr lang="en-US" sz="1800" dirty="0">
                <a:effectLst/>
                <a:latin typeface="Georgia" panose="02040502050405020303" pitchFamily="18" charset="0"/>
                <a:ea typeface="Calibri" panose="020F0502020204030204" pitchFamily="34" charset="0"/>
                <a:cs typeface="Times New Roman" panose="02020603050405020304" pitchFamily="18" charset="0"/>
              </a:rPr>
              <a:t> &amp; others, 1993). Hence they do not fit in tasks where a graph community or cluster needs to be identified swiftly. Modularity is a measure used to quantify the strength of clusters or communities in a graph or a network taking structure into account (Newman, 2006). Modularity measures the difference between the number of edges in a given cluster in the graph and the number of edges provided that the whole graph was randomly rewired while preserving each node degree. If a given graph's Modularity is positive, we can have a high level of confidence in the strength and connectedness of the clusters in the graph. If the modularity value is less than zero, that indicates that the graph cannot be reliably divided into clusters. Hence the modularity measure can be used as a clustering method in graphs; however, optimizing Modularity is an NP-hard problem due to the near-infinite number of random rewiring that each number of edges in a cluster needs to test against. Therefore many optimization algorithms use approximate methods to discover clusters in a graph using Modularity.</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7</a:t>
            </a:fld>
            <a:endParaRPr lang="en-US"/>
          </a:p>
        </p:txBody>
      </p:sp>
    </p:spTree>
    <p:extLst>
      <p:ext uri="{BB962C8B-B14F-4D97-AF65-F5344CB8AC3E}">
        <p14:creationId xmlns:p14="http://schemas.microsoft.com/office/powerpoint/2010/main" val="94817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Georgia" panose="02040502050405020303" pitchFamily="18" charset="0"/>
                <a:ea typeface="Calibri" panose="020F0502020204030204" pitchFamily="34" charset="0"/>
                <a:cs typeface="Times New Roman" panose="02020603050405020304" pitchFamily="18" charset="0"/>
              </a:rPr>
              <a:t>Graph-based representation learning has emerged as advances in language modeling and computer vision proliferated in the past decade. Graph-based representation learning adapts language-based models to learn vector representations for nodes in a graph where the learned node representations preserve the graph's structure in the Euclidean space. Graph representation learning allows for learning node vectors where traditional clustering like k-means could be easily applied to the learned feature vectors.</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8</a:t>
            </a:fld>
            <a:endParaRPr lang="en-US"/>
          </a:p>
        </p:txBody>
      </p:sp>
    </p:spTree>
    <p:extLst>
      <p:ext uri="{BB962C8B-B14F-4D97-AF65-F5344CB8AC3E}">
        <p14:creationId xmlns:p14="http://schemas.microsoft.com/office/powerpoint/2010/main" val="499252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traditional approach to finding similar nodes relies on comparing node neighborhoods leveraging the topology and the graph structure. Several algorithms and metrics have been developed building on different graph sampling approaches such as random walks to measure the similarity between two objects in the graph, such as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SimRank</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(Jeh &amp;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Widom</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2002) and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PathSim</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(Sun et al., 2011). Recent developments in Graph Embedding methods, however, have increased the accuracy of the similarity tasks. That has allowed better results in downstream machine learning mining tasks on graphs such as link prediction. In link prediction, the similarity between nodes plays an essential role as a sole indicator of the existence of a link within the graph. In a sense Link Prediction if treated as an unsupervised similarity problem between nodes cosine distance operators between nodes can predict the existence of a link within a top k search. On the other hand, link prediction is usually treated as a supervised machine learning problem on top of trained graph embedding models. The graph is split into a train, test and validation sets and a positive and negative edges are sampled from the graph. An operator is then chosen to compute an edge embedding by combining the embeddings of the two nodes forming the edge, either positive or negative. A classifier like Logistic Regression is trained to classify whether an edge exists or not based on the edge embedding vector.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inux Libertine" panose="02000503000000000000" pitchFamily="2" charset="0"/>
                <a:ea typeface="Calibri" panose="020F0502020204030204" pitchFamily="34" charset="0"/>
              </a:rPr>
              <a:t>KGs are usually characterized by having attributes and properties attached to the nodes and edges in the graph. In a heterogeneous KG, each node will likely come with a label or a type. One central task in KG mining is to predict node types for nodes that are not labeled. Machine Learning graph analytics methods have been explored previously for node and graph classification (Hogan et al., 2020). With the advancements in representation learning and graph embedding methods, node classification has been largely solved through shallow and deep learning graph models. For example, the Graph Convolutional Neural Network (GCN) described in (</a:t>
            </a:r>
            <a:r>
              <a:rPr lang="en-US" sz="1800" dirty="0" err="1">
                <a:effectLst/>
                <a:latin typeface="Linux Libertine" panose="02000503000000000000" pitchFamily="2" charset="0"/>
                <a:ea typeface="Calibri" panose="020F0502020204030204" pitchFamily="34" charset="0"/>
              </a:rPr>
              <a:t>Kipf</a:t>
            </a:r>
            <a:r>
              <a:rPr lang="en-US" sz="1800" dirty="0">
                <a:effectLst/>
                <a:latin typeface="Linux Libertine" panose="02000503000000000000" pitchFamily="2" charset="0"/>
                <a:ea typeface="Calibri" panose="020F0502020204030204" pitchFamily="34" charset="0"/>
              </a:rPr>
              <a:t> &amp; Welling, 2017) is trained in a semi-supervised fashion on a node classification task. The goal of the GCN model is to train high-quality vector representations of each node in the KG</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9</a:t>
            </a:fld>
            <a:endParaRPr lang="en-US"/>
          </a:p>
        </p:txBody>
      </p:sp>
    </p:spTree>
    <p:extLst>
      <p:ext uri="{BB962C8B-B14F-4D97-AF65-F5344CB8AC3E}">
        <p14:creationId xmlns:p14="http://schemas.microsoft.com/office/powerpoint/2010/main" val="2101427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Graphs can be large, dense, heterogeneous, and diverse. That means that they can contain various node types with relationship types and multiple connections between nodes and different attributes and properties for each node and edge. Our analysis of the graph must not only rely on either traversing and counting edges and transitions or reconstructing the topology of the graph. Our analysis must also consider as much information, attributes, and properties as possible to produce a rich, dense representation or measurements of the graph. So recent research in graph representation learning always strives to incorporate the various semantics present in a graph in the learned features. For example, feature learning, embedding, and DL algorithms like Node2Vec (Grover &amp;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Leskovec</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2016) and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DeepWalk</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Perozzi</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2014), which we will introduce both later, consider neither node nor edge semantics when training a model to generate node level feature vectors. Besides relevance and proximity metrics, such as PageRank (Page et al., 1999) and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SimRank</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(Jeh &amp;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Widom</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2002), it also does not consider the heterogeneous nature of the web as a graph.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In comparison, more recent proximity and similarity measures and algorithms take heterogeneity into accounts such as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PathSim</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(Sun et al., 2011). Non-heterogenous models can be useful depending on the application, yet taking semantics into account provides more representative power to the metrics, features, or models being trained on the KG. As mentioned before, a KG can have multiple types of nodes, edges, properties, and attributes. In Deep Learning approaches shallow architectures, and random walk based methods adopted from natural language processing have had greater success in producing feature vectors for nodes and relations in the graph, taking into account different types of nodes and edges (Y. Dong et al., 2017).</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On the other hand, Graph Neural Network-based models have not advanced enough to incorporate heterogeneous graph properties into their training (Wu et al., 2019). That might be due to several factors; first, Graph Neural Networks, such as the Graph Convolutional Network architecture introduced in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Kipf</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&amp; Welling, 2017), operates on the whole graph’s adjacency matrix making it challenging to incorporate any additional semantics. Second Graph Neural Networks models are usually designed to be an end to end solution to a specific task on the graph. For example, the Graph Convolutional Network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Kipf</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&amp; Welling, 2017) is trained on a node classification task in a semi-supervised fashion. As opposed to Shallow Architectures and Random Walk based methods which are fully unsupervised and produce a more generalized graph embeddings feature vectors. Even though some advancements have recently gained tract to incorporate heterogeneity into the sophisticated Graph Neural Networks architectures such as in (Hu et al., 2020) and (Yun et al., 2020), nevertheless, these algorithms suffer from scalability issues making them sometimes impractical to use.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On the other hand, Shallow Architectures and Random Walk based approaches adopted from Language Models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Mikolov</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2013) were successful in that sense due to their reliance on Heterogeneous Random Walks and Graph Sampling.</a:t>
            </a:r>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10</a:t>
            </a:fld>
            <a:endParaRPr lang="en-US"/>
          </a:p>
        </p:txBody>
      </p:sp>
    </p:spTree>
    <p:extLst>
      <p:ext uri="{BB962C8B-B14F-4D97-AF65-F5344CB8AC3E}">
        <p14:creationId xmlns:p14="http://schemas.microsoft.com/office/powerpoint/2010/main" val="3614078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Linux Libertine" panose="02000503000000000000" pitchFamily="2" charset="0"/>
                <a:ea typeface="Calibri" panose="020F0502020204030204" pitchFamily="34" charset="0"/>
              </a:rPr>
              <a:t>Network Embedding: Learning distributed representations of words and phrases of language has been the focus of Natural Language Processing and Artificial Intelligence (</a:t>
            </a:r>
            <a:r>
              <a:rPr lang="en-US" sz="1800" dirty="0" err="1">
                <a:effectLst/>
                <a:latin typeface="Linux Libertine" panose="02000503000000000000" pitchFamily="2" charset="0"/>
                <a:ea typeface="Calibri" panose="020F0502020204030204" pitchFamily="34" charset="0"/>
              </a:rPr>
              <a:t>Bengio</a:t>
            </a:r>
            <a:r>
              <a:rPr lang="en-US" sz="1800" dirty="0">
                <a:effectLst/>
                <a:latin typeface="Linux Libertine" panose="02000503000000000000" pitchFamily="2" charset="0"/>
                <a:ea typeface="Calibri" panose="020F0502020204030204" pitchFamily="34" charset="0"/>
              </a:rPr>
              <a:t> et al., 2013) in the past decade. Advancements in research on word embedding and language feature learning have led and continue to lead breakthroughs in language modeling, fueling applications such as question answering, machine translation, and others. </a:t>
            </a:r>
            <a:r>
              <a:rPr lang="en-US" sz="1800" b="1" dirty="0" err="1">
                <a:effectLst/>
                <a:latin typeface="Linux Libertine" panose="02000503000000000000" pitchFamily="2" charset="0"/>
                <a:ea typeface="Calibri" panose="020F0502020204030204" pitchFamily="34" charset="0"/>
              </a:rPr>
              <a:t>DeepWalk</a:t>
            </a:r>
            <a:r>
              <a:rPr lang="en-US" sz="1800" b="1" dirty="0">
                <a:effectLst/>
                <a:latin typeface="Linux Libertine" panose="02000503000000000000" pitchFamily="2" charset="0"/>
                <a:ea typeface="Calibri" panose="020F0502020204030204" pitchFamily="34" charset="0"/>
              </a:rPr>
              <a:t> , Node2Vec, Edge2Vec, Metapath2Vec, LINE</a:t>
            </a:r>
          </a:p>
          <a:p>
            <a:endParaRPr lang="en-US" sz="1800" b="1" dirty="0">
              <a:effectLst/>
              <a:latin typeface="Linux Libertine" panose="02000503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effectLst/>
                <a:latin typeface="Linux Libertine" panose="02000503000000000000" pitchFamily="2" charset="0"/>
              </a:rPr>
              <a:t>Knowledge </a:t>
            </a:r>
            <a:r>
              <a:rPr lang="en-US" sz="1800" b="0" dirty="0" err="1">
                <a:effectLst/>
                <a:latin typeface="Linux Libertine" panose="02000503000000000000" pitchFamily="2" charset="0"/>
              </a:rPr>
              <a:t>Emebdding</a:t>
            </a:r>
            <a:r>
              <a:rPr lang="en-US" sz="1800" b="0" dirty="0">
                <a:effectLst/>
                <a:latin typeface="Linux Libertine" panose="02000503000000000000" pitchFamily="2" charset="0"/>
              </a:rPr>
              <a:t>: </a:t>
            </a:r>
            <a:r>
              <a:rPr lang="en-US" sz="1800" b="1"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rPr>
              <a:t>Translational Distance Methods: </a:t>
            </a:r>
            <a:r>
              <a:rPr lang="en-US" sz="1800" dirty="0">
                <a:effectLst/>
                <a:latin typeface="Linux Libertine" panose="02000503000000000000" pitchFamily="2" charset="0"/>
                <a:ea typeface="Calibri" panose="020F0502020204030204" pitchFamily="34" charset="0"/>
              </a:rPr>
              <a:t>The technique relies on enforcing a scoring function on the triplet vector representation; eventually, the vector representations will be learned over many iterations. In more detail, entities are usually represented as point vectors in the Euclidean space, and relations are represented as operations on these vectors represented as vector or matrix transformations. Then the scoring function usually is designed to enforce a specific transformation of head and tail entity representations to measure the plausibility of the fact triplet </a:t>
            </a:r>
            <a:r>
              <a:rPr lang="en-US" sz="1800" b="1"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b="1" i="1" dirty="0" err="1">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rPr>
              <a:t>TransX</a:t>
            </a:r>
            <a:endParaRPr lang="en-US" sz="1800" b="1"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b="1" dirty="0">
                <a:effectLst/>
                <a:latin typeface="Linux Libertine" panose="02000503000000000000" pitchFamily="2" charset="0"/>
                <a:ea typeface="Calibri" panose="020F0502020204030204" pitchFamily="34" charset="0"/>
              </a:rPr>
              <a:t>Semantic Matching Based Methods: Graph as a matrix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dirty="0">
                <a:solidFill>
                  <a:srgbClr val="2F5496"/>
                </a:solidFill>
                <a:effectLst/>
                <a:latin typeface="Linux Libertine" panose="02000503000000000000" pitchFamily="2" charset="0"/>
                <a:ea typeface="Times New Roman" panose="02020603050405020304" pitchFamily="18" charset="0"/>
                <a:cs typeface="Times New Roman" panose="02020603050405020304" pitchFamily="18" charset="0"/>
              </a:rPr>
              <a:t>Graph Neural Networks: </a:t>
            </a:r>
            <a:r>
              <a:rPr lang="en-US" sz="1800" dirty="0">
                <a:effectLst/>
                <a:latin typeface="Linux Libertine" panose="02000503000000000000" pitchFamily="2" charset="0"/>
                <a:ea typeface="Calibri" panose="020F0502020204030204" pitchFamily="34" charset="0"/>
              </a:rPr>
              <a:t>Graph Neural Network models rely on the structure of the graph itself to learn numerical representations of nodes on specific supervised tasks while applying aggregating operators and message passing over the neighborhood of each node. </a:t>
            </a:r>
            <a:r>
              <a:rPr lang="en-US" sz="1800" b="1" dirty="0">
                <a:effectLst/>
                <a:latin typeface="Linux Libertine" panose="02000503000000000000" pitchFamily="2" charset="0"/>
                <a:ea typeface="Calibri" panose="020F0502020204030204" pitchFamily="34" charset="0"/>
              </a:rPr>
              <a:t>Graph Convolutional Networks , </a:t>
            </a:r>
            <a:r>
              <a:rPr lang="en-US" sz="1800" b="1" dirty="0" err="1">
                <a:effectLst/>
                <a:latin typeface="Linux Libertine" panose="02000503000000000000" pitchFamily="2" charset="0"/>
                <a:ea typeface="Calibri" panose="020F0502020204030204" pitchFamily="34" charset="0"/>
              </a:rPr>
              <a:t>GraphSAGE</a:t>
            </a:r>
            <a:r>
              <a:rPr lang="en-US" sz="1800" b="1" dirty="0">
                <a:effectLst/>
                <a:latin typeface="Linux Libertine" panose="02000503000000000000" pitchFamily="2" charset="0"/>
                <a:ea typeface="Calibri" panose="020F0502020204030204" pitchFamily="34" charset="0"/>
              </a:rPr>
              <a:t> </a:t>
            </a:r>
            <a:endParaRPr lang="en-US" sz="1800" b="0"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US" b="0" dirty="0"/>
          </a:p>
        </p:txBody>
      </p:sp>
      <p:sp>
        <p:nvSpPr>
          <p:cNvPr id="4" name="Slide Number Placeholder 3"/>
          <p:cNvSpPr>
            <a:spLocks noGrp="1"/>
          </p:cNvSpPr>
          <p:nvPr>
            <p:ph type="sldNum" sz="quarter" idx="5"/>
          </p:nvPr>
        </p:nvSpPr>
        <p:spPr/>
        <p:txBody>
          <a:bodyPr/>
          <a:lstStyle/>
          <a:p>
            <a:fld id="{17FD9562-06E4-4870-8AF1-0A7C14987F98}" type="slidenum">
              <a:rPr lang="en-US" smtClean="0"/>
              <a:t>11</a:t>
            </a:fld>
            <a:endParaRPr lang="en-US"/>
          </a:p>
        </p:txBody>
      </p:sp>
    </p:spTree>
    <p:extLst>
      <p:ext uri="{BB962C8B-B14F-4D97-AF65-F5344CB8AC3E}">
        <p14:creationId xmlns:p14="http://schemas.microsoft.com/office/powerpoint/2010/main" val="3561365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800" dirty="0">
                    <a:effectLst/>
                    <a:latin typeface="Linux Libertine" panose="02000503000000000000" pitchFamily="2" charset="0"/>
                    <a:ea typeface="Calibri" panose="020F0502020204030204" pitchFamily="34" charset="0"/>
                  </a:rPr>
                  <a:t>The feature vector needs to encode the structure of the graph. More formally, for the graph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𝐺</m:t>
                    </m:r>
                    <m:r>
                      <a:rPr lang="en-US" sz="1800" i="1">
                        <a:effectLst/>
                        <a:latin typeface="Linux Libertine" panose="02000503000000000000" pitchFamily="2" charset="0"/>
                        <a:ea typeface="Calibri" panose="020F0502020204030204" pitchFamily="34" charset="0"/>
                      </a:rPr>
                      <m:t> = (</m:t>
                    </m:r>
                    <m:r>
                      <a:rPr lang="en-US" sz="1800" i="1">
                        <a:effectLst/>
                        <a:latin typeface="Cambria Math" panose="02040503050406030204" pitchFamily="18" charset="0"/>
                        <a:ea typeface="Calibri" panose="020F0502020204030204" pitchFamily="34" charset="0"/>
                        <a:cs typeface="Cambria Math" panose="02040503050406030204" pitchFamily="18" charset="0"/>
                      </a:rPr>
                      <m:t>𝑉</m:t>
                    </m:r>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𝐸</m:t>
                    </m:r>
                    <m:r>
                      <a:rPr lang="en-US" sz="1800" i="1">
                        <a:effectLst/>
                        <a:latin typeface="Linux Libertine" panose="02000503000000000000" pitchFamily="2" charset="0"/>
                        <a:ea typeface="Calibri" panose="020F0502020204030204" pitchFamily="34" charset="0"/>
                      </a:rPr>
                      <m:t>)</m:t>
                    </m:r>
                  </m:oMath>
                </a14:m>
                <a:r>
                  <a:rPr lang="en-US" sz="1800" dirty="0">
                    <a:effectLst/>
                    <a:latin typeface="Linux Libertine" panose="02000503000000000000" pitchFamily="2" charset="0"/>
                    <a:ea typeface="Times New Roman" panose="02020603050405020304" pitchFamily="18" charset="0"/>
                  </a:rPr>
                  <a:t> a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r>
                      <a:rPr lang="en-US" sz="1800" i="1">
                        <a:effectLst/>
                        <a:latin typeface="Linux Libertine" panose="02000503000000000000" pitchFamily="2" charset="0"/>
                        <a:ea typeface="Calibri" panose="020F0502020204030204" pitchFamily="34" charset="0"/>
                      </a:rPr>
                      <m:t> ∈ </m:t>
                    </m:r>
                    <m:sSup>
                      <m:sSupPr>
                        <m:ctrlPr>
                          <a:rPr lang="en-US" sz="1800" i="1">
                            <a:effectLst/>
                            <a:latin typeface="Cambria Math" panose="02040503050406030204" pitchFamily="18" charset="0"/>
                            <a:cs typeface="Linux Libertine" panose="02000503000000000000" pitchFamily="2" charset="0"/>
                          </a:rPr>
                        </m:ctrlPr>
                      </m:sSupPr>
                      <m:e>
                        <m:r>
                          <a:rPr lang="en-US" sz="1800" i="1">
                            <a:effectLst/>
                            <a:latin typeface="Linux Libertine" panose="02000503000000000000" pitchFamily="2" charset="0"/>
                            <a:ea typeface="Calibri" panose="020F0502020204030204" pitchFamily="34" charset="0"/>
                          </a:rPr>
                          <m:t>ℝ</m:t>
                        </m:r>
                      </m:e>
                      <m:sup>
                        <m:r>
                          <a:rPr lang="en-US" sz="1800" i="1">
                            <a:effectLst/>
                            <a:latin typeface="Cambria Math" panose="02040503050406030204" pitchFamily="18" charset="0"/>
                            <a:ea typeface="Calibri" panose="020F0502020204030204" pitchFamily="34" charset="0"/>
                            <a:cs typeface="Cambria Math" panose="02040503050406030204" pitchFamily="18" charset="0"/>
                          </a:rPr>
                          <m:t>𝑑</m:t>
                        </m:r>
                      </m:sup>
                    </m:sSup>
                  </m:oMath>
                </a14:m>
                <a:r>
                  <a:rPr lang="en-US" sz="1800" dirty="0">
                    <a:effectLst/>
                    <a:latin typeface="Linux Libertine" panose="02000503000000000000" pitchFamily="2" charset="0"/>
                    <a:ea typeface="Times New Roman" panose="02020603050405020304" pitchFamily="18" charset="0"/>
                  </a:rPr>
                  <a:t> is learned via the function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𝑓</m:t>
                    </m:r>
                    <m:r>
                      <a:rPr lang="en-US" sz="1800" i="1">
                        <a:effectLst/>
                        <a:latin typeface="Linux Libertine" panose="02000503000000000000" pitchFamily="2" charset="0"/>
                        <a:ea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𝑣</m:t>
                    </m:r>
                    <m:r>
                      <a:rPr lang="en-US" sz="1800" i="1">
                        <a:effectLst/>
                        <a:latin typeface="Linux Libertine" panose="02000503000000000000" pitchFamily="2" charset="0"/>
                        <a:ea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Cambria Math" panose="02040503050406030204" pitchFamily="18" charset="0"/>
                      </a:rPr>
                      <m:t>𝜖</m:t>
                    </m:r>
                    <m:r>
                      <a:rPr lang="en-US" sz="1800" i="1">
                        <a:effectLst/>
                        <a:latin typeface="Linux Libertine" panose="02000503000000000000" pitchFamily="2" charset="0"/>
                        <a:ea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𝑉</m:t>
                    </m:r>
                    <m:r>
                      <a:rPr lang="en-US" sz="1800" i="1">
                        <a:effectLst/>
                        <a:latin typeface="Linux Libertine" panose="02000503000000000000" pitchFamily="2" charset="0"/>
                        <a:ea typeface="Times New Roman" panose="02020603050405020304" pitchFamily="18" charset="0"/>
                      </a:rPr>
                      <m:t> → </m:t>
                    </m:r>
                    <m:sSup>
                      <m:sSupPr>
                        <m:ctrlPr>
                          <a:rPr lang="en-US" sz="1800" i="1">
                            <a:effectLst/>
                            <a:latin typeface="Cambria Math" panose="02040503050406030204" pitchFamily="18" charset="0"/>
                            <a:cs typeface="Linux Libertine" panose="02000503000000000000" pitchFamily="2" charset="0"/>
                          </a:rPr>
                        </m:ctrlPr>
                      </m:sSupPr>
                      <m:e>
                        <m:r>
                          <a:rPr lang="en-US" sz="1800" i="1">
                            <a:effectLst/>
                            <a:latin typeface="Linux Libertine" panose="02000503000000000000" pitchFamily="2" charset="0"/>
                            <a:ea typeface="Calibri" panose="020F0502020204030204" pitchFamily="34" charset="0"/>
                          </a:rPr>
                          <m:t>ℝ</m:t>
                        </m:r>
                      </m:e>
                      <m:sup>
                        <m:r>
                          <a:rPr lang="en-US" sz="1800" i="1">
                            <a:effectLst/>
                            <a:latin typeface="Cambria Math" panose="02040503050406030204" pitchFamily="18" charset="0"/>
                            <a:ea typeface="Calibri" panose="020F0502020204030204" pitchFamily="34" charset="0"/>
                            <a:cs typeface="Cambria Math" panose="02040503050406030204" pitchFamily="18" charset="0"/>
                          </a:rPr>
                          <m:t>𝑑</m:t>
                        </m:r>
                      </m:sup>
                    </m:sSup>
                  </m:oMath>
                </a14:m>
                <a:r>
                  <a:rPr lang="en-US" sz="1800" dirty="0">
                    <a:effectLst/>
                    <a:latin typeface="Linux Libertine" panose="02000503000000000000" pitchFamily="2" charset="0"/>
                    <a:ea typeface="Times New Roman" panose="02020603050405020304" pitchFamily="18" charset="0"/>
                  </a:rPr>
                  <a:t>. One of the constraints on the learned embedding matrix is that it can be decomposed to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r>
                      <a:rPr lang="en-US" sz="1800" i="1">
                        <a:effectLst/>
                        <a:latin typeface="Linux Libertine" panose="02000503000000000000" pitchFamily="2" charset="0"/>
                        <a:ea typeface="Calibri" panose="020F0502020204030204" pitchFamily="34" charset="0"/>
                      </a:rPr>
                      <m:t> = </m:t>
                    </m:r>
                    <m:sSubSup>
                      <m:sSubSupPr>
                        <m:ctrlPr>
                          <a:rPr lang="en-US" sz="1800" i="1">
                            <a:effectLst/>
                            <a:latin typeface="Cambria Math" panose="02040503050406030204" pitchFamily="18" charset="0"/>
                            <a:cs typeface="Linux Libertine" panose="02000503000000000000" pitchFamily="2" charset="0"/>
                          </a:rPr>
                        </m:ctrlPr>
                      </m:sSubSupPr>
                      <m:e>
                        <m:r>
                          <a:rPr lang="en-US" sz="1800" i="1">
                            <a:effectLst/>
                            <a:latin typeface="Cambria Math" panose="02040503050406030204" pitchFamily="18" charset="0"/>
                            <a:ea typeface="Calibri" panose="020F0502020204030204" pitchFamily="34" charset="0"/>
                            <a:cs typeface="Cambria Math" panose="02040503050406030204" pitchFamily="18" charset="0"/>
                          </a:rPr>
                          <m:t>𝑍</m:t>
                        </m:r>
                      </m:e>
                      <m:sub>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sub>
                      <m:sup>
                        <m:r>
                          <a:rPr lang="en-US" sz="1800" i="1">
                            <a:effectLst/>
                            <a:latin typeface="Cambria Math" panose="02040503050406030204" pitchFamily="18" charset="0"/>
                            <a:ea typeface="Calibri" panose="020F0502020204030204" pitchFamily="34" charset="0"/>
                            <a:cs typeface="Cambria Math" panose="02040503050406030204" pitchFamily="18" charset="0"/>
                          </a:rPr>
                          <m:t>𝑇</m:t>
                        </m:r>
                      </m:sup>
                    </m:sSubSup>
                    <m:sSub>
                      <m:sSubPr>
                        <m:ctrlPr>
                          <a:rPr lang="en-US" sz="1800" i="1">
                            <a:effectLst/>
                            <a:latin typeface="Cambria Math" panose="02040503050406030204" pitchFamily="18" charset="0"/>
                            <a:ea typeface="Times New Roman" panose="02020603050405020304" pitchFamily="18" charset="0"/>
                            <a:cs typeface="Linux Libertine" panose="02000503000000000000" pitchFamily="2" charset="0"/>
                          </a:rPr>
                        </m:ctrlPr>
                      </m:sSubPr>
                      <m:e>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𝑍</m:t>
                        </m:r>
                      </m:e>
                      <m:sub>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𝑢</m:t>
                        </m:r>
                      </m:sub>
                    </m:sSub>
                  </m:oMath>
                </a14:m>
                <a:r>
                  <a:rPr lang="en-US" sz="1800" dirty="0">
                    <a:effectLst/>
                    <a:latin typeface="Linux Libertine" panose="02000503000000000000" pitchFamily="2" charset="0"/>
                    <a:ea typeface="Times New Roman" panose="02020603050405020304" pitchFamily="18" charset="0"/>
                  </a:rPr>
                  <a:t> so that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oMath>
                </a14:m>
                <a:r>
                  <a:rPr lang="en-US" sz="1800" dirty="0">
                    <a:effectLst/>
                    <a:latin typeface="Linux Libertine" panose="02000503000000000000" pitchFamily="2" charset="0"/>
                    <a:ea typeface="Times New Roman" panose="02020603050405020304" pitchFamily="18" charset="0"/>
                  </a:rPr>
                  <a:t> preserves the similarity between its component matrices where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𝑉</m:t>
                    </m:r>
                  </m:oMath>
                </a14:m>
                <a:r>
                  <a:rPr lang="en-US" sz="1800" dirty="0">
                    <a:effectLst/>
                    <a:latin typeface="Linux Libertine" panose="02000503000000000000" pitchFamily="2" charset="0"/>
                    <a:ea typeface="Times New Roman" panose="02020603050405020304" pitchFamily="18"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𝑢</m:t>
                    </m:r>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𝑉</m:t>
                    </m:r>
                  </m:oMath>
                </a14:m>
                <a:r>
                  <a:rPr lang="en-US" sz="1800" dirty="0">
                    <a:effectLst/>
                    <a:latin typeface="Linux Libertine" panose="02000503000000000000" pitchFamily="2" charset="0"/>
                    <a:ea typeface="Times New Roman" panose="02020603050405020304" pitchFamily="18" charset="0"/>
                  </a:rPr>
                  <a:t> and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Linux Libertine" panose="02000503000000000000" pitchFamily="2" charset="0"/>
                          </a:rPr>
                        </m:ctrlPr>
                      </m:sSubPr>
                      <m:e>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𝑍</m:t>
                        </m:r>
                      </m:e>
                      <m:sub>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𝑣</m:t>
                        </m:r>
                      </m:sub>
                    </m:sSub>
                    <m:r>
                      <a:rPr lang="en-US" sz="1800" i="1">
                        <a:effectLst/>
                        <a:latin typeface="Linux Libertine" panose="02000503000000000000" pitchFamily="2" charset="0"/>
                        <a:ea typeface="Calibri" panose="020F0502020204030204" pitchFamily="34" charset="0"/>
                      </a:rPr>
                      <m:t>≡</m:t>
                    </m:r>
                    <m:sSup>
                      <m:sSupPr>
                        <m:ctrlPr>
                          <a:rPr lang="en-US" sz="1800" i="1">
                            <a:effectLst/>
                            <a:latin typeface="Cambria Math" panose="02040503050406030204" pitchFamily="18" charset="0"/>
                            <a:cs typeface="Linux Libertine" panose="02000503000000000000" pitchFamily="2" charset="0"/>
                          </a:rPr>
                        </m:ctrlPr>
                      </m:sSupPr>
                      <m:e>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e>
                      <m:sup>
                        <m:r>
                          <a:rPr lang="en-US" sz="1800" i="1">
                            <a:effectLst/>
                            <a:latin typeface="Cambria Math" panose="02040503050406030204" pitchFamily="18" charset="0"/>
                            <a:ea typeface="Calibri" panose="020F0502020204030204" pitchFamily="34" charset="0"/>
                            <a:cs typeface="Cambria Math" panose="02040503050406030204" pitchFamily="18" charset="0"/>
                          </a:rPr>
                          <m:t>𝑇</m:t>
                        </m:r>
                      </m:sup>
                    </m:sSup>
                  </m:oMath>
                </a14:m>
                <a:r>
                  <a:rPr lang="en-US" sz="1800" dirty="0">
                    <a:effectLst/>
                    <a:latin typeface="Linux Libertine" panose="02000503000000000000" pitchFamily="2" charset="0"/>
                    <a:ea typeface="Times New Roman" panose="02020603050405020304" pitchFamily="18" charset="0"/>
                  </a:rPr>
                  <a:t> and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Linux Libertine" panose="02000503000000000000" pitchFamily="2" charset="0"/>
                          </a:rPr>
                        </m:ctrlPr>
                      </m:sSubPr>
                      <m:e>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𝑍</m:t>
                        </m:r>
                      </m:e>
                      <m:sub>
                        <m:r>
                          <a:rPr lang="en-US" sz="1800" i="1">
                            <a:effectLst/>
                            <a:latin typeface="Cambria Math" panose="02040503050406030204" pitchFamily="18" charset="0"/>
                            <a:ea typeface="Times New Roman" panose="02020603050405020304" pitchFamily="18" charset="0"/>
                            <a:cs typeface="Cambria Math" panose="02040503050406030204" pitchFamily="18" charset="0"/>
                          </a:rPr>
                          <m:t>𝑢</m:t>
                        </m:r>
                      </m:sub>
                    </m:sSub>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oMath>
                </a14:m>
                <a:r>
                  <a:rPr lang="en-US" sz="1800" dirty="0">
                    <a:effectLst/>
                    <a:latin typeface="Linux Libertine" panose="02000503000000000000" pitchFamily="2" charset="0"/>
                    <a:ea typeface="Times New Roman" panose="02020603050405020304" pitchFamily="18" charset="0"/>
                  </a:rPr>
                  <a:t>. Preserving the similarity is learned through predicting the probabilities of co-occurrence between 2 nodes in the same neighborhood within a specific context window C after sampling the graph using a random walk strategy to a size of a corpus sampled nodes, T.</a:t>
                </a:r>
              </a:p>
              <a:p>
                <a:r>
                  <a:rPr lang="en-US" sz="1800" dirty="0">
                    <a:effectLst/>
                    <a:latin typeface="Linux Libertine" panose="02000503000000000000" pitchFamily="2" charset="0"/>
                    <a:ea typeface="Times New Roman" panose="02020603050405020304" pitchFamily="18" charset="0"/>
                  </a:rPr>
                  <a:t>Where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𝑐</m:t>
                    </m:r>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𝐶</m:t>
                    </m:r>
                  </m:oMath>
                </a14:m>
                <a:r>
                  <a:rPr lang="en-US" sz="1800" dirty="0">
                    <a:effectLst/>
                    <a:latin typeface="Linux Libertine" panose="02000503000000000000" pitchFamily="2" charset="0"/>
                    <a:ea typeface="Times New Roman" panose="02020603050405020304" pitchFamily="18"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𝑡</m:t>
                    </m:r>
                    <m:r>
                      <a:rPr lang="en-US" sz="1800" i="1">
                        <a:effectLst/>
                        <a:latin typeface="Linux Libertine" panose="02000503000000000000" pitchFamily="2" charset="0"/>
                        <a:ea typeface="Calibri" panose="020F0502020204030204" pitchFamily="34" charset="0"/>
                      </a:rPr>
                      <m:t>∈</m:t>
                    </m:r>
                    <m:r>
                      <a:rPr lang="en-US" sz="1800" i="1">
                        <a:effectLst/>
                        <a:latin typeface="Cambria Math" panose="02040503050406030204" pitchFamily="18" charset="0"/>
                        <a:ea typeface="Calibri" panose="020F0502020204030204" pitchFamily="34" charset="0"/>
                        <a:cs typeface="Cambria Math" panose="02040503050406030204" pitchFamily="18" charset="0"/>
                      </a:rPr>
                      <m:t>𝑇</m:t>
                    </m:r>
                  </m:oMath>
                </a14:m>
                <a:r>
                  <a:rPr lang="en-US" sz="1800" dirty="0">
                    <a:effectLst/>
                    <a:latin typeface="Linux Libertine" panose="02000503000000000000" pitchFamily="2" charset="0"/>
                    <a:ea typeface="Times New Roman" panose="02020603050405020304" pitchFamily="18" charset="0"/>
                  </a:rPr>
                  <a:t>. {</a:t>
                </a:r>
                <a14:m>
                  <m:oMath xmlns:m="http://schemas.openxmlformats.org/officeDocument/2006/math">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1</m:t>
                        </m:r>
                      </m:sub>
                    </m:sSub>
                    <m:r>
                      <a:rPr lang="en-US" sz="1800" i="1">
                        <a:effectLst/>
                        <a:latin typeface="Linux Libertine" panose="02000503000000000000" pitchFamily="2" charset="0"/>
                        <a:ea typeface="Calibri" panose="020F0502020204030204" pitchFamily="34" charset="0"/>
                      </a:rPr>
                      <m:t>,</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2</m:t>
                        </m:r>
                      </m:sub>
                    </m:sSub>
                    <m:r>
                      <a:rPr lang="en-US" sz="1800" i="1">
                        <a:effectLst/>
                        <a:latin typeface="Linux Libertine" panose="02000503000000000000" pitchFamily="2" charset="0"/>
                        <a:ea typeface="Calibri" panose="020F0502020204030204" pitchFamily="34" charset="0"/>
                      </a:rPr>
                      <m:t>,</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3</m:t>
                        </m:r>
                      </m:sub>
                    </m:sSub>
                    <m:r>
                      <a:rPr lang="en-US" sz="1800" i="1">
                        <a:effectLst/>
                        <a:latin typeface="Linux Libertine" panose="02000503000000000000" pitchFamily="2" charset="0"/>
                        <a:ea typeface="Calibri" panose="020F0502020204030204" pitchFamily="34" charset="0"/>
                      </a:rPr>
                      <m:t>, ..., </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Cambria Math" panose="02040503050406030204" pitchFamily="18" charset="0"/>
                            <a:ea typeface="Calibri" panose="020F0502020204030204" pitchFamily="34" charset="0"/>
                            <a:cs typeface="Cambria Math" panose="02040503050406030204" pitchFamily="18" charset="0"/>
                          </a:rPr>
                          <m:t>𝑡</m:t>
                        </m:r>
                      </m:sub>
                    </m:sSub>
                  </m:oMath>
                </a14:m>
                <a:r>
                  <a:rPr lang="en-US" sz="1800" dirty="0">
                    <a:effectLst/>
                    <a:latin typeface="Linux Libertine" panose="02000503000000000000" pitchFamily="2" charset="0"/>
                    <a:ea typeface="Times New Roman" panose="02020603050405020304" pitchFamily="18" charset="0"/>
                  </a:rPr>
                  <a:t>} is sampled from the first order neighborhood N of a randomly chosen node </a:t>
                </a:r>
                <a14:m>
                  <m:oMath xmlns:m="http://schemas.openxmlformats.org/officeDocument/2006/math">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Cambria Math" panose="02040503050406030204" pitchFamily="18" charset="0"/>
                            <a:ea typeface="Calibri" panose="020F0502020204030204" pitchFamily="34" charset="0"/>
                            <a:cs typeface="Cambria Math" panose="02040503050406030204" pitchFamily="18" charset="0"/>
                          </a:rPr>
                          <m:t>𝑖</m:t>
                        </m:r>
                      </m:sub>
                    </m:sSub>
                  </m:oMath>
                </a14:m>
                <a:r>
                  <a:rPr lang="en-US" sz="1800" dirty="0">
                    <a:effectLst/>
                    <a:latin typeface="Linux Libertine" panose="02000503000000000000" pitchFamily="2" charset="0"/>
                    <a:ea typeface="Times New Roman" panose="02020603050405020304" pitchFamily="18" charset="0"/>
                  </a:rPr>
                  <a:t>. To train matrix X, we approximate the probability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𝑃</m:t>
                    </m:r>
                    <m:r>
                      <a:rPr lang="en-US" sz="1800" i="1">
                        <a:effectLst/>
                        <a:latin typeface="Linux Libertine" panose="02000503000000000000" pitchFamily="2" charset="0"/>
                        <a:ea typeface="Calibri" panose="020F0502020204030204" pitchFamily="34" charset="0"/>
                      </a:rPr>
                      <m:t>(</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1</m:t>
                        </m:r>
                      </m:sub>
                    </m:sSub>
                    <m:r>
                      <a:rPr lang="en-US" sz="1800" i="1">
                        <a:effectLst/>
                        <a:latin typeface="Linux Libertine" panose="02000503000000000000" pitchFamily="2" charset="0"/>
                        <a:ea typeface="Calibri" panose="020F0502020204030204" pitchFamily="34" charset="0"/>
                      </a:rPr>
                      <m:t>,</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2</m:t>
                        </m:r>
                      </m:sub>
                    </m:sSub>
                    <m:r>
                      <a:rPr lang="en-US" sz="1800" i="1">
                        <a:effectLst/>
                        <a:latin typeface="Linux Libertine" panose="02000503000000000000" pitchFamily="2" charset="0"/>
                        <a:ea typeface="Calibri" panose="020F0502020204030204" pitchFamily="34" charset="0"/>
                      </a:rPr>
                      <m:t>,</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Linux Libertine" panose="02000503000000000000" pitchFamily="2" charset="0"/>
                            <a:ea typeface="Calibri" panose="020F0502020204030204" pitchFamily="34" charset="0"/>
                          </a:rPr>
                          <m:t>3</m:t>
                        </m:r>
                      </m:sub>
                    </m:sSub>
                    <m:r>
                      <a:rPr lang="en-US" sz="1800" i="1">
                        <a:effectLst/>
                        <a:latin typeface="Linux Libertine" panose="02000503000000000000" pitchFamily="2" charset="0"/>
                        <a:ea typeface="Calibri" panose="020F0502020204030204" pitchFamily="34" charset="0"/>
                      </a:rPr>
                      <m:t>, ..., </m:t>
                    </m:r>
                    <m:sSub>
                      <m:sSubPr>
                        <m:ctrlPr>
                          <a:rPr lang="en-US" sz="1800" i="1">
                            <a:effectLst/>
                            <a:latin typeface="Cambria Math" panose="02040503050406030204" pitchFamily="18" charset="0"/>
                            <a:cs typeface="Linux Libertine" panose="02000503000000000000" pitchFamily="2" charset="0"/>
                          </a:rPr>
                        </m:ctrlPr>
                      </m:sSubPr>
                      <m:e>
                        <m:r>
                          <a:rPr lang="en-US" sz="1800" i="1">
                            <a:effectLst/>
                            <a:latin typeface="Cambria Math" panose="02040503050406030204" pitchFamily="18" charset="0"/>
                            <a:ea typeface="Calibri" panose="020F0502020204030204" pitchFamily="34" charset="0"/>
                            <a:cs typeface="Cambria Math" panose="02040503050406030204" pitchFamily="18" charset="0"/>
                          </a:rPr>
                          <m:t>𝑣</m:t>
                        </m:r>
                      </m:e>
                      <m:sub>
                        <m:r>
                          <a:rPr lang="en-US" sz="1800" i="1">
                            <a:effectLst/>
                            <a:latin typeface="Cambria Math" panose="02040503050406030204" pitchFamily="18" charset="0"/>
                            <a:ea typeface="Calibri" panose="020F0502020204030204" pitchFamily="34" charset="0"/>
                            <a:cs typeface="Cambria Math" panose="02040503050406030204" pitchFamily="18" charset="0"/>
                          </a:rPr>
                          <m:t>𝑡</m:t>
                        </m:r>
                      </m:sub>
                    </m:sSub>
                    <m:r>
                      <a:rPr lang="en-US" sz="1800" i="1">
                        <a:effectLst/>
                        <a:latin typeface="Linux Libertine" panose="02000503000000000000" pitchFamily="2" charset="0"/>
                        <a:ea typeface="Calibri" panose="020F0502020204030204" pitchFamily="34" charset="0"/>
                      </a:rPr>
                      <m:t>)</m:t>
                    </m:r>
                  </m:oMath>
                </a14:m>
                <a:r>
                  <a:rPr lang="en-US" sz="1800" dirty="0">
                    <a:effectLst/>
                    <a:latin typeface="Linux Libertine" panose="02000503000000000000" pitchFamily="2" charset="0"/>
                    <a:ea typeface="Times New Roman" panose="02020603050405020304" pitchFamily="18" charset="0"/>
                  </a:rPr>
                  <a:t> over positively and negatively sampled and labeled nodes using a sliding window on the sampled chains of nodes from the graph. Nodes within the context window are labeled one, while nodes outside the context window are labeled 0. A sigmoid function is then used to normalize the parameters of the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Cambria Math" panose="02040503050406030204" pitchFamily="18" charset="0"/>
                      </a:rPr>
                      <m:t>𝑋</m:t>
                    </m:r>
                  </m:oMath>
                </a14:m>
                <a:r>
                  <a:rPr lang="en-US" sz="1800" dirty="0">
                    <a:effectLst/>
                    <a:latin typeface="Linux Libertine" panose="02000503000000000000" pitchFamily="2" charset="0"/>
                    <a:ea typeface="Times New Roman" panose="02020603050405020304" pitchFamily="18" charset="0"/>
                  </a:rPr>
                  <a:t>. A backpropagation phase then takes place to optimize the loss function</a:t>
                </a:r>
              </a:p>
              <a:p>
                <a:endParaRPr lang="en-US" dirty="0"/>
              </a:p>
            </p:txBody>
          </p:sp>
        </mc:Choice>
        <mc:Fallback xmlns="">
          <p:sp>
            <p:nvSpPr>
              <p:cNvPr id="3" name="Notes Placeholder 2"/>
              <p:cNvSpPr>
                <a:spLocks noGrp="1"/>
              </p:cNvSpPr>
              <p:nvPr>
                <p:ph type="body" idx="1"/>
              </p:nvPr>
            </p:nvSpPr>
            <p:spPr/>
            <p:txBody>
              <a:bodyPr/>
              <a:lstStyle/>
              <a:p>
                <a:r>
                  <a:rPr lang="en-US" sz="1800" dirty="0">
                    <a:effectLst/>
                    <a:latin typeface="Linux Libertine" panose="02000503000000000000" pitchFamily="2" charset="0"/>
                    <a:ea typeface="Calibri" panose="020F0502020204030204" pitchFamily="34" charset="0"/>
                  </a:rPr>
                  <a:t>The feature vector needs to encode the structure of the graph. More formally, for the graph </a:t>
                </a:r>
                <a:r>
                  <a:rPr lang="en-US" sz="1800" i="0">
                    <a:effectLst/>
                    <a:latin typeface="Cambria Math" panose="02040503050406030204" pitchFamily="18" charset="0"/>
                    <a:ea typeface="Calibri" panose="020F0502020204030204" pitchFamily="34" charset="0"/>
                    <a:cs typeface="Cambria Math" panose="02040503050406030204" pitchFamily="18" charset="0"/>
                  </a:rPr>
                  <a:t>𝐺</a:t>
                </a:r>
                <a:r>
                  <a:rPr lang="en-US" sz="1800" i="0">
                    <a:effectLst/>
                    <a:latin typeface="Linux Libertine" panose="02000503000000000000" pitchFamily="2" charset="0"/>
                    <a:ea typeface="Calibri" panose="020F0502020204030204" pitchFamily="34" charset="0"/>
                  </a:rPr>
                  <a:t> = (</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𝐸</a:t>
                </a:r>
                <a:r>
                  <a:rPr lang="en-US" sz="1800" i="0">
                    <a:effectLst/>
                    <a:latin typeface="Linux Libertine" panose="02000503000000000000" pitchFamily="2" charset="0"/>
                    <a:ea typeface="Calibri" panose="020F0502020204030204" pitchFamily="34" charset="0"/>
                  </a:rPr>
                  <a:t>)</a:t>
                </a:r>
                <a:r>
                  <a:rPr lang="en-US" sz="1800" dirty="0">
                    <a:effectLst/>
                    <a:latin typeface="Linux Libertine" panose="02000503000000000000" pitchFamily="2" charset="0"/>
                    <a:ea typeface="Times New Roman" panose="02020603050405020304" pitchFamily="18" charset="0"/>
                  </a:rPr>
                  <a:t> a matrix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Linux Libertine" panose="02000503000000000000" pitchFamily="2" charset="0"/>
                    <a:ea typeface="Calibri" panose="020F0502020204030204" pitchFamily="34" charset="0"/>
                  </a:rPr>
                  <a:t> ∈ ℝ</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𝑑</a:t>
                </a:r>
                <a:r>
                  <a:rPr lang="en-US" sz="1800" dirty="0">
                    <a:effectLst/>
                    <a:latin typeface="Linux Libertine" panose="02000503000000000000" pitchFamily="2" charset="0"/>
                    <a:ea typeface="Times New Roman" panose="02020603050405020304" pitchFamily="18" charset="0"/>
                  </a:rPr>
                  <a:t> is learned via the function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𝑓</a:t>
                </a:r>
                <a:r>
                  <a:rPr lang="en-US" sz="1800" i="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𝜖</a:t>
                </a:r>
                <a:r>
                  <a:rPr lang="en-US" sz="1800" i="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𝑉</a:t>
                </a:r>
                <a:r>
                  <a:rPr lang="en-US" sz="1800" i="0">
                    <a:effectLst/>
                    <a:latin typeface="Linux Libertine" panose="02000503000000000000" pitchFamily="2" charset="0"/>
                    <a:ea typeface="Times New Roman" panose="02020603050405020304" pitchFamily="18" charset="0"/>
                  </a:rPr>
                  <a:t> → </a:t>
                </a:r>
                <a:r>
                  <a:rPr lang="en-US" sz="1800" i="0">
                    <a:effectLst/>
                    <a:latin typeface="Linux Libertine" panose="02000503000000000000" pitchFamily="2" charset="0"/>
                    <a:ea typeface="Calibri" panose="020F0502020204030204" pitchFamily="34" charset="0"/>
                  </a:rPr>
                  <a:t>ℝ</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𝑑</a:t>
                </a:r>
                <a:r>
                  <a:rPr lang="en-US" sz="1800" dirty="0">
                    <a:effectLst/>
                    <a:latin typeface="Linux Libertine" panose="02000503000000000000" pitchFamily="2" charset="0"/>
                    <a:ea typeface="Times New Roman" panose="02020603050405020304" pitchFamily="18" charset="0"/>
                  </a:rPr>
                  <a:t>. One of the constraints on the learned embedding matrix is that it can be decomposed to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Linux Libertine" panose="02000503000000000000" pitchFamily="2" charset="0"/>
                    <a:ea typeface="Calibri" panose="020F0502020204030204" pitchFamily="34" charset="0"/>
                  </a:rPr>
                  <a:t> = </a:t>
                </a:r>
                <a:r>
                  <a:rPr lang="en-US" sz="1800" i="0">
                    <a:effectLst/>
                    <a:latin typeface="Cambria Math" panose="02040503050406030204" pitchFamily="18" charset="0"/>
                    <a:ea typeface="Calibri" panose="020F0502020204030204" pitchFamily="34" charset="0"/>
                    <a:cs typeface="Cambria Math" panose="02040503050406030204" pitchFamily="18" charset="0"/>
                  </a:rPr>
                  <a:t>𝑍</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𝑣^𝑇</a:t>
                </a:r>
                <a:r>
                  <a:rPr lang="en-US" sz="1800" i="0">
                    <a:effectLst/>
                    <a:latin typeface="Cambria Math" panose="02040503050406030204" pitchFamily="18" charset="0"/>
                    <a:ea typeface="Calibri" panose="020F0502020204030204" pitchFamily="34" charset="0"/>
                    <a:cs typeface="Linux Libertine" panose="02000503000000000000" pitchFamily="2"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𝑢</a:t>
                </a:r>
                <a:r>
                  <a:rPr lang="en-US" sz="1800" dirty="0">
                    <a:effectLst/>
                    <a:latin typeface="Linux Libertine" panose="02000503000000000000" pitchFamily="2" charset="0"/>
                    <a:ea typeface="Times New Roman" panose="02020603050405020304" pitchFamily="18" charset="0"/>
                  </a:rPr>
                  <a:t> so that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rPr>
                  <a:t> preserves the similarity between its component matrices where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𝑢</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rPr>
                  <a:t>. Preserving the similarity is learned through predicting the probabilities of co-occurrence between 2 nodes in the same neighborhood within a specific context window C after sampling the graph using a random walk strategy to a size of a corpus sampled nodes, T.</a:t>
                </a:r>
              </a:p>
              <a:p>
                <a:r>
                  <a:rPr lang="en-US" sz="1800" dirty="0">
                    <a:effectLst/>
                    <a:latin typeface="Linux Libertine" panose="02000503000000000000" pitchFamily="2" charset="0"/>
                    <a:ea typeface="Times New Roman" panose="02020603050405020304" pitchFamily="18" charset="0"/>
                  </a:rPr>
                  <a:t>Where </a:t>
                </a:r>
                <a:r>
                  <a:rPr lang="en-US" sz="1800" i="0">
                    <a:effectLst/>
                    <a:latin typeface="Cambria Math" panose="02040503050406030204" pitchFamily="18" charset="0"/>
                    <a:ea typeface="Calibri" panose="020F0502020204030204" pitchFamily="34" charset="0"/>
                    <a:cs typeface="Cambria Math" panose="02040503050406030204" pitchFamily="18" charset="0"/>
                  </a:rPr>
                  <a:t>𝑐</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𝐶</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dirty="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1,</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2,</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3, ...,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dirty="0">
                    <a:effectLst/>
                    <a:latin typeface="Linux Libertine" panose="02000503000000000000" pitchFamily="2" charset="0"/>
                    <a:ea typeface="Times New Roman" panose="02020603050405020304" pitchFamily="18" charset="0"/>
                  </a:rPr>
                  <a:t>} is sampled from the first order neighborhood N of a randomly chosen node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𝑖</a:t>
                </a:r>
                <a:r>
                  <a:rPr lang="en-US" sz="1800" dirty="0">
                    <a:effectLst/>
                    <a:latin typeface="Linux Libertine" panose="02000503000000000000" pitchFamily="2" charset="0"/>
                    <a:ea typeface="Times New Roman" panose="02020603050405020304" pitchFamily="18" charset="0"/>
                  </a:rPr>
                  <a:t>. To train matrix X, we approximate the probability </a:t>
                </a:r>
                <a:r>
                  <a:rPr lang="en-US" sz="1800" i="0">
                    <a:effectLst/>
                    <a:latin typeface="Cambria Math" panose="02040503050406030204" pitchFamily="18" charset="0"/>
                    <a:ea typeface="Calibri" panose="020F0502020204030204" pitchFamily="34" charset="0"/>
                    <a:cs typeface="Cambria Math" panose="02040503050406030204" pitchFamily="18" charset="0"/>
                  </a:rPr>
                  <a:t>𝑃</a:t>
                </a:r>
                <a:r>
                  <a:rPr lang="en-US" sz="1800" i="0">
                    <a:effectLst/>
                    <a:latin typeface="Linux Libertine" panose="02000503000000000000" pitchFamily="2" charset="0"/>
                    <a:ea typeface="Calibri" panose="020F0502020204030204" pitchFamily="34"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1,</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2,</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rPr>
                  <a:t>3, ...,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rPr>
                  <a:t>)</a:t>
                </a:r>
                <a:r>
                  <a:rPr lang="en-US" sz="1800" dirty="0">
                    <a:effectLst/>
                    <a:latin typeface="Linux Libertine" panose="02000503000000000000" pitchFamily="2" charset="0"/>
                    <a:ea typeface="Times New Roman" panose="02020603050405020304" pitchFamily="18" charset="0"/>
                  </a:rPr>
                  <a:t> over positively and negatively sampled and labeled nodes using a sliding window on the sampled chains of nodes from the graph. Nodes within the context window are labeled one, while nodes outside the context window are labeled 0. A sigmoid function is then used to normalize the parameters of the matrix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rPr>
                  <a:t>. A backpropagation phase then takes place to optimize the loss function</a:t>
                </a:r>
              </a:p>
              <a:p>
                <a:endParaRPr lang="en-US" dirty="0"/>
              </a:p>
            </p:txBody>
          </p:sp>
        </mc:Fallback>
      </mc:AlternateContent>
      <p:sp>
        <p:nvSpPr>
          <p:cNvPr id="4" name="Slide Number Placeholder 3"/>
          <p:cNvSpPr>
            <a:spLocks noGrp="1"/>
          </p:cNvSpPr>
          <p:nvPr>
            <p:ph type="sldNum" sz="quarter" idx="5"/>
          </p:nvPr>
        </p:nvSpPr>
        <p:spPr/>
        <p:txBody>
          <a:bodyPr/>
          <a:lstStyle/>
          <a:p>
            <a:fld id="{17FD9562-06E4-4870-8AF1-0A7C14987F98}" type="slidenum">
              <a:rPr lang="en-US" smtClean="0"/>
              <a:t>13</a:t>
            </a:fld>
            <a:endParaRPr lang="en-US"/>
          </a:p>
        </p:txBody>
      </p:sp>
    </p:spTree>
    <p:extLst>
      <p:ext uri="{BB962C8B-B14F-4D97-AF65-F5344CB8AC3E}">
        <p14:creationId xmlns:p14="http://schemas.microsoft.com/office/powerpoint/2010/main" val="549705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14</a:t>
            </a:fld>
            <a:endParaRPr lang="en-US"/>
          </a:p>
        </p:txBody>
      </p:sp>
    </p:spTree>
    <p:extLst>
      <p:ext uri="{BB962C8B-B14F-4D97-AF65-F5344CB8AC3E}">
        <p14:creationId xmlns:p14="http://schemas.microsoft.com/office/powerpoint/2010/main" val="1739893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a:t>
            </a:r>
            <a:r>
              <a:rPr lang="en-US" dirty="0" err="1"/>
              <a:t>entites</a:t>
            </a:r>
            <a:r>
              <a:rPr lang="en-US" dirty="0"/>
              <a:t> and relationships of KG into a continuous vector space</a:t>
            </a:r>
          </a:p>
          <a:p>
            <a:r>
              <a:rPr lang="en-US" dirty="0"/>
              <a:t>Multi relational knowledge bases and graphs</a:t>
            </a:r>
          </a:p>
          <a:p>
            <a:r>
              <a:rPr lang="en-US" dirty="0"/>
              <a:t>Model relations as translations between the entities embedding</a:t>
            </a:r>
          </a:p>
          <a:p>
            <a:r>
              <a:rPr lang="en-US" dirty="0"/>
              <a:t>Handles large databases efficiently</a:t>
            </a:r>
          </a:p>
          <a:p>
            <a:r>
              <a:rPr lang="en-US" dirty="0"/>
              <a:t>Embeddings are learnt through optimizing a scoring function</a:t>
            </a:r>
          </a:p>
          <a:p>
            <a:r>
              <a:rPr lang="en-US" dirty="0"/>
              <a:t>The scoring function measures the plausibility of the fact as the distance between the two entities</a:t>
            </a:r>
          </a:p>
          <a:p>
            <a:endParaRPr lang="en-US" dirty="0"/>
          </a:p>
          <a:p>
            <a:r>
              <a:rPr lang="en-US" dirty="0"/>
              <a:t>Both </a:t>
            </a:r>
            <a:r>
              <a:rPr lang="en-US" dirty="0" err="1"/>
              <a:t>entites</a:t>
            </a:r>
            <a:r>
              <a:rPr lang="en-US" dirty="0"/>
              <a:t> are vectors in the same space</a:t>
            </a:r>
          </a:p>
          <a:p>
            <a:r>
              <a:rPr lang="en-US" dirty="0"/>
              <a:t>Given a fact (</a:t>
            </a:r>
            <a:r>
              <a:rPr lang="en-US" dirty="0" err="1"/>
              <a:t>h,r,t</a:t>
            </a:r>
            <a:r>
              <a:rPr lang="en-US" dirty="0"/>
              <a:t>) the relation is a translation vector r</a:t>
            </a:r>
          </a:p>
          <a:p>
            <a:r>
              <a:rPr lang="en-US" dirty="0"/>
              <a:t>If h is a vector (1,3) and t is a vector (3,2) then if h and t exist (true) r is (2,-1)</a:t>
            </a:r>
          </a:p>
          <a:p>
            <a:r>
              <a:rPr lang="en-US" dirty="0"/>
              <a:t>In reality the dimensions of these vectors are larger</a:t>
            </a:r>
          </a:p>
          <a:p>
            <a:r>
              <a:rPr lang="en-US" dirty="0"/>
              <a:t>Also r is computed using optimization since h and t</a:t>
            </a:r>
          </a:p>
          <a:p>
            <a:r>
              <a:rPr lang="en-US" dirty="0"/>
              <a:t>Start from random positions their positions keep changing until they meet the criteria </a:t>
            </a:r>
            <a:r>
              <a:rPr lang="en-US" dirty="0" err="1"/>
              <a:t>h+r-t</a:t>
            </a:r>
            <a:r>
              <a:rPr lang="en-US" dirty="0"/>
              <a:t>=0</a:t>
            </a:r>
          </a:p>
          <a:p>
            <a:r>
              <a:rPr lang="en-US" dirty="0"/>
              <a:t>To meet that criteria the distance between </a:t>
            </a:r>
            <a:r>
              <a:rPr lang="en-US" dirty="0" err="1"/>
              <a:t>h+r</a:t>
            </a:r>
            <a:r>
              <a:rPr lang="en-US" dirty="0"/>
              <a:t> and t at the head of the vector should be minimized</a:t>
            </a:r>
          </a:p>
          <a:p>
            <a:r>
              <a:rPr lang="en-US" dirty="0"/>
              <a:t>To turn in it into a probability function to be maximized we consider the negative distance</a:t>
            </a:r>
          </a:p>
          <a:p>
            <a:r>
              <a:rPr lang="en-US" dirty="0"/>
              <a:t>So we say we maximize the negative distance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score is expected to be large if the fact (</a:t>
            </a:r>
            <a:r>
              <a:rPr lang="en-US" dirty="0" err="1"/>
              <a:t>h,r,t</a:t>
            </a:r>
            <a:r>
              <a:rPr lang="en-US" dirty="0"/>
              <a:t>) holds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TransE</a:t>
            </a:r>
            <a:r>
              <a:rPr lang="en-US" dirty="0"/>
              <a:t> randomly samples for a given golden triplet a negative triplet is obtained by randomly sampling a pair of entities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15</a:t>
            </a:fld>
            <a:endParaRPr lang="en-US"/>
          </a:p>
        </p:txBody>
      </p:sp>
    </p:spTree>
    <p:extLst>
      <p:ext uri="{BB962C8B-B14F-4D97-AF65-F5344CB8AC3E}">
        <p14:creationId xmlns:p14="http://schemas.microsoft.com/office/powerpoint/2010/main" val="4026467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example shows the importance of sampling the graph based on predefined </a:t>
            </a:r>
            <a:r>
              <a:rPr lang="en-US" sz="1200" dirty="0" err="1"/>
              <a:t>metapaths</a:t>
            </a:r>
            <a:r>
              <a:rPr lang="en-US" sz="1200" dirty="0"/>
              <a:t> as the </a:t>
            </a:r>
            <a:r>
              <a:rPr lang="en-US" sz="1200" dirty="0" err="1"/>
              <a:t>metapaths</a:t>
            </a:r>
            <a:r>
              <a:rPr lang="en-US" sz="1200" dirty="0"/>
              <a:t> represent meaningful contexts and that would produce more meaningful </a:t>
            </a:r>
            <a:r>
              <a:rPr lang="en-US" sz="1200" dirty="0" err="1"/>
              <a:t>emebddings</a:t>
            </a:r>
            <a:r>
              <a:rPr lang="en-US" sz="1200" dirty="0"/>
              <a:t>. For example here the </a:t>
            </a:r>
            <a:r>
              <a:rPr lang="en-US" sz="1200" dirty="0" err="1"/>
              <a:t>metapath</a:t>
            </a:r>
            <a:r>
              <a:rPr lang="en-US" sz="1200" dirty="0"/>
              <a:t> Drug </a:t>
            </a:r>
            <a:r>
              <a:rPr lang="en-US" sz="1200" dirty="0">
                <a:sym typeface="Wingdings" panose="05000000000000000000" pitchFamily="2" charset="2"/>
              </a:rPr>
              <a:t> Target  Pathway  Side Effect shows the associated drugs and side effects linked through genes and pathways.</a:t>
            </a:r>
            <a:endParaRPr lang="en-US" sz="1200" dirty="0"/>
          </a:p>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18</a:t>
            </a:fld>
            <a:endParaRPr lang="en-US"/>
          </a:p>
        </p:txBody>
      </p:sp>
    </p:spTree>
    <p:extLst>
      <p:ext uri="{BB962C8B-B14F-4D97-AF65-F5344CB8AC3E}">
        <p14:creationId xmlns:p14="http://schemas.microsoft.com/office/powerpoint/2010/main" val="649045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Semantically linked heterogenous network of compounds, genes and proteins, pathways and side effects</a:t>
            </a:r>
          </a:p>
          <a:p>
            <a:r>
              <a:rPr lang="en-US" sz="1200" dirty="0"/>
              <a:t>295880 Nodes and 727931 Edges.</a:t>
            </a:r>
          </a:p>
          <a:p>
            <a:endParaRPr lang="en-US" sz="1200" dirty="0"/>
          </a:p>
          <a:p>
            <a:r>
              <a:rPr lang="en-US" sz="1200" dirty="0"/>
              <a:t>A domain expert has to define a set of semantic </a:t>
            </a:r>
            <a:r>
              <a:rPr lang="en-US" sz="1200" dirty="0" err="1"/>
              <a:t>metapath</a:t>
            </a:r>
            <a:r>
              <a:rPr lang="en-US" sz="1200" dirty="0"/>
              <a:t> based on node types and edge types not just randomly. So if we look here at those </a:t>
            </a:r>
            <a:r>
              <a:rPr lang="en-US" sz="1200" dirty="0" err="1"/>
              <a:t>metapaths</a:t>
            </a:r>
            <a:r>
              <a:rPr lang="en-US" sz="1200" dirty="0"/>
              <a:t> designed by a domain expert we can find that the relationship between a protein and a protein can be one of two either a protein interacts with protein or a protein similar to a protein. </a:t>
            </a:r>
            <a:r>
              <a:rPr lang="en-US" sz="1200" dirty="0" err="1"/>
              <a:t>Ofcourse</a:t>
            </a:r>
            <a:r>
              <a:rPr lang="en-US" sz="1200" dirty="0"/>
              <a:t> if we apply a we only rely on node types in the </a:t>
            </a:r>
            <a:r>
              <a:rPr lang="en-US" sz="1200" dirty="0" err="1"/>
              <a:t>metapaths</a:t>
            </a:r>
            <a:r>
              <a:rPr lang="en-US" sz="1200" dirty="0"/>
              <a:t> and not the edge types those two relationships will not be considered when training the embeddings using </a:t>
            </a:r>
            <a:r>
              <a:rPr lang="en-US" sz="1200" dirty="0" err="1"/>
              <a:t>Skipgram</a:t>
            </a:r>
            <a:r>
              <a:rPr lang="en-US" sz="1200" dirty="0"/>
              <a:t>. Here in this paper they used a </a:t>
            </a:r>
            <a:r>
              <a:rPr lang="en-US" sz="1200" dirty="0" err="1"/>
              <a:t>metapath</a:t>
            </a:r>
            <a:r>
              <a:rPr lang="en-US" sz="1200" dirty="0"/>
              <a:t> random walk strategy that is more “inclusive” if you will of edge types but when applying a regular metapath2vec random strategy those different relations will not be included. </a:t>
            </a:r>
          </a:p>
        </p:txBody>
      </p:sp>
      <p:sp>
        <p:nvSpPr>
          <p:cNvPr id="4" name="Slide Number Placeholder 3"/>
          <p:cNvSpPr>
            <a:spLocks noGrp="1"/>
          </p:cNvSpPr>
          <p:nvPr>
            <p:ph type="sldNum" sz="quarter" idx="5"/>
          </p:nvPr>
        </p:nvSpPr>
        <p:spPr/>
        <p:txBody>
          <a:bodyPr/>
          <a:lstStyle/>
          <a:p>
            <a:fld id="{17FD9562-06E4-4870-8AF1-0A7C14987F98}" type="slidenum">
              <a:rPr lang="en-US" smtClean="0"/>
              <a:t>19</a:t>
            </a:fld>
            <a:endParaRPr lang="en-US"/>
          </a:p>
        </p:txBody>
      </p:sp>
    </p:spTree>
    <p:extLst>
      <p:ext uri="{BB962C8B-B14F-4D97-AF65-F5344CB8AC3E}">
        <p14:creationId xmlns:p14="http://schemas.microsoft.com/office/powerpoint/2010/main" val="1340296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FD9562-06E4-4870-8AF1-0A7C14987F98}" type="slidenum">
              <a:rPr lang="en-US" smtClean="0"/>
              <a:t>20</a:t>
            </a:fld>
            <a:endParaRPr lang="en-US"/>
          </a:p>
        </p:txBody>
      </p:sp>
    </p:spTree>
    <p:extLst>
      <p:ext uri="{BB962C8B-B14F-4D97-AF65-F5344CB8AC3E}">
        <p14:creationId xmlns:p14="http://schemas.microsoft.com/office/powerpoint/2010/main" val="2460423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prediction is a common task in both academia and industry. For academia, it is widely used to evaluate the quality of network embeddings obtained by different methods. In the industry, link prediction is a very demanding task since in real-world scenarios we are usually facing graphs with partial links, especially for ecommerce companies that rely on the links between their users and items for recommendations. We hide a set of edges/non-edges from the original graph and train on the remaining graph. Following [2, 18], we create a validation/test set that contains 5%/10% randomly selected positive edges respectively with the equivalent number of randomly selected negative edges for each edge type. The validation set is used for hyper-parameter tuning and early stopping. The test set is used to evaluate the performance and is only run once under the tuned hyper-parameter. We use some commonly used evaluation criteria, i.e., the area under the ROC curve (ROC-AUC) [12] and the PR curve (PR-AUC) [5] in our experiments. We also use F1 score as the other metric for evaluation. To avoid the thresholding effect [37], we assume that the number of hidden edges in the test set is given [27, 29, 37]. All of these metrics are uniformly averaged among the selected edge types.</a:t>
            </a:r>
          </a:p>
        </p:txBody>
      </p:sp>
      <p:sp>
        <p:nvSpPr>
          <p:cNvPr id="4" name="Slide Number Placeholder 3"/>
          <p:cNvSpPr>
            <a:spLocks noGrp="1"/>
          </p:cNvSpPr>
          <p:nvPr>
            <p:ph type="sldNum" sz="quarter" idx="5"/>
          </p:nvPr>
        </p:nvSpPr>
        <p:spPr/>
        <p:txBody>
          <a:bodyPr/>
          <a:lstStyle/>
          <a:p>
            <a:fld id="{17FD9562-06E4-4870-8AF1-0A7C14987F98}" type="slidenum">
              <a:rPr lang="en-US" smtClean="0"/>
              <a:t>22</a:t>
            </a:fld>
            <a:endParaRPr lang="en-US"/>
          </a:p>
        </p:txBody>
      </p:sp>
    </p:spTree>
    <p:extLst>
      <p:ext uri="{BB962C8B-B14F-4D97-AF65-F5344CB8AC3E}">
        <p14:creationId xmlns:p14="http://schemas.microsoft.com/office/powerpoint/2010/main" val="7934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078F65BB-9E0E-4B5D-8912-3E275FD1F0EF}" type="datetime1">
              <a:rPr lang="en-US" smtClean="0"/>
              <a:t>3/1/2022</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1FC3AD2-D417-4C57-853C-2151CF039A96}" type="slidenum">
              <a:rPr lang="en-US" smtClean="0"/>
              <a:t>‹#›</a:t>
            </a:fld>
            <a:endParaRPr lang="en-US"/>
          </a:p>
        </p:txBody>
      </p:sp>
    </p:spTree>
    <p:extLst>
      <p:ext uri="{BB962C8B-B14F-4D97-AF65-F5344CB8AC3E}">
        <p14:creationId xmlns:p14="http://schemas.microsoft.com/office/powerpoint/2010/main" val="2150179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005DDF-00CE-4AC7-A080-9CAAA8D07BFD}" type="datetime1">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55856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42EF17-7057-47C7-AC64-CAA567972B7E}" type="datetime1">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407167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87C5F2-32E3-447A-9E23-790585E4D89F}" type="datetime1">
              <a:rPr lang="en-US" smtClean="0"/>
              <a:t>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173799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72D47D-D78C-4661-869D-D87135641954}" type="datetime1">
              <a:rPr lang="en-US" smtClean="0"/>
              <a:t>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3094193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8424A2-6C10-4A84-B03C-BED4F2BE1FEF}" type="datetime1">
              <a:rPr lang="en-US" smtClean="0"/>
              <a:t>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15799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62724-559C-4F2D-BF88-1466EC0F2CF4}" type="datetime1">
              <a:rPr lang="en-US" smtClean="0"/>
              <a:t>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3597116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D5E43698-B537-4886-A135-2E08DDEBE4FB}" type="datetime1">
              <a:rPr lang="en-US" smtClean="0"/>
              <a:t>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1FC3AD2-D417-4C57-853C-2151CF039A96}" type="slidenum">
              <a:rPr lang="en-US" smtClean="0"/>
              <a:t>‹#›</a:t>
            </a:fld>
            <a:endParaRPr lang="en-US"/>
          </a:p>
        </p:txBody>
      </p:sp>
    </p:spTree>
    <p:extLst>
      <p:ext uri="{BB962C8B-B14F-4D97-AF65-F5344CB8AC3E}">
        <p14:creationId xmlns:p14="http://schemas.microsoft.com/office/powerpoint/2010/main" val="146219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1E110B9F-B373-4BB6-9AD8-5E9FCF164106}" type="datetime1">
              <a:rPr lang="en-US" smtClean="0"/>
              <a:t>3/1/2022</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1FC3AD2-D417-4C57-853C-2151CF039A96}" type="slidenum">
              <a:rPr lang="en-US" smtClean="0"/>
              <a:t>‹#›</a:t>
            </a:fld>
            <a:endParaRPr lang="en-US"/>
          </a:p>
        </p:txBody>
      </p:sp>
    </p:spTree>
    <p:extLst>
      <p:ext uri="{BB962C8B-B14F-4D97-AF65-F5344CB8AC3E}">
        <p14:creationId xmlns:p14="http://schemas.microsoft.com/office/powerpoint/2010/main" val="2691707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DD5828-6B27-48EC-981D-3DAD845DE71D}" type="datetime1">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1845305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83169-83BA-40AA-8538-F6E85C663A7B}" type="datetime1">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C3AD2-D417-4C57-853C-2151CF039A96}" type="slidenum">
              <a:rPr lang="en-US" smtClean="0"/>
              <a:t>‹#›</a:t>
            </a:fld>
            <a:endParaRPr lang="en-US"/>
          </a:p>
        </p:txBody>
      </p:sp>
    </p:spTree>
    <p:extLst>
      <p:ext uri="{BB962C8B-B14F-4D97-AF65-F5344CB8AC3E}">
        <p14:creationId xmlns:p14="http://schemas.microsoft.com/office/powerpoint/2010/main" val="3503042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116CECFB-6373-44B8-93AF-04B80A726101}" type="datetime1">
              <a:rPr lang="en-US" smtClean="0"/>
              <a:t>3/1/2022</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1FC3AD2-D417-4C57-853C-2151CF039A96}" type="slidenum">
              <a:rPr lang="en-US" smtClean="0"/>
              <a:t>‹#›</a:t>
            </a:fld>
            <a:endParaRPr lang="en-US"/>
          </a:p>
        </p:txBody>
      </p:sp>
    </p:spTree>
    <p:extLst>
      <p:ext uri="{BB962C8B-B14F-4D97-AF65-F5344CB8AC3E}">
        <p14:creationId xmlns:p14="http://schemas.microsoft.com/office/powerpoint/2010/main" val="2991129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39.JPG"/><Relationship Id="rId3" Type="http://schemas.openxmlformats.org/officeDocument/2006/relationships/image" Target="../media/image34.JPG"/><Relationship Id="rId7" Type="http://schemas.openxmlformats.org/officeDocument/2006/relationships/image" Target="../media/image38.JPG"/><Relationship Id="rId2" Type="http://schemas.openxmlformats.org/officeDocument/2006/relationships/image" Target="../media/image33.JPG"/><Relationship Id="rId1" Type="http://schemas.openxmlformats.org/officeDocument/2006/relationships/slideLayout" Target="../slideLayouts/slideLayout6.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35.JPG"/></Relationships>
</file>

<file path=ppt/slides/_rels/slide2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8741F-20B6-47B1-B947-0B8B5AE86CF7}"/>
              </a:ext>
            </a:extLst>
          </p:cNvPr>
          <p:cNvSpPr>
            <a:spLocks noGrp="1"/>
          </p:cNvSpPr>
          <p:nvPr>
            <p:ph type="ctrTitle"/>
          </p:nvPr>
        </p:nvSpPr>
        <p:spPr>
          <a:xfrm>
            <a:off x="1524000" y="457201"/>
            <a:ext cx="9144000" cy="2153602"/>
          </a:xfrm>
        </p:spPr>
        <p:txBody>
          <a:bodyPr>
            <a:noAutofit/>
          </a:bodyPr>
          <a:lstStyle/>
          <a:p>
            <a:br>
              <a:rPr lang="en-US" sz="4400" dirty="0"/>
            </a:br>
            <a:br>
              <a:rPr lang="en-US" sz="4400" dirty="0"/>
            </a:br>
            <a:br>
              <a:rPr lang="en-US" sz="4400" dirty="0"/>
            </a:br>
            <a:r>
              <a:rPr lang="en-US" sz="4400" dirty="0"/>
              <a:t>Graph Representation Learning for Fully Heterogenous Networks - Paper Presentation</a:t>
            </a:r>
          </a:p>
        </p:txBody>
      </p:sp>
      <p:sp>
        <p:nvSpPr>
          <p:cNvPr id="36" name="TextBox 35">
            <a:extLst>
              <a:ext uri="{FF2B5EF4-FFF2-40B4-BE49-F238E27FC236}">
                <a16:creationId xmlns:a16="http://schemas.microsoft.com/office/drawing/2014/main" id="{CA748C09-CFFA-4D8B-9FFC-5D190661A587}"/>
              </a:ext>
            </a:extLst>
          </p:cNvPr>
          <p:cNvSpPr txBox="1"/>
          <p:nvPr/>
        </p:nvSpPr>
        <p:spPr>
          <a:xfrm>
            <a:off x="824678" y="3550388"/>
            <a:ext cx="10542644" cy="1071562"/>
          </a:xfrm>
          <a:prstGeom prst="rect">
            <a:avLst/>
          </a:prstGeom>
        </p:spPr>
        <p:txBody>
          <a:bodyPr vert="horz" lIns="91440" tIns="45720" rIns="91440" bIns="45720" rtlCol="0">
            <a:normAutofit/>
          </a:bodyPr>
          <a:lstStyle/>
          <a:p>
            <a:pPr>
              <a:lnSpc>
                <a:spcPct val="90000"/>
              </a:lnSpc>
              <a:spcBef>
                <a:spcPts val="1000"/>
              </a:spcBef>
            </a:pPr>
            <a:r>
              <a:rPr lang="en-US" sz="1700" kern="1200" dirty="0">
                <a:latin typeface="+mn-lt"/>
                <a:ea typeface="+mn-ea"/>
                <a:cs typeface="+mn-cs"/>
              </a:rPr>
              <a:t>Islam (Akef) Ebeid</a:t>
            </a:r>
          </a:p>
          <a:p>
            <a:pPr>
              <a:lnSpc>
                <a:spcPct val="90000"/>
              </a:lnSpc>
              <a:spcBef>
                <a:spcPts val="1000"/>
              </a:spcBef>
            </a:pPr>
            <a:r>
              <a:rPr lang="en-US" sz="1700" kern="1200" dirty="0">
                <a:latin typeface="+mn-lt"/>
                <a:ea typeface="+mn-ea"/>
                <a:cs typeface="+mn-cs"/>
              </a:rPr>
              <a:t>PhD Candidate (ABD) @ University of Arkansas at Little Rock Expected May 2022</a:t>
            </a:r>
          </a:p>
          <a:p>
            <a:pPr>
              <a:lnSpc>
                <a:spcPct val="90000"/>
              </a:lnSpc>
              <a:spcBef>
                <a:spcPts val="1000"/>
              </a:spcBef>
            </a:pPr>
            <a:r>
              <a:rPr lang="en-US" sz="1700" kern="1200" dirty="0">
                <a:latin typeface="+mn-lt"/>
                <a:ea typeface="+mn-ea"/>
                <a:cs typeface="+mn-cs"/>
              </a:rPr>
              <a:t>iaebeid@ualr.edu</a:t>
            </a:r>
          </a:p>
        </p:txBody>
      </p:sp>
      <p:sp>
        <p:nvSpPr>
          <p:cNvPr id="8" name="TextBox 7">
            <a:extLst>
              <a:ext uri="{FF2B5EF4-FFF2-40B4-BE49-F238E27FC236}">
                <a16:creationId xmlns:a16="http://schemas.microsoft.com/office/drawing/2014/main" id="{224C90A8-4362-4884-A55D-5A2DC2BB5669}"/>
              </a:ext>
            </a:extLst>
          </p:cNvPr>
          <p:cNvSpPr txBox="1"/>
          <p:nvPr/>
        </p:nvSpPr>
        <p:spPr>
          <a:xfrm>
            <a:off x="824677" y="5020167"/>
            <a:ext cx="10542645" cy="1071561"/>
          </a:xfrm>
          <a:prstGeom prst="rect">
            <a:avLst/>
          </a:prstGeom>
        </p:spPr>
        <p:txBody>
          <a:bodyPr vert="horz" lIns="91440" tIns="45720" rIns="91440" bIns="45720" rtlCol="0" anchor="ctr">
            <a:normAutofit/>
          </a:bodyPr>
          <a:lstStyle/>
          <a:p>
            <a:pPr>
              <a:lnSpc>
                <a:spcPct val="90000"/>
              </a:lnSpc>
              <a:spcAft>
                <a:spcPts val="600"/>
              </a:spcAft>
            </a:pPr>
            <a:r>
              <a:rPr lang="en-US" sz="1600" dirty="0"/>
              <a:t>Cen, Y., Zou, X., Zhang, J., Yang, H., Zhou, J., &amp; Tang, J. (2019, July). </a:t>
            </a:r>
            <a:r>
              <a:rPr lang="en-US" sz="1600" b="1" dirty="0"/>
              <a:t>Representation learning for attributed multiplex heterogeneous network</a:t>
            </a:r>
            <a:r>
              <a:rPr lang="en-US" sz="1600" dirty="0"/>
              <a:t>. In Proceedings of the 25th ACM SIGKDD International Conference on Knowledge Discovery &amp; Data Mining (pp. 1358-1368).</a:t>
            </a:r>
          </a:p>
        </p:txBody>
      </p:sp>
    </p:spTree>
    <p:extLst>
      <p:ext uri="{BB962C8B-B14F-4D97-AF65-F5344CB8AC3E}">
        <p14:creationId xmlns:p14="http://schemas.microsoft.com/office/powerpoint/2010/main" val="1677968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calendar&#10;&#10;Description automatically generated">
            <a:extLst>
              <a:ext uri="{FF2B5EF4-FFF2-40B4-BE49-F238E27FC236}">
                <a16:creationId xmlns:a16="http://schemas.microsoft.com/office/drawing/2014/main" id="{9F6E8E9E-8876-456B-B9C1-4F9CB7929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654175"/>
            <a:ext cx="5943600" cy="3549650"/>
          </a:xfrm>
          <a:prstGeom prst="rect">
            <a:avLst/>
          </a:prstGeom>
        </p:spPr>
      </p:pic>
      <p:sp>
        <p:nvSpPr>
          <p:cNvPr id="6" name="TextBox 5">
            <a:extLst>
              <a:ext uri="{FF2B5EF4-FFF2-40B4-BE49-F238E27FC236}">
                <a16:creationId xmlns:a16="http://schemas.microsoft.com/office/drawing/2014/main" id="{01136934-F228-40F1-AF88-2DCC9F0C06D2}"/>
              </a:ext>
            </a:extLst>
          </p:cNvPr>
          <p:cNvSpPr txBox="1"/>
          <p:nvPr/>
        </p:nvSpPr>
        <p:spPr>
          <a:xfrm>
            <a:off x="3309256" y="5968778"/>
            <a:ext cx="5573487" cy="261610"/>
          </a:xfrm>
          <a:prstGeom prst="rect">
            <a:avLst/>
          </a:prstGeom>
          <a:noFill/>
        </p:spPr>
        <p:txBody>
          <a:bodyPr wrap="square">
            <a:spAutoFit/>
          </a:bodyPr>
          <a:lstStyle/>
          <a:p>
            <a:r>
              <a:rPr lang="en-US" sz="1100" dirty="0"/>
              <a:t>West, D. B. (2001). Introduction to graph theory (Vol. 2). Upper Saddle River: Prentice hall.</a:t>
            </a:r>
          </a:p>
        </p:txBody>
      </p:sp>
      <p:sp>
        <p:nvSpPr>
          <p:cNvPr id="5" name="Title 4">
            <a:extLst>
              <a:ext uri="{FF2B5EF4-FFF2-40B4-BE49-F238E27FC236}">
                <a16:creationId xmlns:a16="http://schemas.microsoft.com/office/drawing/2014/main" id="{DB820549-3AA3-4F16-828D-8E7D941253C0}"/>
              </a:ext>
            </a:extLst>
          </p:cNvPr>
          <p:cNvSpPr>
            <a:spLocks noGrp="1"/>
          </p:cNvSpPr>
          <p:nvPr>
            <p:ph type="title"/>
          </p:nvPr>
        </p:nvSpPr>
        <p:spPr>
          <a:xfrm>
            <a:off x="657224" y="499533"/>
            <a:ext cx="10772775" cy="830333"/>
          </a:xfrm>
        </p:spPr>
        <p:txBody>
          <a:bodyPr/>
          <a:lstStyle/>
          <a:p>
            <a:r>
              <a:rPr lang="en-US" dirty="0"/>
              <a:t>Graph Theory</a:t>
            </a:r>
          </a:p>
        </p:txBody>
      </p:sp>
      <p:sp>
        <p:nvSpPr>
          <p:cNvPr id="3" name="Date Placeholder 2">
            <a:extLst>
              <a:ext uri="{FF2B5EF4-FFF2-40B4-BE49-F238E27FC236}">
                <a16:creationId xmlns:a16="http://schemas.microsoft.com/office/drawing/2014/main" id="{23E24E1D-C93D-4465-9382-5DA1AA46A8DD}"/>
              </a:ext>
            </a:extLst>
          </p:cNvPr>
          <p:cNvSpPr>
            <a:spLocks noGrp="1"/>
          </p:cNvSpPr>
          <p:nvPr>
            <p:ph type="dt" sz="half" idx="10"/>
          </p:nvPr>
        </p:nvSpPr>
        <p:spPr/>
        <p:txBody>
          <a:bodyPr/>
          <a:lstStyle/>
          <a:p>
            <a:fld id="{1F1C80D6-24AD-434E-A55A-16351A4D373D}" type="datetime1">
              <a:rPr lang="en-US" smtClean="0"/>
              <a:t>3/1/2022</a:t>
            </a:fld>
            <a:endParaRPr lang="en-US"/>
          </a:p>
        </p:txBody>
      </p:sp>
      <p:sp>
        <p:nvSpPr>
          <p:cNvPr id="7" name="Footer Placeholder 6">
            <a:extLst>
              <a:ext uri="{FF2B5EF4-FFF2-40B4-BE49-F238E27FC236}">
                <a16:creationId xmlns:a16="http://schemas.microsoft.com/office/drawing/2014/main" id="{5F9B784E-4976-4E4D-ACC3-856778EB00D0}"/>
              </a:ext>
            </a:extLst>
          </p:cNvPr>
          <p:cNvSpPr>
            <a:spLocks noGrp="1"/>
          </p:cNvSpPr>
          <p:nvPr>
            <p:ph type="ftr" sz="quarter" idx="11"/>
          </p:nvPr>
        </p:nvSpPr>
        <p:spPr/>
        <p:txBody>
          <a:bodyPr/>
          <a:lstStyle/>
          <a:p>
            <a:r>
              <a:rPr lang="en-US" dirty="0"/>
              <a:t>Ebeid – Spring 2022</a:t>
            </a:r>
          </a:p>
        </p:txBody>
      </p:sp>
      <p:sp>
        <p:nvSpPr>
          <p:cNvPr id="8" name="Slide Number Placeholder 7">
            <a:extLst>
              <a:ext uri="{FF2B5EF4-FFF2-40B4-BE49-F238E27FC236}">
                <a16:creationId xmlns:a16="http://schemas.microsoft.com/office/drawing/2014/main" id="{00228C36-7A91-4FA8-9FEC-F95524C4B096}"/>
              </a:ext>
            </a:extLst>
          </p:cNvPr>
          <p:cNvSpPr>
            <a:spLocks noGrp="1"/>
          </p:cNvSpPr>
          <p:nvPr>
            <p:ph type="sldNum" sz="quarter" idx="12"/>
          </p:nvPr>
        </p:nvSpPr>
        <p:spPr/>
        <p:txBody>
          <a:bodyPr/>
          <a:lstStyle/>
          <a:p>
            <a:fld id="{41FC3AD2-D417-4C57-853C-2151CF039A96}" type="slidenum">
              <a:rPr lang="en-US" smtClean="0"/>
              <a:t>2</a:t>
            </a:fld>
            <a:endParaRPr lang="en-US"/>
          </a:p>
        </p:txBody>
      </p:sp>
    </p:spTree>
    <p:extLst>
      <p:ext uri="{BB962C8B-B14F-4D97-AF65-F5344CB8AC3E}">
        <p14:creationId xmlns:p14="http://schemas.microsoft.com/office/powerpoint/2010/main" val="236773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lendar&#10;&#10;Description automatically generated">
            <a:extLst>
              <a:ext uri="{FF2B5EF4-FFF2-40B4-BE49-F238E27FC236}">
                <a16:creationId xmlns:a16="http://schemas.microsoft.com/office/drawing/2014/main" id="{3BA98DEE-DFE6-48D4-B463-B703586B9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696402"/>
            <a:ext cx="5943600" cy="3465195"/>
          </a:xfrm>
          <a:prstGeom prst="rect">
            <a:avLst/>
          </a:prstGeom>
        </p:spPr>
      </p:pic>
      <p:sp>
        <p:nvSpPr>
          <p:cNvPr id="4" name="TextBox 3">
            <a:extLst>
              <a:ext uri="{FF2B5EF4-FFF2-40B4-BE49-F238E27FC236}">
                <a16:creationId xmlns:a16="http://schemas.microsoft.com/office/drawing/2014/main" id="{650B5579-0F4E-413E-B92E-93A4D8C0A4D9}"/>
              </a:ext>
            </a:extLst>
          </p:cNvPr>
          <p:cNvSpPr txBox="1"/>
          <p:nvPr/>
        </p:nvSpPr>
        <p:spPr>
          <a:xfrm>
            <a:off x="3309256" y="5947006"/>
            <a:ext cx="5573487" cy="261610"/>
          </a:xfrm>
          <a:prstGeom prst="rect">
            <a:avLst/>
          </a:prstGeom>
          <a:noFill/>
        </p:spPr>
        <p:txBody>
          <a:bodyPr wrap="square">
            <a:spAutoFit/>
          </a:bodyPr>
          <a:lstStyle/>
          <a:p>
            <a:r>
              <a:rPr lang="en-US" sz="1100" dirty="0"/>
              <a:t>West, D. B. (2001). Introduction to graph theory (Vol. 2). Upper Saddle River: Prentice hall.</a:t>
            </a:r>
          </a:p>
        </p:txBody>
      </p:sp>
      <p:sp>
        <p:nvSpPr>
          <p:cNvPr id="3" name="Title 2">
            <a:extLst>
              <a:ext uri="{FF2B5EF4-FFF2-40B4-BE49-F238E27FC236}">
                <a16:creationId xmlns:a16="http://schemas.microsoft.com/office/drawing/2014/main" id="{8F634BB3-478E-4C2D-9301-860CC250DB17}"/>
              </a:ext>
            </a:extLst>
          </p:cNvPr>
          <p:cNvSpPr>
            <a:spLocks noGrp="1"/>
          </p:cNvSpPr>
          <p:nvPr>
            <p:ph type="title"/>
          </p:nvPr>
        </p:nvSpPr>
        <p:spPr>
          <a:xfrm>
            <a:off x="657224" y="499533"/>
            <a:ext cx="10772775" cy="850788"/>
          </a:xfrm>
        </p:spPr>
        <p:txBody>
          <a:bodyPr/>
          <a:lstStyle/>
          <a:p>
            <a:r>
              <a:rPr lang="en-US" dirty="0"/>
              <a:t>Graph Theory</a:t>
            </a:r>
          </a:p>
        </p:txBody>
      </p:sp>
      <p:sp>
        <p:nvSpPr>
          <p:cNvPr id="5" name="Date Placeholder 4">
            <a:extLst>
              <a:ext uri="{FF2B5EF4-FFF2-40B4-BE49-F238E27FC236}">
                <a16:creationId xmlns:a16="http://schemas.microsoft.com/office/drawing/2014/main" id="{F6CD334F-D6CC-4729-9FDD-BB59666A80C6}"/>
              </a:ext>
            </a:extLst>
          </p:cNvPr>
          <p:cNvSpPr>
            <a:spLocks noGrp="1"/>
          </p:cNvSpPr>
          <p:nvPr>
            <p:ph type="dt" sz="half" idx="10"/>
          </p:nvPr>
        </p:nvSpPr>
        <p:spPr/>
        <p:txBody>
          <a:bodyPr/>
          <a:lstStyle/>
          <a:p>
            <a:fld id="{2B27430F-C001-4A18-9F0F-53D0858B7D89}" type="datetime1">
              <a:rPr lang="en-US" smtClean="0"/>
              <a:t>3/1/2022</a:t>
            </a:fld>
            <a:endParaRPr lang="en-US"/>
          </a:p>
        </p:txBody>
      </p:sp>
      <p:sp>
        <p:nvSpPr>
          <p:cNvPr id="6" name="Footer Placeholder 5">
            <a:extLst>
              <a:ext uri="{FF2B5EF4-FFF2-40B4-BE49-F238E27FC236}">
                <a16:creationId xmlns:a16="http://schemas.microsoft.com/office/drawing/2014/main" id="{356D4D5A-E042-441B-8E71-9C7AF6715B83}"/>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1EF6B522-6290-41BB-AC04-DA04EA070F7E}"/>
              </a:ext>
            </a:extLst>
          </p:cNvPr>
          <p:cNvSpPr>
            <a:spLocks noGrp="1"/>
          </p:cNvSpPr>
          <p:nvPr>
            <p:ph type="sldNum" sz="quarter" idx="12"/>
          </p:nvPr>
        </p:nvSpPr>
        <p:spPr/>
        <p:txBody>
          <a:bodyPr/>
          <a:lstStyle/>
          <a:p>
            <a:fld id="{41FC3AD2-D417-4C57-853C-2151CF039A96}" type="slidenum">
              <a:rPr lang="en-US" smtClean="0"/>
              <a:t>3</a:t>
            </a:fld>
            <a:endParaRPr lang="en-US"/>
          </a:p>
        </p:txBody>
      </p:sp>
    </p:spTree>
    <p:extLst>
      <p:ext uri="{BB962C8B-B14F-4D97-AF65-F5344CB8AC3E}">
        <p14:creationId xmlns:p14="http://schemas.microsoft.com/office/powerpoint/2010/main" val="1444918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01307-7E9E-4219-B53C-F4245C2312A8}"/>
              </a:ext>
            </a:extLst>
          </p:cNvPr>
          <p:cNvSpPr>
            <a:spLocks noGrp="1"/>
          </p:cNvSpPr>
          <p:nvPr>
            <p:ph type="title"/>
          </p:nvPr>
        </p:nvSpPr>
        <p:spPr>
          <a:xfrm>
            <a:off x="657224" y="499533"/>
            <a:ext cx="10772775" cy="750147"/>
          </a:xfrm>
        </p:spPr>
        <p:txBody>
          <a:bodyPr>
            <a:normAutofit fontScale="90000"/>
          </a:bodyPr>
          <a:lstStyle/>
          <a:p>
            <a:r>
              <a:rPr lang="en-US" dirty="0"/>
              <a:t>Network Science &amp; Graph Analytics</a:t>
            </a:r>
          </a:p>
        </p:txBody>
      </p:sp>
      <p:sp>
        <p:nvSpPr>
          <p:cNvPr id="3" name="Date Placeholder 2">
            <a:extLst>
              <a:ext uri="{FF2B5EF4-FFF2-40B4-BE49-F238E27FC236}">
                <a16:creationId xmlns:a16="http://schemas.microsoft.com/office/drawing/2014/main" id="{1D2486AB-8426-4B27-8F58-A960CE0F6270}"/>
              </a:ext>
            </a:extLst>
          </p:cNvPr>
          <p:cNvSpPr>
            <a:spLocks noGrp="1"/>
          </p:cNvSpPr>
          <p:nvPr>
            <p:ph type="dt" sz="half" idx="10"/>
          </p:nvPr>
        </p:nvSpPr>
        <p:spPr/>
        <p:txBody>
          <a:bodyPr/>
          <a:lstStyle/>
          <a:p>
            <a:fld id="{2D967427-F860-4FAB-9E08-82247A7A6839}" type="datetime1">
              <a:rPr lang="en-US" smtClean="0"/>
              <a:pPr/>
              <a:t>3/1/2022</a:t>
            </a:fld>
            <a:endParaRPr lang="en-US"/>
          </a:p>
        </p:txBody>
      </p:sp>
      <p:sp>
        <p:nvSpPr>
          <p:cNvPr id="5" name="Footer Placeholder 4">
            <a:extLst>
              <a:ext uri="{FF2B5EF4-FFF2-40B4-BE49-F238E27FC236}">
                <a16:creationId xmlns:a16="http://schemas.microsoft.com/office/drawing/2014/main" id="{A1948000-7E66-4163-A1F5-899288AD2E69}"/>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B7AB471F-77AD-46E6-AC1F-03A3647C539D}"/>
              </a:ext>
            </a:extLst>
          </p:cNvPr>
          <p:cNvSpPr>
            <a:spLocks noGrp="1"/>
          </p:cNvSpPr>
          <p:nvPr>
            <p:ph type="sldNum" sz="quarter" idx="12"/>
          </p:nvPr>
        </p:nvSpPr>
        <p:spPr/>
        <p:txBody>
          <a:bodyPr/>
          <a:lstStyle/>
          <a:p>
            <a:fld id="{41FC3AD2-D417-4C57-853C-2151CF039A96}" type="slidenum">
              <a:rPr lang="en-US" smtClean="0"/>
              <a:pPr/>
              <a:t>4</a:t>
            </a:fld>
            <a:endParaRPr lang="en-US"/>
          </a:p>
        </p:txBody>
      </p:sp>
      <p:pic>
        <p:nvPicPr>
          <p:cNvPr id="4" name="Picture 3" descr="Chart, bubble chart&#10;&#10;Description automatically generated">
            <a:extLst>
              <a:ext uri="{FF2B5EF4-FFF2-40B4-BE49-F238E27FC236}">
                <a16:creationId xmlns:a16="http://schemas.microsoft.com/office/drawing/2014/main" id="{3D7985C0-DC92-482B-90AC-5BA5DECF1C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075" y="1105251"/>
            <a:ext cx="3689005" cy="4378642"/>
          </a:xfrm>
          <a:prstGeom prst="rect">
            <a:avLst/>
          </a:prstGeom>
        </p:spPr>
      </p:pic>
      <p:sp>
        <p:nvSpPr>
          <p:cNvPr id="38" name="TextBox 37">
            <a:extLst>
              <a:ext uri="{FF2B5EF4-FFF2-40B4-BE49-F238E27FC236}">
                <a16:creationId xmlns:a16="http://schemas.microsoft.com/office/drawing/2014/main" id="{23DCA4AE-854C-4CD0-A215-ECF25B5F2E4C}"/>
              </a:ext>
            </a:extLst>
          </p:cNvPr>
          <p:cNvSpPr txBox="1"/>
          <p:nvPr/>
        </p:nvSpPr>
        <p:spPr>
          <a:xfrm>
            <a:off x="606970" y="5564994"/>
            <a:ext cx="11204029" cy="430887"/>
          </a:xfrm>
          <a:prstGeom prst="rect">
            <a:avLst/>
          </a:prstGeom>
          <a:noFill/>
        </p:spPr>
        <p:txBody>
          <a:bodyPr wrap="square">
            <a:spAutoFit/>
          </a:bodyPr>
          <a:lstStyle/>
          <a:p>
            <a:r>
              <a:rPr lang="en-US" sz="1100" dirty="0"/>
              <a:t>Cheng, F., Desai, R. J., Handy, D. E., Wang, R., </a:t>
            </a:r>
            <a:r>
              <a:rPr lang="en-US" sz="1100" dirty="0" err="1"/>
              <a:t>Schneeweiss</a:t>
            </a:r>
            <a:r>
              <a:rPr lang="en-US" sz="1100" dirty="0"/>
              <a:t>, S., </a:t>
            </a:r>
            <a:r>
              <a:rPr lang="en-US" sz="1100" dirty="0" err="1"/>
              <a:t>Barabási</a:t>
            </a:r>
            <a:r>
              <a:rPr lang="en-US" sz="1100" dirty="0"/>
              <a:t>, A. L., &amp; </a:t>
            </a:r>
            <a:r>
              <a:rPr lang="en-US" sz="1100" dirty="0" err="1"/>
              <a:t>Loscalzo</a:t>
            </a:r>
            <a:r>
              <a:rPr lang="en-US" sz="1100" dirty="0"/>
              <a:t>, J. (2018). Network-based approach to prediction and population-based validation of in silico drug repurposing. Nature communications, 9(1), 1-12.</a:t>
            </a:r>
          </a:p>
        </p:txBody>
      </p:sp>
    </p:spTree>
    <p:extLst>
      <p:ext uri="{BB962C8B-B14F-4D97-AF65-F5344CB8AC3E}">
        <p14:creationId xmlns:p14="http://schemas.microsoft.com/office/powerpoint/2010/main" val="378238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B96E5-DD69-4FE1-8145-363BE4F1A99F}"/>
              </a:ext>
            </a:extLst>
          </p:cNvPr>
          <p:cNvSpPr>
            <a:spLocks noGrp="1"/>
          </p:cNvSpPr>
          <p:nvPr>
            <p:ph type="title"/>
          </p:nvPr>
        </p:nvSpPr>
        <p:spPr/>
        <p:txBody>
          <a:bodyPr/>
          <a:lstStyle/>
          <a:p>
            <a:r>
              <a:rPr lang="en-US" dirty="0"/>
              <a:t>Graph Sampling and Random Walking</a:t>
            </a:r>
          </a:p>
        </p:txBody>
      </p:sp>
      <p:sp>
        <p:nvSpPr>
          <p:cNvPr id="43" name="Date Placeholder 42">
            <a:extLst>
              <a:ext uri="{FF2B5EF4-FFF2-40B4-BE49-F238E27FC236}">
                <a16:creationId xmlns:a16="http://schemas.microsoft.com/office/drawing/2014/main" id="{F8323888-0F9B-4EC1-A59F-74CDFE3B69E1}"/>
              </a:ext>
            </a:extLst>
          </p:cNvPr>
          <p:cNvSpPr>
            <a:spLocks noGrp="1"/>
          </p:cNvSpPr>
          <p:nvPr>
            <p:ph type="dt" sz="half" idx="10"/>
          </p:nvPr>
        </p:nvSpPr>
        <p:spPr/>
        <p:txBody>
          <a:bodyPr/>
          <a:lstStyle/>
          <a:p>
            <a:fld id="{D5321887-CFEA-486E-B8BA-BFFD265E785A}" type="datetime1">
              <a:rPr lang="en-US" smtClean="0"/>
              <a:t>3/1/2022</a:t>
            </a:fld>
            <a:endParaRPr lang="en-US"/>
          </a:p>
        </p:txBody>
      </p:sp>
      <p:sp>
        <p:nvSpPr>
          <p:cNvPr id="44" name="Footer Placeholder 43">
            <a:extLst>
              <a:ext uri="{FF2B5EF4-FFF2-40B4-BE49-F238E27FC236}">
                <a16:creationId xmlns:a16="http://schemas.microsoft.com/office/drawing/2014/main" id="{01C0F530-0EF1-404A-BC3F-47B27CB61FC4}"/>
              </a:ext>
            </a:extLst>
          </p:cNvPr>
          <p:cNvSpPr>
            <a:spLocks noGrp="1"/>
          </p:cNvSpPr>
          <p:nvPr>
            <p:ph type="ftr" sz="quarter" idx="11"/>
          </p:nvPr>
        </p:nvSpPr>
        <p:spPr/>
        <p:txBody>
          <a:bodyPr/>
          <a:lstStyle/>
          <a:p>
            <a:r>
              <a:rPr lang="en-US" dirty="0"/>
              <a:t>Ebeid – Spring 2022</a:t>
            </a:r>
          </a:p>
        </p:txBody>
      </p:sp>
      <p:sp>
        <p:nvSpPr>
          <p:cNvPr id="45" name="Slide Number Placeholder 44">
            <a:extLst>
              <a:ext uri="{FF2B5EF4-FFF2-40B4-BE49-F238E27FC236}">
                <a16:creationId xmlns:a16="http://schemas.microsoft.com/office/drawing/2014/main" id="{AC7A25B8-3BB5-493D-AD81-9A78486A2CA2}"/>
              </a:ext>
            </a:extLst>
          </p:cNvPr>
          <p:cNvSpPr>
            <a:spLocks noGrp="1"/>
          </p:cNvSpPr>
          <p:nvPr>
            <p:ph type="sldNum" sz="quarter" idx="12"/>
          </p:nvPr>
        </p:nvSpPr>
        <p:spPr/>
        <p:txBody>
          <a:bodyPr/>
          <a:lstStyle/>
          <a:p>
            <a:fld id="{41FC3AD2-D417-4C57-853C-2151CF039A96}" type="slidenum">
              <a:rPr lang="en-US" smtClean="0"/>
              <a:t>5</a:t>
            </a:fld>
            <a:endParaRPr lang="en-US"/>
          </a:p>
        </p:txBody>
      </p:sp>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5546A88B-EB95-4023-A604-9E7D6E34E211}"/>
                  </a:ext>
                </a:extLst>
              </p:cNvPr>
              <p:cNvSpPr/>
              <p:nvPr/>
            </p:nvSpPr>
            <p:spPr>
              <a:xfrm>
                <a:off x="3425833" y="2833522"/>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1</m:t>
                          </m:r>
                        </m:sub>
                      </m:sSub>
                    </m:oMath>
                  </m:oMathPara>
                </a14:m>
                <a:endParaRPr lang="en-US" sz="762" dirty="0"/>
              </a:p>
            </p:txBody>
          </p:sp>
        </mc:Choice>
        <mc:Fallback xmlns="">
          <p:sp>
            <p:nvSpPr>
              <p:cNvPr id="3" name="Oval 2">
                <a:extLst>
                  <a:ext uri="{FF2B5EF4-FFF2-40B4-BE49-F238E27FC236}">
                    <a16:creationId xmlns:a16="http://schemas.microsoft.com/office/drawing/2014/main" id="{5546A88B-EB95-4023-A604-9E7D6E34E211}"/>
                  </a:ext>
                </a:extLst>
              </p:cNvPr>
              <p:cNvSpPr>
                <a:spLocks noRot="1" noChangeAspect="1" noMove="1" noResize="1" noEditPoints="1" noAdjustHandles="1" noChangeArrowheads="1" noChangeShapeType="1" noTextEdit="1"/>
              </p:cNvSpPr>
              <p:nvPr/>
            </p:nvSpPr>
            <p:spPr>
              <a:xfrm>
                <a:off x="3425833" y="2833522"/>
                <a:ext cx="268365" cy="248350"/>
              </a:xfrm>
              <a:prstGeom prst="ellipse">
                <a:avLst/>
              </a:prstGeom>
              <a:blipFill>
                <a:blip r:embed="rId3"/>
                <a:stretch>
                  <a:fillRect/>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3EA35C21-4A07-44A6-A276-ACB7D419B3AD}"/>
              </a:ext>
            </a:extLst>
          </p:cNvPr>
          <p:cNvCxnSpPr>
            <a:cxnSpLocks/>
            <a:stCxn id="3" idx="6"/>
            <a:endCxn id="12" idx="2"/>
          </p:cNvCxnSpPr>
          <p:nvPr/>
        </p:nvCxnSpPr>
        <p:spPr>
          <a:xfrm flipV="1">
            <a:off x="3694198" y="2833522"/>
            <a:ext cx="206784" cy="124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1562D96-256F-4F02-8BC1-E2903131D1CE}"/>
              </a:ext>
            </a:extLst>
          </p:cNvPr>
          <p:cNvCxnSpPr>
            <a:cxnSpLocks/>
            <a:stCxn id="13" idx="5"/>
            <a:endCxn id="16" idx="1"/>
          </p:cNvCxnSpPr>
          <p:nvPr/>
        </p:nvCxnSpPr>
        <p:spPr>
          <a:xfrm>
            <a:off x="4620281" y="2983415"/>
            <a:ext cx="55186" cy="117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D1AA2D9-254B-46CF-AF50-803AF343BD42}"/>
              </a:ext>
            </a:extLst>
          </p:cNvPr>
          <p:cNvCxnSpPr>
            <a:cxnSpLocks/>
            <a:stCxn id="14" idx="5"/>
            <a:endCxn id="15" idx="1"/>
          </p:cNvCxnSpPr>
          <p:nvPr/>
        </p:nvCxnSpPr>
        <p:spPr>
          <a:xfrm>
            <a:off x="3931201" y="3567265"/>
            <a:ext cx="210160" cy="28332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868EF8-822C-4AB2-A0E6-A47722CFB038}"/>
              </a:ext>
            </a:extLst>
          </p:cNvPr>
          <p:cNvCxnSpPr>
            <a:cxnSpLocks/>
            <a:stCxn id="16" idx="4"/>
            <a:endCxn id="15" idx="7"/>
          </p:cNvCxnSpPr>
          <p:nvPr/>
        </p:nvCxnSpPr>
        <p:spPr>
          <a:xfrm flipH="1">
            <a:off x="4331123" y="3312832"/>
            <a:ext cx="439225" cy="53776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0F3F354-6DD6-4F72-89A1-FEB6E99A8332}"/>
              </a:ext>
            </a:extLst>
          </p:cNvPr>
          <p:cNvCxnSpPr>
            <a:cxnSpLocks/>
            <a:stCxn id="13" idx="3"/>
            <a:endCxn id="14" idx="7"/>
          </p:cNvCxnSpPr>
          <p:nvPr/>
        </p:nvCxnSpPr>
        <p:spPr>
          <a:xfrm flipH="1">
            <a:off x="3931201" y="2983415"/>
            <a:ext cx="499317" cy="40824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FBF4498-200B-451E-9988-0B4DDEA04E0E}"/>
              </a:ext>
            </a:extLst>
          </p:cNvPr>
          <p:cNvCxnSpPr>
            <a:cxnSpLocks/>
            <a:stCxn id="16" idx="2"/>
            <a:endCxn id="14" idx="6"/>
          </p:cNvCxnSpPr>
          <p:nvPr/>
        </p:nvCxnSpPr>
        <p:spPr>
          <a:xfrm flipH="1">
            <a:off x="3970502" y="3188658"/>
            <a:ext cx="665664" cy="2908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EAB27A-24E5-4A8C-8D6A-F68985E410CA}"/>
              </a:ext>
            </a:extLst>
          </p:cNvPr>
          <p:cNvCxnSpPr>
            <a:cxnSpLocks/>
            <a:stCxn id="13" idx="2"/>
            <a:endCxn id="12" idx="6"/>
          </p:cNvCxnSpPr>
          <p:nvPr/>
        </p:nvCxnSpPr>
        <p:spPr>
          <a:xfrm flipH="1" flipV="1">
            <a:off x="4169346" y="2833522"/>
            <a:ext cx="221870" cy="620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Arrow: Right 10">
            <a:extLst>
              <a:ext uri="{FF2B5EF4-FFF2-40B4-BE49-F238E27FC236}">
                <a16:creationId xmlns:a16="http://schemas.microsoft.com/office/drawing/2014/main" id="{D32FB358-FA74-4008-AD8A-AB3C67164BDB}"/>
              </a:ext>
            </a:extLst>
          </p:cNvPr>
          <p:cNvSpPr/>
          <p:nvPr/>
        </p:nvSpPr>
        <p:spPr>
          <a:xfrm>
            <a:off x="5126682" y="3228404"/>
            <a:ext cx="313822" cy="1395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14"/>
          </a:p>
        </p:txBody>
      </p: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761510E7-0FFC-49CD-A26A-BC078B133BDC}"/>
                  </a:ext>
                </a:extLst>
              </p:cNvPr>
              <p:cNvSpPr/>
              <p:nvPr/>
            </p:nvSpPr>
            <p:spPr>
              <a:xfrm>
                <a:off x="3900982" y="2709347"/>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2</m:t>
                          </m:r>
                        </m:sub>
                      </m:sSub>
                    </m:oMath>
                  </m:oMathPara>
                </a14:m>
                <a:endParaRPr lang="en-US" sz="762" dirty="0"/>
              </a:p>
            </p:txBody>
          </p:sp>
        </mc:Choice>
        <mc:Fallback xmlns="">
          <p:sp>
            <p:nvSpPr>
              <p:cNvPr id="12" name="Oval 11">
                <a:extLst>
                  <a:ext uri="{FF2B5EF4-FFF2-40B4-BE49-F238E27FC236}">
                    <a16:creationId xmlns:a16="http://schemas.microsoft.com/office/drawing/2014/main" id="{761510E7-0FFC-49CD-A26A-BC078B133BDC}"/>
                  </a:ext>
                </a:extLst>
              </p:cNvPr>
              <p:cNvSpPr>
                <a:spLocks noRot="1" noChangeAspect="1" noMove="1" noResize="1" noEditPoints="1" noAdjustHandles="1" noChangeArrowheads="1" noChangeShapeType="1" noTextEdit="1"/>
              </p:cNvSpPr>
              <p:nvPr/>
            </p:nvSpPr>
            <p:spPr>
              <a:xfrm>
                <a:off x="3900982" y="2709347"/>
                <a:ext cx="268365" cy="24835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6D0A3C52-A960-4D90-B9AE-A13A35EED110}"/>
                  </a:ext>
                </a:extLst>
              </p:cNvPr>
              <p:cNvSpPr/>
              <p:nvPr/>
            </p:nvSpPr>
            <p:spPr>
              <a:xfrm>
                <a:off x="4391217" y="277143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3</m:t>
                          </m:r>
                        </m:sub>
                      </m:sSub>
                    </m:oMath>
                  </m:oMathPara>
                </a14:m>
                <a:endParaRPr lang="en-US" sz="762" dirty="0"/>
              </a:p>
            </p:txBody>
          </p:sp>
        </mc:Choice>
        <mc:Fallback xmlns="">
          <p:sp>
            <p:nvSpPr>
              <p:cNvPr id="13" name="Oval 12">
                <a:extLst>
                  <a:ext uri="{FF2B5EF4-FFF2-40B4-BE49-F238E27FC236}">
                    <a16:creationId xmlns:a16="http://schemas.microsoft.com/office/drawing/2014/main" id="{6D0A3C52-A960-4D90-B9AE-A13A35EED110}"/>
                  </a:ext>
                </a:extLst>
              </p:cNvPr>
              <p:cNvSpPr>
                <a:spLocks noRot="1" noChangeAspect="1" noMove="1" noResize="1" noEditPoints="1" noAdjustHandles="1" noChangeArrowheads="1" noChangeShapeType="1" noTextEdit="1"/>
              </p:cNvSpPr>
              <p:nvPr/>
            </p:nvSpPr>
            <p:spPr>
              <a:xfrm>
                <a:off x="4391217" y="2771435"/>
                <a:ext cx="268365" cy="24835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BA58EDC9-03FF-4129-980C-22AE1DBA61B9}"/>
                  </a:ext>
                </a:extLst>
              </p:cNvPr>
              <p:cNvSpPr/>
              <p:nvPr/>
            </p:nvSpPr>
            <p:spPr>
              <a:xfrm>
                <a:off x="3702137" y="335528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4</m:t>
                          </m:r>
                        </m:sub>
                      </m:sSub>
                    </m:oMath>
                  </m:oMathPara>
                </a14:m>
                <a:endParaRPr lang="en-US" sz="762" dirty="0"/>
              </a:p>
            </p:txBody>
          </p:sp>
        </mc:Choice>
        <mc:Fallback xmlns="">
          <p:sp>
            <p:nvSpPr>
              <p:cNvPr id="14" name="Oval 13">
                <a:extLst>
                  <a:ext uri="{FF2B5EF4-FFF2-40B4-BE49-F238E27FC236}">
                    <a16:creationId xmlns:a16="http://schemas.microsoft.com/office/drawing/2014/main" id="{BA58EDC9-03FF-4129-980C-22AE1DBA61B9}"/>
                  </a:ext>
                </a:extLst>
              </p:cNvPr>
              <p:cNvSpPr>
                <a:spLocks noRot="1" noChangeAspect="1" noMove="1" noResize="1" noEditPoints="1" noAdjustHandles="1" noChangeArrowheads="1" noChangeShapeType="1" noTextEdit="1"/>
              </p:cNvSpPr>
              <p:nvPr/>
            </p:nvSpPr>
            <p:spPr>
              <a:xfrm>
                <a:off x="3702137" y="3355285"/>
                <a:ext cx="268365" cy="24835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33C45956-BDE7-4D55-A7C5-8082A9C9C1CE}"/>
                  </a:ext>
                </a:extLst>
              </p:cNvPr>
              <p:cNvSpPr/>
              <p:nvPr/>
            </p:nvSpPr>
            <p:spPr>
              <a:xfrm>
                <a:off x="4102060" y="3814224"/>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6</m:t>
                          </m:r>
                        </m:sub>
                      </m:sSub>
                    </m:oMath>
                  </m:oMathPara>
                </a14:m>
                <a:endParaRPr lang="en-US" sz="762" dirty="0"/>
              </a:p>
            </p:txBody>
          </p:sp>
        </mc:Choice>
        <mc:Fallback xmlns="">
          <p:sp>
            <p:nvSpPr>
              <p:cNvPr id="15" name="Oval 14">
                <a:extLst>
                  <a:ext uri="{FF2B5EF4-FFF2-40B4-BE49-F238E27FC236}">
                    <a16:creationId xmlns:a16="http://schemas.microsoft.com/office/drawing/2014/main" id="{33C45956-BDE7-4D55-A7C5-8082A9C9C1CE}"/>
                  </a:ext>
                </a:extLst>
              </p:cNvPr>
              <p:cNvSpPr>
                <a:spLocks noRot="1" noChangeAspect="1" noMove="1" noResize="1" noEditPoints="1" noAdjustHandles="1" noChangeArrowheads="1" noChangeShapeType="1" noTextEdit="1"/>
              </p:cNvSpPr>
              <p:nvPr/>
            </p:nvSpPr>
            <p:spPr>
              <a:xfrm>
                <a:off x="4102060" y="3814224"/>
                <a:ext cx="268365" cy="248350"/>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5492BC26-BF7E-437D-BFF0-A755F922905B}"/>
                  </a:ext>
                </a:extLst>
              </p:cNvPr>
              <p:cNvSpPr/>
              <p:nvPr/>
            </p:nvSpPr>
            <p:spPr>
              <a:xfrm>
                <a:off x="4636166" y="3064482"/>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5</m:t>
                          </m:r>
                        </m:sub>
                      </m:sSub>
                    </m:oMath>
                  </m:oMathPara>
                </a14:m>
                <a:endParaRPr lang="en-US" sz="762" dirty="0"/>
              </a:p>
            </p:txBody>
          </p:sp>
        </mc:Choice>
        <mc:Fallback xmlns="">
          <p:sp>
            <p:nvSpPr>
              <p:cNvPr id="16" name="Oval 15">
                <a:extLst>
                  <a:ext uri="{FF2B5EF4-FFF2-40B4-BE49-F238E27FC236}">
                    <a16:creationId xmlns:a16="http://schemas.microsoft.com/office/drawing/2014/main" id="{5492BC26-BF7E-437D-BFF0-A755F922905B}"/>
                  </a:ext>
                </a:extLst>
              </p:cNvPr>
              <p:cNvSpPr>
                <a:spLocks noRot="1" noChangeAspect="1" noMove="1" noResize="1" noEditPoints="1" noAdjustHandles="1" noChangeArrowheads="1" noChangeShapeType="1" noTextEdit="1"/>
              </p:cNvSpPr>
              <p:nvPr/>
            </p:nvSpPr>
            <p:spPr>
              <a:xfrm>
                <a:off x="4636166" y="3064482"/>
                <a:ext cx="268365" cy="248350"/>
              </a:xfrm>
              <a:prstGeom prst="ellipse">
                <a:avLst/>
              </a:prstGeom>
              <a:blipFill>
                <a:blip r:embed="rId8"/>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C79FA579-542F-462D-9AD6-55965546550D}"/>
              </a:ext>
            </a:extLst>
          </p:cNvPr>
          <p:cNvCxnSpPr>
            <a:stCxn id="3" idx="4"/>
            <a:endCxn id="14" idx="1"/>
          </p:cNvCxnSpPr>
          <p:nvPr/>
        </p:nvCxnSpPr>
        <p:spPr>
          <a:xfrm>
            <a:off x="3560016" y="3081872"/>
            <a:ext cx="181422" cy="3097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B1CDEFA-FEDD-45A1-AB60-2F8BB85E5E85}"/>
              </a:ext>
            </a:extLst>
          </p:cNvPr>
          <p:cNvCxnSpPr>
            <a:stCxn id="12" idx="3"/>
            <a:endCxn id="14" idx="0"/>
          </p:cNvCxnSpPr>
          <p:nvPr/>
        </p:nvCxnSpPr>
        <p:spPr>
          <a:xfrm flipH="1">
            <a:off x="3836320" y="2921327"/>
            <a:ext cx="103963" cy="43395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267A9ACB-D21C-4AEA-9EBD-277061E6F923}"/>
                  </a:ext>
                </a:extLst>
              </p:cNvPr>
              <p:cNvSpPr/>
              <p:nvPr/>
            </p:nvSpPr>
            <p:spPr>
              <a:xfrm>
                <a:off x="5634358" y="2460998"/>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1</m:t>
                          </m:r>
                        </m:sub>
                      </m:sSub>
                    </m:oMath>
                  </m:oMathPara>
                </a14:m>
                <a:endParaRPr lang="en-US" sz="762" dirty="0"/>
              </a:p>
            </p:txBody>
          </p:sp>
        </mc:Choice>
        <mc:Fallback xmlns="">
          <p:sp>
            <p:nvSpPr>
              <p:cNvPr id="19" name="Oval 18">
                <a:extLst>
                  <a:ext uri="{FF2B5EF4-FFF2-40B4-BE49-F238E27FC236}">
                    <a16:creationId xmlns:a16="http://schemas.microsoft.com/office/drawing/2014/main" id="{267A9ACB-D21C-4AEA-9EBD-277061E6F923}"/>
                  </a:ext>
                </a:extLst>
              </p:cNvPr>
              <p:cNvSpPr>
                <a:spLocks noRot="1" noChangeAspect="1" noMove="1" noResize="1" noEditPoints="1" noAdjustHandles="1" noChangeArrowheads="1" noChangeShapeType="1" noTextEdit="1"/>
              </p:cNvSpPr>
              <p:nvPr/>
            </p:nvSpPr>
            <p:spPr>
              <a:xfrm>
                <a:off x="5634358" y="2460998"/>
                <a:ext cx="268365" cy="248350"/>
              </a:xfrm>
              <a:prstGeom prst="ellipse">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6A545888-116F-408C-8B5F-333BC6212606}"/>
                  </a:ext>
                </a:extLst>
              </p:cNvPr>
              <p:cNvSpPr/>
              <p:nvPr/>
            </p:nvSpPr>
            <p:spPr>
              <a:xfrm>
                <a:off x="5635471" y="288678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2</m:t>
                          </m:r>
                        </m:sub>
                      </m:sSub>
                    </m:oMath>
                  </m:oMathPara>
                </a14:m>
                <a:endParaRPr lang="en-US" sz="762" dirty="0"/>
              </a:p>
            </p:txBody>
          </p:sp>
        </mc:Choice>
        <mc:Fallback xmlns="">
          <p:sp>
            <p:nvSpPr>
              <p:cNvPr id="20" name="Oval 19">
                <a:extLst>
                  <a:ext uri="{FF2B5EF4-FFF2-40B4-BE49-F238E27FC236}">
                    <a16:creationId xmlns:a16="http://schemas.microsoft.com/office/drawing/2014/main" id="{6A545888-116F-408C-8B5F-333BC6212606}"/>
                  </a:ext>
                </a:extLst>
              </p:cNvPr>
              <p:cNvSpPr>
                <a:spLocks noRot="1" noChangeAspect="1" noMove="1" noResize="1" noEditPoints="1" noAdjustHandles="1" noChangeArrowheads="1" noChangeShapeType="1" noTextEdit="1"/>
              </p:cNvSpPr>
              <p:nvPr/>
            </p:nvSpPr>
            <p:spPr>
              <a:xfrm>
                <a:off x="5635471" y="2886785"/>
                <a:ext cx="268365" cy="248350"/>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29FD3673-89C7-4AF5-98D0-97369F3791D0}"/>
                  </a:ext>
                </a:extLst>
              </p:cNvPr>
              <p:cNvSpPr/>
              <p:nvPr/>
            </p:nvSpPr>
            <p:spPr>
              <a:xfrm>
                <a:off x="5634357" y="339165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3</m:t>
                          </m:r>
                        </m:sub>
                      </m:sSub>
                    </m:oMath>
                  </m:oMathPara>
                </a14:m>
                <a:endParaRPr lang="en-US" sz="762" dirty="0"/>
              </a:p>
            </p:txBody>
          </p:sp>
        </mc:Choice>
        <mc:Fallback xmlns="">
          <p:sp>
            <p:nvSpPr>
              <p:cNvPr id="21" name="Oval 20">
                <a:extLst>
                  <a:ext uri="{FF2B5EF4-FFF2-40B4-BE49-F238E27FC236}">
                    <a16:creationId xmlns:a16="http://schemas.microsoft.com/office/drawing/2014/main" id="{29FD3673-89C7-4AF5-98D0-97369F3791D0}"/>
                  </a:ext>
                </a:extLst>
              </p:cNvPr>
              <p:cNvSpPr>
                <a:spLocks noRot="1" noChangeAspect="1" noMove="1" noResize="1" noEditPoints="1" noAdjustHandles="1" noChangeArrowheads="1" noChangeShapeType="1" noTextEdit="1"/>
              </p:cNvSpPr>
              <p:nvPr/>
            </p:nvSpPr>
            <p:spPr>
              <a:xfrm>
                <a:off x="5634357" y="3391655"/>
                <a:ext cx="268365" cy="248350"/>
              </a:xfrm>
              <a:prstGeom prst="ellipse">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EB11A1F2-90AD-46C8-A85F-72627482E157}"/>
                  </a:ext>
                </a:extLst>
              </p:cNvPr>
              <p:cNvSpPr/>
              <p:nvPr/>
            </p:nvSpPr>
            <p:spPr>
              <a:xfrm>
                <a:off x="5625525" y="3891427"/>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5</m:t>
                          </m:r>
                        </m:sub>
                      </m:sSub>
                    </m:oMath>
                  </m:oMathPara>
                </a14:m>
                <a:endParaRPr lang="en-US" sz="762" dirty="0"/>
              </a:p>
            </p:txBody>
          </p:sp>
        </mc:Choice>
        <mc:Fallback xmlns="">
          <p:sp>
            <p:nvSpPr>
              <p:cNvPr id="22" name="Oval 21">
                <a:extLst>
                  <a:ext uri="{FF2B5EF4-FFF2-40B4-BE49-F238E27FC236}">
                    <a16:creationId xmlns:a16="http://schemas.microsoft.com/office/drawing/2014/main" id="{EB11A1F2-90AD-46C8-A85F-72627482E157}"/>
                  </a:ext>
                </a:extLst>
              </p:cNvPr>
              <p:cNvSpPr>
                <a:spLocks noRot="1" noChangeAspect="1" noMove="1" noResize="1" noEditPoints="1" noAdjustHandles="1" noChangeArrowheads="1" noChangeShapeType="1" noTextEdit="1"/>
              </p:cNvSpPr>
              <p:nvPr/>
            </p:nvSpPr>
            <p:spPr>
              <a:xfrm>
                <a:off x="5625525" y="3891427"/>
                <a:ext cx="268365" cy="248350"/>
              </a:xfrm>
              <a:prstGeom prst="ellipse">
                <a:avLst/>
              </a:prstGeom>
              <a:blipFill>
                <a:blip r:embed="rId12"/>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9BF1720C-CF1C-4D21-91DE-768AE1D8AE64}"/>
              </a:ext>
            </a:extLst>
          </p:cNvPr>
          <p:cNvCxnSpPr>
            <a:stCxn id="19" idx="4"/>
            <a:endCxn id="20" idx="0"/>
          </p:cNvCxnSpPr>
          <p:nvPr/>
        </p:nvCxnSpPr>
        <p:spPr>
          <a:xfrm>
            <a:off x="5768541" y="2709347"/>
            <a:ext cx="1113" cy="177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488A90-9ED9-4AC9-9CBB-41C0D14D3010}"/>
              </a:ext>
            </a:extLst>
          </p:cNvPr>
          <p:cNvCxnSpPr>
            <a:stCxn id="20" idx="4"/>
            <a:endCxn id="21" idx="0"/>
          </p:cNvCxnSpPr>
          <p:nvPr/>
        </p:nvCxnSpPr>
        <p:spPr>
          <a:xfrm flipH="1">
            <a:off x="5768540" y="3135135"/>
            <a:ext cx="1114" cy="256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90F4ED-40CB-446A-813B-B1E0114AE877}"/>
              </a:ext>
            </a:extLst>
          </p:cNvPr>
          <p:cNvCxnSpPr>
            <a:cxnSpLocks/>
            <a:stCxn id="21" idx="4"/>
            <a:endCxn id="22" idx="0"/>
          </p:cNvCxnSpPr>
          <p:nvPr/>
        </p:nvCxnSpPr>
        <p:spPr>
          <a:xfrm flipH="1">
            <a:off x="5759707" y="3640004"/>
            <a:ext cx="8832" cy="25142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8C9E66C5-70DE-4B0D-8BB9-4C705241CEDD}"/>
                  </a:ext>
                </a:extLst>
              </p:cNvPr>
              <p:cNvSpPr/>
              <p:nvPr/>
            </p:nvSpPr>
            <p:spPr>
              <a:xfrm>
                <a:off x="6035792" y="2460997"/>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3</m:t>
                          </m:r>
                        </m:sub>
                      </m:sSub>
                    </m:oMath>
                  </m:oMathPara>
                </a14:m>
                <a:endParaRPr lang="en-US" sz="762" dirty="0"/>
              </a:p>
            </p:txBody>
          </p:sp>
        </mc:Choice>
        <mc:Fallback xmlns="">
          <p:sp>
            <p:nvSpPr>
              <p:cNvPr id="26" name="Oval 25">
                <a:extLst>
                  <a:ext uri="{FF2B5EF4-FFF2-40B4-BE49-F238E27FC236}">
                    <a16:creationId xmlns:a16="http://schemas.microsoft.com/office/drawing/2014/main" id="{8C9E66C5-70DE-4B0D-8BB9-4C705241CEDD}"/>
                  </a:ext>
                </a:extLst>
              </p:cNvPr>
              <p:cNvSpPr>
                <a:spLocks noRot="1" noChangeAspect="1" noMove="1" noResize="1" noEditPoints="1" noAdjustHandles="1" noChangeArrowheads="1" noChangeShapeType="1" noTextEdit="1"/>
              </p:cNvSpPr>
              <p:nvPr/>
            </p:nvSpPr>
            <p:spPr>
              <a:xfrm>
                <a:off x="6035792" y="2460997"/>
                <a:ext cx="268365" cy="248350"/>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F77322E1-0FF6-4CF8-97A7-13BAAE99FC1A}"/>
                  </a:ext>
                </a:extLst>
              </p:cNvPr>
              <p:cNvSpPr/>
              <p:nvPr/>
            </p:nvSpPr>
            <p:spPr>
              <a:xfrm>
                <a:off x="6035792" y="288678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5</m:t>
                          </m:r>
                        </m:sub>
                      </m:sSub>
                    </m:oMath>
                  </m:oMathPara>
                </a14:m>
                <a:endParaRPr lang="en-US" sz="762" dirty="0"/>
              </a:p>
            </p:txBody>
          </p:sp>
        </mc:Choice>
        <mc:Fallback xmlns="">
          <p:sp>
            <p:nvSpPr>
              <p:cNvPr id="27" name="Oval 26">
                <a:extLst>
                  <a:ext uri="{FF2B5EF4-FFF2-40B4-BE49-F238E27FC236}">
                    <a16:creationId xmlns:a16="http://schemas.microsoft.com/office/drawing/2014/main" id="{F77322E1-0FF6-4CF8-97A7-13BAAE99FC1A}"/>
                  </a:ext>
                </a:extLst>
              </p:cNvPr>
              <p:cNvSpPr>
                <a:spLocks noRot="1" noChangeAspect="1" noMove="1" noResize="1" noEditPoints="1" noAdjustHandles="1" noChangeArrowheads="1" noChangeShapeType="1" noTextEdit="1"/>
              </p:cNvSpPr>
              <p:nvPr/>
            </p:nvSpPr>
            <p:spPr>
              <a:xfrm>
                <a:off x="6035792" y="2886785"/>
                <a:ext cx="268365" cy="248350"/>
              </a:xfrm>
              <a:prstGeom prst="ellipse">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B45A684D-DCA5-4FCE-A4EE-00314B9B76E4}"/>
                  </a:ext>
                </a:extLst>
              </p:cNvPr>
              <p:cNvSpPr/>
              <p:nvPr/>
            </p:nvSpPr>
            <p:spPr>
              <a:xfrm>
                <a:off x="6035792" y="3355285"/>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6</m:t>
                          </m:r>
                        </m:sub>
                      </m:sSub>
                    </m:oMath>
                  </m:oMathPara>
                </a14:m>
                <a:endParaRPr lang="en-US" sz="762" dirty="0"/>
              </a:p>
            </p:txBody>
          </p:sp>
        </mc:Choice>
        <mc:Fallback xmlns="">
          <p:sp>
            <p:nvSpPr>
              <p:cNvPr id="28" name="Oval 27">
                <a:extLst>
                  <a:ext uri="{FF2B5EF4-FFF2-40B4-BE49-F238E27FC236}">
                    <a16:creationId xmlns:a16="http://schemas.microsoft.com/office/drawing/2014/main" id="{B45A684D-DCA5-4FCE-A4EE-00314B9B76E4}"/>
                  </a:ext>
                </a:extLst>
              </p:cNvPr>
              <p:cNvSpPr>
                <a:spLocks noRot="1" noChangeAspect="1" noMove="1" noResize="1" noEditPoints="1" noAdjustHandles="1" noChangeArrowheads="1" noChangeShapeType="1" noTextEdit="1"/>
              </p:cNvSpPr>
              <p:nvPr/>
            </p:nvSpPr>
            <p:spPr>
              <a:xfrm>
                <a:off x="6035792" y="3355285"/>
                <a:ext cx="268365" cy="248350"/>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921A93E4-582C-49D4-973A-7D4CA0DE47EF}"/>
                  </a:ext>
                </a:extLst>
              </p:cNvPr>
              <p:cNvSpPr/>
              <p:nvPr/>
            </p:nvSpPr>
            <p:spPr>
              <a:xfrm>
                <a:off x="6035792" y="3891426"/>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4</m:t>
                          </m:r>
                        </m:sub>
                      </m:sSub>
                    </m:oMath>
                  </m:oMathPara>
                </a14:m>
                <a:endParaRPr lang="en-US" sz="762" dirty="0"/>
              </a:p>
            </p:txBody>
          </p:sp>
        </mc:Choice>
        <mc:Fallback xmlns="">
          <p:sp>
            <p:nvSpPr>
              <p:cNvPr id="29" name="Oval 28">
                <a:extLst>
                  <a:ext uri="{FF2B5EF4-FFF2-40B4-BE49-F238E27FC236}">
                    <a16:creationId xmlns:a16="http://schemas.microsoft.com/office/drawing/2014/main" id="{921A93E4-582C-49D4-973A-7D4CA0DE47EF}"/>
                  </a:ext>
                </a:extLst>
              </p:cNvPr>
              <p:cNvSpPr>
                <a:spLocks noRot="1" noChangeAspect="1" noMove="1" noResize="1" noEditPoints="1" noAdjustHandles="1" noChangeArrowheads="1" noChangeShapeType="1" noTextEdit="1"/>
              </p:cNvSpPr>
              <p:nvPr/>
            </p:nvSpPr>
            <p:spPr>
              <a:xfrm>
                <a:off x="6035792" y="3891426"/>
                <a:ext cx="268365" cy="248350"/>
              </a:xfrm>
              <a:prstGeom prst="ellipse">
                <a:avLst/>
              </a:prstGeom>
              <a:blipFill>
                <a:blip r:embed="rId6"/>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C2510D59-0184-48EB-8DD6-AD5DA0E09F32}"/>
              </a:ext>
            </a:extLst>
          </p:cNvPr>
          <p:cNvCxnSpPr>
            <a:cxnSpLocks/>
            <a:stCxn id="26" idx="4"/>
            <a:endCxn id="27" idx="0"/>
          </p:cNvCxnSpPr>
          <p:nvPr/>
        </p:nvCxnSpPr>
        <p:spPr>
          <a:xfrm>
            <a:off x="6169975" y="2709347"/>
            <a:ext cx="0" cy="17743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770081-F600-4FD8-AD2C-329F7EFE4CBB}"/>
              </a:ext>
            </a:extLst>
          </p:cNvPr>
          <p:cNvCxnSpPr>
            <a:cxnSpLocks/>
            <a:stCxn id="27" idx="4"/>
            <a:endCxn id="28" idx="0"/>
          </p:cNvCxnSpPr>
          <p:nvPr/>
        </p:nvCxnSpPr>
        <p:spPr>
          <a:xfrm>
            <a:off x="6169975" y="3135135"/>
            <a:ext cx="0" cy="220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856CE7-9B80-4609-A924-BF65A5EE0E7D}"/>
              </a:ext>
            </a:extLst>
          </p:cNvPr>
          <p:cNvCxnSpPr>
            <a:cxnSpLocks/>
            <a:stCxn id="28" idx="4"/>
            <a:endCxn id="29" idx="0"/>
          </p:cNvCxnSpPr>
          <p:nvPr/>
        </p:nvCxnSpPr>
        <p:spPr>
          <a:xfrm>
            <a:off x="6169975" y="3603635"/>
            <a:ext cx="0" cy="28779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Oval 32">
                <a:extLst>
                  <a:ext uri="{FF2B5EF4-FFF2-40B4-BE49-F238E27FC236}">
                    <a16:creationId xmlns:a16="http://schemas.microsoft.com/office/drawing/2014/main" id="{6BD8851A-B900-44E7-AD1A-A7FDAA387494}"/>
                  </a:ext>
                </a:extLst>
              </p:cNvPr>
              <p:cNvSpPr/>
              <p:nvPr/>
            </p:nvSpPr>
            <p:spPr>
              <a:xfrm>
                <a:off x="6457565" y="2482821"/>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4</m:t>
                          </m:r>
                        </m:sub>
                      </m:sSub>
                    </m:oMath>
                  </m:oMathPara>
                </a14:m>
                <a:endParaRPr lang="en-US" sz="762" dirty="0"/>
              </a:p>
            </p:txBody>
          </p:sp>
        </mc:Choice>
        <mc:Fallback xmlns="">
          <p:sp>
            <p:nvSpPr>
              <p:cNvPr id="33" name="Oval 32">
                <a:extLst>
                  <a:ext uri="{FF2B5EF4-FFF2-40B4-BE49-F238E27FC236}">
                    <a16:creationId xmlns:a16="http://schemas.microsoft.com/office/drawing/2014/main" id="{6BD8851A-B900-44E7-AD1A-A7FDAA387494}"/>
                  </a:ext>
                </a:extLst>
              </p:cNvPr>
              <p:cNvSpPr>
                <a:spLocks noRot="1" noChangeAspect="1" noMove="1" noResize="1" noEditPoints="1" noAdjustHandles="1" noChangeArrowheads="1" noChangeShapeType="1" noTextEdit="1"/>
              </p:cNvSpPr>
              <p:nvPr/>
            </p:nvSpPr>
            <p:spPr>
              <a:xfrm>
                <a:off x="6457565" y="2482821"/>
                <a:ext cx="268365" cy="248350"/>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B93EE82D-BBD6-4772-89CE-D0079BF83EC1}"/>
                  </a:ext>
                </a:extLst>
              </p:cNvPr>
              <p:cNvSpPr/>
              <p:nvPr/>
            </p:nvSpPr>
            <p:spPr>
              <a:xfrm>
                <a:off x="6457565" y="2876069"/>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1</m:t>
                          </m:r>
                        </m:sub>
                      </m:sSub>
                    </m:oMath>
                  </m:oMathPara>
                </a14:m>
                <a:endParaRPr lang="en-US" sz="762" dirty="0"/>
              </a:p>
            </p:txBody>
          </p:sp>
        </mc:Choice>
        <mc:Fallback xmlns="">
          <p:sp>
            <p:nvSpPr>
              <p:cNvPr id="34" name="Oval 33">
                <a:extLst>
                  <a:ext uri="{FF2B5EF4-FFF2-40B4-BE49-F238E27FC236}">
                    <a16:creationId xmlns:a16="http://schemas.microsoft.com/office/drawing/2014/main" id="{B93EE82D-BBD6-4772-89CE-D0079BF83EC1}"/>
                  </a:ext>
                </a:extLst>
              </p:cNvPr>
              <p:cNvSpPr>
                <a:spLocks noRot="1" noChangeAspect="1" noMove="1" noResize="1" noEditPoints="1" noAdjustHandles="1" noChangeArrowheads="1" noChangeShapeType="1" noTextEdit="1"/>
              </p:cNvSpPr>
              <p:nvPr/>
            </p:nvSpPr>
            <p:spPr>
              <a:xfrm>
                <a:off x="6457565" y="2876069"/>
                <a:ext cx="268365" cy="24835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50D782AF-0E5A-41FB-811D-A26C14158F8D}"/>
                  </a:ext>
                </a:extLst>
              </p:cNvPr>
              <p:cNvSpPr/>
              <p:nvPr/>
            </p:nvSpPr>
            <p:spPr>
              <a:xfrm>
                <a:off x="6460507" y="3367910"/>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2</m:t>
                          </m:r>
                        </m:sub>
                      </m:sSub>
                    </m:oMath>
                  </m:oMathPara>
                </a14:m>
                <a:endParaRPr lang="en-US" sz="762" dirty="0"/>
              </a:p>
            </p:txBody>
          </p:sp>
        </mc:Choice>
        <mc:Fallback xmlns="">
          <p:sp>
            <p:nvSpPr>
              <p:cNvPr id="35" name="Oval 34">
                <a:extLst>
                  <a:ext uri="{FF2B5EF4-FFF2-40B4-BE49-F238E27FC236}">
                    <a16:creationId xmlns:a16="http://schemas.microsoft.com/office/drawing/2014/main" id="{50D782AF-0E5A-41FB-811D-A26C14158F8D}"/>
                  </a:ext>
                </a:extLst>
              </p:cNvPr>
              <p:cNvSpPr>
                <a:spLocks noRot="1" noChangeAspect="1" noMove="1" noResize="1" noEditPoints="1" noAdjustHandles="1" noChangeArrowheads="1" noChangeShapeType="1" noTextEdit="1"/>
              </p:cNvSpPr>
              <p:nvPr/>
            </p:nvSpPr>
            <p:spPr>
              <a:xfrm>
                <a:off x="6460507" y="3367910"/>
                <a:ext cx="268365" cy="248350"/>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3D98F88B-3E65-431E-BDFF-FD4A62A1A243}"/>
                  </a:ext>
                </a:extLst>
              </p:cNvPr>
              <p:cNvSpPr/>
              <p:nvPr/>
            </p:nvSpPr>
            <p:spPr>
              <a:xfrm>
                <a:off x="6457565" y="3891426"/>
                <a:ext cx="268365" cy="2483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762" i="1" smtClean="0">
                              <a:latin typeface="Cambria Math" panose="02040503050406030204" pitchFamily="18" charset="0"/>
                            </a:rPr>
                          </m:ctrlPr>
                        </m:sSubPr>
                        <m:e>
                          <m:r>
                            <a:rPr lang="en-US" sz="762" b="0" i="1" smtClean="0">
                              <a:latin typeface="Cambria Math" panose="02040503050406030204" pitchFamily="18" charset="0"/>
                            </a:rPr>
                            <m:t>𝑛</m:t>
                          </m:r>
                        </m:e>
                        <m:sub>
                          <m:r>
                            <a:rPr lang="en-US" sz="762" b="0" i="1" smtClean="0">
                              <a:latin typeface="Cambria Math" panose="02040503050406030204" pitchFamily="18" charset="0"/>
                            </a:rPr>
                            <m:t>4</m:t>
                          </m:r>
                        </m:sub>
                      </m:sSub>
                    </m:oMath>
                  </m:oMathPara>
                </a14:m>
                <a:endParaRPr lang="en-US" sz="762" dirty="0"/>
              </a:p>
            </p:txBody>
          </p:sp>
        </mc:Choice>
        <mc:Fallback xmlns="">
          <p:sp>
            <p:nvSpPr>
              <p:cNvPr id="36" name="Oval 35">
                <a:extLst>
                  <a:ext uri="{FF2B5EF4-FFF2-40B4-BE49-F238E27FC236}">
                    <a16:creationId xmlns:a16="http://schemas.microsoft.com/office/drawing/2014/main" id="{3D98F88B-3E65-431E-BDFF-FD4A62A1A243}"/>
                  </a:ext>
                </a:extLst>
              </p:cNvPr>
              <p:cNvSpPr>
                <a:spLocks noRot="1" noChangeAspect="1" noMove="1" noResize="1" noEditPoints="1" noAdjustHandles="1" noChangeArrowheads="1" noChangeShapeType="1" noTextEdit="1"/>
              </p:cNvSpPr>
              <p:nvPr/>
            </p:nvSpPr>
            <p:spPr>
              <a:xfrm>
                <a:off x="6457565" y="3891426"/>
                <a:ext cx="268365" cy="248350"/>
              </a:xfrm>
              <a:prstGeom prst="ellipse">
                <a:avLst/>
              </a:prstGeom>
              <a:blipFill>
                <a:blip r:embed="rId6"/>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38D06D0-8713-46A9-9F01-8D4AE9EEF3BB}"/>
              </a:ext>
            </a:extLst>
          </p:cNvPr>
          <p:cNvCxnSpPr>
            <a:cxnSpLocks/>
            <a:stCxn id="35" idx="4"/>
            <a:endCxn id="36" idx="0"/>
          </p:cNvCxnSpPr>
          <p:nvPr/>
        </p:nvCxnSpPr>
        <p:spPr>
          <a:xfrm flipH="1">
            <a:off x="6591748" y="3616260"/>
            <a:ext cx="2942" cy="2751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2D7A8CE-08C9-44C1-8771-A3AF1911ACAA}"/>
              </a:ext>
            </a:extLst>
          </p:cNvPr>
          <p:cNvCxnSpPr>
            <a:cxnSpLocks/>
            <a:stCxn id="34" idx="4"/>
            <a:endCxn id="35" idx="0"/>
          </p:cNvCxnSpPr>
          <p:nvPr/>
        </p:nvCxnSpPr>
        <p:spPr>
          <a:xfrm>
            <a:off x="6591748" y="3124419"/>
            <a:ext cx="2942" cy="24349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16B36AB-ADBF-4257-B01B-28882379F51D}"/>
              </a:ext>
            </a:extLst>
          </p:cNvPr>
          <p:cNvCxnSpPr>
            <a:cxnSpLocks/>
            <a:stCxn id="33" idx="4"/>
            <a:endCxn id="34" idx="0"/>
          </p:cNvCxnSpPr>
          <p:nvPr/>
        </p:nvCxnSpPr>
        <p:spPr>
          <a:xfrm>
            <a:off x="6591747" y="2731171"/>
            <a:ext cx="0" cy="144898"/>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4305E98-74A1-4A32-81D0-B062B06DC9FE}"/>
              </a:ext>
            </a:extLst>
          </p:cNvPr>
          <p:cNvSpPr/>
          <p:nvPr/>
        </p:nvSpPr>
        <p:spPr>
          <a:xfrm>
            <a:off x="5593912" y="2394171"/>
            <a:ext cx="345434" cy="1318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14"/>
          </a:p>
        </p:txBody>
      </p:sp>
      <p:sp>
        <p:nvSpPr>
          <p:cNvPr id="41" name="TextBox 40">
            <a:extLst>
              <a:ext uri="{FF2B5EF4-FFF2-40B4-BE49-F238E27FC236}">
                <a16:creationId xmlns:a16="http://schemas.microsoft.com/office/drawing/2014/main" id="{F7BBB0AF-8609-4B2E-A4F1-EEABEDA497B4}"/>
              </a:ext>
            </a:extLst>
          </p:cNvPr>
          <p:cNvSpPr txBox="1"/>
          <p:nvPr/>
        </p:nvSpPr>
        <p:spPr>
          <a:xfrm>
            <a:off x="3636616" y="4543852"/>
            <a:ext cx="905290" cy="556929"/>
          </a:xfrm>
          <a:prstGeom prst="rect">
            <a:avLst/>
          </a:prstGeom>
          <a:noFill/>
        </p:spPr>
        <p:txBody>
          <a:bodyPr wrap="square" rtlCol="0">
            <a:spAutoFit/>
          </a:bodyPr>
          <a:lstStyle/>
          <a:p>
            <a:r>
              <a:rPr lang="en-US" sz="1524" dirty="0">
                <a:latin typeface="Linux Libertine" panose="02000503000000000000" pitchFamily="2" charset="0"/>
                <a:ea typeface="Linux Libertine" panose="02000503000000000000" pitchFamily="2" charset="0"/>
                <a:cs typeface="Linux Libertine" panose="02000503000000000000" pitchFamily="2" charset="0"/>
              </a:rPr>
              <a:t>Input graph</a:t>
            </a:r>
          </a:p>
        </p:txBody>
      </p:sp>
      <p:sp>
        <p:nvSpPr>
          <p:cNvPr id="42" name="TextBox 41">
            <a:extLst>
              <a:ext uri="{FF2B5EF4-FFF2-40B4-BE49-F238E27FC236}">
                <a16:creationId xmlns:a16="http://schemas.microsoft.com/office/drawing/2014/main" id="{1B1AEC43-A772-4E2C-AD7F-470B344B9D0A}"/>
              </a:ext>
            </a:extLst>
          </p:cNvPr>
          <p:cNvSpPr txBox="1"/>
          <p:nvPr/>
        </p:nvSpPr>
        <p:spPr>
          <a:xfrm>
            <a:off x="5559975" y="4455917"/>
            <a:ext cx="1488363" cy="791426"/>
          </a:xfrm>
          <a:prstGeom prst="rect">
            <a:avLst/>
          </a:prstGeom>
          <a:noFill/>
        </p:spPr>
        <p:txBody>
          <a:bodyPr wrap="square" rtlCol="0">
            <a:spAutoFit/>
          </a:bodyPr>
          <a:lstStyle/>
          <a:p>
            <a:r>
              <a:rPr lang="en-US" sz="1524" dirty="0">
                <a:latin typeface="Linux Libertine" panose="02000503000000000000" pitchFamily="2" charset="0"/>
                <a:ea typeface="Linux Libertine" panose="02000503000000000000" pitchFamily="2" charset="0"/>
                <a:cs typeface="Linux Libertine" panose="02000503000000000000" pitchFamily="2" charset="0"/>
              </a:rPr>
              <a:t>Sampled random walks from the graph</a:t>
            </a:r>
          </a:p>
        </p:txBody>
      </p:sp>
      <p:sp>
        <p:nvSpPr>
          <p:cNvPr id="47" name="TextBox 46">
            <a:extLst>
              <a:ext uri="{FF2B5EF4-FFF2-40B4-BE49-F238E27FC236}">
                <a16:creationId xmlns:a16="http://schemas.microsoft.com/office/drawing/2014/main" id="{62D59E8A-01B7-4F94-A07B-E639E4A98892}"/>
              </a:ext>
            </a:extLst>
          </p:cNvPr>
          <p:cNvSpPr txBox="1"/>
          <p:nvPr/>
        </p:nvSpPr>
        <p:spPr>
          <a:xfrm>
            <a:off x="838200" y="5575340"/>
            <a:ext cx="10515600" cy="600164"/>
          </a:xfrm>
          <a:prstGeom prst="rect">
            <a:avLst/>
          </a:prstGeom>
          <a:noFill/>
        </p:spPr>
        <p:txBody>
          <a:bodyPr wrap="square">
            <a:spAutoFit/>
          </a:bodyPr>
          <a:lstStyle/>
          <a:p>
            <a:pPr marL="171450" indent="-171450">
              <a:buFont typeface="Arial" panose="020B0604020202020204" pitchFamily="34" charset="0"/>
              <a:buChar char="•"/>
            </a:pPr>
            <a:r>
              <a:rPr lang="en-US" sz="1100" dirty="0" err="1"/>
              <a:t>Lovász</a:t>
            </a:r>
            <a:r>
              <a:rPr lang="en-US" sz="1100" dirty="0"/>
              <a:t>, L. (1993). Random walks on graphs. Combinatorics, Paul </a:t>
            </a:r>
            <a:r>
              <a:rPr lang="en-US" sz="1100" dirty="0" err="1"/>
              <a:t>erdos</a:t>
            </a:r>
            <a:r>
              <a:rPr lang="en-US" sz="1100" dirty="0"/>
              <a:t> is eighty, 2(1-46), 4.</a:t>
            </a:r>
          </a:p>
          <a:p>
            <a:pPr marL="171450" indent="-171450">
              <a:buFont typeface="Arial" panose="020B0604020202020204" pitchFamily="34" charset="0"/>
              <a:buChar char="•"/>
            </a:pPr>
            <a:r>
              <a:rPr lang="en-US" sz="1100" dirty="0"/>
              <a:t>Grover, A., &amp; </a:t>
            </a:r>
            <a:r>
              <a:rPr lang="en-US" sz="1100" dirty="0" err="1"/>
              <a:t>Leskovec</a:t>
            </a:r>
            <a:r>
              <a:rPr lang="en-US" sz="1100" dirty="0"/>
              <a:t>, J. (2016, August). node2vec: Scalable feature learning for networks. In Proceedings of the 22nd ACM SIGKDD international conference on Knowledge discovery and data mining (pp. 855-864).</a:t>
            </a:r>
          </a:p>
        </p:txBody>
      </p:sp>
    </p:spTree>
    <p:extLst>
      <p:ext uri="{BB962C8B-B14F-4D97-AF65-F5344CB8AC3E}">
        <p14:creationId xmlns:p14="http://schemas.microsoft.com/office/powerpoint/2010/main" val="71289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2FD9-92B2-4393-A7E0-101B809AA7B2}"/>
              </a:ext>
            </a:extLst>
          </p:cNvPr>
          <p:cNvSpPr>
            <a:spLocks noGrp="1"/>
          </p:cNvSpPr>
          <p:nvPr>
            <p:ph type="title"/>
          </p:nvPr>
        </p:nvSpPr>
        <p:spPr/>
        <p:txBody>
          <a:bodyPr/>
          <a:lstStyle/>
          <a:p>
            <a:r>
              <a:rPr lang="en-US" dirty="0"/>
              <a:t>Node Similarity</a:t>
            </a:r>
          </a:p>
        </p:txBody>
      </p:sp>
      <p:sp>
        <p:nvSpPr>
          <p:cNvPr id="6" name="Date Placeholder 5">
            <a:extLst>
              <a:ext uri="{FF2B5EF4-FFF2-40B4-BE49-F238E27FC236}">
                <a16:creationId xmlns:a16="http://schemas.microsoft.com/office/drawing/2014/main" id="{E15305C1-B370-4E13-A908-B35B586DDA7C}"/>
              </a:ext>
            </a:extLst>
          </p:cNvPr>
          <p:cNvSpPr>
            <a:spLocks noGrp="1"/>
          </p:cNvSpPr>
          <p:nvPr>
            <p:ph type="dt" sz="half" idx="10"/>
          </p:nvPr>
        </p:nvSpPr>
        <p:spPr/>
        <p:txBody>
          <a:bodyPr/>
          <a:lstStyle/>
          <a:p>
            <a:fld id="{102ED2A1-0D15-4254-83B3-B197C5EBC759}" type="datetime1">
              <a:rPr lang="en-US" smtClean="0"/>
              <a:t>3/1/2022</a:t>
            </a:fld>
            <a:endParaRPr lang="en-US"/>
          </a:p>
        </p:txBody>
      </p:sp>
      <p:sp>
        <p:nvSpPr>
          <p:cNvPr id="7" name="Footer Placeholder 6">
            <a:extLst>
              <a:ext uri="{FF2B5EF4-FFF2-40B4-BE49-F238E27FC236}">
                <a16:creationId xmlns:a16="http://schemas.microsoft.com/office/drawing/2014/main" id="{A6E37A05-D72D-4A8D-A964-4E0432C093C4}"/>
              </a:ext>
            </a:extLst>
          </p:cNvPr>
          <p:cNvSpPr>
            <a:spLocks noGrp="1"/>
          </p:cNvSpPr>
          <p:nvPr>
            <p:ph type="ftr" sz="quarter" idx="11"/>
          </p:nvPr>
        </p:nvSpPr>
        <p:spPr/>
        <p:txBody>
          <a:bodyPr/>
          <a:lstStyle/>
          <a:p>
            <a:r>
              <a:rPr lang="en-US" dirty="0"/>
              <a:t>Ebeid – Spring 2022</a:t>
            </a:r>
          </a:p>
        </p:txBody>
      </p:sp>
      <p:sp>
        <p:nvSpPr>
          <p:cNvPr id="8" name="Slide Number Placeholder 7">
            <a:extLst>
              <a:ext uri="{FF2B5EF4-FFF2-40B4-BE49-F238E27FC236}">
                <a16:creationId xmlns:a16="http://schemas.microsoft.com/office/drawing/2014/main" id="{75E94E25-CD1A-4318-B084-75FB7D89357A}"/>
              </a:ext>
            </a:extLst>
          </p:cNvPr>
          <p:cNvSpPr>
            <a:spLocks noGrp="1"/>
          </p:cNvSpPr>
          <p:nvPr>
            <p:ph type="sldNum" sz="quarter" idx="12"/>
          </p:nvPr>
        </p:nvSpPr>
        <p:spPr/>
        <p:txBody>
          <a:bodyPr/>
          <a:lstStyle/>
          <a:p>
            <a:fld id="{41FC3AD2-D417-4C57-853C-2151CF039A96}" type="slidenum">
              <a:rPr lang="en-US" smtClean="0"/>
              <a:t>6</a:t>
            </a:fld>
            <a:endParaRPr lang="en-US"/>
          </a:p>
        </p:txBody>
      </p:sp>
      <p:pic>
        <p:nvPicPr>
          <p:cNvPr id="3" name="Picture 2" descr="Diagram&#10;&#10;Description automatically generated with medium confidence">
            <a:extLst>
              <a:ext uri="{FF2B5EF4-FFF2-40B4-BE49-F238E27FC236}">
                <a16:creationId xmlns:a16="http://schemas.microsoft.com/office/drawing/2014/main" id="{B2B71EE8-7E0B-465E-BEA6-D9043D9AC5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0688" y="2365691"/>
            <a:ext cx="8908968" cy="3187621"/>
          </a:xfrm>
          <a:prstGeom prst="rect">
            <a:avLst/>
          </a:prstGeom>
        </p:spPr>
      </p:pic>
      <p:sp>
        <p:nvSpPr>
          <p:cNvPr id="5" name="TextBox 4">
            <a:extLst>
              <a:ext uri="{FF2B5EF4-FFF2-40B4-BE49-F238E27FC236}">
                <a16:creationId xmlns:a16="http://schemas.microsoft.com/office/drawing/2014/main" id="{1359AA99-7686-424B-AAF3-A2D143336742}"/>
              </a:ext>
            </a:extLst>
          </p:cNvPr>
          <p:cNvSpPr txBox="1"/>
          <p:nvPr/>
        </p:nvSpPr>
        <p:spPr>
          <a:xfrm>
            <a:off x="2209799" y="5887816"/>
            <a:ext cx="8109857" cy="261610"/>
          </a:xfrm>
          <a:prstGeom prst="rect">
            <a:avLst/>
          </a:prstGeom>
          <a:noFill/>
        </p:spPr>
        <p:txBody>
          <a:bodyPr wrap="square">
            <a:spAutoFit/>
          </a:bodyPr>
          <a:lstStyle/>
          <a:p>
            <a:r>
              <a:rPr lang="en-US" sz="1100" dirty="0"/>
              <a:t>Page, L., Brin, S., Motwani, R., &amp; Winograd, T. (1999). The PageRank citation ranking: Bringing order to the web. Stanford </a:t>
            </a:r>
            <a:r>
              <a:rPr lang="en-US" sz="1100" dirty="0" err="1"/>
              <a:t>InfoLab</a:t>
            </a:r>
            <a:r>
              <a:rPr lang="en-US" sz="1100" dirty="0"/>
              <a:t>.</a:t>
            </a:r>
          </a:p>
        </p:txBody>
      </p:sp>
    </p:spTree>
    <p:extLst>
      <p:ext uri="{BB962C8B-B14F-4D97-AF65-F5344CB8AC3E}">
        <p14:creationId xmlns:p14="http://schemas.microsoft.com/office/powerpoint/2010/main" val="325957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78CD-3501-4AC1-B898-BCC2344DBB9A}"/>
              </a:ext>
            </a:extLst>
          </p:cNvPr>
          <p:cNvSpPr>
            <a:spLocks noGrp="1"/>
          </p:cNvSpPr>
          <p:nvPr>
            <p:ph type="title"/>
          </p:nvPr>
        </p:nvSpPr>
        <p:spPr/>
        <p:txBody>
          <a:bodyPr/>
          <a:lstStyle/>
          <a:p>
            <a:r>
              <a:rPr lang="en-US" dirty="0"/>
              <a:t>Graph Clustering and Community Detection</a:t>
            </a:r>
          </a:p>
        </p:txBody>
      </p:sp>
      <p:sp>
        <p:nvSpPr>
          <p:cNvPr id="4" name="Date Placeholder 3">
            <a:extLst>
              <a:ext uri="{FF2B5EF4-FFF2-40B4-BE49-F238E27FC236}">
                <a16:creationId xmlns:a16="http://schemas.microsoft.com/office/drawing/2014/main" id="{703139D1-4413-449B-B9ED-DE2BF2755EA3}"/>
              </a:ext>
            </a:extLst>
          </p:cNvPr>
          <p:cNvSpPr>
            <a:spLocks noGrp="1"/>
          </p:cNvSpPr>
          <p:nvPr>
            <p:ph type="dt" sz="half" idx="10"/>
          </p:nvPr>
        </p:nvSpPr>
        <p:spPr/>
        <p:txBody>
          <a:bodyPr/>
          <a:lstStyle/>
          <a:p>
            <a:fld id="{1A9C0D7B-DAD7-4D88-A6AF-C8863B7B4BDF}" type="datetime1">
              <a:rPr lang="en-US" smtClean="0"/>
              <a:t>3/1/2022</a:t>
            </a:fld>
            <a:endParaRPr lang="en-US"/>
          </a:p>
        </p:txBody>
      </p:sp>
      <p:sp>
        <p:nvSpPr>
          <p:cNvPr id="5" name="Footer Placeholder 4">
            <a:extLst>
              <a:ext uri="{FF2B5EF4-FFF2-40B4-BE49-F238E27FC236}">
                <a16:creationId xmlns:a16="http://schemas.microsoft.com/office/drawing/2014/main" id="{18BB8C0B-2894-47F5-9EC3-43B7BD786333}"/>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7AA0F9C9-94EE-4CA2-A3BC-358D32E666E8}"/>
              </a:ext>
            </a:extLst>
          </p:cNvPr>
          <p:cNvSpPr>
            <a:spLocks noGrp="1"/>
          </p:cNvSpPr>
          <p:nvPr>
            <p:ph type="sldNum" sz="quarter" idx="12"/>
          </p:nvPr>
        </p:nvSpPr>
        <p:spPr/>
        <p:txBody>
          <a:bodyPr/>
          <a:lstStyle/>
          <a:p>
            <a:fld id="{41FC3AD2-D417-4C57-853C-2151CF039A96}" type="slidenum">
              <a:rPr lang="en-US" smtClean="0"/>
              <a:t>7</a:t>
            </a:fld>
            <a:endParaRPr lang="en-US"/>
          </a:p>
        </p:txBody>
      </p:sp>
      <p:pic>
        <p:nvPicPr>
          <p:cNvPr id="3" name="Picture 2" descr="A picture containing chart&#10;&#10;Description automatically generated">
            <a:extLst>
              <a:ext uri="{FF2B5EF4-FFF2-40B4-BE49-F238E27FC236}">
                <a16:creationId xmlns:a16="http://schemas.microsoft.com/office/drawing/2014/main" id="{CE4D3002-0A3D-42DD-9DDE-39DF0FB17A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2465" y="2593348"/>
            <a:ext cx="8107070" cy="2381885"/>
          </a:xfrm>
          <a:prstGeom prst="rect">
            <a:avLst/>
          </a:prstGeom>
        </p:spPr>
      </p:pic>
      <p:sp>
        <p:nvSpPr>
          <p:cNvPr id="8" name="TextBox 7">
            <a:extLst>
              <a:ext uri="{FF2B5EF4-FFF2-40B4-BE49-F238E27FC236}">
                <a16:creationId xmlns:a16="http://schemas.microsoft.com/office/drawing/2014/main" id="{5C0DE0B4-E9A9-45B7-927E-CB19050B7EDF}"/>
              </a:ext>
            </a:extLst>
          </p:cNvPr>
          <p:cNvSpPr txBox="1"/>
          <p:nvPr/>
        </p:nvSpPr>
        <p:spPr>
          <a:xfrm>
            <a:off x="3235712" y="5715220"/>
            <a:ext cx="6094140" cy="261610"/>
          </a:xfrm>
          <a:prstGeom prst="rect">
            <a:avLst/>
          </a:prstGeom>
          <a:noFill/>
        </p:spPr>
        <p:txBody>
          <a:bodyPr wrap="square">
            <a:spAutoFit/>
          </a:bodyPr>
          <a:lstStyle/>
          <a:p>
            <a:r>
              <a:rPr lang="en-US" sz="1100" dirty="0"/>
              <a:t>Fortunato, S. (2010). Community detection in graphs. Physics reports, 486(3-5), 75-174.</a:t>
            </a:r>
          </a:p>
        </p:txBody>
      </p:sp>
    </p:spTree>
    <p:extLst>
      <p:ext uri="{BB962C8B-B14F-4D97-AF65-F5344CB8AC3E}">
        <p14:creationId xmlns:p14="http://schemas.microsoft.com/office/powerpoint/2010/main" val="393531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A600-8680-4BCD-B58F-E1124B5194EB}"/>
              </a:ext>
            </a:extLst>
          </p:cNvPr>
          <p:cNvSpPr>
            <a:spLocks noGrp="1"/>
          </p:cNvSpPr>
          <p:nvPr>
            <p:ph type="title"/>
          </p:nvPr>
        </p:nvSpPr>
        <p:spPr>
          <a:xfrm>
            <a:off x="657224" y="499533"/>
            <a:ext cx="10772775" cy="766334"/>
          </a:xfrm>
        </p:spPr>
        <p:txBody>
          <a:bodyPr>
            <a:normAutofit fontScale="90000"/>
          </a:bodyPr>
          <a:lstStyle/>
          <a:p>
            <a:r>
              <a:rPr lang="en-US" dirty="0"/>
              <a:t>Graph Representation Learning</a:t>
            </a:r>
          </a:p>
        </p:txBody>
      </p:sp>
      <p:sp>
        <p:nvSpPr>
          <p:cNvPr id="4" name="Date Placeholder 3">
            <a:extLst>
              <a:ext uri="{FF2B5EF4-FFF2-40B4-BE49-F238E27FC236}">
                <a16:creationId xmlns:a16="http://schemas.microsoft.com/office/drawing/2014/main" id="{19782AC7-6229-47F0-BADA-EB2ABF9F93CE}"/>
              </a:ext>
            </a:extLst>
          </p:cNvPr>
          <p:cNvSpPr>
            <a:spLocks noGrp="1"/>
          </p:cNvSpPr>
          <p:nvPr>
            <p:ph type="dt" sz="half" idx="10"/>
          </p:nvPr>
        </p:nvSpPr>
        <p:spPr/>
        <p:txBody>
          <a:bodyPr/>
          <a:lstStyle/>
          <a:p>
            <a:fld id="{6A3488A8-C6C2-4187-876E-81957073B1A2}" type="datetime1">
              <a:rPr lang="en-US" smtClean="0"/>
              <a:t>3/1/2022</a:t>
            </a:fld>
            <a:endParaRPr lang="en-US"/>
          </a:p>
        </p:txBody>
      </p:sp>
      <p:sp>
        <p:nvSpPr>
          <p:cNvPr id="5" name="Footer Placeholder 4">
            <a:extLst>
              <a:ext uri="{FF2B5EF4-FFF2-40B4-BE49-F238E27FC236}">
                <a16:creationId xmlns:a16="http://schemas.microsoft.com/office/drawing/2014/main" id="{4E5CFBCE-01F0-4124-8F18-9A8464982B13}"/>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BF7D8788-075A-4516-915B-1F544C8D0D94}"/>
              </a:ext>
            </a:extLst>
          </p:cNvPr>
          <p:cNvSpPr>
            <a:spLocks noGrp="1"/>
          </p:cNvSpPr>
          <p:nvPr>
            <p:ph type="sldNum" sz="quarter" idx="12"/>
          </p:nvPr>
        </p:nvSpPr>
        <p:spPr/>
        <p:txBody>
          <a:bodyPr/>
          <a:lstStyle/>
          <a:p>
            <a:fld id="{41FC3AD2-D417-4C57-853C-2151CF039A96}" type="slidenum">
              <a:rPr lang="en-US" smtClean="0"/>
              <a:t>8</a:t>
            </a:fld>
            <a:endParaRPr lang="en-US"/>
          </a:p>
        </p:txBody>
      </p:sp>
      <p:pic>
        <p:nvPicPr>
          <p:cNvPr id="3" name="Picture 2" descr="Chart, line chart&#10;&#10;Description automatically generated">
            <a:extLst>
              <a:ext uri="{FF2B5EF4-FFF2-40B4-BE49-F238E27FC236}">
                <a16:creationId xmlns:a16="http://schemas.microsoft.com/office/drawing/2014/main" id="{6EBAD572-CBA4-42CB-B9DB-F2E5310865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3680" y="1285775"/>
            <a:ext cx="6568440" cy="4237294"/>
          </a:xfrm>
          <a:prstGeom prst="rect">
            <a:avLst/>
          </a:prstGeom>
        </p:spPr>
      </p:pic>
      <p:sp>
        <p:nvSpPr>
          <p:cNvPr id="8" name="TextBox 7">
            <a:extLst>
              <a:ext uri="{FF2B5EF4-FFF2-40B4-BE49-F238E27FC236}">
                <a16:creationId xmlns:a16="http://schemas.microsoft.com/office/drawing/2014/main" id="{C29DE76E-F842-4604-9615-077B73E3151F}"/>
              </a:ext>
            </a:extLst>
          </p:cNvPr>
          <p:cNvSpPr txBox="1"/>
          <p:nvPr/>
        </p:nvSpPr>
        <p:spPr>
          <a:xfrm>
            <a:off x="1858536" y="5826674"/>
            <a:ext cx="8474927" cy="261610"/>
          </a:xfrm>
          <a:prstGeom prst="rect">
            <a:avLst/>
          </a:prstGeom>
          <a:noFill/>
        </p:spPr>
        <p:txBody>
          <a:bodyPr wrap="square">
            <a:spAutoFit/>
          </a:bodyPr>
          <a:lstStyle/>
          <a:p>
            <a:r>
              <a:rPr lang="en-US" sz="1100" dirty="0"/>
              <a:t>Hamilton, W. L. (2020). Graph representation learning. Synthesis Lectures on </a:t>
            </a:r>
            <a:r>
              <a:rPr lang="en-US" sz="1100" dirty="0" err="1"/>
              <a:t>Artifical</a:t>
            </a:r>
            <a:r>
              <a:rPr lang="en-US" sz="1100" dirty="0"/>
              <a:t> Intelligence and Machine Learning, 14(3), 1-159.</a:t>
            </a:r>
          </a:p>
        </p:txBody>
      </p:sp>
    </p:spTree>
    <p:extLst>
      <p:ext uri="{BB962C8B-B14F-4D97-AF65-F5344CB8AC3E}">
        <p14:creationId xmlns:p14="http://schemas.microsoft.com/office/powerpoint/2010/main" val="2718303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A719C-B829-4B0A-8C72-F1AE5EB3D588}"/>
              </a:ext>
            </a:extLst>
          </p:cNvPr>
          <p:cNvSpPr>
            <a:spLocks noGrp="1"/>
          </p:cNvSpPr>
          <p:nvPr>
            <p:ph type="title"/>
          </p:nvPr>
        </p:nvSpPr>
        <p:spPr/>
        <p:txBody>
          <a:bodyPr/>
          <a:lstStyle/>
          <a:p>
            <a:r>
              <a:rPr lang="en-US" dirty="0"/>
              <a:t>Why we need graph representation learning?</a:t>
            </a:r>
          </a:p>
        </p:txBody>
      </p:sp>
      <p:sp>
        <p:nvSpPr>
          <p:cNvPr id="3" name="Content Placeholder 2">
            <a:extLst>
              <a:ext uri="{FF2B5EF4-FFF2-40B4-BE49-F238E27FC236}">
                <a16:creationId xmlns:a16="http://schemas.microsoft.com/office/drawing/2014/main" id="{D0D1B15E-A804-43F5-A659-CBC629BB500A}"/>
              </a:ext>
            </a:extLst>
          </p:cNvPr>
          <p:cNvSpPr>
            <a:spLocks noGrp="1"/>
          </p:cNvSpPr>
          <p:nvPr>
            <p:ph idx="1"/>
          </p:nvPr>
        </p:nvSpPr>
        <p:spPr>
          <a:xfrm>
            <a:off x="657224" y="2729291"/>
            <a:ext cx="11032782" cy="2575560"/>
          </a:xfrm>
        </p:spPr>
        <p:txBody>
          <a:bodyPr>
            <a:normAutofit/>
          </a:bodyPr>
          <a:lstStyle/>
          <a:p>
            <a:pPr>
              <a:buFont typeface="Arial" panose="020B0604020202020204" pitchFamily="34" charset="0"/>
              <a:buChar char="•"/>
            </a:pPr>
            <a:r>
              <a:rPr lang="en-US" sz="2200" dirty="0">
                <a:effectLst/>
                <a:latin typeface="Linux Libertine" panose="02000503000000000000" pitchFamily="2" charset="0"/>
                <a:ea typeface="Linux Libertine" panose="02000503000000000000" pitchFamily="2" charset="0"/>
                <a:cs typeface="Linux Libertine" panose="02000503000000000000" pitchFamily="2" charset="0"/>
              </a:rPr>
              <a:t>Increased accuracy in Link Prediction</a:t>
            </a:r>
          </a:p>
          <a:p>
            <a:pPr>
              <a:buFont typeface="Arial" panose="020B0604020202020204" pitchFamily="34" charset="0"/>
              <a:buChar char="•"/>
            </a:pPr>
            <a:r>
              <a:rPr lang="en-US" sz="2200" dirty="0">
                <a:latin typeface="Linux Libertine" panose="02000503000000000000" pitchFamily="2" charset="0"/>
                <a:ea typeface="Linux Libertine" panose="02000503000000000000" pitchFamily="2" charset="0"/>
                <a:cs typeface="Linux Libertine" panose="02000503000000000000" pitchFamily="2" charset="0"/>
              </a:rPr>
              <a:t>Training models for Node Classification</a:t>
            </a:r>
          </a:p>
          <a:p>
            <a:pPr>
              <a:buFont typeface="Arial" panose="020B0604020202020204" pitchFamily="34" charset="0"/>
              <a:buChar char="•"/>
            </a:pPr>
            <a:r>
              <a:rPr lang="en-US" sz="2200" dirty="0">
                <a:latin typeface="Linux Libertine" panose="02000503000000000000" pitchFamily="2" charset="0"/>
                <a:ea typeface="Linux Libertine" panose="02000503000000000000" pitchFamily="2" charset="0"/>
                <a:cs typeface="Linux Libertine" panose="02000503000000000000" pitchFamily="2" charset="0"/>
              </a:rPr>
              <a:t>Easy </a:t>
            </a:r>
            <a:r>
              <a:rPr lang="en-US" sz="2200" dirty="0">
                <a:effectLst/>
                <a:latin typeface="Linux Libertine" panose="02000503000000000000" pitchFamily="2" charset="0"/>
                <a:ea typeface="Linux Libertine" panose="02000503000000000000" pitchFamily="2" charset="0"/>
                <a:cs typeface="Linux Libertine" panose="02000503000000000000" pitchFamily="2" charset="0"/>
              </a:rPr>
              <a:t>Node Clustering</a:t>
            </a:r>
          </a:p>
          <a:p>
            <a:pPr>
              <a:buFont typeface="Arial" panose="020B0604020202020204" pitchFamily="34" charset="0"/>
              <a:buChar char="•"/>
            </a:pPr>
            <a:r>
              <a:rPr lang="en-US" sz="2200" dirty="0">
                <a:latin typeface="Linux Libertine" panose="02000503000000000000" pitchFamily="2" charset="0"/>
                <a:ea typeface="Linux Libertine" panose="02000503000000000000" pitchFamily="2" charset="0"/>
                <a:cs typeface="Linux Libertine" panose="02000503000000000000" pitchFamily="2" charset="0"/>
              </a:rPr>
              <a:t>Visualizing network structure in Euclidean space</a:t>
            </a:r>
          </a:p>
          <a:p>
            <a:pPr>
              <a:buFont typeface="Arial" panose="020B0604020202020204" pitchFamily="34" charset="0"/>
              <a:buChar char="•"/>
            </a:pPr>
            <a:r>
              <a:rPr lang="en-US" sz="2200" dirty="0">
                <a:latin typeface="Linux Libertine" panose="02000503000000000000" pitchFamily="2" charset="0"/>
                <a:ea typeface="Linux Libertine" panose="02000503000000000000" pitchFamily="2" charset="0"/>
                <a:cs typeface="Linux Libertine" panose="02000503000000000000" pitchFamily="2" charset="0"/>
              </a:rPr>
              <a:t>Incorporating more information than heuristic and statistical methods allowing for heterogeneity</a:t>
            </a:r>
          </a:p>
        </p:txBody>
      </p:sp>
      <p:sp>
        <p:nvSpPr>
          <p:cNvPr id="4" name="Date Placeholder 3">
            <a:extLst>
              <a:ext uri="{FF2B5EF4-FFF2-40B4-BE49-F238E27FC236}">
                <a16:creationId xmlns:a16="http://schemas.microsoft.com/office/drawing/2014/main" id="{DC6F0747-6071-4FA2-806F-A6FCB7DC91B5}"/>
              </a:ext>
            </a:extLst>
          </p:cNvPr>
          <p:cNvSpPr>
            <a:spLocks noGrp="1"/>
          </p:cNvSpPr>
          <p:nvPr>
            <p:ph type="dt" sz="half" idx="10"/>
          </p:nvPr>
        </p:nvSpPr>
        <p:spPr/>
        <p:txBody>
          <a:bodyPr/>
          <a:lstStyle/>
          <a:p>
            <a:fld id="{B0D08E26-0582-4225-98E4-B90103FCC1B4}" type="datetime1">
              <a:rPr lang="en-US" smtClean="0"/>
              <a:t>3/1/2022</a:t>
            </a:fld>
            <a:endParaRPr lang="en-US"/>
          </a:p>
        </p:txBody>
      </p:sp>
      <p:sp>
        <p:nvSpPr>
          <p:cNvPr id="5" name="Footer Placeholder 4">
            <a:extLst>
              <a:ext uri="{FF2B5EF4-FFF2-40B4-BE49-F238E27FC236}">
                <a16:creationId xmlns:a16="http://schemas.microsoft.com/office/drawing/2014/main" id="{C1019AB7-45C4-45AE-B983-BA6654840998}"/>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E2750E2E-022B-4C18-A4AA-73798CAABF88}"/>
              </a:ext>
            </a:extLst>
          </p:cNvPr>
          <p:cNvSpPr>
            <a:spLocks noGrp="1"/>
          </p:cNvSpPr>
          <p:nvPr>
            <p:ph type="sldNum" sz="quarter" idx="12"/>
          </p:nvPr>
        </p:nvSpPr>
        <p:spPr/>
        <p:txBody>
          <a:bodyPr/>
          <a:lstStyle/>
          <a:p>
            <a:fld id="{41FC3AD2-D417-4C57-853C-2151CF039A96}" type="slidenum">
              <a:rPr lang="en-US" smtClean="0"/>
              <a:t>9</a:t>
            </a:fld>
            <a:endParaRPr lang="en-US"/>
          </a:p>
        </p:txBody>
      </p:sp>
    </p:spTree>
    <p:extLst>
      <p:ext uri="{BB962C8B-B14F-4D97-AF65-F5344CB8AC3E}">
        <p14:creationId xmlns:p14="http://schemas.microsoft.com/office/powerpoint/2010/main" val="1017250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1DAB-0983-44EC-97F6-6C60C9BBE59D}"/>
              </a:ext>
            </a:extLst>
          </p:cNvPr>
          <p:cNvSpPr>
            <a:spLocks noGrp="1"/>
          </p:cNvSpPr>
          <p:nvPr>
            <p:ph type="title"/>
          </p:nvPr>
        </p:nvSpPr>
        <p:spPr/>
        <p:txBody>
          <a:bodyPr/>
          <a:lstStyle/>
          <a:p>
            <a:r>
              <a:rPr lang="en-US" dirty="0"/>
              <a:t>More information is needed!</a:t>
            </a:r>
          </a:p>
        </p:txBody>
      </p:sp>
      <p:sp>
        <p:nvSpPr>
          <p:cNvPr id="4" name="Date Placeholder 3">
            <a:extLst>
              <a:ext uri="{FF2B5EF4-FFF2-40B4-BE49-F238E27FC236}">
                <a16:creationId xmlns:a16="http://schemas.microsoft.com/office/drawing/2014/main" id="{27988F3E-B253-469D-9FF6-5B7E3FE0B76E}"/>
              </a:ext>
            </a:extLst>
          </p:cNvPr>
          <p:cNvSpPr>
            <a:spLocks noGrp="1"/>
          </p:cNvSpPr>
          <p:nvPr>
            <p:ph type="dt" sz="half" idx="10"/>
          </p:nvPr>
        </p:nvSpPr>
        <p:spPr/>
        <p:txBody>
          <a:bodyPr/>
          <a:lstStyle/>
          <a:p>
            <a:fld id="{7E886869-CF49-406E-B623-390347593CBF}" type="datetime1">
              <a:rPr lang="en-US" smtClean="0"/>
              <a:t>3/1/2022</a:t>
            </a:fld>
            <a:endParaRPr lang="en-US"/>
          </a:p>
        </p:txBody>
      </p:sp>
      <p:sp>
        <p:nvSpPr>
          <p:cNvPr id="6" name="Footer Placeholder 5">
            <a:extLst>
              <a:ext uri="{FF2B5EF4-FFF2-40B4-BE49-F238E27FC236}">
                <a16:creationId xmlns:a16="http://schemas.microsoft.com/office/drawing/2014/main" id="{F2240941-4EFC-4BA4-8E63-CB327C74BB38}"/>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B46100F9-4EA6-4B4A-A233-F1D46043B1E0}"/>
              </a:ext>
            </a:extLst>
          </p:cNvPr>
          <p:cNvSpPr>
            <a:spLocks noGrp="1"/>
          </p:cNvSpPr>
          <p:nvPr>
            <p:ph type="sldNum" sz="quarter" idx="12"/>
          </p:nvPr>
        </p:nvSpPr>
        <p:spPr/>
        <p:txBody>
          <a:bodyPr/>
          <a:lstStyle/>
          <a:p>
            <a:fld id="{41FC3AD2-D417-4C57-853C-2151CF039A96}" type="slidenum">
              <a:rPr lang="en-US" smtClean="0"/>
              <a:t>10</a:t>
            </a:fld>
            <a:endParaRPr lang="en-US"/>
          </a:p>
        </p:txBody>
      </p:sp>
      <p:graphicFrame>
        <p:nvGraphicFramePr>
          <p:cNvPr id="3" name="Table 3">
            <a:extLst>
              <a:ext uri="{FF2B5EF4-FFF2-40B4-BE49-F238E27FC236}">
                <a16:creationId xmlns:a16="http://schemas.microsoft.com/office/drawing/2014/main" id="{D2BCED48-B8C7-42AB-B2F4-E1A462CF34FA}"/>
              </a:ext>
            </a:extLst>
          </p:cNvPr>
          <p:cNvGraphicFramePr>
            <a:graphicFrameLocks noGrp="1"/>
          </p:cNvGraphicFramePr>
          <p:nvPr>
            <p:extLst>
              <p:ext uri="{D42A27DB-BD31-4B8C-83A1-F6EECF244321}">
                <p14:modId xmlns:p14="http://schemas.microsoft.com/office/powerpoint/2010/main" val="1885884119"/>
              </p:ext>
            </p:extLst>
          </p:nvPr>
        </p:nvGraphicFramePr>
        <p:xfrm>
          <a:off x="1796308" y="2352608"/>
          <a:ext cx="8784606" cy="2595880"/>
        </p:xfrm>
        <a:graphic>
          <a:graphicData uri="http://schemas.openxmlformats.org/drawingml/2006/table">
            <a:tbl>
              <a:tblPr firstRow="1" bandRow="1">
                <a:tableStyleId>{5C22544A-7EE6-4342-B048-85BDC9FD1C3A}</a:tableStyleId>
              </a:tblPr>
              <a:tblGrid>
                <a:gridCol w="3534093">
                  <a:extLst>
                    <a:ext uri="{9D8B030D-6E8A-4147-A177-3AD203B41FA5}">
                      <a16:colId xmlns:a16="http://schemas.microsoft.com/office/drawing/2014/main" val="2481751411"/>
                    </a:ext>
                  </a:extLst>
                </a:gridCol>
                <a:gridCol w="1344930">
                  <a:extLst>
                    <a:ext uri="{9D8B030D-6E8A-4147-A177-3AD203B41FA5}">
                      <a16:colId xmlns:a16="http://schemas.microsoft.com/office/drawing/2014/main" val="2194760858"/>
                    </a:ext>
                  </a:extLst>
                </a:gridCol>
                <a:gridCol w="1316355">
                  <a:extLst>
                    <a:ext uri="{9D8B030D-6E8A-4147-A177-3AD203B41FA5}">
                      <a16:colId xmlns:a16="http://schemas.microsoft.com/office/drawing/2014/main" val="451615934"/>
                    </a:ext>
                  </a:extLst>
                </a:gridCol>
                <a:gridCol w="2589228">
                  <a:extLst>
                    <a:ext uri="{9D8B030D-6E8A-4147-A177-3AD203B41FA5}">
                      <a16:colId xmlns:a16="http://schemas.microsoft.com/office/drawing/2014/main" val="3986748499"/>
                    </a:ext>
                  </a:extLst>
                </a:gridCol>
              </a:tblGrid>
              <a:tr h="370840">
                <a:tc>
                  <a:txBody>
                    <a:bodyPr/>
                    <a:lstStyle/>
                    <a:p>
                      <a:r>
                        <a:rPr lang="en-US" dirty="0"/>
                        <a:t>Network Heterogeneity Type</a:t>
                      </a:r>
                    </a:p>
                  </a:txBody>
                  <a:tcPr/>
                </a:tc>
                <a:tc>
                  <a:txBody>
                    <a:bodyPr/>
                    <a:lstStyle/>
                    <a:p>
                      <a:r>
                        <a:rPr lang="en-US" dirty="0"/>
                        <a:t>Node Type</a:t>
                      </a:r>
                    </a:p>
                  </a:txBody>
                  <a:tcPr/>
                </a:tc>
                <a:tc>
                  <a:txBody>
                    <a:bodyPr/>
                    <a:lstStyle/>
                    <a:p>
                      <a:r>
                        <a:rPr lang="en-US" dirty="0"/>
                        <a:t>Edge Type</a:t>
                      </a:r>
                    </a:p>
                  </a:txBody>
                  <a:tcPr/>
                </a:tc>
                <a:tc>
                  <a:txBody>
                    <a:bodyPr/>
                    <a:lstStyle/>
                    <a:p>
                      <a:r>
                        <a:rPr lang="en-US" dirty="0"/>
                        <a:t>Attributes</a:t>
                      </a:r>
                    </a:p>
                  </a:txBody>
                  <a:tcPr/>
                </a:tc>
                <a:extLst>
                  <a:ext uri="{0D108BD9-81ED-4DB2-BD59-A6C34878D82A}">
                    <a16:rowId xmlns:a16="http://schemas.microsoft.com/office/drawing/2014/main" val="4198260871"/>
                  </a:ext>
                </a:extLst>
              </a:tr>
              <a:tr h="370840">
                <a:tc>
                  <a:txBody>
                    <a:bodyPr/>
                    <a:lstStyle/>
                    <a:p>
                      <a:r>
                        <a:rPr lang="en-US" dirty="0"/>
                        <a:t>Homogenous</a:t>
                      </a:r>
                    </a:p>
                  </a:txBody>
                  <a:tcPr/>
                </a:tc>
                <a:tc>
                  <a:txBody>
                    <a:bodyPr/>
                    <a:lstStyle/>
                    <a:p>
                      <a:r>
                        <a:rPr lang="en-US" dirty="0"/>
                        <a:t>Single</a:t>
                      </a:r>
                    </a:p>
                  </a:txBody>
                  <a:tcPr/>
                </a:tc>
                <a:tc>
                  <a:txBody>
                    <a:bodyPr/>
                    <a:lstStyle/>
                    <a:p>
                      <a:r>
                        <a:rPr lang="en-US" dirty="0"/>
                        <a:t>Single</a:t>
                      </a:r>
                    </a:p>
                  </a:txBody>
                  <a:tcPr/>
                </a:tc>
                <a:tc>
                  <a:txBody>
                    <a:bodyPr/>
                    <a:lstStyle/>
                    <a:p>
                      <a:r>
                        <a:rPr lang="en-US" dirty="0"/>
                        <a:t>No</a:t>
                      </a:r>
                    </a:p>
                  </a:txBody>
                  <a:tcPr/>
                </a:tc>
                <a:extLst>
                  <a:ext uri="{0D108BD9-81ED-4DB2-BD59-A6C34878D82A}">
                    <a16:rowId xmlns:a16="http://schemas.microsoft.com/office/drawing/2014/main" val="3239573171"/>
                  </a:ext>
                </a:extLst>
              </a:tr>
              <a:tr h="370840">
                <a:tc>
                  <a:txBody>
                    <a:bodyPr/>
                    <a:lstStyle/>
                    <a:p>
                      <a:r>
                        <a:rPr lang="en-US" dirty="0"/>
                        <a:t>Attributed Homogenous</a:t>
                      </a:r>
                    </a:p>
                  </a:txBody>
                  <a:tcPr/>
                </a:tc>
                <a:tc>
                  <a:txBody>
                    <a:bodyPr/>
                    <a:lstStyle/>
                    <a:p>
                      <a:r>
                        <a:rPr lang="en-US" dirty="0"/>
                        <a:t>Single</a:t>
                      </a:r>
                    </a:p>
                  </a:txBody>
                  <a:tcPr/>
                </a:tc>
                <a:tc>
                  <a:txBody>
                    <a:bodyPr/>
                    <a:lstStyle/>
                    <a:p>
                      <a:r>
                        <a:rPr lang="en-US" dirty="0"/>
                        <a:t>Single</a:t>
                      </a:r>
                    </a:p>
                  </a:txBody>
                  <a:tcPr/>
                </a:tc>
                <a:tc>
                  <a:txBody>
                    <a:bodyPr/>
                    <a:lstStyle/>
                    <a:p>
                      <a:r>
                        <a:rPr lang="en-US" dirty="0"/>
                        <a:t>Yes</a:t>
                      </a:r>
                    </a:p>
                  </a:txBody>
                  <a:tcPr/>
                </a:tc>
                <a:extLst>
                  <a:ext uri="{0D108BD9-81ED-4DB2-BD59-A6C34878D82A}">
                    <a16:rowId xmlns:a16="http://schemas.microsoft.com/office/drawing/2014/main" val="192766673"/>
                  </a:ext>
                </a:extLst>
              </a:tr>
              <a:tr h="370840">
                <a:tc>
                  <a:txBody>
                    <a:bodyPr/>
                    <a:lstStyle/>
                    <a:p>
                      <a:r>
                        <a:rPr lang="en-US" dirty="0"/>
                        <a:t>Heterogenous</a:t>
                      </a:r>
                    </a:p>
                  </a:txBody>
                  <a:tcPr/>
                </a:tc>
                <a:tc>
                  <a:txBody>
                    <a:bodyPr/>
                    <a:lstStyle/>
                    <a:p>
                      <a:r>
                        <a:rPr lang="en-US" dirty="0"/>
                        <a:t>Multi</a:t>
                      </a:r>
                    </a:p>
                  </a:txBody>
                  <a:tcPr/>
                </a:tc>
                <a:tc>
                  <a:txBody>
                    <a:bodyPr/>
                    <a:lstStyle/>
                    <a:p>
                      <a:r>
                        <a:rPr lang="en-US" dirty="0"/>
                        <a:t>Single</a:t>
                      </a:r>
                    </a:p>
                  </a:txBody>
                  <a:tcPr/>
                </a:tc>
                <a:tc>
                  <a:txBody>
                    <a:bodyPr/>
                    <a:lstStyle/>
                    <a:p>
                      <a:r>
                        <a:rPr lang="en-US" dirty="0"/>
                        <a:t>No</a:t>
                      </a:r>
                    </a:p>
                  </a:txBody>
                  <a:tcPr/>
                </a:tc>
                <a:extLst>
                  <a:ext uri="{0D108BD9-81ED-4DB2-BD59-A6C34878D82A}">
                    <a16:rowId xmlns:a16="http://schemas.microsoft.com/office/drawing/2014/main" val="707429421"/>
                  </a:ext>
                </a:extLst>
              </a:tr>
              <a:tr h="370840">
                <a:tc>
                  <a:txBody>
                    <a:bodyPr/>
                    <a:lstStyle/>
                    <a:p>
                      <a:r>
                        <a:rPr lang="en-US" dirty="0"/>
                        <a:t>Attributed Heterogenous</a:t>
                      </a:r>
                    </a:p>
                  </a:txBody>
                  <a:tcPr/>
                </a:tc>
                <a:tc>
                  <a:txBody>
                    <a:bodyPr/>
                    <a:lstStyle/>
                    <a:p>
                      <a:r>
                        <a:rPr lang="en-US" dirty="0"/>
                        <a:t>Multi</a:t>
                      </a:r>
                    </a:p>
                  </a:txBody>
                  <a:tcPr/>
                </a:tc>
                <a:tc>
                  <a:txBody>
                    <a:bodyPr/>
                    <a:lstStyle/>
                    <a:p>
                      <a:r>
                        <a:rPr lang="en-US" dirty="0"/>
                        <a:t>Single</a:t>
                      </a:r>
                    </a:p>
                  </a:txBody>
                  <a:tcPr/>
                </a:tc>
                <a:tc>
                  <a:txBody>
                    <a:bodyPr/>
                    <a:lstStyle/>
                    <a:p>
                      <a:r>
                        <a:rPr lang="en-US" dirty="0"/>
                        <a:t>Yes</a:t>
                      </a:r>
                    </a:p>
                  </a:txBody>
                  <a:tcPr/>
                </a:tc>
                <a:extLst>
                  <a:ext uri="{0D108BD9-81ED-4DB2-BD59-A6C34878D82A}">
                    <a16:rowId xmlns:a16="http://schemas.microsoft.com/office/drawing/2014/main" val="626278726"/>
                  </a:ext>
                </a:extLst>
              </a:tr>
              <a:tr h="370840">
                <a:tc>
                  <a:txBody>
                    <a:bodyPr/>
                    <a:lstStyle/>
                    <a:p>
                      <a:r>
                        <a:rPr lang="en-US" dirty="0"/>
                        <a:t>Multiplex Heterogenous</a:t>
                      </a:r>
                    </a:p>
                  </a:txBody>
                  <a:tcPr/>
                </a:tc>
                <a:tc>
                  <a:txBody>
                    <a:bodyPr/>
                    <a:lstStyle/>
                    <a:p>
                      <a:r>
                        <a:rPr lang="en-US" dirty="0"/>
                        <a:t>Multi</a:t>
                      </a:r>
                    </a:p>
                  </a:txBody>
                  <a:tcPr/>
                </a:tc>
                <a:tc>
                  <a:txBody>
                    <a:bodyPr/>
                    <a:lstStyle/>
                    <a:p>
                      <a:r>
                        <a:rPr lang="en-US" dirty="0"/>
                        <a:t>Multi</a:t>
                      </a:r>
                    </a:p>
                  </a:txBody>
                  <a:tcPr/>
                </a:tc>
                <a:tc>
                  <a:txBody>
                    <a:bodyPr/>
                    <a:lstStyle/>
                    <a:p>
                      <a:r>
                        <a:rPr lang="en-US" dirty="0"/>
                        <a:t>No</a:t>
                      </a:r>
                    </a:p>
                  </a:txBody>
                  <a:tcPr/>
                </a:tc>
                <a:extLst>
                  <a:ext uri="{0D108BD9-81ED-4DB2-BD59-A6C34878D82A}">
                    <a16:rowId xmlns:a16="http://schemas.microsoft.com/office/drawing/2014/main" val="3214760407"/>
                  </a:ext>
                </a:extLst>
              </a:tr>
              <a:tr h="370840">
                <a:tc>
                  <a:txBody>
                    <a:bodyPr/>
                    <a:lstStyle/>
                    <a:p>
                      <a:r>
                        <a:rPr lang="en-US" dirty="0"/>
                        <a:t>Attributed Multiplex Heterogenous</a:t>
                      </a:r>
                    </a:p>
                  </a:txBody>
                  <a:tcPr/>
                </a:tc>
                <a:tc>
                  <a:txBody>
                    <a:bodyPr/>
                    <a:lstStyle/>
                    <a:p>
                      <a:r>
                        <a:rPr lang="en-US" dirty="0"/>
                        <a:t>Multi</a:t>
                      </a:r>
                    </a:p>
                  </a:txBody>
                  <a:tcPr/>
                </a:tc>
                <a:tc>
                  <a:txBody>
                    <a:bodyPr/>
                    <a:lstStyle/>
                    <a:p>
                      <a:r>
                        <a:rPr lang="en-US" dirty="0"/>
                        <a:t>Multi</a:t>
                      </a:r>
                    </a:p>
                  </a:txBody>
                  <a:tcPr/>
                </a:tc>
                <a:tc>
                  <a:txBody>
                    <a:bodyPr/>
                    <a:lstStyle/>
                    <a:p>
                      <a:r>
                        <a:rPr lang="en-US" dirty="0"/>
                        <a:t>Yes</a:t>
                      </a:r>
                    </a:p>
                  </a:txBody>
                  <a:tcPr/>
                </a:tc>
                <a:extLst>
                  <a:ext uri="{0D108BD9-81ED-4DB2-BD59-A6C34878D82A}">
                    <a16:rowId xmlns:a16="http://schemas.microsoft.com/office/drawing/2014/main" val="610187523"/>
                  </a:ext>
                </a:extLst>
              </a:tr>
            </a:tbl>
          </a:graphicData>
        </a:graphic>
      </p:graphicFrame>
      <p:sp>
        <p:nvSpPr>
          <p:cNvPr id="5" name="TextBox 4">
            <a:extLst>
              <a:ext uri="{FF2B5EF4-FFF2-40B4-BE49-F238E27FC236}">
                <a16:creationId xmlns:a16="http://schemas.microsoft.com/office/drawing/2014/main" id="{50D77C04-5C37-41EA-8CE8-168FD00AFBD2}"/>
              </a:ext>
            </a:extLst>
          </p:cNvPr>
          <p:cNvSpPr txBox="1"/>
          <p:nvPr/>
        </p:nvSpPr>
        <p:spPr>
          <a:xfrm>
            <a:off x="1247691" y="5814653"/>
            <a:ext cx="9881839" cy="430887"/>
          </a:xfrm>
          <a:prstGeom prst="rect">
            <a:avLst/>
          </a:prstGeom>
          <a:noFill/>
        </p:spPr>
        <p:txBody>
          <a:bodyPr wrap="square">
            <a:spAutoFit/>
          </a:bodyPr>
          <a:lstStyle/>
          <a:p>
            <a:r>
              <a:rPr lang="en-US" sz="1100" dirty="0"/>
              <a:t>Cen, Y., Zou, X., Zhang, J., Yang, H., Zhou, J., &amp; Tang, J. (2019, July). Representation learning for attributed multiplex heterogeneous network. In Proceedings of the 25th ACM SIGKDD International Conference on Knowledge Discovery &amp; Data Mining (pp. 1358-1368).</a:t>
            </a:r>
          </a:p>
        </p:txBody>
      </p:sp>
    </p:spTree>
    <p:extLst>
      <p:ext uri="{BB962C8B-B14F-4D97-AF65-F5344CB8AC3E}">
        <p14:creationId xmlns:p14="http://schemas.microsoft.com/office/powerpoint/2010/main" val="3677732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E225-E89D-4F79-A217-6604DA8E8DC5}"/>
              </a:ext>
            </a:extLst>
          </p:cNvPr>
          <p:cNvSpPr>
            <a:spLocks noGrp="1"/>
          </p:cNvSpPr>
          <p:nvPr>
            <p:ph type="title"/>
          </p:nvPr>
        </p:nvSpPr>
        <p:spPr>
          <a:xfrm>
            <a:off x="657224" y="499533"/>
            <a:ext cx="10772775" cy="943593"/>
          </a:xfrm>
        </p:spPr>
        <p:txBody>
          <a:bodyPr>
            <a:normAutofit fontScale="90000"/>
          </a:bodyPr>
          <a:lstStyle/>
          <a:p>
            <a:r>
              <a:rPr lang="en-US" dirty="0"/>
              <a:t>Types of Graph Representation Learning</a:t>
            </a:r>
          </a:p>
        </p:txBody>
      </p:sp>
      <p:sp>
        <p:nvSpPr>
          <p:cNvPr id="5" name="Date Placeholder 4">
            <a:extLst>
              <a:ext uri="{FF2B5EF4-FFF2-40B4-BE49-F238E27FC236}">
                <a16:creationId xmlns:a16="http://schemas.microsoft.com/office/drawing/2014/main" id="{1A01F7E9-9177-4153-9A43-9C222DD0841F}"/>
              </a:ext>
            </a:extLst>
          </p:cNvPr>
          <p:cNvSpPr>
            <a:spLocks noGrp="1"/>
          </p:cNvSpPr>
          <p:nvPr>
            <p:ph type="dt" sz="half" idx="10"/>
          </p:nvPr>
        </p:nvSpPr>
        <p:spPr/>
        <p:txBody>
          <a:bodyPr/>
          <a:lstStyle/>
          <a:p>
            <a:fld id="{0D1277C8-98F6-48F1-BC3F-EDD7F7EB1339}" type="datetime1">
              <a:rPr lang="en-US" smtClean="0"/>
              <a:t>3/1/2022</a:t>
            </a:fld>
            <a:endParaRPr lang="en-US"/>
          </a:p>
        </p:txBody>
      </p:sp>
      <p:sp>
        <p:nvSpPr>
          <p:cNvPr id="6" name="Footer Placeholder 5">
            <a:extLst>
              <a:ext uri="{FF2B5EF4-FFF2-40B4-BE49-F238E27FC236}">
                <a16:creationId xmlns:a16="http://schemas.microsoft.com/office/drawing/2014/main" id="{E6B997EC-A34F-4EE6-935B-A04464BCD32A}"/>
              </a:ext>
            </a:extLst>
          </p:cNvPr>
          <p:cNvSpPr>
            <a:spLocks noGrp="1"/>
          </p:cNvSpPr>
          <p:nvPr>
            <p:ph type="ftr" sz="quarter" idx="11"/>
          </p:nvPr>
        </p:nvSpPr>
        <p:spPr/>
        <p:txBody>
          <a:bodyPr/>
          <a:lstStyle/>
          <a:p>
            <a:r>
              <a:rPr lang="en-US" dirty="0"/>
              <a:t>Ebeid – Spring 2022</a:t>
            </a:r>
          </a:p>
          <a:p>
            <a:endParaRPr lang="en-US" dirty="0"/>
          </a:p>
        </p:txBody>
      </p:sp>
      <p:sp>
        <p:nvSpPr>
          <p:cNvPr id="7" name="Slide Number Placeholder 6">
            <a:extLst>
              <a:ext uri="{FF2B5EF4-FFF2-40B4-BE49-F238E27FC236}">
                <a16:creationId xmlns:a16="http://schemas.microsoft.com/office/drawing/2014/main" id="{78CDEC77-2DE1-4DD0-ACC4-9B3C649A7ACD}"/>
              </a:ext>
            </a:extLst>
          </p:cNvPr>
          <p:cNvSpPr>
            <a:spLocks noGrp="1"/>
          </p:cNvSpPr>
          <p:nvPr>
            <p:ph type="sldNum" sz="quarter" idx="12"/>
          </p:nvPr>
        </p:nvSpPr>
        <p:spPr/>
        <p:txBody>
          <a:bodyPr/>
          <a:lstStyle/>
          <a:p>
            <a:fld id="{41FC3AD2-D417-4C57-853C-2151CF039A96}" type="slidenum">
              <a:rPr lang="en-US" smtClean="0"/>
              <a:t>11</a:t>
            </a:fld>
            <a:endParaRPr lang="en-US"/>
          </a:p>
        </p:txBody>
      </p:sp>
      <p:pic>
        <p:nvPicPr>
          <p:cNvPr id="4" name="Picture 3" descr="A close up of a map&#10;&#10;Description automatically generated">
            <a:extLst>
              <a:ext uri="{FF2B5EF4-FFF2-40B4-BE49-F238E27FC236}">
                <a16:creationId xmlns:a16="http://schemas.microsoft.com/office/drawing/2014/main" id="{FEE45A3A-5D5C-4278-A419-6A12ACB4A7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77898" y="3960493"/>
            <a:ext cx="5943600" cy="2211705"/>
          </a:xfrm>
          <a:prstGeom prst="rect">
            <a:avLst/>
          </a:prstGeom>
        </p:spPr>
      </p:pic>
      <p:sp>
        <p:nvSpPr>
          <p:cNvPr id="8" name="Content Placeholder 2">
            <a:extLst>
              <a:ext uri="{FF2B5EF4-FFF2-40B4-BE49-F238E27FC236}">
                <a16:creationId xmlns:a16="http://schemas.microsoft.com/office/drawing/2014/main" id="{D97A0A6C-1090-4076-A86B-E518F335252A}"/>
              </a:ext>
            </a:extLst>
          </p:cNvPr>
          <p:cNvSpPr txBox="1">
            <a:spLocks/>
          </p:cNvSpPr>
          <p:nvPr/>
        </p:nvSpPr>
        <p:spPr>
          <a:xfrm>
            <a:off x="1997927" y="1825625"/>
            <a:ext cx="8461917" cy="16581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Linux Libertine" panose="02000503000000000000" pitchFamily="2" charset="0"/>
                <a:ea typeface="Calibri" panose="020F0502020204030204" pitchFamily="34" charset="0"/>
              </a:rPr>
              <a:t>Traditional Graph Analytics</a:t>
            </a:r>
          </a:p>
          <a:p>
            <a:r>
              <a:rPr lang="en-US" sz="2000" dirty="0"/>
              <a:t>Graph Representation Learning:</a:t>
            </a:r>
          </a:p>
          <a:p>
            <a:pPr lvl="1"/>
            <a:r>
              <a:rPr lang="en-US" sz="2000" dirty="0"/>
              <a:t>Network Embedding: Node2vec, </a:t>
            </a:r>
            <a:r>
              <a:rPr lang="en-US" sz="2000" dirty="0" err="1"/>
              <a:t>Deepwalk</a:t>
            </a:r>
            <a:endParaRPr lang="en-US" sz="2000" dirty="0"/>
          </a:p>
          <a:p>
            <a:pPr lvl="1"/>
            <a:r>
              <a:rPr lang="en-US" sz="2000" dirty="0"/>
              <a:t>Graph Neural Networks: GCN, GAN</a:t>
            </a:r>
          </a:p>
          <a:p>
            <a:pPr lvl="1"/>
            <a:r>
              <a:rPr lang="en-US" sz="2000" dirty="0"/>
              <a:t>Knowledge Embedding:</a:t>
            </a:r>
          </a:p>
          <a:p>
            <a:pPr lvl="2"/>
            <a:r>
              <a:rPr lang="en-US" dirty="0"/>
              <a:t>Translational Distance</a:t>
            </a:r>
          </a:p>
          <a:p>
            <a:pPr lvl="2"/>
            <a:r>
              <a:rPr lang="en-US" dirty="0"/>
              <a:t>Semantic Matching</a:t>
            </a:r>
          </a:p>
        </p:txBody>
      </p:sp>
    </p:spTree>
    <p:extLst>
      <p:ext uri="{BB962C8B-B14F-4D97-AF65-F5344CB8AC3E}">
        <p14:creationId xmlns:p14="http://schemas.microsoft.com/office/powerpoint/2010/main" val="4081486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833FB-94A0-45C2-BD87-12904B4A7AAB}"/>
              </a:ext>
            </a:extLst>
          </p:cNvPr>
          <p:cNvSpPr>
            <a:spLocks noGrp="1"/>
          </p:cNvSpPr>
          <p:nvPr>
            <p:ph type="title"/>
          </p:nvPr>
        </p:nvSpPr>
        <p:spPr/>
        <p:txBody>
          <a:bodyPr/>
          <a:lstStyle/>
          <a:p>
            <a:r>
              <a:rPr lang="en-US" dirty="0"/>
              <a:t>Basic Models in Graph Representation Learning</a:t>
            </a:r>
          </a:p>
        </p:txBody>
      </p:sp>
      <p:sp>
        <p:nvSpPr>
          <p:cNvPr id="3" name="Content Placeholder 2">
            <a:extLst>
              <a:ext uri="{FF2B5EF4-FFF2-40B4-BE49-F238E27FC236}">
                <a16:creationId xmlns:a16="http://schemas.microsoft.com/office/drawing/2014/main" id="{6FEAA4A4-EC82-44C0-AF10-BDA644F442BE}"/>
              </a:ext>
            </a:extLst>
          </p:cNvPr>
          <p:cNvSpPr>
            <a:spLocks noGrp="1"/>
          </p:cNvSpPr>
          <p:nvPr>
            <p:ph idx="1"/>
          </p:nvPr>
        </p:nvSpPr>
        <p:spPr>
          <a:xfrm>
            <a:off x="838200" y="2305439"/>
            <a:ext cx="10515600" cy="1452834"/>
          </a:xfrm>
        </p:spPr>
        <p:txBody>
          <a:bodyPr>
            <a:normAutofit/>
          </a:bodyPr>
          <a:lstStyle/>
          <a:p>
            <a:pPr>
              <a:buFont typeface="Arial" panose="020B0604020202020204" pitchFamily="34" charset="0"/>
              <a:buChar char="•"/>
            </a:pPr>
            <a:r>
              <a:rPr lang="en-US" dirty="0"/>
              <a:t>Network Embedding: Skip gram model</a:t>
            </a:r>
          </a:p>
          <a:p>
            <a:pPr>
              <a:buFont typeface="Arial" panose="020B0604020202020204" pitchFamily="34" charset="0"/>
              <a:buChar char="•"/>
            </a:pPr>
            <a:r>
              <a:rPr lang="en-US" dirty="0"/>
              <a:t>Knowledge Embedding: </a:t>
            </a:r>
            <a:r>
              <a:rPr lang="en-US" dirty="0" err="1"/>
              <a:t>TransX</a:t>
            </a:r>
            <a:endParaRPr lang="en-US" dirty="0"/>
          </a:p>
          <a:p>
            <a:pPr>
              <a:buFont typeface="Arial" panose="020B0604020202020204" pitchFamily="34" charset="0"/>
              <a:buChar char="•"/>
            </a:pPr>
            <a:r>
              <a:rPr lang="en-US" dirty="0"/>
              <a:t>GNN: GCN-X</a:t>
            </a:r>
          </a:p>
        </p:txBody>
      </p:sp>
      <p:sp>
        <p:nvSpPr>
          <p:cNvPr id="4" name="Date Placeholder 3">
            <a:extLst>
              <a:ext uri="{FF2B5EF4-FFF2-40B4-BE49-F238E27FC236}">
                <a16:creationId xmlns:a16="http://schemas.microsoft.com/office/drawing/2014/main" id="{8F63AD93-0484-4276-A6F0-B5E39B0A4789}"/>
              </a:ext>
            </a:extLst>
          </p:cNvPr>
          <p:cNvSpPr>
            <a:spLocks noGrp="1"/>
          </p:cNvSpPr>
          <p:nvPr>
            <p:ph type="dt" sz="half" idx="10"/>
          </p:nvPr>
        </p:nvSpPr>
        <p:spPr/>
        <p:txBody>
          <a:bodyPr/>
          <a:lstStyle/>
          <a:p>
            <a:fld id="{B7E9F850-71B8-4C2D-961B-9F9116405D4C}" type="datetime1">
              <a:rPr lang="en-US" smtClean="0"/>
              <a:t>3/1/2022</a:t>
            </a:fld>
            <a:endParaRPr lang="en-US"/>
          </a:p>
        </p:txBody>
      </p:sp>
      <p:sp>
        <p:nvSpPr>
          <p:cNvPr id="5" name="Footer Placeholder 4">
            <a:extLst>
              <a:ext uri="{FF2B5EF4-FFF2-40B4-BE49-F238E27FC236}">
                <a16:creationId xmlns:a16="http://schemas.microsoft.com/office/drawing/2014/main" id="{718FF9CB-54B4-4B93-976A-54C86637231D}"/>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42E80F27-9C3E-4022-A25E-D09DF01AF08A}"/>
              </a:ext>
            </a:extLst>
          </p:cNvPr>
          <p:cNvSpPr>
            <a:spLocks noGrp="1"/>
          </p:cNvSpPr>
          <p:nvPr>
            <p:ph type="sldNum" sz="quarter" idx="12"/>
          </p:nvPr>
        </p:nvSpPr>
        <p:spPr/>
        <p:txBody>
          <a:bodyPr/>
          <a:lstStyle/>
          <a:p>
            <a:fld id="{41FC3AD2-D417-4C57-853C-2151CF039A96}" type="slidenum">
              <a:rPr lang="en-US" smtClean="0"/>
              <a:t>12</a:t>
            </a:fld>
            <a:endParaRPr lang="en-US"/>
          </a:p>
        </p:txBody>
      </p:sp>
      <p:sp>
        <p:nvSpPr>
          <p:cNvPr id="8" name="TextBox 7">
            <a:extLst>
              <a:ext uri="{FF2B5EF4-FFF2-40B4-BE49-F238E27FC236}">
                <a16:creationId xmlns:a16="http://schemas.microsoft.com/office/drawing/2014/main" id="{8DC98811-FB25-4A2A-AD74-3B1E87887307}"/>
              </a:ext>
            </a:extLst>
          </p:cNvPr>
          <p:cNvSpPr txBox="1"/>
          <p:nvPr/>
        </p:nvSpPr>
        <p:spPr>
          <a:xfrm>
            <a:off x="602166" y="4217240"/>
            <a:ext cx="10751634" cy="1277273"/>
          </a:xfrm>
          <a:prstGeom prst="rect">
            <a:avLst/>
          </a:prstGeom>
          <a:noFill/>
        </p:spPr>
        <p:txBody>
          <a:bodyPr wrap="square">
            <a:spAutoFit/>
          </a:bodyPr>
          <a:lstStyle/>
          <a:p>
            <a:r>
              <a:rPr lang="en-US" sz="1100" dirty="0" err="1"/>
              <a:t>Perozzi</a:t>
            </a:r>
            <a:r>
              <a:rPr lang="en-US" sz="1100" dirty="0"/>
              <a:t>, B., Al-</a:t>
            </a:r>
            <a:r>
              <a:rPr lang="en-US" sz="1100" dirty="0" err="1"/>
              <a:t>Rfou</a:t>
            </a:r>
            <a:r>
              <a:rPr lang="en-US" sz="1100" dirty="0"/>
              <a:t>, R., &amp; </a:t>
            </a:r>
            <a:r>
              <a:rPr lang="en-US" sz="1100" dirty="0" err="1"/>
              <a:t>Skiena</a:t>
            </a:r>
            <a:r>
              <a:rPr lang="en-US" sz="1100" dirty="0"/>
              <a:t>, S. (2014, August). </a:t>
            </a:r>
            <a:r>
              <a:rPr lang="en-US" sz="1100" dirty="0" err="1"/>
              <a:t>Deepwalk</a:t>
            </a:r>
            <a:r>
              <a:rPr lang="en-US" sz="1100" dirty="0"/>
              <a:t>: Online learning of social representations. In Proceedings of the 20th ACM SIGKDD international conference on Knowledge discovery and data mining (pp. 701-710).</a:t>
            </a:r>
          </a:p>
          <a:p>
            <a:endParaRPr lang="en-US" sz="1100" dirty="0"/>
          </a:p>
          <a:p>
            <a:r>
              <a:rPr lang="en-US" sz="1100" dirty="0"/>
              <a:t>Wang, Z., Zhang, J., Feng, J., &amp; Chen, Z. (2014, June). Knowledge graph embedding by translating on hyperplanes. In Proceedings of the AAAI Conference on Artificial Intelligence (Vol. 28, No. 1).</a:t>
            </a:r>
          </a:p>
          <a:p>
            <a:endParaRPr lang="en-US" sz="1100" dirty="0"/>
          </a:p>
          <a:p>
            <a:r>
              <a:rPr lang="en-US" sz="1100" dirty="0" err="1"/>
              <a:t>Kipf</a:t>
            </a:r>
            <a:r>
              <a:rPr lang="en-US" sz="1100" dirty="0"/>
              <a:t>, T. N., &amp; Welling, M. (2016). Semi-supervised classification with graph convolutional networks. </a:t>
            </a:r>
            <a:r>
              <a:rPr lang="en-US" sz="1100" dirty="0" err="1"/>
              <a:t>arXiv</a:t>
            </a:r>
            <a:r>
              <a:rPr lang="en-US" sz="1100" dirty="0"/>
              <a:t> preprint arXiv:1609.02907.</a:t>
            </a:r>
          </a:p>
        </p:txBody>
      </p:sp>
    </p:spTree>
    <p:extLst>
      <p:ext uri="{BB962C8B-B14F-4D97-AF65-F5344CB8AC3E}">
        <p14:creationId xmlns:p14="http://schemas.microsoft.com/office/powerpoint/2010/main" val="38133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49525-D079-4929-A684-4E87760B40B2}"/>
              </a:ext>
            </a:extLst>
          </p:cNvPr>
          <p:cNvSpPr>
            <a:spLocks noGrp="1"/>
          </p:cNvSpPr>
          <p:nvPr>
            <p:ph type="title"/>
          </p:nvPr>
        </p:nvSpPr>
        <p:spPr>
          <a:xfrm>
            <a:off x="657224" y="499533"/>
            <a:ext cx="10772775" cy="901851"/>
          </a:xfrm>
        </p:spPr>
        <p:txBody>
          <a:bodyPr/>
          <a:lstStyle/>
          <a:p>
            <a:r>
              <a:rPr lang="en-US" dirty="0"/>
              <a:t>Network Embedding: Skip-gram Model</a:t>
            </a:r>
          </a:p>
        </p:txBody>
      </p:sp>
      <p:sp>
        <p:nvSpPr>
          <p:cNvPr id="3" name="Date Placeholder 2">
            <a:extLst>
              <a:ext uri="{FF2B5EF4-FFF2-40B4-BE49-F238E27FC236}">
                <a16:creationId xmlns:a16="http://schemas.microsoft.com/office/drawing/2014/main" id="{3F59201E-8987-4B4E-9139-E638C0F46618}"/>
              </a:ext>
            </a:extLst>
          </p:cNvPr>
          <p:cNvSpPr>
            <a:spLocks noGrp="1"/>
          </p:cNvSpPr>
          <p:nvPr>
            <p:ph type="dt" sz="half" idx="10"/>
          </p:nvPr>
        </p:nvSpPr>
        <p:spPr/>
        <p:txBody>
          <a:bodyPr/>
          <a:lstStyle/>
          <a:p>
            <a:fld id="{E1AFADA6-2463-4D85-807D-95D9CE772319}" type="datetime1">
              <a:rPr lang="en-US" smtClean="0"/>
              <a:t>3/1/2022</a:t>
            </a:fld>
            <a:endParaRPr lang="en-US"/>
          </a:p>
        </p:txBody>
      </p:sp>
      <p:sp>
        <p:nvSpPr>
          <p:cNvPr id="5" name="Footer Placeholder 4">
            <a:extLst>
              <a:ext uri="{FF2B5EF4-FFF2-40B4-BE49-F238E27FC236}">
                <a16:creationId xmlns:a16="http://schemas.microsoft.com/office/drawing/2014/main" id="{3176EF68-1B75-4379-84C8-705D036269C2}"/>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E3344F91-8898-4269-8A8F-D9123A4A97D8}"/>
              </a:ext>
            </a:extLst>
          </p:cNvPr>
          <p:cNvSpPr>
            <a:spLocks noGrp="1"/>
          </p:cNvSpPr>
          <p:nvPr>
            <p:ph type="sldNum" sz="quarter" idx="12"/>
          </p:nvPr>
        </p:nvSpPr>
        <p:spPr/>
        <p:txBody>
          <a:bodyPr/>
          <a:lstStyle/>
          <a:p>
            <a:fld id="{41FC3AD2-D417-4C57-853C-2151CF039A96}" type="slidenum">
              <a:rPr lang="en-US" smtClean="0"/>
              <a:t>13</a:t>
            </a:fld>
            <a:endParaRPr lang="en-US" dirty="0"/>
          </a:p>
        </p:txBody>
      </p:sp>
      <p:pic>
        <p:nvPicPr>
          <p:cNvPr id="4" name="Graphic 20">
            <a:extLst>
              <a:ext uri="{FF2B5EF4-FFF2-40B4-BE49-F238E27FC236}">
                <a16:creationId xmlns:a16="http://schemas.microsoft.com/office/drawing/2014/main" id="{B4DD5BC3-5FE2-4C05-BEBA-0C63E54F96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443" y="1338147"/>
            <a:ext cx="10657114" cy="3882773"/>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EA84B36-B7F2-401D-AF0A-D72D1AB3E92E}"/>
                  </a:ext>
                </a:extLst>
              </p:cNvPr>
              <p:cNvSpPr txBox="1"/>
              <p:nvPr/>
            </p:nvSpPr>
            <p:spPr>
              <a:xfrm>
                <a:off x="2851791" y="4618003"/>
                <a:ext cx="6096000" cy="9018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sepChr m:val=","/>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0">
                                  <a:latin typeface="Cambria Math" panose="02040503050406030204" pitchFamily="18" charset="0"/>
                                </a:rPr>
                                <m:t>1</m:t>
                              </m:r>
                            </m:sub>
                          </m:sSub>
                        </m:e>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0">
                                  <a:latin typeface="Cambria Math" panose="02040503050406030204" pitchFamily="18" charset="0"/>
                                </a:rPr>
                                <m:t>2</m:t>
                              </m:r>
                            </m:sub>
                          </m:sSub>
                        </m:e>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0">
                                  <a:latin typeface="Cambria Math" panose="02040503050406030204" pitchFamily="18" charset="0"/>
                                </a:rPr>
                                <m:t>3</m:t>
                              </m:r>
                            </m:sub>
                          </m:sSub>
                        </m:e>
                        <m:e>
                          <m:r>
                            <a:rPr lang="en-US" i="0">
                              <a:latin typeface="Cambria Math" panose="02040503050406030204" pitchFamily="18" charset="0"/>
                            </a:rPr>
                            <m:t> </m:t>
                          </m:r>
                        </m:e>
                        <m:e>
                          <m:r>
                            <a:rPr lang="en-US" i="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𝑡</m:t>
                              </m:r>
                            </m:sub>
                          </m:sSub>
                        </m:e>
                      </m:d>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𝑇</m:t>
                          </m:r>
                        </m:den>
                      </m:f>
                      <m:r>
                        <a:rPr lang="en-US" i="0">
                          <a:latin typeface="Cambria Math" panose="02040503050406030204" pitchFamily="18" charset="0"/>
                        </a:rPr>
                        <m:t> </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𝑇</m:t>
                          </m:r>
                        </m:sub>
                        <m:sup>
                          <m:r>
                            <a:rPr lang="en-US" i="1">
                              <a:latin typeface="Cambria Math" panose="02040503050406030204" pitchFamily="18" charset="0"/>
                            </a:rPr>
                            <m:t>𝑡</m:t>
                          </m:r>
                          <m:r>
                            <a:rPr lang="en-US" i="0">
                              <a:latin typeface="Cambria Math" panose="02040503050406030204" pitchFamily="18" charset="0"/>
                            </a:rPr>
                            <m:t>=1</m:t>
                          </m:r>
                        </m:sup>
                        <m:e>
                          <m:nary>
                            <m:naryPr>
                              <m:chr m:val="∑"/>
                              <m:limLoc m:val="undOvr"/>
                              <m:supHide m:val="on"/>
                              <m:ctrlPr>
                                <a:rPr lang="en-US" i="1">
                                  <a:latin typeface="Cambria Math" panose="02040503050406030204" pitchFamily="18" charset="0"/>
                                </a:rPr>
                              </m:ctrlPr>
                            </m:naryPr>
                            <m:sub>
                              <m:r>
                                <a:rPr lang="en-US" i="0">
                                  <a:latin typeface="Cambria Math" panose="02040503050406030204" pitchFamily="18" charset="0"/>
                                </a:rPr>
                                <m:t>−</m:t>
                              </m:r>
                              <m:r>
                                <a:rPr lang="en-US" i="1">
                                  <a:latin typeface="Cambria Math" panose="02040503050406030204" pitchFamily="18" charset="0"/>
                                </a:rPr>
                                <m:t>𝑐</m:t>
                              </m:r>
                              <m:r>
                                <a:rPr lang="en-US" i="0">
                                  <a:latin typeface="Cambria Math" panose="02040503050406030204" pitchFamily="18" charset="0"/>
                                </a:rPr>
                                <m:t> ≤ </m:t>
                              </m:r>
                              <m:r>
                                <a:rPr lang="en-US" i="1">
                                  <a:latin typeface="Cambria Math" panose="02040503050406030204" pitchFamily="18" charset="0"/>
                                </a:rPr>
                                <m:t>𝑗</m:t>
                              </m:r>
                              <m:r>
                                <a:rPr lang="en-US" i="0">
                                  <a:latin typeface="Cambria Math" panose="02040503050406030204" pitchFamily="18" charset="0"/>
                                </a:rPr>
                                <m:t> ≤ </m:t>
                              </m:r>
                              <m:r>
                                <a:rPr lang="en-US" i="1">
                                  <a:latin typeface="Cambria Math" panose="02040503050406030204" pitchFamily="18" charset="0"/>
                                </a:rPr>
                                <m:t>𝑐</m:t>
                              </m:r>
                              <m:r>
                                <a:rPr lang="en-US" i="0">
                                  <a:latin typeface="Cambria Math" panose="02040503050406030204" pitchFamily="18" charset="0"/>
                                </a:rPr>
                                <m:t>,  </m:t>
                              </m:r>
                              <m:r>
                                <a:rPr lang="en-US" i="1">
                                  <a:latin typeface="Cambria Math" panose="02040503050406030204" pitchFamily="18" charset="0"/>
                                </a:rPr>
                                <m:t>𝑗</m:t>
                              </m:r>
                              <m:r>
                                <a:rPr lang="en-US" i="0">
                                  <a:latin typeface="Cambria Math" panose="02040503050406030204" pitchFamily="18" charset="0"/>
                                </a:rPr>
                                <m:t>=0</m:t>
                              </m:r>
                            </m:sub>
                            <m:sup/>
                            <m:e>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𝑗</m:t>
                                          </m:r>
                                        </m:sub>
                                      </m:sSub>
                                    </m:e>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𝑡</m:t>
                                          </m:r>
                                        </m:sub>
                                      </m:sSub>
                                    </m:e>
                                  </m:d>
                                </m:e>
                              </m:func>
                            </m:e>
                          </m:nary>
                        </m:e>
                      </m:nary>
                    </m:oMath>
                  </m:oMathPara>
                </a14:m>
                <a:endParaRPr lang="en-US" dirty="0"/>
              </a:p>
            </p:txBody>
          </p:sp>
        </mc:Choice>
        <mc:Fallback>
          <p:sp>
            <p:nvSpPr>
              <p:cNvPr id="7" name="TextBox 6">
                <a:extLst>
                  <a:ext uri="{FF2B5EF4-FFF2-40B4-BE49-F238E27FC236}">
                    <a16:creationId xmlns:a16="http://schemas.microsoft.com/office/drawing/2014/main" id="{8EA84B36-B7F2-401D-AF0A-D72D1AB3E92E}"/>
                  </a:ext>
                </a:extLst>
              </p:cNvPr>
              <p:cNvSpPr txBox="1">
                <a:spLocks noRot="1" noChangeAspect="1" noMove="1" noResize="1" noEditPoints="1" noAdjustHandles="1" noChangeArrowheads="1" noChangeShapeType="1" noTextEdit="1"/>
              </p:cNvSpPr>
              <p:nvPr/>
            </p:nvSpPr>
            <p:spPr>
              <a:xfrm>
                <a:off x="2851791" y="4618003"/>
                <a:ext cx="6096000" cy="90185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CC08902-76CC-4BF6-A9C5-46B57616EFB9}"/>
                  </a:ext>
                </a:extLst>
              </p:cNvPr>
              <p:cNvSpPr txBox="1"/>
              <p:nvPr/>
            </p:nvSpPr>
            <p:spPr>
              <a:xfrm>
                <a:off x="3048000" y="5539562"/>
                <a:ext cx="6096000" cy="7970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𝜃</m:t>
                          </m:r>
                        </m:e>
                      </m:d>
                      <m:r>
                        <a:rPr lang="en-US" i="0">
                          <a:latin typeface="Cambria Math" panose="02040503050406030204" pitchFamily="18" charset="0"/>
                        </a:rPr>
                        <m:t> = </m:t>
                      </m:r>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r>
                            <a:rPr lang="en-US" i="1">
                              <a:latin typeface="Cambria Math" panose="02040503050406030204" pitchFamily="18" charset="0"/>
                            </a:rPr>
                            <m:t>𝜎</m:t>
                          </m:r>
                          <m:d>
                            <m:dPr>
                              <m:ctrlPr>
                                <a:rPr lang="en-US" i="1">
                                  <a:latin typeface="Cambria Math" panose="02040503050406030204" pitchFamily="18" charset="0"/>
                                </a:rPr>
                              </m:ctrlPr>
                            </m:dPr>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𝑢</m:t>
                                  </m:r>
                                </m:e>
                                <m:sub>
                                  <m:r>
                                    <a:rPr lang="en-US" i="0">
                                      <a:latin typeface="Cambria Math" panose="02040503050406030204" pitchFamily="18" charset="0"/>
                                    </a:rPr>
                                    <m:t>0</m:t>
                                  </m:r>
                                </m:sub>
                                <m:sup>
                                  <m:r>
                                    <a:rPr lang="en-US" i="1">
                                      <a:latin typeface="Cambria Math" panose="02040503050406030204" pitchFamily="18" charset="0"/>
                                    </a:rPr>
                                    <m:t>𝑇</m:t>
                                  </m:r>
                                </m:sup>
                              </m:sSubSup>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𝑐</m:t>
                                  </m:r>
                                </m:sub>
                              </m:sSub>
                            </m:e>
                          </m:d>
                          <m:r>
                            <a:rPr lang="en-US" i="0">
                              <a:latin typeface="Cambria Math" panose="02040503050406030204" pitchFamily="18" charset="0"/>
                            </a:rPr>
                            <m:t> + </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 =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𝑉</m:t>
                                  </m:r>
                                </m:e>
                              </m:d>
                            </m:sub>
                            <m:sup/>
                            <m:e>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r>
                                    <a:rPr lang="en-US" i="1">
                                      <a:latin typeface="Cambria Math" panose="02040503050406030204" pitchFamily="18" charset="0"/>
                                    </a:rPr>
                                    <m:t>𝜎</m:t>
                                  </m:r>
                                  <m:d>
                                    <m:dPr>
                                      <m:ctrlPr>
                                        <a:rPr lang="en-US" i="1">
                                          <a:latin typeface="Cambria Math" panose="02040503050406030204" pitchFamily="18" charset="0"/>
                                        </a:rPr>
                                      </m:ctrlPr>
                                    </m:dPr>
                                    <m:e>
                                      <m:sSubSup>
                                        <m:sSubSupPr>
                                          <m:ctrlPr>
                                            <a:rPr lang="en-US" i="1">
                                              <a:solidFill>
                                                <a:srgbClr val="836967"/>
                                              </a:solidFill>
                                              <a:latin typeface="Cambria Math" panose="02040503050406030204" pitchFamily="18" charset="0"/>
                                            </a:rPr>
                                          </m:ctrlPr>
                                        </m:sSubSupPr>
                                        <m:e>
                                          <m:r>
                                            <a:rPr lang="en-US" i="0">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𝑗</m:t>
                                          </m:r>
                                        </m:sub>
                                        <m:sup>
                                          <m:r>
                                            <a:rPr lang="en-US" i="1">
                                              <a:latin typeface="Cambria Math" panose="02040503050406030204" pitchFamily="18" charset="0"/>
                                            </a:rPr>
                                            <m:t>𝑇</m:t>
                                          </m:r>
                                        </m:sup>
                                      </m:sSubSup>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𝑐</m:t>
                                          </m:r>
                                        </m:sub>
                                      </m:sSub>
                                    </m:e>
                                  </m:d>
                                </m:e>
                              </m:func>
                            </m:e>
                          </m:nary>
                        </m:e>
                      </m:func>
                    </m:oMath>
                  </m:oMathPara>
                </a14:m>
                <a:endParaRPr lang="en-US" dirty="0"/>
              </a:p>
            </p:txBody>
          </p:sp>
        </mc:Choice>
        <mc:Fallback>
          <p:sp>
            <p:nvSpPr>
              <p:cNvPr id="9" name="TextBox 8">
                <a:extLst>
                  <a:ext uri="{FF2B5EF4-FFF2-40B4-BE49-F238E27FC236}">
                    <a16:creationId xmlns:a16="http://schemas.microsoft.com/office/drawing/2014/main" id="{8CC08902-76CC-4BF6-A9C5-46B57616EFB9}"/>
                  </a:ext>
                </a:extLst>
              </p:cNvPr>
              <p:cNvSpPr txBox="1">
                <a:spLocks noRot="1" noChangeAspect="1" noMove="1" noResize="1" noEditPoints="1" noAdjustHandles="1" noChangeArrowheads="1" noChangeShapeType="1" noTextEdit="1"/>
              </p:cNvSpPr>
              <p:nvPr/>
            </p:nvSpPr>
            <p:spPr>
              <a:xfrm>
                <a:off x="3048000" y="5539562"/>
                <a:ext cx="6096000" cy="797078"/>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87342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AD9E-75FA-4CDC-B1CE-3B33434895BE}"/>
              </a:ext>
            </a:extLst>
          </p:cNvPr>
          <p:cNvSpPr>
            <a:spLocks noGrp="1"/>
          </p:cNvSpPr>
          <p:nvPr>
            <p:ph type="title"/>
          </p:nvPr>
        </p:nvSpPr>
        <p:spPr/>
        <p:txBody>
          <a:bodyPr/>
          <a:lstStyle/>
          <a:p>
            <a:r>
              <a:rPr lang="en-US" dirty="0"/>
              <a:t>GNN: Graph Convolutional Networks</a:t>
            </a:r>
          </a:p>
        </p:txBody>
      </p:sp>
      <p:sp>
        <p:nvSpPr>
          <p:cNvPr id="5" name="Date Placeholder 4">
            <a:extLst>
              <a:ext uri="{FF2B5EF4-FFF2-40B4-BE49-F238E27FC236}">
                <a16:creationId xmlns:a16="http://schemas.microsoft.com/office/drawing/2014/main" id="{07639140-1F87-47ED-8711-A324CA9A2F2C}"/>
              </a:ext>
            </a:extLst>
          </p:cNvPr>
          <p:cNvSpPr>
            <a:spLocks noGrp="1"/>
          </p:cNvSpPr>
          <p:nvPr>
            <p:ph type="dt" sz="half" idx="10"/>
          </p:nvPr>
        </p:nvSpPr>
        <p:spPr/>
        <p:txBody>
          <a:bodyPr/>
          <a:lstStyle/>
          <a:p>
            <a:fld id="{1DAA91D6-E7C3-4DF6-A760-589603AA9AE4}" type="datetime1">
              <a:rPr lang="en-US" smtClean="0"/>
              <a:t>3/1/2022</a:t>
            </a:fld>
            <a:endParaRPr lang="en-US"/>
          </a:p>
        </p:txBody>
      </p:sp>
      <p:sp>
        <p:nvSpPr>
          <p:cNvPr id="6" name="Footer Placeholder 5">
            <a:extLst>
              <a:ext uri="{FF2B5EF4-FFF2-40B4-BE49-F238E27FC236}">
                <a16:creationId xmlns:a16="http://schemas.microsoft.com/office/drawing/2014/main" id="{21A738BA-7D11-407D-B7C3-B3606266D7BE}"/>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D029BDF3-267F-4F89-9856-C814916A3DF4}"/>
              </a:ext>
            </a:extLst>
          </p:cNvPr>
          <p:cNvSpPr>
            <a:spLocks noGrp="1"/>
          </p:cNvSpPr>
          <p:nvPr>
            <p:ph type="sldNum" sz="quarter" idx="12"/>
          </p:nvPr>
        </p:nvSpPr>
        <p:spPr/>
        <p:txBody>
          <a:bodyPr/>
          <a:lstStyle/>
          <a:p>
            <a:fld id="{41FC3AD2-D417-4C57-853C-2151CF039A96}" type="slidenum">
              <a:rPr lang="en-US" smtClean="0"/>
              <a:t>14</a:t>
            </a:fld>
            <a:endParaRPr lang="en-US"/>
          </a:p>
        </p:txBody>
      </p:sp>
      <p:pic>
        <p:nvPicPr>
          <p:cNvPr id="3" name="Content Placeholder 4" descr="A picture containing text&#10;&#10;Description automatically generated">
            <a:extLst>
              <a:ext uri="{FF2B5EF4-FFF2-40B4-BE49-F238E27FC236}">
                <a16:creationId xmlns:a16="http://schemas.microsoft.com/office/drawing/2014/main" id="{131FCCD6-BED8-4377-86B6-E19FFCE9F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6012" y="1822733"/>
            <a:ext cx="7419975" cy="3886200"/>
          </a:xfrm>
          <a:prstGeom prst="rect">
            <a:avLst/>
          </a:prstGeom>
        </p:spPr>
      </p:pic>
      <p:pic>
        <p:nvPicPr>
          <p:cNvPr id="4" name="Picture 3" descr="A picture containing drawing, table, clock&#10;&#10;Description automatically generated">
            <a:extLst>
              <a:ext uri="{FF2B5EF4-FFF2-40B4-BE49-F238E27FC236}">
                <a16:creationId xmlns:a16="http://schemas.microsoft.com/office/drawing/2014/main" id="{2942B265-F74A-4D85-ADBE-F0C1BB66C9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7" y="1935114"/>
            <a:ext cx="3371850" cy="581025"/>
          </a:xfrm>
          <a:prstGeom prst="rect">
            <a:avLst/>
          </a:prstGeom>
        </p:spPr>
      </p:pic>
      <p:sp>
        <p:nvSpPr>
          <p:cNvPr id="9" name="TextBox 8">
            <a:extLst>
              <a:ext uri="{FF2B5EF4-FFF2-40B4-BE49-F238E27FC236}">
                <a16:creationId xmlns:a16="http://schemas.microsoft.com/office/drawing/2014/main" id="{7C9A8D01-00FB-4BBE-8F5D-92A40E5C78A1}"/>
              </a:ext>
            </a:extLst>
          </p:cNvPr>
          <p:cNvSpPr txBox="1"/>
          <p:nvPr/>
        </p:nvSpPr>
        <p:spPr>
          <a:xfrm>
            <a:off x="2018370" y="5690606"/>
            <a:ext cx="10983952" cy="261610"/>
          </a:xfrm>
          <a:prstGeom prst="rect">
            <a:avLst/>
          </a:prstGeom>
          <a:noFill/>
        </p:spPr>
        <p:txBody>
          <a:bodyPr wrap="square">
            <a:spAutoFit/>
          </a:bodyPr>
          <a:lstStyle/>
          <a:p>
            <a:r>
              <a:rPr lang="en-US" sz="1100" dirty="0" err="1"/>
              <a:t>Kipf</a:t>
            </a:r>
            <a:r>
              <a:rPr lang="en-US" sz="1100" dirty="0"/>
              <a:t>, T. N., &amp; Welling, M. (2016). Semi-supervised classification with graph convolutional networks. </a:t>
            </a:r>
            <a:r>
              <a:rPr lang="en-US" sz="1100" dirty="0" err="1"/>
              <a:t>arXiv</a:t>
            </a:r>
            <a:r>
              <a:rPr lang="en-US" sz="1100" dirty="0"/>
              <a:t> preprint arXiv:1609.02907.</a:t>
            </a:r>
          </a:p>
        </p:txBody>
      </p:sp>
    </p:spTree>
    <p:extLst>
      <p:ext uri="{BB962C8B-B14F-4D97-AF65-F5344CB8AC3E}">
        <p14:creationId xmlns:p14="http://schemas.microsoft.com/office/powerpoint/2010/main" val="2564409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EC5A0-5016-4B3E-8D40-90C62DBC904D}"/>
              </a:ext>
            </a:extLst>
          </p:cNvPr>
          <p:cNvSpPr>
            <a:spLocks noGrp="1"/>
          </p:cNvSpPr>
          <p:nvPr>
            <p:ph type="title"/>
          </p:nvPr>
        </p:nvSpPr>
        <p:spPr/>
        <p:txBody>
          <a:bodyPr/>
          <a:lstStyle/>
          <a:p>
            <a:r>
              <a:rPr lang="en-US" dirty="0"/>
              <a:t>Knowledge Embedding: Translational Distance Model (</a:t>
            </a:r>
            <a:r>
              <a:rPr lang="en-US" dirty="0" err="1"/>
              <a:t>TransE</a:t>
            </a:r>
            <a:r>
              <a:rPr lang="en-US" dirty="0"/>
              <a:t>)</a:t>
            </a:r>
          </a:p>
        </p:txBody>
      </p:sp>
      <p:sp>
        <p:nvSpPr>
          <p:cNvPr id="3" name="Date Placeholder 2">
            <a:extLst>
              <a:ext uri="{FF2B5EF4-FFF2-40B4-BE49-F238E27FC236}">
                <a16:creationId xmlns:a16="http://schemas.microsoft.com/office/drawing/2014/main" id="{B1653477-1328-4351-974B-58F12B5267CE}"/>
              </a:ext>
            </a:extLst>
          </p:cNvPr>
          <p:cNvSpPr>
            <a:spLocks noGrp="1"/>
          </p:cNvSpPr>
          <p:nvPr>
            <p:ph type="dt" sz="half" idx="10"/>
          </p:nvPr>
        </p:nvSpPr>
        <p:spPr/>
        <p:txBody>
          <a:bodyPr/>
          <a:lstStyle/>
          <a:p>
            <a:fld id="{3ECACBD0-47F4-4217-925C-98DDD6E68727}" type="datetime1">
              <a:rPr lang="en-US" smtClean="0"/>
              <a:t>3/1/2022</a:t>
            </a:fld>
            <a:endParaRPr lang="en-US"/>
          </a:p>
        </p:txBody>
      </p:sp>
      <p:sp>
        <p:nvSpPr>
          <p:cNvPr id="6" name="Footer Placeholder 5">
            <a:extLst>
              <a:ext uri="{FF2B5EF4-FFF2-40B4-BE49-F238E27FC236}">
                <a16:creationId xmlns:a16="http://schemas.microsoft.com/office/drawing/2014/main" id="{950C6DC3-E535-46E5-8726-3D6BC7803F9D}"/>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CABEAD72-EE78-4B37-BE25-DF8D124C34A9}"/>
              </a:ext>
            </a:extLst>
          </p:cNvPr>
          <p:cNvSpPr>
            <a:spLocks noGrp="1"/>
          </p:cNvSpPr>
          <p:nvPr>
            <p:ph type="sldNum" sz="quarter" idx="12"/>
          </p:nvPr>
        </p:nvSpPr>
        <p:spPr/>
        <p:txBody>
          <a:bodyPr/>
          <a:lstStyle/>
          <a:p>
            <a:fld id="{41FC3AD2-D417-4C57-853C-2151CF039A96}" type="slidenum">
              <a:rPr lang="en-US" smtClean="0"/>
              <a:t>15</a:t>
            </a:fld>
            <a:endParaRPr lang="en-US"/>
          </a:p>
        </p:txBody>
      </p:sp>
      <p:pic>
        <p:nvPicPr>
          <p:cNvPr id="4" name="Picture 3" descr="A picture containing photo, sitting, man, table&#10;&#10;Description automatically generated">
            <a:extLst>
              <a:ext uri="{FF2B5EF4-FFF2-40B4-BE49-F238E27FC236}">
                <a16:creationId xmlns:a16="http://schemas.microsoft.com/office/drawing/2014/main" id="{9D853B54-B31E-498E-B0E2-DE64D53C5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2987" y="2025168"/>
            <a:ext cx="2590800" cy="2800350"/>
          </a:xfrm>
          <a:prstGeom prst="rect">
            <a:avLst/>
          </a:prstGeom>
        </p:spPr>
      </p:pic>
      <p:pic>
        <p:nvPicPr>
          <p:cNvPr id="5" name="Content Placeholder 4" descr="A picture containing clock&#10;&#10;Description automatically generated">
            <a:extLst>
              <a:ext uri="{FF2B5EF4-FFF2-40B4-BE49-F238E27FC236}">
                <a16:creationId xmlns:a16="http://schemas.microsoft.com/office/drawing/2014/main" id="{758B8AC7-97CD-47AB-8DD8-3C34B783A5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2987" y="4896643"/>
            <a:ext cx="2486025" cy="504825"/>
          </a:xfrm>
          <a:prstGeom prst="rect">
            <a:avLst/>
          </a:prstGeom>
        </p:spPr>
      </p:pic>
    </p:spTree>
    <p:extLst>
      <p:ext uri="{BB962C8B-B14F-4D97-AF65-F5344CB8AC3E}">
        <p14:creationId xmlns:p14="http://schemas.microsoft.com/office/powerpoint/2010/main" val="3486984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A899D-E841-42E9-A11E-ACF722276021}"/>
              </a:ext>
            </a:extLst>
          </p:cNvPr>
          <p:cNvSpPr>
            <a:spLocks noGrp="1"/>
          </p:cNvSpPr>
          <p:nvPr>
            <p:ph type="title"/>
          </p:nvPr>
        </p:nvSpPr>
        <p:spPr/>
        <p:txBody>
          <a:bodyPr/>
          <a:lstStyle/>
          <a:p>
            <a:r>
              <a:rPr lang="en-US" dirty="0"/>
              <a:t>Some concepts in the paper</a:t>
            </a:r>
          </a:p>
        </p:txBody>
      </p:sp>
      <p:sp>
        <p:nvSpPr>
          <p:cNvPr id="3" name="Content Placeholder 2">
            <a:extLst>
              <a:ext uri="{FF2B5EF4-FFF2-40B4-BE49-F238E27FC236}">
                <a16:creationId xmlns:a16="http://schemas.microsoft.com/office/drawing/2014/main" id="{8E11322A-208B-4D37-8152-5AC35A1A3BB6}"/>
              </a:ext>
            </a:extLst>
          </p:cNvPr>
          <p:cNvSpPr>
            <a:spLocks noGrp="1"/>
          </p:cNvSpPr>
          <p:nvPr>
            <p:ph idx="1"/>
          </p:nvPr>
        </p:nvSpPr>
        <p:spPr/>
        <p:txBody>
          <a:bodyPr/>
          <a:lstStyle/>
          <a:p>
            <a:pPr>
              <a:buFont typeface="Wingdings" panose="05000000000000000000" pitchFamily="2" charset="2"/>
              <a:buChar char="§"/>
            </a:pPr>
            <a:r>
              <a:rPr lang="en-US" dirty="0"/>
              <a:t>Attributed Multiplex Networks</a:t>
            </a:r>
          </a:p>
          <a:p>
            <a:pPr>
              <a:buFont typeface="Wingdings" panose="05000000000000000000" pitchFamily="2" charset="2"/>
              <a:buChar char="§"/>
            </a:pPr>
            <a:r>
              <a:rPr lang="en-US" dirty="0" err="1"/>
              <a:t>Skipgram</a:t>
            </a:r>
            <a:endParaRPr lang="en-US" dirty="0"/>
          </a:p>
          <a:p>
            <a:pPr>
              <a:buFont typeface="Wingdings" panose="05000000000000000000" pitchFamily="2" charset="2"/>
              <a:buChar char="§"/>
            </a:pPr>
            <a:r>
              <a:rPr lang="en-US" dirty="0"/>
              <a:t>Negative sampling</a:t>
            </a:r>
          </a:p>
          <a:p>
            <a:pPr>
              <a:buFont typeface="Wingdings" panose="05000000000000000000" pitchFamily="2" charset="2"/>
              <a:buChar char="§"/>
            </a:pPr>
            <a:r>
              <a:rPr lang="en-US" dirty="0"/>
              <a:t>Attention mechanisms</a:t>
            </a:r>
          </a:p>
          <a:p>
            <a:pPr>
              <a:buFont typeface="Wingdings" panose="05000000000000000000" pitchFamily="2" charset="2"/>
              <a:buChar char="§"/>
            </a:pPr>
            <a:r>
              <a:rPr lang="en-US" dirty="0"/>
              <a:t>Inductive and transudative learning</a:t>
            </a:r>
          </a:p>
          <a:p>
            <a:pPr>
              <a:buFont typeface="Wingdings" panose="05000000000000000000" pitchFamily="2" charset="2"/>
              <a:buChar char="§"/>
            </a:pPr>
            <a:r>
              <a:rPr lang="en-US" dirty="0" err="1"/>
              <a:t>Metapath</a:t>
            </a:r>
            <a:r>
              <a:rPr lang="en-US" dirty="0"/>
              <a:t> random walking</a:t>
            </a:r>
          </a:p>
          <a:p>
            <a:pPr>
              <a:buFont typeface="Wingdings" panose="05000000000000000000" pitchFamily="2" charset="2"/>
              <a:buChar char="§"/>
            </a:pPr>
            <a:r>
              <a:rPr lang="en-US" dirty="0"/>
              <a:t>Edge embedding</a:t>
            </a:r>
          </a:p>
          <a:p>
            <a:endParaRPr lang="en-US" dirty="0"/>
          </a:p>
        </p:txBody>
      </p:sp>
      <p:sp>
        <p:nvSpPr>
          <p:cNvPr id="4" name="Date Placeholder 3">
            <a:extLst>
              <a:ext uri="{FF2B5EF4-FFF2-40B4-BE49-F238E27FC236}">
                <a16:creationId xmlns:a16="http://schemas.microsoft.com/office/drawing/2014/main" id="{211C376C-0380-4362-9DC7-CAF193CC6724}"/>
              </a:ext>
            </a:extLst>
          </p:cNvPr>
          <p:cNvSpPr>
            <a:spLocks noGrp="1"/>
          </p:cNvSpPr>
          <p:nvPr>
            <p:ph type="dt" sz="half" idx="10"/>
          </p:nvPr>
        </p:nvSpPr>
        <p:spPr/>
        <p:txBody>
          <a:bodyPr/>
          <a:lstStyle/>
          <a:p>
            <a:fld id="{9DA35A25-F87A-429C-9FE8-5CE5A04738B6}" type="datetime1">
              <a:rPr lang="en-US" smtClean="0"/>
              <a:t>3/1/2022</a:t>
            </a:fld>
            <a:endParaRPr lang="en-US"/>
          </a:p>
        </p:txBody>
      </p:sp>
      <p:sp>
        <p:nvSpPr>
          <p:cNvPr id="5" name="Footer Placeholder 4">
            <a:extLst>
              <a:ext uri="{FF2B5EF4-FFF2-40B4-BE49-F238E27FC236}">
                <a16:creationId xmlns:a16="http://schemas.microsoft.com/office/drawing/2014/main" id="{9577ED6B-EF9D-42D0-9A95-BA576D5E7BD4}"/>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E8A5C7CB-3E08-4296-A267-660CB083B925}"/>
              </a:ext>
            </a:extLst>
          </p:cNvPr>
          <p:cNvSpPr>
            <a:spLocks noGrp="1"/>
          </p:cNvSpPr>
          <p:nvPr>
            <p:ph type="sldNum" sz="quarter" idx="12"/>
          </p:nvPr>
        </p:nvSpPr>
        <p:spPr/>
        <p:txBody>
          <a:bodyPr/>
          <a:lstStyle/>
          <a:p>
            <a:fld id="{41FC3AD2-D417-4C57-853C-2151CF039A96}" type="slidenum">
              <a:rPr lang="en-US" smtClean="0"/>
              <a:t>16</a:t>
            </a:fld>
            <a:endParaRPr lang="en-US"/>
          </a:p>
        </p:txBody>
      </p:sp>
    </p:spTree>
    <p:extLst>
      <p:ext uri="{BB962C8B-B14F-4D97-AF65-F5344CB8AC3E}">
        <p14:creationId xmlns:p14="http://schemas.microsoft.com/office/powerpoint/2010/main" val="1540240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B00B8-E952-446D-A049-721A92401F70}"/>
              </a:ext>
            </a:extLst>
          </p:cNvPr>
          <p:cNvSpPr>
            <a:spLocks noGrp="1"/>
          </p:cNvSpPr>
          <p:nvPr>
            <p:ph type="title"/>
          </p:nvPr>
        </p:nvSpPr>
        <p:spPr/>
        <p:txBody>
          <a:bodyPr>
            <a:noAutofit/>
          </a:bodyPr>
          <a:lstStyle/>
          <a:p>
            <a:r>
              <a:rPr lang="en-US" sz="4800" dirty="0"/>
              <a:t>Attributed Multiplex Networks (Knowledge Graphs/Heterogenous Networks)</a:t>
            </a:r>
            <a:br>
              <a:rPr lang="en-US" sz="4800" dirty="0"/>
            </a:br>
            <a:endParaRPr lang="en-US" sz="4800" b="1" dirty="0"/>
          </a:p>
        </p:txBody>
      </p:sp>
      <p:sp>
        <p:nvSpPr>
          <p:cNvPr id="3" name="Date Placeholder 2">
            <a:extLst>
              <a:ext uri="{FF2B5EF4-FFF2-40B4-BE49-F238E27FC236}">
                <a16:creationId xmlns:a16="http://schemas.microsoft.com/office/drawing/2014/main" id="{F984CA31-9572-4B9B-BA7E-201B939D259B}"/>
              </a:ext>
            </a:extLst>
          </p:cNvPr>
          <p:cNvSpPr>
            <a:spLocks noGrp="1"/>
          </p:cNvSpPr>
          <p:nvPr>
            <p:ph type="dt" sz="half" idx="10"/>
          </p:nvPr>
        </p:nvSpPr>
        <p:spPr/>
        <p:txBody>
          <a:bodyPr/>
          <a:lstStyle/>
          <a:p>
            <a:fld id="{29ECB805-6ACF-4A36-B682-EA25DF60DBE6}" type="datetime1">
              <a:rPr lang="en-US" smtClean="0"/>
              <a:t>3/1/2022</a:t>
            </a:fld>
            <a:endParaRPr lang="en-US"/>
          </a:p>
        </p:txBody>
      </p:sp>
      <p:sp>
        <p:nvSpPr>
          <p:cNvPr id="4" name="Footer Placeholder 3">
            <a:extLst>
              <a:ext uri="{FF2B5EF4-FFF2-40B4-BE49-F238E27FC236}">
                <a16:creationId xmlns:a16="http://schemas.microsoft.com/office/drawing/2014/main" id="{747DB050-A1C5-4886-9702-F6EB31B2DFDC}"/>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461F9B8B-C975-48E5-833D-499E9C6A6715}"/>
              </a:ext>
            </a:extLst>
          </p:cNvPr>
          <p:cNvSpPr>
            <a:spLocks noGrp="1"/>
          </p:cNvSpPr>
          <p:nvPr>
            <p:ph type="sldNum" sz="quarter" idx="12"/>
          </p:nvPr>
        </p:nvSpPr>
        <p:spPr/>
        <p:txBody>
          <a:bodyPr/>
          <a:lstStyle/>
          <a:p>
            <a:fld id="{41FC3AD2-D417-4C57-853C-2151CF039A96}" type="slidenum">
              <a:rPr lang="en-US" smtClean="0"/>
              <a:t>17</a:t>
            </a:fld>
            <a:endParaRPr lang="en-US"/>
          </a:p>
        </p:txBody>
      </p:sp>
      <p:pic>
        <p:nvPicPr>
          <p:cNvPr id="5" name="Picture 4" descr="Diagram&#10;&#10;Description automatically generated">
            <a:extLst>
              <a:ext uri="{FF2B5EF4-FFF2-40B4-BE49-F238E27FC236}">
                <a16:creationId xmlns:a16="http://schemas.microsoft.com/office/drawing/2014/main" id="{ECEE3019-8180-48A5-9932-74B844A2E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088" y="1682220"/>
            <a:ext cx="3431675" cy="4151117"/>
          </a:xfrm>
          <a:prstGeom prst="rect">
            <a:avLst/>
          </a:prstGeom>
        </p:spPr>
      </p:pic>
      <p:sp>
        <p:nvSpPr>
          <p:cNvPr id="7" name="TextBox 6">
            <a:extLst>
              <a:ext uri="{FF2B5EF4-FFF2-40B4-BE49-F238E27FC236}">
                <a16:creationId xmlns:a16="http://schemas.microsoft.com/office/drawing/2014/main" id="{1AA8D1C2-45EA-4C4F-B0A7-8958E8381E86}"/>
              </a:ext>
            </a:extLst>
          </p:cNvPr>
          <p:cNvSpPr txBox="1"/>
          <p:nvPr/>
        </p:nvSpPr>
        <p:spPr>
          <a:xfrm>
            <a:off x="685800" y="5960955"/>
            <a:ext cx="10911840" cy="276999"/>
          </a:xfrm>
          <a:prstGeom prst="rect">
            <a:avLst/>
          </a:prstGeom>
          <a:noFill/>
        </p:spPr>
        <p:txBody>
          <a:bodyPr wrap="square" rtlCol="0">
            <a:spAutoFit/>
          </a:bodyPr>
          <a:lstStyle/>
          <a:p>
            <a:r>
              <a:rPr lang="en-US" sz="1200" dirty="0"/>
              <a:t>Nicholson, D. N., &amp; Greene, C. S. (2020). Constructing knowledge graphs and their biomedical applications. Computational and structural biotechnology journal, 18, 1414.</a:t>
            </a:r>
          </a:p>
        </p:txBody>
      </p:sp>
      <p:pic>
        <p:nvPicPr>
          <p:cNvPr id="28" name="Picture 27" descr="Diagram, bubble chart&#10;&#10;Description automatically generated">
            <a:extLst>
              <a:ext uri="{FF2B5EF4-FFF2-40B4-BE49-F238E27FC236}">
                <a16:creationId xmlns:a16="http://schemas.microsoft.com/office/drawing/2014/main" id="{0620833D-5036-42DD-88EB-1781469AAE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542" y="2332224"/>
            <a:ext cx="5129069" cy="3265714"/>
          </a:xfrm>
          <a:prstGeom prst="rect">
            <a:avLst/>
          </a:prstGeom>
        </p:spPr>
      </p:pic>
    </p:spTree>
    <p:extLst>
      <p:ext uri="{BB962C8B-B14F-4D97-AF65-F5344CB8AC3E}">
        <p14:creationId xmlns:p14="http://schemas.microsoft.com/office/powerpoint/2010/main" val="1145345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icture containing text, map&#10;&#10;Description automatically generated">
            <a:extLst>
              <a:ext uri="{FF2B5EF4-FFF2-40B4-BE49-F238E27FC236}">
                <a16:creationId xmlns:a16="http://schemas.microsoft.com/office/drawing/2014/main" id="{817C55E5-37C2-400B-B747-7ED0286A3DA3}"/>
              </a:ext>
            </a:extLst>
          </p:cNvPr>
          <p:cNvPicPr>
            <a:picLocks noChangeAspect="1"/>
          </p:cNvPicPr>
          <p:nvPr/>
        </p:nvPicPr>
        <p:blipFill rotWithShape="1">
          <a:blip r:embed="rId3">
            <a:extLst>
              <a:ext uri="{28A0092B-C50C-407E-A947-70E740481C1C}">
                <a14:useLocalDpi xmlns:a14="http://schemas.microsoft.com/office/drawing/2010/main" val="0"/>
              </a:ext>
            </a:extLst>
          </a:blip>
          <a:srcRect r="1" b="4512"/>
          <a:stretch/>
        </p:blipFill>
        <p:spPr>
          <a:xfrm>
            <a:off x="2512483" y="1598291"/>
            <a:ext cx="7167033" cy="3661418"/>
          </a:xfrm>
          <a:prstGeom prst="rect">
            <a:avLst/>
          </a:prstGeom>
          <a:ln>
            <a:noFill/>
          </a:ln>
        </p:spPr>
      </p:pic>
      <p:sp>
        <p:nvSpPr>
          <p:cNvPr id="9" name="Title 1">
            <a:extLst>
              <a:ext uri="{FF2B5EF4-FFF2-40B4-BE49-F238E27FC236}">
                <a16:creationId xmlns:a16="http://schemas.microsoft.com/office/drawing/2014/main" id="{31AF561B-CE8D-421D-9687-F8761A40503D}"/>
              </a:ext>
            </a:extLst>
          </p:cNvPr>
          <p:cNvSpPr>
            <a:spLocks noGrp="1"/>
          </p:cNvSpPr>
          <p:nvPr>
            <p:ph type="title"/>
          </p:nvPr>
        </p:nvSpPr>
        <p:spPr>
          <a:xfrm>
            <a:off x="685800" y="359370"/>
            <a:ext cx="10772775" cy="1238921"/>
          </a:xfrm>
        </p:spPr>
        <p:txBody>
          <a:bodyPr/>
          <a:lstStyle/>
          <a:p>
            <a:r>
              <a:rPr lang="en-US" dirty="0" err="1"/>
              <a:t>Metapath</a:t>
            </a:r>
            <a:r>
              <a:rPr lang="en-US" dirty="0"/>
              <a:t> Random Walking</a:t>
            </a:r>
          </a:p>
        </p:txBody>
      </p:sp>
      <p:sp>
        <p:nvSpPr>
          <p:cNvPr id="2" name="Date Placeholder 1">
            <a:extLst>
              <a:ext uri="{FF2B5EF4-FFF2-40B4-BE49-F238E27FC236}">
                <a16:creationId xmlns:a16="http://schemas.microsoft.com/office/drawing/2014/main" id="{3DC429A2-52EC-43AE-A0E8-B104260FB95E}"/>
              </a:ext>
            </a:extLst>
          </p:cNvPr>
          <p:cNvSpPr>
            <a:spLocks noGrp="1"/>
          </p:cNvSpPr>
          <p:nvPr>
            <p:ph type="dt" sz="half" idx="10"/>
          </p:nvPr>
        </p:nvSpPr>
        <p:spPr/>
        <p:txBody>
          <a:bodyPr/>
          <a:lstStyle/>
          <a:p>
            <a:fld id="{6261F88F-8A79-497E-B6DA-AD6B75CD4A04}" type="datetime1">
              <a:rPr lang="en-US" smtClean="0"/>
              <a:t>3/1/2022</a:t>
            </a:fld>
            <a:endParaRPr lang="en-US"/>
          </a:p>
        </p:txBody>
      </p:sp>
      <p:sp>
        <p:nvSpPr>
          <p:cNvPr id="3" name="Footer Placeholder 2">
            <a:extLst>
              <a:ext uri="{FF2B5EF4-FFF2-40B4-BE49-F238E27FC236}">
                <a16:creationId xmlns:a16="http://schemas.microsoft.com/office/drawing/2014/main" id="{E7829F63-B523-44B0-A433-74F06FBB882D}"/>
              </a:ext>
            </a:extLst>
          </p:cNvPr>
          <p:cNvSpPr>
            <a:spLocks noGrp="1"/>
          </p:cNvSpPr>
          <p:nvPr>
            <p:ph type="ftr" sz="quarter" idx="11"/>
          </p:nvPr>
        </p:nvSpPr>
        <p:spPr/>
        <p:txBody>
          <a:bodyPr/>
          <a:lstStyle/>
          <a:p>
            <a:r>
              <a:rPr lang="en-US" dirty="0"/>
              <a:t>Ebeid – Spring 2022</a:t>
            </a:r>
          </a:p>
        </p:txBody>
      </p:sp>
      <p:sp>
        <p:nvSpPr>
          <p:cNvPr id="5" name="Slide Number Placeholder 4">
            <a:extLst>
              <a:ext uri="{FF2B5EF4-FFF2-40B4-BE49-F238E27FC236}">
                <a16:creationId xmlns:a16="http://schemas.microsoft.com/office/drawing/2014/main" id="{22580BCF-0388-4071-B8D4-9945AC246A60}"/>
              </a:ext>
            </a:extLst>
          </p:cNvPr>
          <p:cNvSpPr>
            <a:spLocks noGrp="1"/>
          </p:cNvSpPr>
          <p:nvPr>
            <p:ph type="sldNum" sz="quarter" idx="12"/>
          </p:nvPr>
        </p:nvSpPr>
        <p:spPr/>
        <p:txBody>
          <a:bodyPr/>
          <a:lstStyle/>
          <a:p>
            <a:fld id="{41FC3AD2-D417-4C57-853C-2151CF039A96}" type="slidenum">
              <a:rPr lang="en-US" smtClean="0"/>
              <a:t>18</a:t>
            </a:fld>
            <a:endParaRPr lang="en-US"/>
          </a:p>
        </p:txBody>
      </p:sp>
      <p:sp>
        <p:nvSpPr>
          <p:cNvPr id="8" name="TextBox 7">
            <a:extLst>
              <a:ext uri="{FF2B5EF4-FFF2-40B4-BE49-F238E27FC236}">
                <a16:creationId xmlns:a16="http://schemas.microsoft.com/office/drawing/2014/main" id="{14FDA792-23D2-45CB-98D2-9E4869EB4B44}"/>
              </a:ext>
            </a:extLst>
          </p:cNvPr>
          <p:cNvSpPr txBox="1"/>
          <p:nvPr/>
        </p:nvSpPr>
        <p:spPr>
          <a:xfrm>
            <a:off x="838200" y="5741015"/>
            <a:ext cx="10846912" cy="261610"/>
          </a:xfrm>
          <a:prstGeom prst="rect">
            <a:avLst/>
          </a:prstGeom>
          <a:noFill/>
        </p:spPr>
        <p:txBody>
          <a:bodyPr wrap="square">
            <a:spAutoFit/>
          </a:bodyPr>
          <a:lstStyle/>
          <a:p>
            <a:r>
              <a:rPr lang="en-US" sz="1100" dirty="0"/>
              <a:t>Fu, G., Ding, Y., Seal, A., Chen, B., Sun, Y., &amp; Bolton, E. (2016). Predicting drug target interactions using meta-path-based semantic network analysis. BMC bioinformatics, 17(1), 1-10.</a:t>
            </a:r>
          </a:p>
        </p:txBody>
      </p:sp>
    </p:spTree>
    <p:extLst>
      <p:ext uri="{BB962C8B-B14F-4D97-AF65-F5344CB8AC3E}">
        <p14:creationId xmlns:p14="http://schemas.microsoft.com/office/powerpoint/2010/main" val="623508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FF85A-5095-42E4-819E-582A8EA3E9BE}"/>
              </a:ext>
            </a:extLst>
          </p:cNvPr>
          <p:cNvSpPr>
            <a:spLocks noGrp="1"/>
          </p:cNvSpPr>
          <p:nvPr>
            <p:ph type="title"/>
          </p:nvPr>
        </p:nvSpPr>
        <p:spPr>
          <a:xfrm>
            <a:off x="657224" y="499533"/>
            <a:ext cx="10772775" cy="1147195"/>
          </a:xfrm>
        </p:spPr>
        <p:txBody>
          <a:bodyPr/>
          <a:lstStyle/>
          <a:p>
            <a:r>
              <a:rPr lang="en-US" dirty="0" err="1"/>
              <a:t>Metapath</a:t>
            </a:r>
            <a:r>
              <a:rPr lang="en-US" dirty="0"/>
              <a:t> Random Walking</a:t>
            </a:r>
          </a:p>
        </p:txBody>
      </p:sp>
      <p:sp>
        <p:nvSpPr>
          <p:cNvPr id="3" name="Date Placeholder 2">
            <a:extLst>
              <a:ext uri="{FF2B5EF4-FFF2-40B4-BE49-F238E27FC236}">
                <a16:creationId xmlns:a16="http://schemas.microsoft.com/office/drawing/2014/main" id="{DF7C2401-53F6-4022-A60E-71A4B896B1F0}"/>
              </a:ext>
            </a:extLst>
          </p:cNvPr>
          <p:cNvSpPr>
            <a:spLocks noGrp="1"/>
          </p:cNvSpPr>
          <p:nvPr>
            <p:ph type="dt" sz="half" idx="10"/>
          </p:nvPr>
        </p:nvSpPr>
        <p:spPr/>
        <p:txBody>
          <a:bodyPr/>
          <a:lstStyle/>
          <a:p>
            <a:fld id="{4A9D9ADA-7742-40CA-9B6B-2F5A2D4D9225}" type="datetime1">
              <a:rPr lang="en-US" smtClean="0"/>
              <a:t>3/1/2022</a:t>
            </a:fld>
            <a:endParaRPr lang="en-US"/>
          </a:p>
        </p:txBody>
      </p:sp>
      <p:sp>
        <p:nvSpPr>
          <p:cNvPr id="6" name="Footer Placeholder 5">
            <a:extLst>
              <a:ext uri="{FF2B5EF4-FFF2-40B4-BE49-F238E27FC236}">
                <a16:creationId xmlns:a16="http://schemas.microsoft.com/office/drawing/2014/main" id="{2DD74EE6-9B07-4DD7-9766-C67B825C8862}"/>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4EC97B48-92C7-4645-9E49-421504DABD1F}"/>
              </a:ext>
            </a:extLst>
          </p:cNvPr>
          <p:cNvSpPr>
            <a:spLocks noGrp="1"/>
          </p:cNvSpPr>
          <p:nvPr>
            <p:ph type="sldNum" sz="quarter" idx="12"/>
          </p:nvPr>
        </p:nvSpPr>
        <p:spPr/>
        <p:txBody>
          <a:bodyPr/>
          <a:lstStyle/>
          <a:p>
            <a:fld id="{41FC3AD2-D417-4C57-853C-2151CF039A96}" type="slidenum">
              <a:rPr lang="en-US" smtClean="0"/>
              <a:t>19</a:t>
            </a:fld>
            <a:endParaRPr lang="en-US"/>
          </a:p>
        </p:txBody>
      </p:sp>
      <p:sp>
        <p:nvSpPr>
          <p:cNvPr id="9" name="TextBox 8">
            <a:extLst>
              <a:ext uri="{FF2B5EF4-FFF2-40B4-BE49-F238E27FC236}">
                <a16:creationId xmlns:a16="http://schemas.microsoft.com/office/drawing/2014/main" id="{E2FD267E-EF65-443C-B0F1-59D161027575}"/>
              </a:ext>
            </a:extLst>
          </p:cNvPr>
          <p:cNvSpPr txBox="1"/>
          <p:nvPr/>
        </p:nvSpPr>
        <p:spPr>
          <a:xfrm>
            <a:off x="838200" y="5741015"/>
            <a:ext cx="10846912" cy="261610"/>
          </a:xfrm>
          <a:prstGeom prst="rect">
            <a:avLst/>
          </a:prstGeom>
          <a:noFill/>
        </p:spPr>
        <p:txBody>
          <a:bodyPr wrap="square">
            <a:spAutoFit/>
          </a:bodyPr>
          <a:lstStyle/>
          <a:p>
            <a:r>
              <a:rPr lang="en-US" sz="1100" dirty="0"/>
              <a:t>Fu, G., Ding, Y., Seal, A., Chen, B., Sun, Y., &amp; Bolton, E. (2016). Predicting drug target interactions using meta-path-based semantic network analysis. BMC bioinformatics, 17(1), 1-10.</a:t>
            </a:r>
          </a:p>
        </p:txBody>
      </p:sp>
      <p:pic>
        <p:nvPicPr>
          <p:cNvPr id="12" name="Picture 11" descr="Text&#10;&#10;Description automatically generated">
            <a:extLst>
              <a:ext uri="{FF2B5EF4-FFF2-40B4-BE49-F238E27FC236}">
                <a16:creationId xmlns:a16="http://schemas.microsoft.com/office/drawing/2014/main" id="{292544E6-E6E4-4299-93AA-15391DB38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56550"/>
            <a:ext cx="12192000" cy="2748625"/>
          </a:xfrm>
          <a:prstGeom prst="rect">
            <a:avLst/>
          </a:prstGeom>
        </p:spPr>
      </p:pic>
    </p:spTree>
    <p:extLst>
      <p:ext uri="{BB962C8B-B14F-4D97-AF65-F5344CB8AC3E}">
        <p14:creationId xmlns:p14="http://schemas.microsoft.com/office/powerpoint/2010/main" val="1035253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C8A27696-2B4F-412A-96CC-5489B8970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4987" y="428625"/>
            <a:ext cx="8582025" cy="6000750"/>
          </a:xfrm>
          <a:prstGeom prst="rect">
            <a:avLst/>
          </a:prstGeom>
        </p:spPr>
      </p:pic>
      <p:sp>
        <p:nvSpPr>
          <p:cNvPr id="6" name="Title 5">
            <a:extLst>
              <a:ext uri="{FF2B5EF4-FFF2-40B4-BE49-F238E27FC236}">
                <a16:creationId xmlns:a16="http://schemas.microsoft.com/office/drawing/2014/main" id="{5446DF1A-8BD4-499C-9AAA-32ECE81807E3}"/>
              </a:ext>
            </a:extLst>
          </p:cNvPr>
          <p:cNvSpPr>
            <a:spLocks noGrp="1"/>
          </p:cNvSpPr>
          <p:nvPr>
            <p:ph type="title"/>
          </p:nvPr>
        </p:nvSpPr>
        <p:spPr>
          <a:xfrm>
            <a:off x="657224" y="499533"/>
            <a:ext cx="10772775" cy="841587"/>
          </a:xfrm>
        </p:spPr>
        <p:txBody>
          <a:bodyPr/>
          <a:lstStyle/>
          <a:p>
            <a:r>
              <a:rPr lang="en-US" dirty="0"/>
              <a:t>GATNE/I</a:t>
            </a:r>
          </a:p>
        </p:txBody>
      </p:sp>
      <p:sp>
        <p:nvSpPr>
          <p:cNvPr id="2" name="Date Placeholder 1">
            <a:extLst>
              <a:ext uri="{FF2B5EF4-FFF2-40B4-BE49-F238E27FC236}">
                <a16:creationId xmlns:a16="http://schemas.microsoft.com/office/drawing/2014/main" id="{C1C01EB4-8A72-4FC3-BA39-6CD21352A402}"/>
              </a:ext>
            </a:extLst>
          </p:cNvPr>
          <p:cNvSpPr>
            <a:spLocks noGrp="1"/>
          </p:cNvSpPr>
          <p:nvPr>
            <p:ph type="dt" sz="half" idx="10"/>
          </p:nvPr>
        </p:nvSpPr>
        <p:spPr/>
        <p:txBody>
          <a:bodyPr/>
          <a:lstStyle/>
          <a:p>
            <a:fld id="{05C4B2E7-4B32-439F-8B1D-B928EA32BAAC}" type="datetime1">
              <a:rPr lang="en-US" smtClean="0"/>
              <a:t>3/1/2022</a:t>
            </a:fld>
            <a:endParaRPr lang="en-US"/>
          </a:p>
        </p:txBody>
      </p:sp>
      <p:sp>
        <p:nvSpPr>
          <p:cNvPr id="3" name="Footer Placeholder 2">
            <a:extLst>
              <a:ext uri="{FF2B5EF4-FFF2-40B4-BE49-F238E27FC236}">
                <a16:creationId xmlns:a16="http://schemas.microsoft.com/office/drawing/2014/main" id="{7567AE23-BF7B-448D-812C-F29205893B22}"/>
              </a:ext>
            </a:extLst>
          </p:cNvPr>
          <p:cNvSpPr>
            <a:spLocks noGrp="1"/>
          </p:cNvSpPr>
          <p:nvPr>
            <p:ph type="ftr" sz="quarter" idx="11"/>
          </p:nvPr>
        </p:nvSpPr>
        <p:spPr/>
        <p:txBody>
          <a:bodyPr/>
          <a:lstStyle/>
          <a:p>
            <a:r>
              <a:rPr lang="en-US" dirty="0"/>
              <a:t>Ebeid – Spring 2022</a:t>
            </a:r>
          </a:p>
        </p:txBody>
      </p:sp>
      <p:sp>
        <p:nvSpPr>
          <p:cNvPr id="5" name="Slide Number Placeholder 4">
            <a:extLst>
              <a:ext uri="{FF2B5EF4-FFF2-40B4-BE49-F238E27FC236}">
                <a16:creationId xmlns:a16="http://schemas.microsoft.com/office/drawing/2014/main" id="{DF8EA20A-227B-417C-A4FC-C9A25F005976}"/>
              </a:ext>
            </a:extLst>
          </p:cNvPr>
          <p:cNvSpPr>
            <a:spLocks noGrp="1"/>
          </p:cNvSpPr>
          <p:nvPr>
            <p:ph type="sldNum" sz="quarter" idx="12"/>
          </p:nvPr>
        </p:nvSpPr>
        <p:spPr/>
        <p:txBody>
          <a:bodyPr/>
          <a:lstStyle/>
          <a:p>
            <a:fld id="{41FC3AD2-D417-4C57-853C-2151CF039A96}" type="slidenum">
              <a:rPr lang="en-US" smtClean="0"/>
              <a:t>20</a:t>
            </a:fld>
            <a:endParaRPr lang="en-US"/>
          </a:p>
        </p:txBody>
      </p:sp>
    </p:spTree>
    <p:extLst>
      <p:ext uri="{BB962C8B-B14F-4D97-AF65-F5344CB8AC3E}">
        <p14:creationId xmlns:p14="http://schemas.microsoft.com/office/powerpoint/2010/main" val="928529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29AC-DB7E-44AE-A83E-60863E588810}"/>
              </a:ext>
            </a:extLst>
          </p:cNvPr>
          <p:cNvSpPr>
            <a:spLocks noGrp="1"/>
          </p:cNvSpPr>
          <p:nvPr>
            <p:ph type="title"/>
          </p:nvPr>
        </p:nvSpPr>
        <p:spPr>
          <a:xfrm>
            <a:off x="657224" y="499533"/>
            <a:ext cx="10772775" cy="776227"/>
          </a:xfrm>
        </p:spPr>
        <p:txBody>
          <a:bodyPr>
            <a:normAutofit fontScale="90000"/>
          </a:bodyPr>
          <a:lstStyle/>
          <a:p>
            <a:r>
              <a:rPr lang="en-US" dirty="0"/>
              <a:t>Algorithm</a:t>
            </a:r>
          </a:p>
        </p:txBody>
      </p:sp>
      <p:sp>
        <p:nvSpPr>
          <p:cNvPr id="3" name="Date Placeholder 2">
            <a:extLst>
              <a:ext uri="{FF2B5EF4-FFF2-40B4-BE49-F238E27FC236}">
                <a16:creationId xmlns:a16="http://schemas.microsoft.com/office/drawing/2014/main" id="{23C5682A-EF34-4F9C-8275-712B86C1BE93}"/>
              </a:ext>
            </a:extLst>
          </p:cNvPr>
          <p:cNvSpPr>
            <a:spLocks noGrp="1"/>
          </p:cNvSpPr>
          <p:nvPr>
            <p:ph type="dt" sz="half" idx="10"/>
          </p:nvPr>
        </p:nvSpPr>
        <p:spPr/>
        <p:txBody>
          <a:bodyPr/>
          <a:lstStyle/>
          <a:p>
            <a:fld id="{DF77D8C0-6AE3-4385-B3E3-FF9B2072C9E8}" type="datetime1">
              <a:rPr lang="en-US" smtClean="0"/>
              <a:t>3/1/2022</a:t>
            </a:fld>
            <a:endParaRPr lang="en-US"/>
          </a:p>
        </p:txBody>
      </p:sp>
      <p:sp>
        <p:nvSpPr>
          <p:cNvPr id="5" name="Footer Placeholder 4">
            <a:extLst>
              <a:ext uri="{FF2B5EF4-FFF2-40B4-BE49-F238E27FC236}">
                <a16:creationId xmlns:a16="http://schemas.microsoft.com/office/drawing/2014/main" id="{C6FE9585-0A5E-499E-88B3-A20FF485ACFE}"/>
              </a:ext>
            </a:extLst>
          </p:cNvPr>
          <p:cNvSpPr>
            <a:spLocks noGrp="1"/>
          </p:cNvSpPr>
          <p:nvPr>
            <p:ph type="ftr" sz="quarter" idx="11"/>
          </p:nvPr>
        </p:nvSpPr>
        <p:spPr/>
        <p:txBody>
          <a:bodyPr/>
          <a:lstStyle/>
          <a:p>
            <a:r>
              <a:rPr lang="en-US" dirty="0"/>
              <a:t>Ebeid – Spring 2022</a:t>
            </a:r>
          </a:p>
        </p:txBody>
      </p:sp>
      <p:sp>
        <p:nvSpPr>
          <p:cNvPr id="7" name="Slide Number Placeholder 6">
            <a:extLst>
              <a:ext uri="{FF2B5EF4-FFF2-40B4-BE49-F238E27FC236}">
                <a16:creationId xmlns:a16="http://schemas.microsoft.com/office/drawing/2014/main" id="{D7FD86B9-828E-455F-853D-6E93F40ECDC0}"/>
              </a:ext>
            </a:extLst>
          </p:cNvPr>
          <p:cNvSpPr>
            <a:spLocks noGrp="1"/>
          </p:cNvSpPr>
          <p:nvPr>
            <p:ph type="sldNum" sz="quarter" idx="12"/>
          </p:nvPr>
        </p:nvSpPr>
        <p:spPr/>
        <p:txBody>
          <a:bodyPr/>
          <a:lstStyle/>
          <a:p>
            <a:fld id="{41FC3AD2-D417-4C57-853C-2151CF039A96}" type="slidenum">
              <a:rPr lang="en-US" smtClean="0"/>
              <a:t>21</a:t>
            </a:fld>
            <a:endParaRPr lang="en-US"/>
          </a:p>
        </p:txBody>
      </p:sp>
      <p:pic>
        <p:nvPicPr>
          <p:cNvPr id="4" name="Picture 3">
            <a:extLst>
              <a:ext uri="{FF2B5EF4-FFF2-40B4-BE49-F238E27FC236}">
                <a16:creationId xmlns:a16="http://schemas.microsoft.com/office/drawing/2014/main" id="{6ECB3222-4E6E-415D-B9BF-7BD41628E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65" y="1690688"/>
            <a:ext cx="4924425" cy="590550"/>
          </a:xfrm>
          <a:prstGeom prst="rect">
            <a:avLst/>
          </a:prstGeom>
        </p:spPr>
      </p:pic>
      <p:pic>
        <p:nvPicPr>
          <p:cNvPr id="6" name="Picture 5">
            <a:extLst>
              <a:ext uri="{FF2B5EF4-FFF2-40B4-BE49-F238E27FC236}">
                <a16:creationId xmlns:a16="http://schemas.microsoft.com/office/drawing/2014/main" id="{8C5A31FF-7D75-4E2C-B56F-05B037E8CB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089" y="2528887"/>
            <a:ext cx="5286375" cy="59055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B96C39C0-8FA1-4825-911A-109BFCC748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8751" y="3367086"/>
            <a:ext cx="3067050" cy="485775"/>
          </a:xfrm>
          <a:prstGeom prst="rect">
            <a:avLst/>
          </a:prstGeom>
        </p:spPr>
      </p:pic>
      <p:pic>
        <p:nvPicPr>
          <p:cNvPr id="10" name="Picture 9" descr="Text&#10;&#10;Description automatically generated">
            <a:extLst>
              <a:ext uri="{FF2B5EF4-FFF2-40B4-BE49-F238E27FC236}">
                <a16:creationId xmlns:a16="http://schemas.microsoft.com/office/drawing/2014/main" id="{C119DAE6-13F5-41D1-B42A-4912D57E67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4401" y="4100510"/>
            <a:ext cx="4095750" cy="609600"/>
          </a:xfrm>
          <a:prstGeom prst="rect">
            <a:avLst/>
          </a:prstGeom>
        </p:spPr>
      </p:pic>
      <p:pic>
        <p:nvPicPr>
          <p:cNvPr id="12" name="Picture 11" descr="Text&#10;&#10;Description automatically generated">
            <a:extLst>
              <a:ext uri="{FF2B5EF4-FFF2-40B4-BE49-F238E27FC236}">
                <a16:creationId xmlns:a16="http://schemas.microsoft.com/office/drawing/2014/main" id="{189859BA-A562-456C-B048-D747B9BA80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83047" y="4957759"/>
            <a:ext cx="2952750" cy="542925"/>
          </a:xfrm>
          <a:prstGeom prst="rect">
            <a:avLst/>
          </a:prstGeom>
        </p:spPr>
      </p:pic>
      <p:pic>
        <p:nvPicPr>
          <p:cNvPr id="14" name="Picture 13">
            <a:extLst>
              <a:ext uri="{FF2B5EF4-FFF2-40B4-BE49-F238E27FC236}">
                <a16:creationId xmlns:a16="http://schemas.microsoft.com/office/drawing/2014/main" id="{9B1B1B77-AB1F-4CE3-8F24-1F349E9A10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4401" y="5644469"/>
            <a:ext cx="4591050" cy="495300"/>
          </a:xfrm>
          <a:prstGeom prst="rect">
            <a:avLst/>
          </a:prstGeom>
        </p:spPr>
      </p:pic>
      <p:pic>
        <p:nvPicPr>
          <p:cNvPr id="11" name="Picture 10" descr="Text&#10;&#10;Description automatically generated">
            <a:extLst>
              <a:ext uri="{FF2B5EF4-FFF2-40B4-BE49-F238E27FC236}">
                <a16:creationId xmlns:a16="http://schemas.microsoft.com/office/drawing/2014/main" id="{F7ADE138-77EA-4449-9197-19533F5C81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50675" y="1621842"/>
            <a:ext cx="5701260" cy="4655662"/>
          </a:xfrm>
          <a:prstGeom prst="rect">
            <a:avLst/>
          </a:prstGeom>
        </p:spPr>
      </p:pic>
    </p:spTree>
    <p:extLst>
      <p:ext uri="{BB962C8B-B14F-4D97-AF65-F5344CB8AC3E}">
        <p14:creationId xmlns:p14="http://schemas.microsoft.com/office/powerpoint/2010/main" val="1230455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1F485-140E-4A52-8B2C-49D2CDE257CC}"/>
              </a:ext>
            </a:extLst>
          </p:cNvPr>
          <p:cNvSpPr>
            <a:spLocks noGrp="1"/>
          </p:cNvSpPr>
          <p:nvPr>
            <p:ph type="title"/>
          </p:nvPr>
        </p:nvSpPr>
        <p:spPr/>
        <p:txBody>
          <a:bodyPr/>
          <a:lstStyle/>
          <a:p>
            <a:r>
              <a:rPr lang="en-US" dirty="0"/>
              <a:t>Evaluation: Link prediction on Alibaba</a:t>
            </a:r>
          </a:p>
        </p:txBody>
      </p:sp>
      <p:pic>
        <p:nvPicPr>
          <p:cNvPr id="5" name="Content Placeholder 4" descr="Table&#10;&#10;Description automatically generated">
            <a:extLst>
              <a:ext uri="{FF2B5EF4-FFF2-40B4-BE49-F238E27FC236}">
                <a16:creationId xmlns:a16="http://schemas.microsoft.com/office/drawing/2014/main" id="{A24CAA6B-9699-40B8-BB38-E2D4BC069C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90898" y="3700814"/>
            <a:ext cx="5305425" cy="2362200"/>
          </a:xfrm>
        </p:spPr>
      </p:pic>
      <p:sp>
        <p:nvSpPr>
          <p:cNvPr id="3" name="Date Placeholder 2">
            <a:extLst>
              <a:ext uri="{FF2B5EF4-FFF2-40B4-BE49-F238E27FC236}">
                <a16:creationId xmlns:a16="http://schemas.microsoft.com/office/drawing/2014/main" id="{91635841-E2B6-427D-A892-0D7029A3BF11}"/>
              </a:ext>
            </a:extLst>
          </p:cNvPr>
          <p:cNvSpPr>
            <a:spLocks noGrp="1"/>
          </p:cNvSpPr>
          <p:nvPr>
            <p:ph type="dt" sz="half" idx="10"/>
          </p:nvPr>
        </p:nvSpPr>
        <p:spPr/>
        <p:txBody>
          <a:bodyPr/>
          <a:lstStyle/>
          <a:p>
            <a:fld id="{9E1E2E2D-3837-452A-9ECF-3F7B9CADCCD5}" type="datetime1">
              <a:rPr lang="en-US" smtClean="0"/>
              <a:t>3/1/2022</a:t>
            </a:fld>
            <a:endParaRPr lang="en-US"/>
          </a:p>
        </p:txBody>
      </p:sp>
      <p:sp>
        <p:nvSpPr>
          <p:cNvPr id="4" name="Footer Placeholder 3">
            <a:extLst>
              <a:ext uri="{FF2B5EF4-FFF2-40B4-BE49-F238E27FC236}">
                <a16:creationId xmlns:a16="http://schemas.microsoft.com/office/drawing/2014/main" id="{846C90DB-3395-4840-8AE2-87396506C2C8}"/>
              </a:ext>
            </a:extLst>
          </p:cNvPr>
          <p:cNvSpPr>
            <a:spLocks noGrp="1"/>
          </p:cNvSpPr>
          <p:nvPr>
            <p:ph type="ftr" sz="quarter" idx="11"/>
          </p:nvPr>
        </p:nvSpPr>
        <p:spPr/>
        <p:txBody>
          <a:bodyPr/>
          <a:lstStyle/>
          <a:p>
            <a:r>
              <a:rPr lang="en-US" dirty="0"/>
              <a:t>Ebeid – Spring 2022</a:t>
            </a:r>
          </a:p>
        </p:txBody>
      </p:sp>
      <p:sp>
        <p:nvSpPr>
          <p:cNvPr id="6" name="Slide Number Placeholder 5">
            <a:extLst>
              <a:ext uri="{FF2B5EF4-FFF2-40B4-BE49-F238E27FC236}">
                <a16:creationId xmlns:a16="http://schemas.microsoft.com/office/drawing/2014/main" id="{255D5878-04F3-464C-BE4D-6FC8A6472E38}"/>
              </a:ext>
            </a:extLst>
          </p:cNvPr>
          <p:cNvSpPr>
            <a:spLocks noGrp="1"/>
          </p:cNvSpPr>
          <p:nvPr>
            <p:ph type="sldNum" sz="quarter" idx="12"/>
          </p:nvPr>
        </p:nvSpPr>
        <p:spPr/>
        <p:txBody>
          <a:bodyPr/>
          <a:lstStyle/>
          <a:p>
            <a:fld id="{41FC3AD2-D417-4C57-853C-2151CF039A96}" type="slidenum">
              <a:rPr lang="en-US" smtClean="0"/>
              <a:t>22</a:t>
            </a:fld>
            <a:endParaRPr lang="en-US"/>
          </a:p>
        </p:txBody>
      </p:sp>
      <p:pic>
        <p:nvPicPr>
          <p:cNvPr id="8" name="Picture 7" descr="Table&#10;&#10;Description automatically generated">
            <a:extLst>
              <a:ext uri="{FF2B5EF4-FFF2-40B4-BE49-F238E27FC236}">
                <a16:creationId xmlns:a16="http://schemas.microsoft.com/office/drawing/2014/main" id="{D49799F1-915F-4231-A908-8EE3C3ADF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6175" y="2014022"/>
            <a:ext cx="4819650" cy="1533525"/>
          </a:xfrm>
          <a:prstGeom prst="rect">
            <a:avLst/>
          </a:prstGeom>
        </p:spPr>
      </p:pic>
    </p:spTree>
    <p:extLst>
      <p:ext uri="{BB962C8B-B14F-4D97-AF65-F5344CB8AC3E}">
        <p14:creationId xmlns:p14="http://schemas.microsoft.com/office/powerpoint/2010/main" val="395595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0D5F-4C0F-47B3-B5E1-8B6D95E8C160}"/>
              </a:ext>
            </a:extLst>
          </p:cNvPr>
          <p:cNvSpPr>
            <a:spLocks noGrp="1"/>
          </p:cNvSpPr>
          <p:nvPr>
            <p:ph type="title"/>
          </p:nvPr>
        </p:nvSpPr>
        <p:spPr/>
        <p:txBody>
          <a:bodyPr/>
          <a:lstStyle/>
          <a:p>
            <a:r>
              <a:rPr lang="en-US" dirty="0"/>
              <a:t>Takeaways</a:t>
            </a:r>
          </a:p>
        </p:txBody>
      </p:sp>
      <p:sp>
        <p:nvSpPr>
          <p:cNvPr id="3" name="Date Placeholder 2">
            <a:extLst>
              <a:ext uri="{FF2B5EF4-FFF2-40B4-BE49-F238E27FC236}">
                <a16:creationId xmlns:a16="http://schemas.microsoft.com/office/drawing/2014/main" id="{E780D673-1B68-4B80-8602-637BF502808B}"/>
              </a:ext>
            </a:extLst>
          </p:cNvPr>
          <p:cNvSpPr>
            <a:spLocks noGrp="1"/>
          </p:cNvSpPr>
          <p:nvPr>
            <p:ph type="dt" sz="half" idx="10"/>
          </p:nvPr>
        </p:nvSpPr>
        <p:spPr/>
        <p:txBody>
          <a:bodyPr/>
          <a:lstStyle/>
          <a:p>
            <a:fld id="{C247BBBC-DAF9-4D30-90D5-CD72B9F1E1DC}" type="datetime1">
              <a:rPr lang="en-US" smtClean="0"/>
              <a:t>3/1/2022</a:t>
            </a:fld>
            <a:endParaRPr lang="en-US"/>
          </a:p>
        </p:txBody>
      </p:sp>
      <p:sp>
        <p:nvSpPr>
          <p:cNvPr id="4" name="Footer Placeholder 3">
            <a:extLst>
              <a:ext uri="{FF2B5EF4-FFF2-40B4-BE49-F238E27FC236}">
                <a16:creationId xmlns:a16="http://schemas.microsoft.com/office/drawing/2014/main" id="{55FDA191-30A3-4505-B155-5B69A1859F0C}"/>
              </a:ext>
            </a:extLst>
          </p:cNvPr>
          <p:cNvSpPr>
            <a:spLocks noGrp="1"/>
          </p:cNvSpPr>
          <p:nvPr>
            <p:ph type="ftr" sz="quarter" idx="11"/>
          </p:nvPr>
        </p:nvSpPr>
        <p:spPr/>
        <p:txBody>
          <a:bodyPr/>
          <a:lstStyle/>
          <a:p>
            <a:r>
              <a:rPr lang="en-US" dirty="0"/>
              <a:t>Ebeid – Spring 2022</a:t>
            </a:r>
          </a:p>
        </p:txBody>
      </p:sp>
      <p:sp>
        <p:nvSpPr>
          <p:cNvPr id="5" name="Slide Number Placeholder 4">
            <a:extLst>
              <a:ext uri="{FF2B5EF4-FFF2-40B4-BE49-F238E27FC236}">
                <a16:creationId xmlns:a16="http://schemas.microsoft.com/office/drawing/2014/main" id="{E81BDDC9-C483-466F-82C0-98428B744205}"/>
              </a:ext>
            </a:extLst>
          </p:cNvPr>
          <p:cNvSpPr>
            <a:spLocks noGrp="1"/>
          </p:cNvSpPr>
          <p:nvPr>
            <p:ph type="sldNum" sz="quarter" idx="12"/>
          </p:nvPr>
        </p:nvSpPr>
        <p:spPr/>
        <p:txBody>
          <a:bodyPr/>
          <a:lstStyle/>
          <a:p>
            <a:fld id="{41FC3AD2-D417-4C57-853C-2151CF039A96}" type="slidenum">
              <a:rPr lang="en-US" smtClean="0"/>
              <a:t>23</a:t>
            </a:fld>
            <a:endParaRPr lang="en-US"/>
          </a:p>
        </p:txBody>
      </p:sp>
      <p:sp>
        <p:nvSpPr>
          <p:cNvPr id="6" name="TextBox 5">
            <a:extLst>
              <a:ext uri="{FF2B5EF4-FFF2-40B4-BE49-F238E27FC236}">
                <a16:creationId xmlns:a16="http://schemas.microsoft.com/office/drawing/2014/main" id="{B99EB845-4BF8-4945-BA08-9F5C939614B4}"/>
              </a:ext>
            </a:extLst>
          </p:cNvPr>
          <p:cNvSpPr txBox="1"/>
          <p:nvPr/>
        </p:nvSpPr>
        <p:spPr>
          <a:xfrm>
            <a:off x="640080" y="2087880"/>
            <a:ext cx="11231880" cy="3293209"/>
          </a:xfrm>
          <a:prstGeom prst="rect">
            <a:avLst/>
          </a:prstGeom>
          <a:noFill/>
        </p:spPr>
        <p:txBody>
          <a:bodyPr wrap="square" rtlCol="0">
            <a:spAutoFit/>
          </a:bodyPr>
          <a:lstStyle/>
          <a:p>
            <a:pPr marL="285750" indent="-285750">
              <a:buFontTx/>
              <a:buChar char="-"/>
            </a:pPr>
            <a:r>
              <a:rPr lang="en-US" sz="2600" dirty="0"/>
              <a:t>Great adaptation of </a:t>
            </a:r>
            <a:r>
              <a:rPr lang="en-US" sz="2600" dirty="0" err="1"/>
              <a:t>metapath</a:t>
            </a:r>
            <a:r>
              <a:rPr lang="en-US" sz="2600" dirty="0"/>
              <a:t> random walking to make it more heterogenous</a:t>
            </a:r>
          </a:p>
          <a:p>
            <a:pPr marL="285750" indent="-285750">
              <a:buFontTx/>
              <a:buChar char="-"/>
            </a:pPr>
            <a:r>
              <a:rPr lang="en-US" sz="2600" dirty="0"/>
              <a:t>The use of attention mechanisms during training to highlight the current context of the node is innovative and produced better results than the baseline</a:t>
            </a:r>
          </a:p>
          <a:p>
            <a:pPr marL="285750" indent="-285750">
              <a:buFontTx/>
              <a:buChar char="-"/>
            </a:pPr>
            <a:r>
              <a:rPr lang="en-US" sz="2600" dirty="0"/>
              <a:t>The heterogenous skip gram equations were adapted from metapath2vec to fit edge type heterogeneity, but it might missing node type heterogeneity</a:t>
            </a:r>
          </a:p>
          <a:p>
            <a:pPr marL="285750" indent="-285750">
              <a:buFontTx/>
              <a:buChar char="-"/>
            </a:pPr>
            <a:r>
              <a:rPr lang="en-US" sz="2600" dirty="0"/>
              <a:t>There is a lot of room for innovating new algorithms for heterogenous multiplex networks</a:t>
            </a:r>
          </a:p>
          <a:p>
            <a:pPr marL="285750" indent="-285750">
              <a:buFontTx/>
              <a:buChar char="-"/>
            </a:pPr>
            <a:endParaRPr lang="en-US" sz="2600" dirty="0"/>
          </a:p>
        </p:txBody>
      </p:sp>
    </p:spTree>
    <p:extLst>
      <p:ext uri="{BB962C8B-B14F-4D97-AF65-F5344CB8AC3E}">
        <p14:creationId xmlns:p14="http://schemas.microsoft.com/office/powerpoint/2010/main" val="1393886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0D5F-4C0F-47B3-B5E1-8B6D95E8C160}"/>
              </a:ext>
            </a:extLst>
          </p:cNvPr>
          <p:cNvSpPr>
            <a:spLocks noGrp="1"/>
          </p:cNvSpPr>
          <p:nvPr>
            <p:ph type="title"/>
          </p:nvPr>
        </p:nvSpPr>
        <p:spPr/>
        <p:txBody>
          <a:bodyPr/>
          <a:lstStyle/>
          <a:p>
            <a:r>
              <a:rPr lang="en-US" dirty="0"/>
              <a:t>Thank you</a:t>
            </a:r>
          </a:p>
        </p:txBody>
      </p:sp>
      <p:sp>
        <p:nvSpPr>
          <p:cNvPr id="3" name="Date Placeholder 2">
            <a:extLst>
              <a:ext uri="{FF2B5EF4-FFF2-40B4-BE49-F238E27FC236}">
                <a16:creationId xmlns:a16="http://schemas.microsoft.com/office/drawing/2014/main" id="{E780D673-1B68-4B80-8602-637BF502808B}"/>
              </a:ext>
            </a:extLst>
          </p:cNvPr>
          <p:cNvSpPr>
            <a:spLocks noGrp="1"/>
          </p:cNvSpPr>
          <p:nvPr>
            <p:ph type="dt" sz="half" idx="10"/>
          </p:nvPr>
        </p:nvSpPr>
        <p:spPr/>
        <p:txBody>
          <a:bodyPr/>
          <a:lstStyle/>
          <a:p>
            <a:fld id="{C247BBBC-DAF9-4D30-90D5-CD72B9F1E1DC}" type="datetime1">
              <a:rPr lang="en-US" smtClean="0"/>
              <a:t>3/1/2022</a:t>
            </a:fld>
            <a:endParaRPr lang="en-US"/>
          </a:p>
        </p:txBody>
      </p:sp>
      <p:sp>
        <p:nvSpPr>
          <p:cNvPr id="4" name="Footer Placeholder 3">
            <a:extLst>
              <a:ext uri="{FF2B5EF4-FFF2-40B4-BE49-F238E27FC236}">
                <a16:creationId xmlns:a16="http://schemas.microsoft.com/office/drawing/2014/main" id="{55FDA191-30A3-4505-B155-5B69A1859F0C}"/>
              </a:ext>
            </a:extLst>
          </p:cNvPr>
          <p:cNvSpPr>
            <a:spLocks noGrp="1"/>
          </p:cNvSpPr>
          <p:nvPr>
            <p:ph type="ftr" sz="quarter" idx="11"/>
          </p:nvPr>
        </p:nvSpPr>
        <p:spPr/>
        <p:txBody>
          <a:bodyPr/>
          <a:lstStyle/>
          <a:p>
            <a:r>
              <a:rPr lang="en-US" dirty="0"/>
              <a:t>Ebeid – Spring 2022</a:t>
            </a:r>
          </a:p>
        </p:txBody>
      </p:sp>
      <p:sp>
        <p:nvSpPr>
          <p:cNvPr id="5" name="Slide Number Placeholder 4">
            <a:extLst>
              <a:ext uri="{FF2B5EF4-FFF2-40B4-BE49-F238E27FC236}">
                <a16:creationId xmlns:a16="http://schemas.microsoft.com/office/drawing/2014/main" id="{E81BDDC9-C483-466F-82C0-98428B744205}"/>
              </a:ext>
            </a:extLst>
          </p:cNvPr>
          <p:cNvSpPr>
            <a:spLocks noGrp="1"/>
          </p:cNvSpPr>
          <p:nvPr>
            <p:ph type="sldNum" sz="quarter" idx="12"/>
          </p:nvPr>
        </p:nvSpPr>
        <p:spPr/>
        <p:txBody>
          <a:bodyPr/>
          <a:lstStyle/>
          <a:p>
            <a:fld id="{41FC3AD2-D417-4C57-853C-2151CF039A96}" type="slidenum">
              <a:rPr lang="en-US" smtClean="0"/>
              <a:t>24</a:t>
            </a:fld>
            <a:endParaRPr lang="en-US"/>
          </a:p>
        </p:txBody>
      </p:sp>
    </p:spTree>
    <p:extLst>
      <p:ext uri="{BB962C8B-B14F-4D97-AF65-F5344CB8AC3E}">
        <p14:creationId xmlns:p14="http://schemas.microsoft.com/office/powerpoint/2010/main" val="246150972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Custom 1">
      <a:majorFont>
        <a:latin typeface="Linux Libertine"/>
        <a:ea typeface=""/>
        <a:cs typeface=""/>
      </a:majorFont>
      <a:minorFont>
        <a:latin typeface="Linux Libertine"/>
        <a:ea typeface=""/>
        <a:cs typeface=""/>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1059</TotalTime>
  <Words>4669</Words>
  <Application>Microsoft Office PowerPoint</Application>
  <PresentationFormat>Widescreen</PresentationFormat>
  <Paragraphs>256</Paragraphs>
  <Slides>24</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Cambria Math</vt:lpstr>
      <vt:lpstr>Georgia</vt:lpstr>
      <vt:lpstr>Linux Libertine</vt:lpstr>
      <vt:lpstr>Wingdings</vt:lpstr>
      <vt:lpstr>Metropolitan</vt:lpstr>
      <vt:lpstr>   Graph Representation Learning for Fully Heterogenous Networks - Paper Presentation</vt:lpstr>
      <vt:lpstr>Graph Theory</vt:lpstr>
      <vt:lpstr>Graph Theory</vt:lpstr>
      <vt:lpstr>Network Science &amp; Graph Analytics</vt:lpstr>
      <vt:lpstr>Graph Sampling and Random Walking</vt:lpstr>
      <vt:lpstr>Node Similarity</vt:lpstr>
      <vt:lpstr>Graph Clustering and Community Detection</vt:lpstr>
      <vt:lpstr>Graph Representation Learning</vt:lpstr>
      <vt:lpstr>Why we need graph representation learning?</vt:lpstr>
      <vt:lpstr>More information is needed!</vt:lpstr>
      <vt:lpstr>Types of Graph Representation Learning</vt:lpstr>
      <vt:lpstr>Basic Models in Graph Representation Learning</vt:lpstr>
      <vt:lpstr>Network Embedding: Skip-gram Model</vt:lpstr>
      <vt:lpstr>GNN: Graph Convolutional Networks</vt:lpstr>
      <vt:lpstr>Knowledge Embedding: Translational Distance Model (TransE)</vt:lpstr>
      <vt:lpstr>Some concepts in the paper</vt:lpstr>
      <vt:lpstr>Attributed Multiplex Networks (Knowledge Graphs/Heterogenous Networks) </vt:lpstr>
      <vt:lpstr>Metapath Random Walking</vt:lpstr>
      <vt:lpstr>Metapath Random Walking</vt:lpstr>
      <vt:lpstr>GATNE/I</vt:lpstr>
      <vt:lpstr>Algorithm</vt:lpstr>
      <vt:lpstr>Evaluation: Link prediction on Alibaba</vt:lpstr>
      <vt:lpstr>Takeaways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Akef Ebeid</dc:creator>
  <cp:lastModifiedBy>Akef Ebeid</cp:lastModifiedBy>
  <cp:revision>117</cp:revision>
  <dcterms:created xsi:type="dcterms:W3CDTF">2022-02-27T15:53:31Z</dcterms:created>
  <dcterms:modified xsi:type="dcterms:W3CDTF">2022-03-01T23:28:24Z</dcterms:modified>
</cp:coreProperties>
</file>